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22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9505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8229600" cy="155448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嵌入式電腦視覺系統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ML / DL 完成猜拳辨識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含研究方法</a:t>
            </a: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、評估指標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古典 vs AI 對照系列｜第二講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謝昇憲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學習路線大綱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777240" cy="32004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9144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本講課程定位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777240" cy="3200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1280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 vs 功能實作（研究生最該分清的事）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8229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1645920"/>
            <a:ext cx="777240" cy="32004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16459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1645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評估指標完整講解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57200" y="2011680"/>
            <a:ext cx="777240" cy="3200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457200" y="20116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2011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資料集與前處理（Colab）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457200" y="2377440"/>
            <a:ext cx="777240" cy="32004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57200" y="23774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71600" y="2377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路線 B｜HoG + SVM（訓練 + Android Chaquopy 部署）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457200" y="2743200"/>
            <a:ext cx="777240" cy="3200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457200" y="27432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71600" y="27432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路線 C｜Tiny CNN（訓練 + Local Runtime 部署）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457200" y="3108960"/>
            <a:ext cx="777240" cy="32004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457200" y="31089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371600" y="31089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路線 D｜MobileNetV2 Transfer Learning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30"/>
          <p:cNvSpPr/>
          <p:nvPr/>
        </p:nvSpPr>
        <p:spPr>
          <a:xfrm>
            <a:off x="457200" y="3474720"/>
            <a:ext cx="777240" cy="3200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457200" y="34747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371600" y="3474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兩種部署平台對比與工程意義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4"/>
          <p:cNvSpPr/>
          <p:nvPr/>
        </p:nvSpPr>
        <p:spPr>
          <a:xfrm>
            <a:off x="457200" y="3840480"/>
            <a:ext cx="777240" cy="320040"/>
          </a:xfrm>
          <a:prstGeom prst="rect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457200" y="38404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9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371600" y="3840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三方法 × 傳統 CV 系統實測對比（研究級）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Shape 38"/>
          <p:cNvSpPr/>
          <p:nvPr/>
        </p:nvSpPr>
        <p:spPr>
          <a:xfrm>
            <a:off x="457200" y="4206240"/>
            <a:ext cx="777240" cy="32004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9"/>
          <p:cNvSpPr/>
          <p:nvPr/>
        </p:nvSpPr>
        <p:spPr>
          <a:xfrm>
            <a:off x="457200" y="42062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371600" y="42062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本講作業與常見錯誤排除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ML/DL RPS 課程導讀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8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本講課程定位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從規則法到會學的方法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課程定位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從「規則法」進到「會學的方法」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上一講「傳統 CV 規則法做 RPS」：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W6 形態學 + W7 凸缺陷數 → 預期正確率 60% – 80%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solidFill>
            <a:srgbClr val="FFE9D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規則法天花板：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「特徵」是人寫死的，遇到沒考慮到的情境就無法泛化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本講的核心問題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當「特徵」由演算法從資料學出來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會比人手刻的好多少？代價是什麼？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課程定位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本講三條路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路線 B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傳統 ML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+ SVM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手工特徵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學習式決策邊界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路線 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自訓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CNN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2900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端到端從像素學特徵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模型小、可手調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路線 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6364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遷移學習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75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0936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預訓練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微調分類層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課程定位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部署平台分工（本講的關鍵工程決定）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「能訓練」≠「能部署」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三條路的部署平台必須依「Chaquopy 是否有對應 Python wheel」決定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37160" cy="77724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31520" y="1901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+ SVM (ML)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1762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Android Chaquopy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0" y="190195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/ scikit-image / joblib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都有 cp310 wheel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137160" cy="7772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31520" y="28163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CNN / MobileNetV2 (DL)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0906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Colab + Local Runtime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97680" y="281635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tflite-runtime 只有 cp38 wheel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Chaquopy 17 (Py3.10) 裝不上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137160" cy="777240"/>
          </a:xfrm>
          <a:prstGeom prst="rect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31520" y="3730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下講 YOLO + Tracking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0050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5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Android Java TFLite + AAR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97680" y="373075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完全跳開 Python wheel 限制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業界標準 hybrid 架構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課程定位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為什麼要這樣分工？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避免「之前 YOLO 那種掛掉」的部署失敗：Chaquopy 沒有的 wheel 就不要硬塞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讓學生看到「不同模型用不同部署路徑」是工程常態，不是失敗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Local Runtime 你已經教過串流架構，本講直接用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「選工具不是看最潮的，而是看真的能跑的」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課程定位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學習目標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理解「功能實作」與「研究級實作」的差別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看得懂 Confusion Matrix / Precision / Recall / F1 / 推論延遲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sklearn 訓練 HoG + Linear SVM 並部署到 Android Chaquopy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Keras 訓練 Tiny CNN 與 MobileNetV2，並輸出 TFLite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Colab Local Runtime + Webcam 上做即時 demo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在「正確率、延遲、模型大小」三維度做定量對比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課程定位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8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 vs 功能實作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研究生最該分清的事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研究 vs 功能實作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「能 work」≠「能交研究報告」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24688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研究級報告必須回答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「在什麼資料上、性能多好、比誰好、系統 spec 是什麼」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這四個問題。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「我有跑」不算答案。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研究 vs 功能實作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功能實作的三個盲點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盲點一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缺定量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「我跑了 1 張圖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準確！」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 test set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沒樣本數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盲點二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 spec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「我在我家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光線下準確」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沒泛化討論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沒場景說明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盲點三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364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 baseline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「我比之前快」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沒對比基準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沒控制變因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沒顯著性測試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研究 vs 功能實作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盲點一｜研究級的對應陳述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功能版：「我跑了 1 張圖，準確！」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研究版：「在 N=200 張獨立測試集上，accuracy = 92.5% (95% CI: 89.1% – 95.2%)，precision/recall/F1 為 ...」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研究 vs 功能實作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盲點二｜研究級的對應陳述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功能版：「我在我家光線下準確」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研究版：「實測 spec：iPhone 13、室內螢光燈、約 500 lux、單手、距離鏡頭 30-50 cm、白色背景。脫離此 spec 後性能下降 X%。」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研究 vs 功能實作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盲點三｜研究級的對應陳述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功能版：「我比之前快」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研究版：「在相同 PC、相同 Webcam、相同光線下，我的方法平均延遲 X ms (n=100)，baseline A 為 Y ms，差異 P 值 &lt; 0.01。」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研究 vs 功能實作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研究級系統必須回答的四個問題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57200" cy="169164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57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05840" y="1143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在什麼資料上？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50876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資料集、樣本數、分割策略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是否 IID、有沒有 data leakage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00584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57200" cy="16916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572000" y="1005840"/>
            <a:ext cx="457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212080" y="1143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性能多好？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12080" y="150876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多指標、Confusion Matrix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CI、不同子集表現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457200" cy="1691640"/>
          </a:xfrm>
          <a:prstGeom prst="rect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65760" y="2834640"/>
            <a:ext cx="457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005840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75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比誰好/壞？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333756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對比、SOTA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Ablation、統計顯著性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83464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572000" y="2834640"/>
            <a:ext cx="457200" cy="169164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572000" y="2834640"/>
            <a:ext cx="457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212080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 spec 是什麼？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12080" y="333756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硬體、軟體、運行條件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延遲、RAM、模型大小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研究 vs 功能實作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從 demo 升級到 paper 的標準清單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報告有「實驗設定」章節，列明所有 spec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有 test set（train/test 不能重疊）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至少報三個指標（Accuracy、Precision/Recall、F1）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有 Confusion Matrix 圖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至少對一個 baseline 做了對比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有失敗案例分析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有 limitations 章節（承認模型在什麼條件下不夠好）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有 future work 章節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研究 vs 功能實作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為什麼在嵌入式 CV 這特別重要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24688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嵌入式 CV 不是「能跑就好」的領域。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伺服器上 95% accuracy + 100ms 延遲是 A 級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搬到手機上變 70% + 800ms 就是 D 級。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研究生畢業前必須學會：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在資源約束下，用定量數據說明「我的方法可不可行」。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研究 vs 功能實作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8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評估指標完整講解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看得懂模型好不好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評估指標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分類任務指標全景圖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432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74320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精準型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051560"/>
            <a:ext cx="27432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4320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324612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整體型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74720" y="169164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/ AUC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macro/micro/weighted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051560"/>
            <a:ext cx="27432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743200" cy="457200"/>
          </a:xfrm>
          <a:prstGeom prst="rect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12648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嵌入式型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55080" y="169164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(ms)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 (MB)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peak (MB)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評估指標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Accuracy 的陷阱｜為什麼研究生不能只看 accuracy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E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Accuracy = 預測對的數量 / 總樣本數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1188720"/>
          </a:xfrm>
          <a:prstGeom prst="rect">
            <a:avLst/>
          </a:prstGeom>
          <a:solidFill>
            <a:srgbClr val="FFE9D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致命陷阱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不均衡時 accuracy 會騙人。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譬如 95% 都是「沒病」的醫療資料，模型只要永遠回答「沒病」就有 95% accuracy。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本講 RPS 資料相對均衡（每類約 200 張），accuracy 還算可信。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但研究級報告必須報多個指標（Precision / Recall / F1）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評估指標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Precision / Recall / F1-score 二類定義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二類分類的混淆矩陣：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預測 Positive    預測 Negative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真實 Positive       TP               FN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真實 Negative       FP               TN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 = TP / (TP + FP)    我說 Yes 中對的比例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    = TP / (TP + FN)    真的 Yes 中我抓到的比例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        = 2 * P * R / (P + R)   兩者調和平均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評估指標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三者物理意義（用「醫療診斷」比喻）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高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少誤診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我說「有病」的人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幾乎都真的有病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高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少漏診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2900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真的有病的人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我幾乎都抓到了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364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75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平衡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0936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兩者衝突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是調和平均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當你不偏好任一邊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評估指標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何時偏向 Precision 何時偏向 Recall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癌症篩檢 → 偏 Recall（寧可誤診健康人為陽性，也不能漏掉真癌患）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垃圾郵件過濾 → 偏 Precision（寧可漏掉垃圾，不能把重要信丟進垃圾桶）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一般情境 → 用 F1 平衡兩者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本講 RPS 三類任務並無偏好，F1 為主要指標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評估指標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3.3.4 多類別匯總方式（本講 RPS 是 3 類）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avg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每類各自算 P/R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最後平均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不考慮樣本數差異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avg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2900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所有類別的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TP/FP/FN 加總後再算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受多樣本類別影響大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936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每類算 P/R 後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依樣本數加權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介於兩者之間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評估指標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研究級報告通常三個都報。本講作業要求至少報 macro avg。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Confusion Matrix｜學生最該學會看的圖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confusion matrix 的讀法：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19456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預測：石頭   預測：剪刀   預測：布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真實：石頭          85           5            10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真實：剪刀          3            78           19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真實：布            8            12           80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對角線 = 各類正確預測數量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非對角線 = 各種混淆模式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石頭辨識最穩定 (85/100)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剪刀與布最容易混淆（雙向錯誤多）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後續失敗分析應該深入研究這對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評估指標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3.4.3 sklearn 算 Confusion Matrix 並視覺化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幾行就搞定：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confusion_matrix, ConfusionMatrixDisplay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 = confusion_matrix(y_true, y_pred)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 = ConfusionMatrixDisplay(cm, display_labels=['Rock', 'Scissors', 'Paper'])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disp.plot(cmap='Blues')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plt.title('Confusion Matrix')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評估指標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ROC / AUC｜不同閾值下的整體表現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ROC：「不同分類閾值下，TPR vs FPR」的曲線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AUC：ROC 曲線下方面積，範圍 0-1，越大越好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本講 RPS 為多類別 → 用 One-vs-Rest 拆成多個二類問題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對嵌入式即時應用，AUC 不是首要指標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因為不會調閾值，直接取 argmax → 研究級報告可選報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評估指標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嵌入式專屬評估指標</a:t>
            </a:r>
            <a:endParaRPr lang="en-US" sz="2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意義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為什麼重要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latency (ms)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推論一張圖要多久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即時應用最關鍵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 (FPS)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每秒處理幾張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與 latency 反比關係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size (MB)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模型佔多少磁碟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嵌入式 ROM 有限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footprint (MB)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推論期 RAM 峰值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OOM 直接 crash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(mW)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功耗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移動裝置電池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評估指標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3.6.1 量測 Inference Latency（含 95% CI）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跑 100 次取平均、棄掉 warm-up：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Warm-up（第一次推論常較慢）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_ in range(5): _ = model.predict(x, verbose=0)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量測 100 次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latencies = []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_ in range(100):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t0 = time.perf_counter()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 = model.predict(x, verbose=0)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latencies.append((time.perf_counter() - t0) * 1000)  # ms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print(f'平均延遲: {np.mean(latencies):.2f} ms')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print(f'95% CI: {np.percentile(latencies, 2.5):.2f} - {np.percentile(latencies, 97.5):.2f} ms')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print(f'Throughput: {1000 / np.mean(latencies):.1f} FPS')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評估指標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 通用評估模板（sklearn 一行搞定）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classification_report 給你 precision/recall/F1/support 一次到位：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19456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accuracy_score, classification_report, confusion_matrix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 = model.predict(X_test)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print(f'Accuracy: {accuracy_score(y_test, y_pred):.4f}')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print(classification_report(y_test, y_pred,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target_names=['Rock', 'Scissors', 'Paper']))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 = confusion_matrix(y_test, y_pred)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print('Confusion Matrix:'); print(cm)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classification_report 是研究級報告的基本配備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本講作業必交這個函式的輸出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評估指標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8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資料集與前處理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訓練端的準備工作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資料集與前處理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資料集介紹｜Sign Language Digits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來源：Kaggle 開源資料集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完整：手語數字 0-9 共 10 類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規模：每類約 200+ 張，總計約 2062 張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解析度：64×64 灰階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已整理：X.npy（影像）+ Y.npy（one-hot 標籤）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本講只保留三類：0=石頭、2=剪刀、5=布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資料集與前處理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下載資料集（Kaggle CLI）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Colab 第一個 cell 執行：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kaggle --quiet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google.colab import files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files.upload()  # 選 kaggle.json（你的 API token）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!mkdir -p ~/.kaggle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!cp kaggle.json ~/.kaggle/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!chmod 600 ~/.kaggle/kaggle.json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!kaggle datasets download -d ardamavi/sign-language-digits-dataset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!unzip -q sign-language-digits-dataset.zip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資料集與前處理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過濾並載入三類（npy 版，較快）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X.npy / Y.npy 抽出 0/2/5：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X_all = np.load('X.npy')         # (2062, 64, 64)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Y_all = np.load('Y.npy')         # (2062, 10) one-hot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 = np.argmax(Y_all, axis=1)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KEEP = [0, 2, 5]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LABEL_MAP = {0: 0, 2: 1, 5: 2}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keep_idx = np.isin(labels, KEEP)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X_all[keep_idx]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np.array([LABEL_MAP[v] for v in labels[keep_idx]])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print(f'樣本數: {X.shape[0]}, 三類分佈: {np.bincount(y)}')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資料集與前處理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資料分割｜train / val / test = 70 / 15 / 15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為什麼要切三份？train 訓練、val 調參、test 報告：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19456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train_test_split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先切出 test (15%)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X_trainval, X_test, y_trainval, y_test = train_test_split(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X, y, test_size=0.15, stratify=y, random_state=42)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再從剩下的切 val (15% 原始 = 約 18% 剩餘)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X_val, y_train, y_val = train_test_split(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X_trainval, y_trainval, test_size=0.18, stratify=y_trainval, random_state=42)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print(f'Train: {X_train.shape[0]}, Val: {X_val.shape[0]}, Test: {X_test.shape[0]}')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stratify=y：確保每 split 三類比例與原始一致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完全保留到最後一刻，不能用來調超參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資料集與前處理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 三條路線的前處理差異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+ SVM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64×64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灰階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保留原 64×64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自己處理特徵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 normalize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CNN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64×64×1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float32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2900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到 [0, 1]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 channel dim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(N, 64, 64, 1)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364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75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96×96×3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375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0936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64→96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灰階→RGB 複製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到 [0, 1]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資料集與前處理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8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路線 B｜HoG + SVM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 + Android Chaquopy 部署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HoG + SVM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HoG 特徵簡介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= Histogram of Oriented Gradients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概念跟 W7 學的 SIFT/ORB descriptor 類似（手工特徵家族）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做法：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切小 cell（譬如 8×8）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每 cell 內算 9 個方向的梯度直方圖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2×2 cell 為一 block 做歸一化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所有 block 串成 N 維特徵向量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 64×64 影像、cell 8×8、9 方向、block 2×2 → 約 1764 維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HoG + SVM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Linear SVM 直覺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找一個 hyperplane 把不同類別分開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目標：邊界到最近樣本的距離（margin）最大化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SVM 假設「直線分得開」（高維是 hyperplane）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 HoG 特徵（高維、結構化）效果不錯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 RPS 三類，1764 維 + LinearSVC 是經典配方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HoG + SVM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Colab 訓練流程｜HoG 特徵提取 + SVM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完整訓練程式碼（part 1/2）：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skimage.feature import hog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sklearn.svm import LinearSVC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accuracy_score, classification_report, confusion_matrix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joblib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img2hog(img):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hog(img,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orientations=9,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pixels_per_cell=(8, 8),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cells_per_block=(2, 2),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block_norm='L2-Hys')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X_train_hog = np.array([img2hog(im) for im in X_train], dtype=np.float32)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X_test_hog  = np.array([img2hog(im) for im in X_test],  dtype=np.float32)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print('HoG 向量維度 =', X_train_hog.shape[1])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HoG + SVM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訓練 SVM + 評估 + 儲存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完整訓練程式碼（part 2/2）：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訓練 Linear SVM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clf = LinearSVC(max_iter=5000, C=1.0)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clf.fit(X_train_hog, y_train)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評估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 = clf.predict(X_test_hog)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print(f'Test Accuracy: {accuracy_score(y_test, y_pred):.4f}')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print(classification_report(y_test, y_pred,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target_names=['Rock', 'Scissors', 'Paper']))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 = confusion_matrix(y_test, y_pred)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print('Confusion Matrix:'); print(cm)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儲存模型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joblib.dump(clf, 'hog_svm_rps.pkl')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print('✅ 已儲存 hog_svm_rps.pkl')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HoG + SVM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預期結果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92-96%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上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比規則法高 20-25%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模型大小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50KB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2900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極小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 不增多少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推論時間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364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75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2-5 ms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0936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上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單張預測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HoG + SVM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 注意｜sklearn 版本相容性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FFE9D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訓練端與部署端 sklearn 版本必須一致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Chaquopy 17（Python 3.10）約有 sklearn 1.3.x – 1.4.x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通常更新，可能 1.5+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解決方法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訓練前 pin 版本：!pip install "scikit-learn==1.4.0" --quiet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Chaquopy build.gradle 同樣鎖 scikit-learn==1.4.0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訓練時 print sklearn.__version__ 記錄在報告中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HoG + SVM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5.6.1 Android Chaquopy 部署｜build.gradle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app/build.gradle 加入 ML 套件依賴：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chaquopy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defaultConfig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version "3.10"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pip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install "numpy"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install "opencv-python"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install "scikit-image"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install "scikit-learn==1.4.0"   // 鎖死版本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install "joblib"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HoG + SVM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5.6.2 Python 端｜hand_gesture_svm.py（part 1）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載入模型 + 膚色偵測：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os, cv2, numpy as np, joblib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skimage.feature import hog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用 __file__ 取絕對路徑（Chaquopy 必做）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BASE_DIR = os.path.dirname(os.path.abspath(__file__))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MODEL_PATH = os.path.join(BASE_DIR, 'models', 'hog_svm_rps.pkl')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CLF = joblib.load(MODEL_PATH)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 = ['Rock', 'Scissors', 'Paper']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LOWER_SKIN = np.array([0, 30, 60], dtype=np.uint8)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UPPER_SKIN = np.array([20, 150, 255], dtype=np.uint8)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 = cv2.getStructuringElement(cv2.MORPH_ELLIPSE, (5, 5))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HoG + SVM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5.6.3 Python 端｜hand_gesture_svm.py（part 2）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process_nv21 完整 pipeline：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process_nv21(nv21_bytes, w, h):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yuv = np.frombuffer(bytes(nv21_bytes), dtype=np.uint8)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.reshape((h * 3 // 2, w))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bgr = cv2.cvtColor(yuv, cv2.COLOR_YUV2BGR_NV21)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hsv = cv2.cvtColor(bgr, cv2.COLOR_BGR2HSV)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mask = cv2.inRange(hsv, LOWER_SKIN, UPPER_SKIN)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mask = cv2.morphologyEx(mask, cv2.MORPH_OPEN, KERNEL, iterations=2)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mask = cv2.morphologyEx(mask, cv2.MORPH_CLOSE, KERNEL, iterations=2)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cnts, _ = cv2.findContours(mask, cv2.RETR_EXTERNAL, cv2.CHAIN_APPROX_SIMPLE)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cnts: return 'No hand detected'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 = max(cnts, key=cv2.contourArea)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cv2.contourArea(c) &lt; 3000: return 'No hand detected'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x, y, ww, hh = cv2.boundingRect(c)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roi = bgr[y:y+hh, x:x+ww]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gray = cv2.cvtColor(roi, cv2.COLOR_BGR2GRAY)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img64 = cv2.resize(gray, (64, 64))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 = hog(img64, orientations=9, pixels_per_cell=(8,8),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cells_per_block=(2,2), block_norm='L2-Hys')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pred = int(CLF.predict([feat])[0])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LABELS[pred]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HoG + SVM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 Android Chaquopy 部署常見問題</a:t>
            </a:r>
            <a:endParaRPr lang="en-US" sz="22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症狀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解法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joblib serial warning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無 multiprocessing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可忽略，不影響 LinearSVC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InconsistentVersionWarning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Colab 與 Chaquopy sklearn 版本不同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兩邊都 pin 1.4.0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FileNotFoundError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路徑用相對路徑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 __file__ 組絕對路徑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APK 太大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scikit-image / sklearn 加總 30-40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abiFilters arm64-v8a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HoG + SVM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 Android 上的預期效能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中階手機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Snapdragon 7 系列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30-80 ms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 frame 推論時間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 HoG 計算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12-30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2900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即時可用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夠 RPS 應用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 增量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6364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75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+25-40 MB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0936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scikit-image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sklearn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體積增加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HoG + SVM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8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路線 C｜Tiny CNN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自訓 + Local Runtime 部署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Tiny CNN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為什麼從 Tiny CNN 起步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在跳到 MobileNetV2 之前，先用 Tiny CNN 看「端到端從像素學特徵」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CNN 也是 sanity check：連這個都跑不起來，後面 MobileNetV2 八成也有環境問題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讓學生體驗「自己設計架構」 vs「用預訓練 backbone」的差別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本講 Tiny CNN 約 50 萬參數，model &lt; 2 MB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Tiny CNN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Tiny CNN 架構設計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簡單但夠用的 2-Conv 結構：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19456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(64, 64, 1)  灰階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Conv2D(32, 3x3, ReLU) + MaxPool(2x2)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Conv2D(64, 3x3, ReLU) + MaxPool(2x2)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Flatten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Dense(64, ReLU) + Dropout(0.3)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Dense(3, softmax)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 (3 類機率)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 50 萬參數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後 &lt; 2 MB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Tiny CNN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Colab 訓練流程（part 1：建模）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Sequential 建立 Tiny CNN：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tensorflow as tf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tensorflow.keras import layers, models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前處理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X_train_cnn = X_train.astype(np.float32)[..., np.newaxis] / 255.0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X_val_cnn   = X_val.astype(np.float32)[..., np.newaxis]   / 255.0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X_test_cnn  = X_test.astype(np.float32)[..., np.newaxis]  / 255.0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y_train_oh = tf.keras.utils.to_categorical(y_train, 3)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models.Sequential([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layers.Input(shape=(64, 64, 1)),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layers.Conv2D(32, 3, activation='relu'),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layers.MaxPooling2D(2),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layers.Conv2D(64, 3, activation='relu'),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layers.MaxPooling2D(2),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layers.Flatten(),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layers.Dense(64, activation='relu'),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layers.Dropout(0.3),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layers.Dense(3, activation='softmax'),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Tiny CNN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Colab 訓練流程（part 2：訓練+評估）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 防 overfit + 評估：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model.compile(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optimizer=tf.keras.optimizers.Adam(1e-3),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loss='categorical_crossentropy',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metrics=['accuracy'])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early = tf.keras.callbacks.EarlyStopping(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monitor='val_loss', patience=5, restore_best_weights=True)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 = model.fit(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X_train_cnn, y_train_oh,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validation_data=(X_val_cnn, y_val_oh),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epochs=30, batch_size=32,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callbacks=[early], verbose=2)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loss, acc = model.evaluate(X_test_cnn, y_test_oh, verbose=0)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print(f'Test Accuracy: {acc:.4f}')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model.save('rps_tiny_cnn.h5')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Tiny CNN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過擬合與 Dropout｜資料少 + 模型大 = overfit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CNN 約 50 萬參數，但資料只有約 600 張 → 模型容量遠大於資料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 overfit 三招（本講都用上）：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Dropout (0.3)：訓練時隨機讓 30% 神經元失活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Data Augmentation：訓練時隨機翻轉/旋轉/縮放（擴增資料）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EarlyStopping：監測 val_loss，連續 5 epoch 不降就停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沒有這三招，Tiny CNN 通常會 overfit 到 train acc 99% / val acc 75%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Tiny CNN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 訓練曲線判讀｜四種典型情況</a:t>
            </a:r>
            <a:endParaRPr lang="en-US" sz="22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train_loss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val_loss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判斷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處置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健康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繼續訓練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↑（後期）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該停了（EarlyStopping 自動）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Underfit（模型太小）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加大模型或調學習率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Underfit（學習率不對）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從 1e-3 試到 1e-5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Tiny CNN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 轉換為 TFLite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.h5 → .tflite 一行搞定：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19456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converter = tf.lite.TFLiteConverter.from_keras_model(model)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tflite_model = converter.convert()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open('rps_tiny_cnn.tflite', 'wb') as f: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f.write(tflite_model)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size_mb = os.path.getsize('rps_tiny_cnn.tflite') / 1024**2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print(f'✅ TFLite 大小: {size_mb:.2f} MB')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CNN 約 1.5 - 2 MB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之後可選做量化進一步縮小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Tiny CNN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 預期結果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88-94%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上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 HoG+SVM 略低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但接近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模型大小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1.8 MB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2900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 SVM 大 30 倍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 MobileNetV2 小 5 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推論時間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364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75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5-15 ms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0936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上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單張預測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Runtime 也類似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Tiny CNN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 Colab Local Runtime + Webcam 部署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本地端環境準備（一次性，Anaconda Prompt）：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19456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建立獨立虛擬環境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create -n colab_cv python=3.10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activate colab_cv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安裝核心套件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tensorflow opencv-python "numpy&lt;2" jupyter_http_over_ws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jupyter server extension enable --py jupyter_http_over_ws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啟動 Jupyter（含 CORS 設定）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jupyter notebook --NotebookApp.allow_origin='https://colab.research.google.com'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--NotebookApp.port_retries=0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--NotebookApp.token=''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--NotebookApp.disable_check_xsrf=True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--port=8888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→ 右上「連線」→「連線至本地執行階段」→ http://localhost:8888/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右上角綠勾勾 = 連線成功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Tiny CNN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 Local Runtime + Webcam 即時推論程式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完整可跑的 webcam RPS demo：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cv2, numpy as np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tensorflow.keras.models import load_model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load_model('rps_tiny_cnn.h5')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 = ['Rock', 'Scissors', 'Paper']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= cv2.VideoCapture(0, cv2.CAP_DSHOW)  # Windows 用 DSHOW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LOWER_SKIN = np.array([0, 30, 60], dtype=np.uint8)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UPPER_SKIN = np.array([20, 150, 255], dtype=np.uint8)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 = cv2.getStructuringElement(cv2.MORPH_ELLIPSE, (5, 5))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ret, frame = cap.read()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ret: break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hsv = cv2.cvtColor(frame, cv2.COLOR_BGR2HSV)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mask = cv2.inRange(hsv, LOWER_SKIN, UPPER_SKIN)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mask = cv2.morphologyEx(mask, cv2.MORPH_OPEN, KERNEL, iterations=2)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cnts, _ = cv2.findContours(mask, cv2.RETR_EXTERNAL, cv2.CHAIN_APPROX_SIMPLE)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cnts: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 = max(cnts, key=cv2.contourArea)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cv2.contourArea(c) &gt; 3000: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x, y, w, h = cv2.boundingRect(c)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roi = cv2.cvtColor(frame[y:y+h, x:x+w], cv2.COLOR_BGR2GRAY)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inp = cv2.resize(roi, (64, 64))[..., None] / 255.0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probs = model.predict(inp[None], verbose=0)[0]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label = LABELS[int(np.argmax(probs))]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cv2.rectangle(frame, (x,y), (x+w,y+h), (0,255,0), 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cv2.putText(frame, label, (x, y-10),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cv2.FONT_HERSHEY_SIMPLEX, 0.8, (0,255,0), 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cv2.imshow('Tiny CNN RPS', frame)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cv2.waitKey(1) &amp; 0xFF == ord('q'): break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cap.release(); cv2.destroyAllWindows()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Tiny CNN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8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路線 D｜MobileNetV2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遷移學習｜本講主菜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MobileNetV2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 為什麼用 Transfer Learning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在 ImageNet 上訓練過 100 萬張影像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已學到「邊緣、紋理、形狀」等低階特徵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我們用它當 backbone，只訓練最後分類層 = 站在巨人肩膀上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資料少（600 張）也能訓練得好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訓練時間從幾小時降到幾分鐘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泛化能力比從零訓練好得多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MobileNetV2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MobileNetV2 架構簡介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核心：depthwise separable convolution（把標準卷積拆兩步）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depthwise：每個 channel 單獨卷積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pointwise：1×1 卷積跨 channel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運算量降到標準卷積的 1/8 - 1/9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完整模型約 350 萬參數，8-15 MB（依量化）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 ResNet50 (98 MB) 小很多，適合嵌入式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MobileNetV2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 Colab 訓練流程（part 1：前處理 + 建模）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灰階轉 RGB + 96×96 + 凍結 base：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tensorflow as tf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tensorflow.keras import layers, models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tensorflow.keras.optimizers import Adam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灰階→96×96 RGB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to_rgb96(X_gray):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X_gray[..., np.newaxis].astype(np.float32)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tf.image.resize(X, [96, 96])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tf.image.grayscale_to_rgb(X)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X.numpy() / 255.0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X_train_d = to_rgb96(X_train)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X_val_d   = to_rgb96(X_val)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X_test_d  = to_rgb96(X_test)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MobileNetV2 基底（凍結權重）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= tf.keras.applications.MobileNetV2(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input_shape=(96, 96, 3),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include_top=False,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weights='imagenet')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base.trainable = False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MobileNetV2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 Colab 訓練流程（part 2：堆疊 + 訓練）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+ 分類層 + EarlyStopping：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data_aug = tf.keras.Sequential([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layers.RandomFlip('horizontal'),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layers.RandomRotation(0.1),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layers.RandomZoom(0.1),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models.Sequential([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layers.Input(shape=(96, 96, 3)),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data_aug,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layers.GlobalAveragePooling2D(),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layers.Dropout(0.3),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layers.Dense(3, activation='softmax'),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model.compile(optimizer=Adam(1e-3),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loss='categorical_crossentropy', metrics=['accuracy'])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early = tf.keras.callbacks.EarlyStopping(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monitor='val_loss', patience=5, restore_best_weights=True)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model.fit(X_train_d, y_train_oh, validation_data=(X_val_d, y_val_oh),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epochs=15, batch_size=32, callbacks=[early])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model.save('rps_mobilenetv2.h5')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MobileNetV2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 凍結預訓練權重（base.trainable = False）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預訓練權重已學到通用視覺特徵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我們不想讓「微小資料集」干擾它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做法：base.trainable = False，只更新分類層的參數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進階：第一階段訓練好後，可解凍 base 用 1e-5 微調幾個 epoch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（這叫 fine-tuning，本講第二階段選做）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MobileNetV2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 三種 TFLite 量化選擇</a:t>
            </a:r>
            <a:endParaRPr lang="en-US" sz="22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版本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損失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適用情境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浮點版（無量化）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0%（基準）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 / 高階手機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動態範圍量化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 MB（壓 3 倍）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推薦平衡點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int8 全量化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~2.5 MB（壓 3.6 倍）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極端資源受限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MobileNetV2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 三種量化的程式碼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浮點 / 動態範圍 / int8 全量化：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浮點版（最簡單）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 = tf.lite.TFLiteConverter.from_keras_model(model)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tflite_model = conv.convert()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動態範圍量化（推薦）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 = tf.lite.TFLiteConverter.from_keras_model(model)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conv.optimizations = [tf.lite.Optimize.DEFAULT]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tflite_quant = conv.convert()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int8 全量化（最小，需 representative_dataset）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rep_data_gen():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range(min(100, len(X_train_d))):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yield [X_train_d[i:i+1]]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 = tf.lite.TFLiteConverter.from_keras_model(model)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conv.optimizations = [tf.lite.Optimize.DEFAULT]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conv.representative_dataset = rep_data_gen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conv.target_spec.supported_ops = [tf.lite.OpsSet.TFLITE_BUILTINS_INT8]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conv.inference_input_type  = tf.uint8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conv.inference_output_type = tf.uint8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tflite_int8 = conv.convert()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MobileNetV2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 預期結果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93-97%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上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三條路最高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模型大小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MB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 MB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2900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浮點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動態範圍量化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推論時間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364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75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10-25 ms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0936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Colab/PC 上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單張預測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MobileNetV2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 Local Runtime 上的 TFLite 推論（快且穩定）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tf.lite.Interpreter 載入並推論：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tensorflow as tf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interpreter = tf.lite.Interpreter(model_path='rps_mobilenetv2.tflite')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interpreter.allocate_tensors()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IN_IDX  = interpreter.get_input_details()[0]['index']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OUT_IDX = interpreter.get_output_details()[0]['index']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 = ['Rock', 'Scissors', 'Paper']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predict_tflite(roi_bgr):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roi_rgb = cv2.cvtColor(roi_bgr, cv2.COLOR_BGR2RGB)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roi_rgb = cv2.resize(roi_rgb, (96, 96))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 = np.expand_dims(roi_rgb / 255.0, 0).astype(np.float32)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interpreter.set_tensor(IN_IDX, inp)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interpreter.invoke()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probs = interpreter.get_tensor(OUT_IDX)[0]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LABELS[int(np.argmax(probs))], float(probs.max())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MobileNetV2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 為什麼 Local Runtime 而非 Android？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24688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Chaquopy 官方 pypi-13.1 上的 tflite-runtime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只有 cp38 wheel（Python 3.8）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 Chaquopy 17 的 Python 3.10 不相容。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Runtime 完全本地化、效能極佳、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與你既有教學流程一致 — 是研究 prototype 的最佳平台。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 Android 部署 DL → 下一講走 Java TFLite + AAR 路徑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MobileNetV2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8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兩平台部署對比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工程意義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 兩平台對比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 部署成功與否的決定因素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24688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不是看模型強不強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而是看執行環境有沒有對應的 wheel / API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這是本講最重要的工程洞察。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 兩平台對比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 wheel 可用性對照（Chaquopy 17 + Python 3.10）</a:t>
            </a:r>
            <a:endParaRPr lang="en-US" sz="2200" dirty="0"/>
          </a:p>
        </p:txBody>
      </p:sp>
      <p:graphicFrame>
        <p:nvGraphicFramePr>
          <p:cNvPr id="7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6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套件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狀態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cp310 wheel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opencv-python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cp310 wheel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影像處理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cp310 wheel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HoG 特徵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cp310 wheel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joblib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pure-Python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模型載入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tflite-runtime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只有 cp38 wheel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TFLite 推論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tensorflow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太大已停更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完整 TF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已停更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PyTorch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 兩平台對比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 工程上的兩個選擇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選擇 A｜硬上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chaquo/build-wheel 自編 tflite-runtime cp310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 Linux + Android NDK + Bazel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編譯 2-6 小時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 TF 升版要重編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教學情境太重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選擇 B｜分而治之 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有 wheel → Android Chaquopy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沒 wheel → Local Runtime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跑 DL → Java TFLite API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本講採用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 兩平台對比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 Local Runtime 為什麼是研究 prototype 好平台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影像流不過網路 → 不消耗 bandwidth，不受 Colab 連線品質影響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完全本地化 → 延遲極低，可達 30+ FPS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直接呼叫本地 OpenCV → 任何相機都能用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Colab 介面操控 → 程式碼仍在雲端管理，方便版本控制與分享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研究 prototype 階段，Local Runtime 是最有效率的平台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要追求商業級部署再轉 Android Java + AAR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 兩平台對比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 對嵌入式 CV 工程師的啟示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部署不是「模型好就好」，是「工具鏈完整才好」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選工具不是看「最潮的」，而是看「真的能跑的」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好的工程師會在第一天就盤點「我能用什麼套件」，再回頭挑模型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不要把所有運算都塞進 Python — 必要時讓 Java 接手是業界 hybrid 架構標準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 兩平台對比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 下一講預告｜YOLO + Tracking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Android 官方 Java TFLite API（org.tensorflow:tensorflow-lite）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完全跳開 Python wheel 限制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Python（Chaquopy）只負責前後處理，Java 負責推論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 tracking-by-detection 範式（DeepSORT 思路）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業界標準 hybrid 架構，真正能上 production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 兩平台對比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8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系統實測對比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研究級對比章節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系統實測對比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 為什麼要做這個對比？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24688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把第 2 章「研究 vs 功能實作」的方法論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在本講內實踐一次。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學生會學到：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「研究級報告長什麼樣」、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「定量對比怎麼寫」、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「結論怎麼下」。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系統實測對比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 實驗 spec（必須在報告中列明）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 spec 範例：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硬體：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PC：i5-10300H, 16GB RAM, GTX 1650 (Colab 訓練則用 T4 GPU)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Webcam：USB 2.0, 720p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Android 手機：Samsung A53, Snapdragon 778G, 8GB RAM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軟體：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Python 3.10, TensorFlow 2.15, scikit-learn 1.4.0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OpenCV 4.8, scikit-image 0.21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Chaquopy 17.0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運行條件：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室內螢光燈, 約 500 lux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白色背景, 手距鏡頭 30-50 cm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Webcam 解析度 640×480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評估：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 set: 92 張獨立樣本（從原資料集切 15%）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每方法跑 100 次推論取平均延遲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系統實測對比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 Confusion Matrix 四方法並列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subplot 一張圖 vs 各自一張：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ConfusionMatrixDisplay, confusion_matrix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axes = plt.subplots(1, 4, figsize=(20, 5))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methods =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'Rule-based':  cm_rule,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'HoG + SVM':   cm_svm,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'Tiny CNN':    cm_cnn,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'MobileNetV2': cm_mnv2,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ax, (name, cm) in zip(axes, methods.items()):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disp = ConfusionMatrixDisplay(cm,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display_labels=['Rock', 'Scissors', 'Paper'])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disp.plot(ax=ax, cmap='Blues', colorbar=False)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ax.set_title(name)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plt.savefig('confusion_matrix_compare.png', dpi=150)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系統實測對比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 預期對比表（學生作業要填真實數字）</a:t>
            </a:r>
            <a:endParaRPr lang="en-US" sz="2200" dirty="0"/>
          </a:p>
        </p:txBody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規則法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HoG+SVM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 CNN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(macro)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延遲 (ms)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模型大小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峰值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部署平台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系統實測對比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 失敗案例分析（研究級報告必含）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規則法：手指角度不標準時，剪刀和布常混淆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+ SVM：背景複雜時，HoG 抽出的特徵被污染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CNN：訓練資料背景單純 → 換場景就失敗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MobileNetV2：因 transfer learning 泛化最好，但對極端光線仍會錯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報告中為每方法挑 2-3 張具體失敗的圖，做視覺化分析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系統實測對比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 研究結論該長這樣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24688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「在 Sign Language Digits 0/2/5 三類任務上，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Transfer Learning 在 accuracy 上勝過 HoG+SVM 約 2 個百分點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但推論延遲多 2.5 倍、模型大小多 90 倍。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資源充裕的研究端（PC + Webcam）建議使用 MobileNetV2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資源受限的 Android 嵌入式端，HoG+SVM 是更實用的選擇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（部署簡單、模型小、延遲低）。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規則法雖然 accuracy 最低，但完全不需要訓練資料，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 cold-start 階段或無資料情境。」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系統實測對比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 對下一講 Android 部署的展望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本講做完，學生會體會到：「最強的模型不一定能部署到嵌入式」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下一講 YOLO + Tracking 會：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用業界主流的「Java TFLite + AAR」路徑徹底解決 DL 上 Android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引入 tracking-by-detection 範式（DeepSORT、ByteTrack）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做出可以追蹤雙手、連續手勢的應用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從學術 prototype 升級到 production level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系統實測對比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8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作業與排錯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本講結尾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Ch.10 作業與排錯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 本講作業｜基本要求（過關）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達到以下 4 點 = 過關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572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691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完整跑完三條路線的訓練（Colab notebook 必附）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4572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2286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每條路線都出 Test Accuracy、Confusion Matrix、classification_report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572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57200" y="28803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2880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HoG+SVM 部署到 Android Chaquopy，成功運作（含示範影片）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4572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457200" y="34747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3474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CNN 與 MobileNetV2 都在 Local Runtime + Webcam 上即時 demo 成功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Ch.10 作業與排錯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 加分項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（+1）完整研究級評估報告（含實驗 spec、定量數字、失敗案例、limitations）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（+2）量化版 MobileNetV2 與浮點版的對比實測（accuracy 與 size）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（+1）用 Teachable Machine 收自己的資料訓練 + 比較公開資料集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（+1）整合本講三方法與上一講規則法做多數決投票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Ch.10 作業與排錯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 繳交內容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三條路線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 .ipynb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含完整輸出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 zip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2900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HoG+SVM 版本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 build.gradle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 python 模組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評估報告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影片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936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研究級 pdf 報告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三段 30 秒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示範影片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Ch.10 作業與排錯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 Colab 訓練常見錯誤</a:t>
            </a:r>
            <a:endParaRPr lang="en-US" sz="2200" dirty="0"/>
          </a:p>
        </p:txBody>
      </p:sp>
      <p:graphicFrame>
        <p:nvGraphicFramePr>
          <p:cNvPr id="9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症狀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解法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 CLI 失敗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kaggle.json 位置/權限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~/.kaggle/ + chmod 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 2.x 不相容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 2.15 未支援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!pip install "numpy&lt;2"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不可用 / OOM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未選 GPU 或 batch 太大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→ T4 GPU；batch=32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數據增強導致過慢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RandomXXX 用太多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減少 augmentation 層數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Ch.10 作業與排錯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9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 Android Chaquopy 部署常見錯誤</a:t>
            </a:r>
            <a:endParaRPr lang="en-US" sz="2200" dirty="0"/>
          </a:p>
        </p:txBody>
      </p:sp>
      <p:graphicFrame>
        <p:nvGraphicFramePr>
          <p:cNvPr id="9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症狀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解法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joblib serial mode warning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無 multiprocessing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可忽略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InconsistentVersionWarning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sklearn 版本不一致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Colab + Chaquopy 都 pin 1.4.0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FileNotFoundError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用相對路徑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 __file__ 組絕對路徑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APK 太大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套件加總過大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abiFilters arm64-v8a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clean 後仍錯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Gradle cache 卡住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→ Clean Project → Rebuild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Ch.10 作業與排錯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 Local Runtime 常見錯誤</a:t>
            </a:r>
            <a:endParaRPr lang="en-US" sz="2200" dirty="0"/>
          </a:p>
        </p:txBody>
      </p:sp>
      <p:graphicFrame>
        <p:nvGraphicFramePr>
          <p:cNvPr id="9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症狀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解法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連線失敗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Jupyter 沒開 / CORS 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確認 allow_origin 設定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8888 被佔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其他 Jupyter 在跑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--port=8889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VideoCapture 開不到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Zoom/OBS 佔用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關閉所有相機程式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瀏覽器搶相機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網址列相機授權沒關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點關閉授權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 與 pandas 不相容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 2.x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 "numpy&lt;2"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Ch.10 作業與排錯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kern="0" spc="6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ML/DL RPS 結束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下一講：YOLO + Tracking（含 Android Java TFLite 部署）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謝昇憲（George） · georgeh@g4e.npust.edu.tw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7328</Words>
  <Application>Microsoft Office PowerPoint</Application>
  <PresentationFormat>如螢幕大小 (16:9)</PresentationFormat>
  <Paragraphs>1399</Paragraphs>
  <Slides>93</Slides>
  <Notes>93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93</vt:i4>
      </vt:variant>
    </vt:vector>
  </HeadingPairs>
  <TitlesOfParts>
    <vt:vector size="98" baseType="lpstr">
      <vt:lpstr>Arial</vt:lpstr>
      <vt:lpstr>Calibri</vt:lpstr>
      <vt:lpstr>Cambria Math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ML/DL RPS｜訓練+部署+研究方法</dc:title>
  <dc:subject>PptxGenJS Presentation</dc:subject>
  <dc:creator>George (謝昇憲)</dc:creator>
  <cp:lastModifiedBy>謝昇憲 HSIEH SHENG HSIEN</cp:lastModifiedBy>
  <cp:revision>2</cp:revision>
  <dcterms:created xsi:type="dcterms:W3CDTF">2026-05-28T07:44:14Z</dcterms:created>
  <dcterms:modified xsi:type="dcterms:W3CDTF">2026-05-28T07:48:56Z</dcterms:modified>
</cp:coreProperties>
</file>