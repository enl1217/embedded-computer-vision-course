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嵌入式電腦視覺系統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Vision API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拿來就用的 Google 工具棧｜Production-Ready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vs AI 對照系列｜第五講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謝昇憲（George）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學習路線大綱（11 章）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777240" cy="29260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9144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課程定位｜ML Kit 在生產線的角色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52728"/>
            <a:ext cx="7772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52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2527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Vision 全景｜9 大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91056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91056"/>
            <a:ext cx="777240" cy="29260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91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5910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實作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29384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929384"/>
            <a:ext cx="7772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9293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19293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Recognition（OCR）實作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267712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267712"/>
            <a:ext cx="777240" cy="29260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2677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2677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Code Scanner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06040"/>
            <a:ext cx="7772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06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26060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Labeling 通用標籤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944368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944368"/>
            <a:ext cx="777240" cy="29260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9443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2944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&amp; Tracking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282696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282696"/>
            <a:ext cx="7772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2826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32826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Detection（33 點）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621024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21024"/>
            <a:ext cx="777240" cy="292608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6210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36210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vs Cloud Trade-off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959352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959352"/>
            <a:ext cx="777240" cy="29260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9593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71600" y="39593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with ML Kit｜五方法對比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29768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4297680"/>
            <a:ext cx="7772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297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371600" y="4297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研究級對比 + 作業 + W14 預告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課程導讀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CV 工具棧的最高層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系列地圖｜你目前在哪？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1097280" cy="50292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 CV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9144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規則法做 RPS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914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1097280" cy="50292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5087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HoG+SVM / CNN / MobileNetV2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0" y="1508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03120"/>
            <a:ext cx="1097280" cy="50292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03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1031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自訓物件偵測 + Tracking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2103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97480"/>
            <a:ext cx="1097280" cy="50292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97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2697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預訓練特化模型 + 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91840"/>
            <a:ext cx="1097280" cy="50292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91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2918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拿來就用｜本講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89520" y="3291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886200"/>
            <a:ext cx="1097280" cy="50292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86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38862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新研究與閱讀地圖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89520" y="3886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為什麼還要學 ML Kit？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你已經會 YOLO 自訓、MediaPipe 預訓練、Java TFLite 部署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但實際做產品時，業界常選 ML Kit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為什麼？因為它「打包好的程度」最高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行程式碼就能加入 OCR、Barcode、Face Detection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研究階段用 YOLO/MediaPipe，產品階段選 ML Kit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Google CV 工具棧｜三層對位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層級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客製化彈性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上手難度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本課程位置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最高｜完全封裝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Kit 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低（用 Google 給的）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極低（5 行 code）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中｜預訓練特化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中（Custom Solutions）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低｜完全客製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+ TFLite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高（任意自訓）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上上講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ML Kit 在生產線的角色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為「app 開發者」設計（不是 ML 研究者）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已被 Google 自家產品（Lens、Maps、Photos）大量使用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Firebase ML：可雲端 inference + analytics + A/B testing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 SDK，向後相容性好（5 年內 API 穩定）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業界大廠生產 app 的標準選擇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研究生畢業後做產品 → 大機率會用到 ML Kit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本講補的新內容（前面四講沒教過）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Recognition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文字辨識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中英文識別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名片、發票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結構化輸出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條碼掃描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種格式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QR、EAN、UPC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商品條碼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行搞定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Labeling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通用標籤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標籤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圖片描述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YOLO bbox 對位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 labeler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Vision 全景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大 API + on-device/Cloud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ML Kit Vision 全景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ML Kit Vision｜9 大 API 一覽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人臉 + landmarks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物件偵測 +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Pose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點骨架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文字辨識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(Latin)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(50+ 語言)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Scanning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條碼 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Labeling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通用標籤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(400 類)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(10000+ 類)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Selfie 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人像背景分離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主體分離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手寫辨識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ML Kit Vision 全景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on-device vs Cloud 兩種模式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包在 app 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完全離線可用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延遲低（~30 ms）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隱私：資料不出手機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準確度中等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Cloud（Firebase ML）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Google 雲端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需網路連線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延遲高（~500 ms）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資料上傳 Google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準確度更高、支援更多類別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ML Kit Vision 全景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build.gradle 通用設定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各模組獨立，按需安裝：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人臉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'com.google.mlkit:face-detection:16.1.5'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物件偵測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'com.google.mlkit:object-detection:17.0.0'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姿勢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'com.google.mlkit:pose-detection:18.0.0-beta3'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'com.google.mlkit:pose-detection-accurate:18.0.0-beta3'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文字辨識（中文）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'com.google.mlkit:text-recognition-chinese:16.0.0'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條碼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'com.google.mlkit:barcode-scanning:17.2.0'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圖片標籤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'com.google.mlkit:image-labeling:17.0.7'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ML Kit Vision 全景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ML Kit 通用 API Pattern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ML Kit Vision API 共用相同模式：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建立 detector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 detector = SomeDetection.getClient(options);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把 Bitmap / ImageProxy 包成 InputImage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InputImage image = InputImage.fromBitmap(bitmap, rotationDegrees);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或從 CameraX ImageProxy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InputImage image = InputImage.fromMediaImage(imageProxy.getImage(), rotation);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非同步處理 + callback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detector.process(image)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.addOnSuccessListener(result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處理結果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.addOnFailureListener(e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Log.e("MLKit", "Error", 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API 都遵循這個三步驟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非同步設計，不會卡 UI thread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物件依 API 不同（Face / Text / Barcode...）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ML Kit Vision 全景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ML Kit vs MediaPipe Tasks 對位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開發者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研究者 + app 開發者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客製化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低（用 Google 給的）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中（Model Maker 可微調）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雲端整合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風格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API + Listener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 + LIVE_STREAM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跨平台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/ 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/ iOS / Web /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官方產品團隊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AI 開源團隊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ML Kit Vision 全景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人臉偵測 + 簡易表情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Face Detection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ML Kit Face vs MediaPipe Face Mesh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Face Detection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個簡易 landmarks（左右眼、耳、鼻、嘴）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額外：smile probability、eye open probability、頭部歐拉角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輕量、快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適合：表情、注視方向偵測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個精細 landmarks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無內建表情判斷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重，需要更多算力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適合：AR 化妝、表情動畫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Face Detection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FaceDetectorOptions 設定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依需求調設定：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com.google.mlkit.vision.face.*;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FaceDetectorOptions options = new FaceDetectorOptions.Builder()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.setPerformanceMode(FaceDetectorOptions.PERFORMANCE_MODE_FAST)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.setPerformanceMode(FaceDetectorOptions.PERFORMANCE_MODE_ACCURATE)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.setLandmarkMode(FaceDetectorOptions.LANDMARK_MODE_ALL)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.setContourMode(FaceDetectorOptions.CONTOUR_MODE_ALL)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.setClassificationMode(FaceDetectorOptions.CLASSIFICATION_MODE_ALL)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.setMinFaceSize(0.15f)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.enableTracking()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FaceDetector detector = FaceDetection.getClient(options);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FAST：~30 FPS 即時用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ACCURATE：~5 FPS，更精準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enableTracking：跨 frame 配 ID（不能與 ACCURATE 並用）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Face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推論 + 取結果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+ callback：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com.google.mlkit.vision.common.InputImage;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InputImage image = InputImage.fromBitmap(bitmap, rotation);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detector.process(image)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.addOnSuccessListener(faces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(Face face : faces)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Rect bounds = face.getBoundingBox();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6 個 landmarks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FaceLandmark leftEye = face.getLandmark(FaceLandmark.LEFT_EYE);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FaceLandmark nose    = face.getLandmark(FaceLandmark.NOSE_BASE);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表情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smile  = face.getSmilingProbability();    // 0.0-1.0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lEye   = face.getLeftEyeOpenProbability();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rEye   = face.getRightEyeOpenProbability();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頭部姿態（歐拉角）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rotX = face.getHeadEulerAngleX();  // 上下點頭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rotY = face.getHeadEulerAngleY();  // 左右搖頭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rotZ = face.getHeadEulerAngleZ();  // 偏頭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Face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Face Detection 經典應用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自拍美顏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點 landmark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判斷臉位置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套用美顏濾鏡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防瞌睡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open probability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持續低 → 警示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駕駛輔助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互動拍照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probability &gt; 0.8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自動快門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Photos 用這個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Face Detection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Recognition (OCR)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發票辨識、名片掃描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OCR 文字辨識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OCR｜前面四講沒教過、但極實用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文字辨識（Optical Character Recognition, OCR）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應用範例：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名片掃描（自動建聯絡人）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發票辨識（記帳 app）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路標 / 招牌（無障礙輔助）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學術文件數位化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研究生畢業面試常被問「會做 OCR 嗎？」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OCR 文字辨識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ML Kit Text Recognition 支援語言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大小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拉丁字母（英、法、德、義...）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4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text-recognition-chinese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繁中、簡中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11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text-recognition-japanese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11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text-recognition-korean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韓文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11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text-recognition-devanagari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印度 Devanagari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11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OCR 文字辨識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OCR 使用｜中英文識別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行程式碼搞定：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com.google.mlkit.vision.text.*;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com.google.mlkit.vision.text.chinese.ChineseTextRecognizerOptions;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中文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TextRecognizer recognizer = TextRecognition.getClient(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ChineseTextRecognizerOptions.Builder().build());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英文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TextRecognizer recognizer = TextRecognition.getClient(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TextRecognizerOptions.DEFAULT_OPTIONS);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InputImage image = InputImage.fromBitmap(bitmap, 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recognizer.process(image)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.addOnSuccessListener(text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fullText = text.getText();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Log.d("OCR", fullText);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OCR 文字辨識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OCR 結構化輸出（不只是字串）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物件分四層：Block → Line → Element → Symbol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(Text.TextBlock block : text.getTextBlocks())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blockText = block.getText();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Rect blockFrame  = block.getBoundingBox();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List&lt;RecognizedLanguage&gt; langs = block.getRecognizedLanguage();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(Text.Line line : block.getLines())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lineText = line.getText();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Point[] cornerPoints = line.getCornerPoints();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(Text.Element element : line.getElements())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word = element.getText();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word level boundingBox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結構化輸出比純字串重要 — 可以做版面分析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大致對應段落，Line 對應一行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boundingBox 可重新排版（譬如名片各欄位）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OCR 文字辨識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OCR 三大經典應用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發票辨識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抓總金額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抓品項清單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自動記帳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名片掃描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姓名、公司、電話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boundingBox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分欄輸出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招牌翻譯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Translate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Lens 雛形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旅遊輔助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OCR 文字辨識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Scanner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條碼掃描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Barcode / QR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ML Kit Barcode 支援格式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線性條碼：Codabar、Code 39、Code 93、Code 128、EAN-8、EAN-13、ITF、UPC-A、UPC-E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矩陣條碼：Aztec、Data Matrix、QR Code、PDF417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共支援 13 種主流條碼格式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可同時偵測多個條碼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不用自己寫條碼解析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Barcode / QR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Barcode 5 行程式碼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 OCR 還簡單：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com.google.mlkit.vision.barcode.*;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com.google.mlkit.vision.barcode.common.Barcode;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BarcodeScannerOptions options = new BarcodeScannerOptions.Builder()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.setBarcodeFormats(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Barcode.FORMAT_QR_CODE,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Barcode.FORMAT_EAN_13,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Barcode.FORMAT_CODE_128)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BarcodeScanner scanner = BarcodeScanning.getClient(options);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scanner.process(image)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.addOnSuccessListener(barcodes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(Barcode barcode : barcodes)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raw   = barcode.getRawValue();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format   = barcode.getFormat();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Rect bounds  = barcode.getBoundingBox();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Barcode / QR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Barcode 自動解析常見格式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內容若是 URL / 電話 / 名片，自動解析：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Barcode barcode = barcodes.get(0);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valueType = barcode.getValueType();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(valueType)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Barcode.TYPE_URL: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url = barcode.getUrl().getUrl();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Barcode.TYPE_PHONE: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phone = barcode.getPhone().getNumber();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Barcode.TYPE_WIFI: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ssid = barcode.getWifi().getSsid();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pwd  = barcode.getWifi().getPassword();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Barcode.TYPE_CONTACT_INFO: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name = barcode.getContactInfo().getName().getFormattedName();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自動解析 QR 內常見格式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WIFI、CONTACT、CALENDAR、EMAIL 等都直接結構化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Barcode / QR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Barcode 商業應用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庫存管理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倉儲 EAN-13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掃描入庫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停車場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票券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進出記錄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付費連結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行動支付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Pay / 街口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動態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金流入口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Barcode / QR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Labeling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通用圖片描述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Image Labeling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Image Labeling vs YOLO 物件偵測｜本質差異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物件偵測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輸出：N 個（bbox, class, conf）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知道「在哪、是什麼」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 80 類（COCO）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重，需要 GPU 加速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Labeling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輸出：N 個（label, conf）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只知道「圖裡有什麼」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類（on-device）/ 10000+ （cloud）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輕，可在任何手機跑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Image Labeling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Image Labeling 使用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行程式碼：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com.google.mlkit.vision.label.*;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com.google.mlkit.vision.label.defaults.ImageLabelerOptions;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ImageLabelerOptions options = new ImageLabelerOptions.Builder()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.setConfidenceThreshold(0.7f)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ImageLabeler labeler = ImageLabeling.getClient(options);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labeler.process(image)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.addOnSuccessListener(labels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(ImageLabel label : labels)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text = label.getText();         // 'Dog', 'Sky'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conf  = label.getConfidence();   // 0.0-1.0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index   = label.getIndex();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Image Labeling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自訂 Image Labeling｜用你自己的 TFLite 模型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允許載入自訓 TFLite 模型做 Image Labeling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可從 W11 學的 TFLite 模型搬過來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依然享受 ML Kit 的 API 包裝（不用自己寫 Interpreter 載入）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等於「ML Kit API 風格 + 你自己的模型」混合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Image Labeling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自訂 labeler 程式碼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local .tflite 替換：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com.google.mlkit.common.model.LocalModel;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com.google.mlkit.vision.label.custom.CustomImageLabelerOptions;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LocalModel localModel = new LocalModel.Builder()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.setAssetFilePath("rps_mobilenetv2.tflite")  // assets 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CustomImageLabelerOptions options = new CustomImageLabelerOptions.Builder(localModel)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.setConfidenceThreshold(0.5f)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.setMaxResultCount(5)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ImageLabeler labeler = ImageLabeling.getClient(options);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搭配你 W10 訓的 MobileNetV2 → 用 ML Kit API 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拋開 Interpreter 細節，更乾淨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Image Labeling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&amp; Tracking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的「YOLO 版」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Object Detection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ML Kit OD vs YOLO｜差異對位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Object Detection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種預設大類別（家具、衣物、食物...）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tracking（跨 frame ID 一致）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輕、即時、5 行程式碼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類別固定，不能自訓（但可載 TFLite）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類（COCO）或自訓任意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要另接 ByteTrack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重、需要 GPU 才即時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完全客製化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Object Detection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ML Kit Object Detection 使用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tracking：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com.google.mlkit.vision.objects.*;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ObjectDetectorOptions options = new ObjectDetectorOptions.Builder()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.setDetectorMode(ObjectDetectorOptions.STREAM_MODE)  // 連續流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.enableMultipleObjects()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.enableClassification()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ObjectDetector detector = ObjectDetection.getClient(options);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detector.process(image)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.addOnSuccessListener(objects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(DetectedObject obj : objects)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Rect bbox = obj.getBoundingBox();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Integer id = obj.getTrackingId();  // tracking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(Label label : obj.getLabels())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String text = label.getText();   // 'FOOD', 'PLANT'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float conf = label.getConfidence();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Object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OD 三種模式對照</a:t>
            </a:r>
            <a:endParaRPr lang="en-US" sz="2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SINGLE_IMAGE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單張靜態圖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偵測 + 分類，無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STREAM_MODE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連續即時流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偵測 + tracking，無分類延遲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enableMultipleObjects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多物件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同時偵測多個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enableClassification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回傳類別標籤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Object Detection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Detection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的骨架偵測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Pose Detection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ML Kit Pose vs MediaPipe Pose</a:t>
            </a:r>
            <a:endParaRPr lang="en-US" sz="2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Kit 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 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精度模式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/ Accurate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 / Full / Heavy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額外輸出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值（相對深度）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值 + segmentation mask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跨平台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/ 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/ iOS / Web /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 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簡單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可微調更多參數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Pose Detection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Pose Detection 使用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跟其他 ML Kit 一致：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com.google.mlkit.vision.pose.*;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com.google.mlkit.vision.pose.defaults.PoseDetectorOptions;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PoseDetectorOptions options = new PoseDetectorOptions.Builder()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.setDetectorMode(PoseDetectorOptions.STREAM_MODE)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PoseDetector detector = PoseDetection.getClient(options);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detector.process(image)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.addOnSuccessListener(pose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取 landmark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PoseLandmark leftShoulder = pose.getPoseLandmark(PoseLandmark.LEFT_SHOULDER);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(leftShoulder != null)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PointF3D pos = leftShoulder.getPosition3D();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x = pos.getX(), y = pos.getY(), z = pos.getZ();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confidence = leftShoulder.getInFrameLikelihood();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Pose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Pose Detection 經典應用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健身教練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伏地挺身計數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動作正確性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姿勢矯正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舞蹈分析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動作節拍同步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姿勢比對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運動分析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網球揮拍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籃球投籃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跑步姿勢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Pose Detection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vs Cloud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嵌入式工程師的關鍵抉擇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on-device vs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為什麼這個選擇重要？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前面四講都是 on-device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ML Kit 是第一次給你「雲端模式」選項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這個選擇直接影響：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延遲、隱私、成本、準確度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研究生畢業做產品，這個決定可能決定 app 能不能上線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on-device vs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on-device vs Cloud｜五維對比</a:t>
            </a:r>
            <a:endParaRPr lang="en-US" sz="2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(Firebase ML)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延遲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低（~30 ms）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高（~500 ms，受網路）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離線可用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資料不出手機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資料上傳 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準確度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高（更大模型）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免費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 inference 次數計費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隨 app 更新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即時更新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on-device vs Cloud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何時選哪邊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 on-device 的情境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即時互動（延遲敏感）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隱私敏感（醫療、個資）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網路不穩（戶外、海外）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高頻率呼叫（成本）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本講以及前面四講都是 on-device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 Cloud 的情境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需要高準確度（OCR 多語言）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資料分析需求（aggregation）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模型太大、塞不進 app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低頻率呼叫（成本可控）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on-device vs Cloud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Firebase ML 整合範例（Cloud OCR）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切換到雲端模式：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在 Firebase 控制台啟用 ML Kit Cloud API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build.gradle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'com.google.firebase:firebase-ml-vision:24.1.0'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FirebaseVisionCloudTextRecognizerOptions options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FirebaseVisionCloudTextRecognizerOptions.Builder()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.setLanguageHints(Arrays.asList("zh-Hant", "en"))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FirebaseVisionTextRecognizer detector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FirebaseVision.getInstance().getCloudTextRecognizer(options);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detector.processImage(image)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.addOnSuccessListener(text -&gt; { /* 雲端結果 */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.addOnFailureListener(e -&gt; { /* 網路錯誤等 */ });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 OCR 支援 50+ 語言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計費：Vision API 前 1000 次免費 / 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Firebase 專案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on-device vs Cloud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工程實務建議｜hybrid 策略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預設用 on-device 做第一道偵測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conf 低或失敗 → 上傳雲端再試一次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用快取機制：同樣輸入別重複呼叫雲端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對隱私敏感資料：永遠不上雲（譬如人臉、車牌）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跟 W11 學的 hybrid 架構（Java 重運算 + Python 邏輯）觀念一脈相承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on-device vs Cloud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with ML Kit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五方法 RPS 大對比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RPS with ML Kit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怎麼用 ML Kit 做 RPS？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 A：用 Custom Image Labeling（載入你 W10 訓的 MobileNetV2）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享受 ML Kit API 簡潔 + 自訓模型精度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 B：用 Pose Detection 抓手部位置 + 自己寫規則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限制：ML Kit Pose 沒有手部 landmark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 C：用 Object Detection + Custom TFLite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類似 W11 YOLO 但 API 更簡單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本講主推路徑 A（最能體現「ML Kit 包裝 + 自訓模型」價值）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RPS with ML Kit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完整程式範例｜Custom Image Labeling 做 RPS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W10 的 rps_mobilenetv2.tflite 接入 ML Kit：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MainActivity onCreate：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LocalModel localModel = new LocalModel.Builder()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.setAssetFilePath("rps_mobilenetv2.tflite")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CustomImageLabelerOptions options = new CustomImageLabelerOptions.Builder(localModel)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.setConfidenceThreshold(0.5f)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.setMaxResultCount(1)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labeler = ImageLabeling.getClient(options);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ImageAnalysis analyzer：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InputImage image = InputImage.fromMediaImage(imageProxy.getImage(), rotation);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labeler.process(image)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.addOnSuccessListener(labels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(!labels.isEmpty())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result = labels.get(0).getText();  // 'rock'/'scissors'/'paper'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conf = labels.get(0).getConfidence();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runOnUiThread(() -&gt; labelView.setText(result + " " + conf));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imageProxy.close();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RPS with ML Kit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RPS 五方法系統對比（含本講）</a:t>
            </a:r>
            <a:endParaRPr lang="en-US" sz="22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規則法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FPS（手機）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訓練資料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600+ 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或 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程式碼行數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客製化彈性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部署複雜度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RPS with ML Kit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五方法｜怎麼選？決策樹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Q1：你有訓練資料嗎？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沒 → MediaPipe 或 ML Kit 預設模型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有 → 進 Q2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Q2：你需要高度客製化嗎？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是 → YOLO（自訓任意類別）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否 → 進 Q3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Q3：你要最快上線嗎？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是 → ML Kit Custom Image Labeling（本講）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否，要精細 landmark → MediaPipe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結論：「研究階段選 YOLO/MediaPipe，產品階段選 ML Kit」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RPS with ML Kit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研究級對比 + 作業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結業 W14 預告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對比 + 作業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ML Kit 的優勢與限制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行程式碼上手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官方維護穩定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Barcode 等實用功能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/ Cloud 雙模式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Production-ready，大廠在用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功能受限於 Google 提供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無法做研究級的細節控制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改版可能 break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模型更新跟著 Google 步調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對比 + 作業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本講作業｜基本要求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達到以下 4 點 = 過關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整合 ML Kit 至少 3 個 API（建議：OCR / Barcode / Image Labeling）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Custom Image Labeling 接 W10 訓的 MobileNetV2 跑 RPS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做一個「on-device vs Cloud」對比實測（用 OCR 測試）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74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 5 方法 RPS 並寫出工具選用建議書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對比 + 作業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加分項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（+2）做「萬用條碼掃描器」app：QR + EAN + WiFi 自動連線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（+2）做「名片掃描」app：OCR + 結構化欄位 + 寫入聯絡人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（+1）整合 Firebase ML Vision API 做雲端 OCR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（+1）做「健身教練」app：Pose Detection + 動作正確性判斷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（+2）期末專題雛形：上面任選一個做出來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對比 + 作業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 整門課的「工具棧」全景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914400" cy="56692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完全封裝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188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Vision（本講）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435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Barcode / Image Labeling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01368"/>
            <a:ext cx="91440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0136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預訓練特化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18470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0939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/ Pose / Face Mesh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914400" cy="566928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97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通用 SOTA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5054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Java TFLite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27523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80 類 + 自訓任意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18104"/>
            <a:ext cx="914400" cy="56692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1810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自訓模型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31638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HoG+SVM / Tiny CNN / MobileNetV2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34107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從零訓練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76472"/>
            <a:ext cx="91440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764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古典 CV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3822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傳統規則法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4069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 / 形態學 / 凸缺陷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研究階段往下選（彈性高）｜產品階段往上選（速度快）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對比 + 作業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 下一講｜CV 新研究與閱讀地圖（結業）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整門課回顧：從 W1 → W13 你走了哪條路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領域全景：你會的 + 還沒碰的（八大研究軸線）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2024-2026 熱門研究方向：VLM / 3D Gaussian / Diffusion 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 CV 研究軸線：TinyML / 量化 / on-device LLM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怎麼讀 paper / 看 SOTA / 啟動研究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你即將完成整套嵌入式 CV 訓練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對比 + 作業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6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Vision 結束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下一講：CV 新研究與閱讀地圖（結業講）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謝昇憲（George） · georgeh@g4e.npust.edu.tw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W13 ML Kit Vision API｜拿來就用的 Google 工具棧</dc:title>
  <dc:subject>PptxGenJS Presentation</dc:subject>
  <dc:creator>George (謝昇憲)</dc:creator>
  <cp:lastModifiedBy>George (謝昇憲)</cp:lastModifiedBy>
  <cp:revision>1</cp:revision>
  <dcterms:created xsi:type="dcterms:W3CDTF">2026-05-28T09:21:46Z</dcterms:created>
  <dcterms:modified xsi:type="dcterms:W3CDTF">2026-05-28T09:21:46Z</dcterms:modified>
</cp:coreProperties>
</file>