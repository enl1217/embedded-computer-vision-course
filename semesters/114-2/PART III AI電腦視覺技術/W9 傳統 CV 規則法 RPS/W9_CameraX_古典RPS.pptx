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3" r:id="rId48"/>
    <p:sldId id="304" r:id="rId4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22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885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8229600" cy="155448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嵌入式電腦視覺系統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即時串流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用 W6/W7 古典 CV 完成猜拳辨識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 vs AI 對照系列｜第一週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謝昇憲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 學習路線大綱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77240" cy="384048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0058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課程定位與本週限制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77724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14630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</a:t>
            </a:r>
            <a:r>
              <a:rPr lang="en-US" altLang="zh-TW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Chaquopy</a:t>
            </a:r>
            <a:r>
              <a:rPr lang="en-US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</a:t>
            </a: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 章 ImageAnalysis 接續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777240" cy="384048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19202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手部 ROI 抽取（HSV 膚色 + 形態學）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77724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3774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23774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輪廓抽取與形狀分析（W6 工具整合）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777240" cy="384048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57200" y="28346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28346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 RPS 判斷邏輯（凸缺陷 + 指縫數法）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77724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57200" y="32918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71600" y="32918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即時 RPS 完整整合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74904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777240" cy="384048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457200" y="37490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71600" y="37490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替代方案 — W7 ORB 樣板比對（選做）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457200" y="4206240"/>
            <a:ext cx="777240" cy="384048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457200" y="42062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371600" y="42062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本週作業與常見錯誤排除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 課程導讀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課程定位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與本週限制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了解你在學期裡的座標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</a:t>
            </a:r>
            <a:r>
              <a:rPr lang="en-US" sz="9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課程定位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本週在整學期的位置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前半段已走完古典 CV 三部曲：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W6：像素 → 結構（邊緣、Hough、形態學、輪廓特徵）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W7：結構 → 指紋（Harris/</a:t>
            </a:r>
            <a:r>
              <a:rPr lang="en-US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FAST、SIFT、ORB、matching、RANSAC</a:t>
            </a: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8229600" cy="1691640"/>
          </a:xfrm>
          <a:prstGeom prst="rect">
            <a:avLst/>
          </a:prstGeom>
          <a:solidFill>
            <a:srgbClr val="FFE9D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「同樣的問題（猜拳辨識），用不同方法跑一次」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（本週）：CameraX + W6/W7 古典工具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W14：CameraX + ML / DL 訓練模型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W15：CameraX + YOLO + Tracking 整合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W16：CameraX + </a:t>
            </a:r>
            <a:r>
              <a:rPr lang="en-US" sz="12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W9 課程定位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本週限制｜只能用 W6 / W7 學過的工具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可以用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W6：邊緣偵測、形態學、輪廓、形狀特徵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W7：Harris/FAST、SIFT、ORB、ratio test、RANSAC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色彩轉換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cv2.findContours / convexHull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cv2.convexityDefects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不可以用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CNN（MobileNet、ResNet 等）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/ OpenPose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 deep learning model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含「訓練資料」的方法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</a:t>
            </a:r>
            <a:r>
              <a:rPr lang="en-US" sz="9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課程定位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本週的目的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本週的目的不是做出最高正確率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而是讓你親手體驗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「古典 CV 在語意辨識任務上的天花板」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預期正確率 60% – 80%，W10 ML/DL 把這個數字往上拉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</a:t>
            </a:r>
            <a:r>
              <a:rPr lang="en-US" sz="9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課程定位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本週實作目標｜完整 Pipeline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手機相機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 CameraX ImageAnalysis（即時串流）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ImageProxy（YUV_420_888）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 Java：imageProxyToNv21()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NV21 byte[]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 Chaquopy 呼叫 Python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Python：rps_classical.process_frame()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HSV 膚色偵測 → 形態學清雜訊 → 最大輪廓 → 凸包 → 凸缺陷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指縫數 → 分類為「石頭 / 剪刀 / 布」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 回傳 (label, score) 給 Java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ImageView / TextView 顯示結果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</a:t>
            </a:r>
            <a:r>
              <a:rPr lang="en-US" sz="9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課程定位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為什麼從古典開始？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為什麼不直接</a:t>
            </a:r>
            <a:r>
              <a:rPr lang="en-US" sz="3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MobileNet？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提示：你看不到「準確率從哪裡來」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</a:t>
            </a:r>
            <a:r>
              <a:rPr lang="en-US" sz="9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課程定位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先用古典走一次，你才會自然回答以下問題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為什麼這個任務看起來「簡單」，古典方法卻吃力？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什麼情況下手工特徵會失效？光線變化？背景複雜？多手出現？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模型實際上學到了什麼，而古典方法做不到？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下週進入 W10 ML/DL 時，每一個準確率提升你都看得到「來自哪裡」。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</a:t>
            </a:r>
            <a:r>
              <a:rPr lang="en-US" sz="9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課程定位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從第 13 章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ImageAnalysis 接續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建立在 W8 已有的基礎上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從 ImageAnalysis 接續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</a:t>
            </a:r>
            <a:r>
              <a:rPr lang="en-US" sz="2200" b="1" dirty="0" err="1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Chaquopy</a:t>
            </a: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講義已給的基礎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0–9：Chaquopy 基礎，Android↔Python 資料傳遞，靜態圖 OpenCV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10：CameraX 基礎（PreviewView + ImageCapture）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11：ImageProxy 與 YUV_420_888 → NV21 格式轉換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12：CameraX + Chaquopy + OpenCV 整合（Canny 為例）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13：進階 — ImageAnalysis 即時影像串流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zh-TW" altLang="en-US" sz="15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</a:t>
            </a:r>
            <a:r>
              <a:rPr lang="en-US" sz="1500" b="1" dirty="0" err="1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完全建立在這些基礎上</a:t>
            </a:r>
            <a:r>
              <a:rPr lang="en-US" sz="15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從 ImageAnalysis 接續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開始前請確認你能做到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能成功用 CameraX Preview 看到相機畫面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能呼叫 Python 函式並接到回傳的 byte[]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 NV21 與 BGR 的轉換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ImageAnalysis 的 analyzer 流程可以接到 Python 端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500" i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若任一項有困難，先回</a:t>
            </a:r>
            <a:r>
              <a:rPr lang="en-US" sz="15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Chaquopy講義對應章節複習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從 ImageAnalysis 接續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</a:t>
            </a:r>
            <a:r>
              <a:rPr lang="en-US" sz="2200" b="1" dirty="0" err="1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的起點｜第</a:t>
            </a: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 章的「空殼」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 的核心工作就是把這段註解填滿：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imageAnalysis = new ImageAnalysis.Builder()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.setTargetResolution(new Size(640, 480))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.setBackpressureStrategy(ImageAnalysis.STRATEGY_KEEP_ONLY_LATEST)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imageAnalysis.setAnalyzer(cameraExecutor, image -&gt;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frameCount++;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(frameCount % 5 != 0) { image.close(); return;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=== 在此處呼叫 Python 處理 ===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第 13 章只用 Canny 做示範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W9 要把這裡換成「真正的偵測 pipeline」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image.close();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Canny 換成「真正的偵測 pipeline」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從 ImageAnalysis 接續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W9 整體 Pipeline 預覽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426464" cy="2286000"/>
          </a:xfrm>
          <a:prstGeom prst="rect">
            <a:avLst/>
          </a:prstGeom>
          <a:solidFill>
            <a:srgbClr val="ECECE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2435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即時抓幀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ImageProxy YUV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01952" y="1463040"/>
            <a:ext cx="2377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157984" y="1463040"/>
            <a:ext cx="1426464" cy="2286000"/>
          </a:xfrm>
          <a:prstGeom prst="rect">
            <a:avLst/>
          </a:prstGeom>
          <a:solidFill>
            <a:srgbClr val="FFE9D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157984" y="14630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NV21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49424" y="2148840"/>
            <a:ext cx="12435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imageProxyToNv21()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byte[]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02736" y="1463040"/>
            <a:ext cx="2377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858768" y="1463040"/>
            <a:ext cx="1426464" cy="2286000"/>
          </a:xfrm>
          <a:prstGeom prst="rect">
            <a:avLst/>
          </a:prstGeom>
          <a:solidFill>
            <a:srgbClr val="FFD4A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858768" y="14630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rps_classical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50208" y="2148840"/>
            <a:ext cx="12435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callAttr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process_frame()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463040"/>
            <a:ext cx="2377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559552" y="1463040"/>
            <a:ext cx="1426464" cy="22860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559552" y="14630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 CV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50992" y="2148840"/>
            <a:ext cx="12435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步驟組合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(下一章詳述)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04304" y="1463040"/>
            <a:ext cx="2377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260336" y="1463040"/>
            <a:ext cx="1426464" cy="22860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7260336" y="14630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顯示結果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51776" y="2148840"/>
            <a:ext cx="12435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n_gaps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端集中在 rps_classical.py 一個檔案；Java 只負責 frame 抓取與顯示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從 ImageAnalysis 接續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手部 ROI 抽取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第一步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手部 ROI 抽取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為什麼要先分割出「手」？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直接對整張影像做輪廓分析</a:t>
            </a:r>
            <a:r>
              <a:rPr lang="en-US" sz="3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會被背景物件干擾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手大約只佔 20%–40% 面積，其他都是雜訊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手部 ROI 抽取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三種手部偵測方案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 threshold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最簡單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灰階 + Otsu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光線敏感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膚色敏感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背景敏感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 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膚色 + 形態學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本週採用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對光線適度容忍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跨膚色可調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手臂、臉誤抓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木質桌面誤判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 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背景減法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與膚色無關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需先初始化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r>
              <a:rPr lang="en-US" sz="12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相機晃動失敗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手部 ROI 抽取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HSV 膚色範圍的選擇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膚色在 HSV 空間集中於：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H（色相）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20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偏紅 / 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74320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S（飽和度）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150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不能太低（灰）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也不能太高（鮮）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743200" cy="457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21792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V（明度）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– 255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508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不能太暗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lower_skin = np.array([0, 30, 60], dtype=np.uint8)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upper_skin = np.array([20, 150, 255], dtype=np.uint8)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cv2.inRange(hsv, lower_skin, upper_skin)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手部 ROI 抽取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形態學清理 mask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cv2.inRange 出來的 mask 有兩種問題：外圍雜訊 + 手內小洞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去除外圍小雜訊：open（先 erode 後 dilate）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= cv2.getStructuringElement(cv2.MORPH_ELLIPSE, (5, 5))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cv2.morphologyEx(mask, cv2.MORPH_OPEN, kernel, iterations=2)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填補手內小洞：close（先 dilate 後 erode）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cv2.morphologyEx(mask, cv2.MORPH_CLOSE, kernel, iterations=2)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額外稍微擴張，確保指縫不被吃掉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cv2.dilate(mask, kernel, iterations=1)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清雜訊、Close 填洞 — 與 W6 形態學一致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手部 ROI 抽取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Python 完整實作｜detect_hand_mask()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rps_classical.py 第一段：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LOWER_SKIN = np.array([0, 30, 60], dtype=np.uint8)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UPPER_SKIN = np.array([20, 150, 255], dtype=np.uint8)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= cv2.getStructuringElement(cv2.MORPH_ELLIPSE, (5, 5))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detect_hand_mask(bgr):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hsv = cv2.cvtColor(bgr, cv2.COLOR_BGR2HSV)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mask = cv2.inRange(hsv, LOWER_SKIN, UPPER_SKIN)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mask = cv2.morphologyEx(mask, cv2.MORPH_OPEN, KERNEL, iterations=2)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mask = cv2.morphologyEx(mask, cv2.MORPH_CLOSE, KERNEL, iterations=2)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mask = cv2.dilate(mask, KERNEL, iterations=1)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手部 ROI 抽取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輪廓抽取與形狀分析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工具的整合應用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輪廓與形狀分析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從 mask 到「最大輪廓」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cv2.findContours 抽出所有輪廓，取「最大連通區」當手：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find_largest_contour(mask):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contours, _ = cv2.findContours(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mask, cv2.RETR_EXTERNAL, cv2.CHAIN_APPROX_SIMPLE)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contours: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largest = max(contours, key=cv2.contourArea)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cv2.contourArea(largest) &lt; 5000: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None  # 太小，可能沒手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largest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RETR_EXTERNAL：只要外輪廓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CHAIN_APPROX_SIMPLE：壓縮直線段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面積閾值 5000 可依解析度調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輪廓與形狀分析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凸包（Convex Hull）的計算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「包住所有輪廓點的最小凸多邊形」 — 像用橡皮筋圈住手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55448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hull_indices = cv2.convexHull(contour, returnPoints=False)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hull_points  = cv2.convexHull(contour, returnPoints=True)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defects      = cv2.convexityDefects(contour, hull_indices)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FE9D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算 defects 時參數差異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returnPoints=False → 回傳 indices（用於 convexityDefects）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returnPoints=True → 回傳座標（用於繪圖）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輪廓與形狀分析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凸缺陷（Convexity Defects）是什麼？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凸缺陷 = 凸包邊與真實輪廓之間的「內凹區域」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defect 由 4 個值表示：(start, end, far, depth)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start_index：凸包邊起點在 contour 中的 index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end_index：凸包邊終點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far_index：凸缺陷最深的那一點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depth：缺陷深度（× 256）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視覺上，每兩個手指之間就是一個凸缺陷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輪廓與形狀分析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為什麼凸缺陷可以數指縫？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石頭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拳頭近圓形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凸缺陷少而淺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~ 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指伸出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中間 1 個指縫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指全張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個指縫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輪廓與形狀分析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4.4「有意義的凸缺陷」要靠兩個過濾條件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條件 1｜深度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/ 256 &gt; 30 像素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防止手腕誤判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防止雜訊小凹陷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條件 2｜角度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兩側手指夾角 &lt; 90°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用餘弦定理算夾角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排除手掌外圍凹陷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輪廓與形狀分析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完整實作｜count_fingers()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對每個 defect 判斷是不是「真的指縫」：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count_fingers(contour, defects):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defects is None: return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finger_gaps 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range(defects.shape[0]):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s, e, f, d = defects[i, 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start = tuple(contour[s][0])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   = tuple(contour[e][0])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far   = tuple(contour[f][0])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depth = d / 256.0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depth &lt; 30: continue                    # 條件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 = np.linalg.norm(np.array(start)-np.array(end))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 = np.linalg.norm(np.array(start)-np.array(far))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 = np.linalg.norm(np.array(end)-np.array(far))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angle = np.degrees(np.arccos((b**2+c**2-a**2)/(2*b*c+1e-6)))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angle &lt; 90: finger_gaps += 1             # 條件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finger_gaps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輪廓與形狀分析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 RPS 判斷邏輯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指縫數法 + 視覺化 debug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古典 RPS 判斷邏輯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分類規則｜簡單但有效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得到指縫數後，三個閾值決定 RPS 類別：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classify_rps(n_gaps):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n_gaps &lt;= 1: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'rock'      # 石頭：0 個指縫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n_gaps == 2: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'scissors'  # 剪刀：1-2 個指縫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'paper'     # 布：3-4 個指縫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石頭：辨識最穩定，80-90% 正確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剪刀：70-80%（指縫角度容易誤判）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布：65-80%（手腕誤判、指縫被吃掉）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古典 RPS 判斷邏輯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視覺化偵測中間結果｜debug 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把每個步驟畫出來，學生能看見演算法在想什麼：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draw_debug(bgr, contour, defects, n_gaps):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bgr.copy()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cv2.drawContours(out, [contour], -1, (0, 255, 0), 2)  # 綠：輪廓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hull = cv2.convexHull(contour, returnPoints=True)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cv2.drawContours(out, [hull], -1, (0, 0, 255), 2)     # 紅：凸包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defects is not None: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range(defects.shape[0]):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s, e, f, d = defects[i, 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far = tuple(contour[f][0])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d / 256.0 &gt; 30: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cv2.circle(out, far, 6, (255, 0, 0), -1)  # 藍：指縫點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 = classify_rps(n_gaps)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cv2.putText(out, f'{label} (gaps={n_gaps})',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(20, 40), cv2.FONT_HERSHEY_SIMPLEX,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1.0, (0, 255, 255), 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古典 RPS 判斷邏輯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主流程｜process_frame()（Chaquopy 入口）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把前面所有步驟串起來：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process_frame(nv21_bytes, w, h):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yuv = np.frombuffer(bytes(nv21_bytes), dtype=np.uint8)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.reshape((h * 3 // 2, w))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bgr = cv2.cvtColor(yuv, cv2.COLOR_YUV2BGR_NV21)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mask = detect_hand_mask(bgr)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contour = find_largest_contour(mask)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contour is None: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ok, buf = cv2.imencode('.jpg', bgr)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('none', 0, buf.tobytes())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hull_idx = cv2.convexHull(contour, returnPoints=False)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defects = cv2.convexityDefects(contour, hull_idx)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n_gaps = count_fingers(contour, defects)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 = classify_rps(n_gaps)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debug_img = draw_debug(bgr, contour, defects, n_gaps)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ok, buf = cv2.imencode('.jpg', debug_img, [cv2.IMWRITE_JPEG_QUALITY, 70])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(label, n_gaps, buf.tobytes())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古典 RPS 判斷邏輯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即時 RPS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完整整合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Python + XML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CameraX 即時 RPS 整合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完整 Python 模組｜rps_classical.py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存放位置：app/src/main/python/rps_classical.py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對外只暴露一個函式：process_frame(nv21, w, h)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內部包含：detect_hand_mask / find_largest_contour / count_fingers / classify_rps / draw_debug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Java 端只需要呼叫 process_frame()，所有 CV 邏輯都在 Python 完成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CameraX 即時 RPS 整合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Java 端核心｜ImageAnalysis analyzer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ImageAnalysis 的 analyzer 中呼叫 Python：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analyze(ImageProxy image)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frameCount++;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(frameCount % 5 != 0) { image.close(); return;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w = image.getWidth();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 = image.getHeight();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byte[] nv21 = imageProxyToNv21(image);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image.close();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PyObject module = py.getModule("rps_classical");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PyObject result = module.callAttr("process_frame", nv21, w, h);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label = result.asList().get(0).toString();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 gaps  = result.asList().get(1).toInt();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byte[] jpeg  = result.asList().get(2).toJava(byte[].class);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Bitmap bmp = BitmapFactory.decodeByteArray(jpeg, 0, jpeg.length);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runOnUiThread(() -&gt;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resultView.setImageBitmap(bmp);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labelView.setText(String.format("目前判斷：%s（指縫=%d）", label, gaps));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CameraX 即時 RPS 整合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activity_main.xml｜版面結構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PreviewView 全屏 + 上層 ImageView 顯示處理結果 + 底部 TextView：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&lt;androidx.constraintlayout.widget.ConstraintLayout ...&gt;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&lt;androidx.camera.view.PreviewView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android:id="@+id/previewView"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android:layout_width="0dp" android:layout_height="0dp"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app:layout_constraintTop_toTopOf="parent"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app:layout_constraintBottom_toTopOf="@id/labelView"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&lt;ImageView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android:id="@+id/resultView"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android:scaleType="fitCenter"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app:layout_constraintTop_toTopOf="@id/previewView"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app:layout_constraintBottom_toBottomOf="@id/previewView"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&lt;TextView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android:id="@+id/labelView"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android:text="目前判斷：—"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android:textSize="22sp"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android:gravity="center"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app:layout_constraintBottom_toBottomOf="parent"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&lt;/androidx.constraintlayout.widget.ConstraintLayout&gt;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CameraX 即時 RPS 整合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app/build.gradle 設定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Chaquopy 端要安裝 numpy 與 opencv-python：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chaquopy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defaultConfig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version "3.10"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pip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install "numpy"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install "opencv-python"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CameraX 依賴沿用 W8 第 10 章：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camerax-core / camera2 / lifecycle / view 各一個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建議版本：camerax 1.3.2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CameraX 即時 RPS 整合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FPS 與效能調整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可達 30 FPS，Python pipeline 通常 5-10 FPS（中低階手機）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降低解析度：640×480 → 320×240 可快 3 倍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frameCount % 5 == 0 控制呼叫頻率（本講義已用）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STRATEGY_KEEP_ONLY_LATEST 避免堆積 frame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端用 JPEG quality=70 比 PNG 快很多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版可關掉 debug 視覺化，純回傳 label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CameraX 即時 RPS 整合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替代方案 — ORB 樣板比對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選做 / 期末專題挑戰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ORB 樣板比對（選做）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為什麼提這個替代方案？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指縫數法的弱點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對手勢角度敏感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同樣的剪刀，斜著比 vs 正著比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可能算出不同指縫數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樣板比對的優勢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對整體形狀敏感（W7 學的）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對旋轉、光照較容忍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代價：計算貴 2-3 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ORB 樣板比對（選做）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樣板準備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資料夾內已有三張典型手勢樣板：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rock.jpg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石頭樣板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scissors.jpg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剪刀樣板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paper.jpg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布樣板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ORB 樣板比對（選做）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app/src/main/python/templates/{rock,scissors,paper}.jpg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ORB 比對程式｜rps_orb.py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預先抽樣板特徵 → 每 frame 與三組樣板比對：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ORB = cv2.ORB_create(nfeatures=500)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  = cv2.BFMatcher(cv2.NORM_HAMMING, crossCheck=False)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os.path.dirname(os.path.abspath(__file__))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 = {}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label in ['rock', 'scissors', 'paper']: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 = cv2.imread(os.path.join(BASE, 'templates', f'{label}.jpg'), 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kp, des = ORB.detectAndCompute(img, None)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TEMPLATES[label] = (kp, des)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classify_by_orb(bgr):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gray = cv2.cvtColor(bgr, cv2.COLOR_BGR2GRAY)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kp_q, des_q = ORB.detectAndCompute(gray, None)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des_q is None: return ('none', 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best_label, best_count = 'none',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label, (_, des_t) in TEMPLATES.items():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matches = BF.knnMatch(des_q, des_t, k=2)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good = [m for m,n in matches if m.distance &lt; 0.75 * n.distance]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len(good) &gt; best_count: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best_label, best_count = label, len(good)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(best_label, best_count)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ORB 樣板比對（選做）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兩種方法的比較</a:t>
            </a:r>
            <a:endParaRPr lang="en-US" sz="22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指縫數法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 樣板比對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敏感於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手張開角度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整體形狀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對光線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中等容忍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較容忍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對旋轉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敏感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較容忍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計算成本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便宜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貴 2-3 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搭配建議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兩個都跑投票決定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正確率 ↑ 80-85%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ORB 樣板比對（選做）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本週作業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與常見錯誤排除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作業與排錯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</a:t>
            </a:r>
            <a:r>
              <a:rPr lang="en-US" sz="2200" b="1" dirty="0" err="1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本週作業（HW</a:t>
            </a: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）｜基本要求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CameraX ImageAnalysis 即時抓取相機畫面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Chaquopy 呼叫 Python rps_classical.process_frame()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880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在畫面上即時顯示判斷結果（rock / scissors / paper）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3474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在固定背景下，三種手勢的正確率達 60% 以上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作業與排錯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加分項（任選）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（+1）整合 ORB 樣板比對作為「第二意見」，兩種方法投票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（+2）加入「畫面凍結 0.5 秒後才更新結果」減少抖動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（+3）整合 W6 學過的 contour 屬性（面積、緊密度）作為輔助特徵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（+4）UI 上顯示 debug 視覺化（輪廓、凸包、指縫圓點）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作業與排錯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繳交內容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65760" y="8686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秒短片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自拍三種手勢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標記正確率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86868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46120" y="86868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46120" y="8686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78308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 檔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說明做了哪些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遇到什麼問題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作業與排錯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8.3.5 解決抖動｜最近 5 次多數決平滑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簡單 buffer 平滑：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deque, Counter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label_history = deque(maxlen=5)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在 process_frame 結尾：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label_history.append(label)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smoothed = Counter(label_history).most_common(1)[0][0]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(smoothed, n_gaps, buf.tobytes())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記住最近 5 個判斷，回傳出現最多次的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作業與排錯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 </a:t>
            </a:r>
            <a:r>
              <a:rPr lang="en-US" sz="2200" b="1" dirty="0" err="1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下週預告｜同題目，換</a:t>
            </a: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ML / DL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sklearn 的 SVM + HOG 特徵 訓練分類器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資料夾中有現成的 hog_svm_rps.pkl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TensorFlow Lite 跑訓練好的 MobileNetV2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資料夾中有現成的 rps_mobilenetv2.tflite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你會發現正確率從 70% 跳到 90%+ — 但代價是模型大小與推論成本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正是這個對比讓你理解：什麼問題該用古典、什麼問題該換 AI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作業與排錯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3741</Words>
  <Application>Microsoft Office PowerPoint</Application>
  <PresentationFormat>如螢幕大小 (16:9)</PresentationFormat>
  <Paragraphs>653</Paragraphs>
  <Slides>48</Slides>
  <Notes>48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48</vt:i4>
      </vt:variant>
    </vt:vector>
  </HeadingPairs>
  <TitlesOfParts>
    <vt:vector size="52" baseType="lpstr"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W9｜CameraX + 古典 RPS</dc:title>
  <dc:subject>PptxGenJS Presentation</dc:subject>
  <dc:creator>George (謝昇憲)</dc:creator>
  <cp:lastModifiedBy>謝昇憲 HSIEH SHENG HSIEN</cp:lastModifiedBy>
  <cp:revision>3</cp:revision>
  <dcterms:created xsi:type="dcterms:W3CDTF">2026-05-28T04:28:00Z</dcterms:created>
  <dcterms:modified xsi:type="dcterms:W3CDTF">2026-05-28T04:59:28Z</dcterms:modified>
</cp:coreProperties>
</file>