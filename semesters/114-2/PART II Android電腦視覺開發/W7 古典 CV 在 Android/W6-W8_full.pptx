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2" r:id="rId12"/>
    <p:sldId id="264" r:id="rId13"/>
    <p:sldId id="539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540" r:id="rId28"/>
    <p:sldId id="279" r:id="rId29"/>
    <p:sldId id="280" r:id="rId30"/>
    <p:sldId id="281" r:id="rId31"/>
    <p:sldId id="282" r:id="rId32"/>
    <p:sldId id="541" r:id="rId33"/>
    <p:sldId id="542" r:id="rId34"/>
    <p:sldId id="543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FBB09E-7A1F-472F-9C62-D1D1B3F044A0}" v="6" dt="2026-05-15T03:27:51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63" Type="http://schemas.openxmlformats.org/officeDocument/2006/relationships/slide" Target="slides/slide59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226" Type="http://schemas.openxmlformats.org/officeDocument/2006/relationships/slide" Target="slides/slide222.xml"/><Relationship Id="rId268" Type="http://schemas.openxmlformats.org/officeDocument/2006/relationships/slide" Target="slides/slide264.xml"/><Relationship Id="rId32" Type="http://schemas.openxmlformats.org/officeDocument/2006/relationships/slide" Target="slides/slide28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181" Type="http://schemas.openxmlformats.org/officeDocument/2006/relationships/slide" Target="slides/slide177.xml"/><Relationship Id="rId237" Type="http://schemas.openxmlformats.org/officeDocument/2006/relationships/slide" Target="slides/slide233.xml"/><Relationship Id="rId279" Type="http://schemas.openxmlformats.org/officeDocument/2006/relationships/slide" Target="slides/slide275.xml"/><Relationship Id="rId43" Type="http://schemas.openxmlformats.org/officeDocument/2006/relationships/slide" Target="slides/slide39.xml"/><Relationship Id="rId139" Type="http://schemas.openxmlformats.org/officeDocument/2006/relationships/slide" Target="slides/slide135.xml"/><Relationship Id="rId290" Type="http://schemas.openxmlformats.org/officeDocument/2006/relationships/slide" Target="slides/slide286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248" Type="http://schemas.openxmlformats.org/officeDocument/2006/relationships/slide" Target="slides/slide244.xml"/><Relationship Id="rId12" Type="http://schemas.openxmlformats.org/officeDocument/2006/relationships/slide" Target="slides/slide8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217" Type="http://schemas.openxmlformats.org/officeDocument/2006/relationships/slide" Target="slides/slide213.xml"/><Relationship Id="rId6" Type="http://schemas.openxmlformats.org/officeDocument/2006/relationships/slide" Target="slides/slide2.xml"/><Relationship Id="rId238" Type="http://schemas.openxmlformats.org/officeDocument/2006/relationships/slide" Target="slides/slide234.xml"/><Relationship Id="rId259" Type="http://schemas.openxmlformats.org/officeDocument/2006/relationships/slide" Target="slides/slide255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270" Type="http://schemas.openxmlformats.org/officeDocument/2006/relationships/slide" Target="slides/slide266.xml"/><Relationship Id="rId291" Type="http://schemas.openxmlformats.org/officeDocument/2006/relationships/slide" Target="slides/slide287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228" Type="http://schemas.openxmlformats.org/officeDocument/2006/relationships/slide" Target="slides/slide224.xml"/><Relationship Id="rId249" Type="http://schemas.openxmlformats.org/officeDocument/2006/relationships/slide" Target="slides/slide245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260" Type="http://schemas.openxmlformats.org/officeDocument/2006/relationships/slide" Target="slides/slide256.xml"/><Relationship Id="rId281" Type="http://schemas.openxmlformats.org/officeDocument/2006/relationships/slide" Target="slides/slide277.xml"/><Relationship Id="rId34" Type="http://schemas.openxmlformats.org/officeDocument/2006/relationships/slide" Target="slides/slide30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141" Type="http://schemas.openxmlformats.org/officeDocument/2006/relationships/slide" Target="slides/slide137.xml"/><Relationship Id="rId7" Type="http://schemas.openxmlformats.org/officeDocument/2006/relationships/slide" Target="slides/slide3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18" Type="http://schemas.openxmlformats.org/officeDocument/2006/relationships/slide" Target="slides/slide214.xml"/><Relationship Id="rId239" Type="http://schemas.openxmlformats.org/officeDocument/2006/relationships/slide" Target="slides/slide235.xml"/><Relationship Id="rId250" Type="http://schemas.openxmlformats.org/officeDocument/2006/relationships/slide" Target="slides/slide246.xml"/><Relationship Id="rId271" Type="http://schemas.openxmlformats.org/officeDocument/2006/relationships/slide" Target="slides/slide267.xml"/><Relationship Id="rId292" Type="http://schemas.openxmlformats.org/officeDocument/2006/relationships/notesMaster" Target="notesMasters/notesMaster1.xml"/><Relationship Id="rId24" Type="http://schemas.openxmlformats.org/officeDocument/2006/relationships/slide" Target="slides/slide20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31" Type="http://schemas.openxmlformats.org/officeDocument/2006/relationships/slide" Target="slides/slide127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229" Type="http://schemas.openxmlformats.org/officeDocument/2006/relationships/slide" Target="slides/slide225.xml"/><Relationship Id="rId240" Type="http://schemas.openxmlformats.org/officeDocument/2006/relationships/slide" Target="slides/slide236.xml"/><Relationship Id="rId261" Type="http://schemas.openxmlformats.org/officeDocument/2006/relationships/slide" Target="slides/slide257.xml"/><Relationship Id="rId14" Type="http://schemas.openxmlformats.org/officeDocument/2006/relationships/slide" Target="slides/slide10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282" Type="http://schemas.openxmlformats.org/officeDocument/2006/relationships/slide" Target="slides/slide278.xml"/><Relationship Id="rId8" Type="http://schemas.openxmlformats.org/officeDocument/2006/relationships/slide" Target="slides/slide4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slide" Target="slides/slide180.xml"/><Relationship Id="rId219" Type="http://schemas.openxmlformats.org/officeDocument/2006/relationships/slide" Target="slides/slide215.xml"/><Relationship Id="rId230" Type="http://schemas.openxmlformats.org/officeDocument/2006/relationships/slide" Target="slides/slide226.xml"/><Relationship Id="rId251" Type="http://schemas.openxmlformats.org/officeDocument/2006/relationships/slide" Target="slides/slide247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72" Type="http://schemas.openxmlformats.org/officeDocument/2006/relationships/slide" Target="slides/slide268.xml"/><Relationship Id="rId293" Type="http://schemas.openxmlformats.org/officeDocument/2006/relationships/presProps" Target="presProps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220" Type="http://schemas.openxmlformats.org/officeDocument/2006/relationships/slide" Target="slides/slide216.xml"/><Relationship Id="rId241" Type="http://schemas.openxmlformats.org/officeDocument/2006/relationships/slide" Target="slides/slide23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262" Type="http://schemas.openxmlformats.org/officeDocument/2006/relationships/slide" Target="slides/slide258.xml"/><Relationship Id="rId283" Type="http://schemas.openxmlformats.org/officeDocument/2006/relationships/slide" Target="slides/slide279.xml"/><Relationship Id="rId78" Type="http://schemas.openxmlformats.org/officeDocument/2006/relationships/slide" Target="slides/slide74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64" Type="http://schemas.openxmlformats.org/officeDocument/2006/relationships/slide" Target="slides/slide160.xml"/><Relationship Id="rId185" Type="http://schemas.openxmlformats.org/officeDocument/2006/relationships/slide" Target="slides/slide181.xml"/><Relationship Id="rId9" Type="http://schemas.openxmlformats.org/officeDocument/2006/relationships/slide" Target="slides/slide5.xml"/><Relationship Id="rId210" Type="http://schemas.openxmlformats.org/officeDocument/2006/relationships/slide" Target="slides/slide206.xml"/><Relationship Id="rId26" Type="http://schemas.openxmlformats.org/officeDocument/2006/relationships/slide" Target="slides/slide22.xml"/><Relationship Id="rId231" Type="http://schemas.openxmlformats.org/officeDocument/2006/relationships/slide" Target="slides/slide227.xml"/><Relationship Id="rId252" Type="http://schemas.openxmlformats.org/officeDocument/2006/relationships/slide" Target="slides/slide248.xml"/><Relationship Id="rId273" Type="http://schemas.openxmlformats.org/officeDocument/2006/relationships/slide" Target="slides/slide269.xml"/><Relationship Id="rId294" Type="http://schemas.openxmlformats.org/officeDocument/2006/relationships/viewProps" Target="viewProps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openxmlformats.org/officeDocument/2006/relationships/slide" Target="slides/slide192.xml"/><Relationship Id="rId200" Type="http://schemas.openxmlformats.org/officeDocument/2006/relationships/slide" Target="slides/slide196.xml"/><Relationship Id="rId16" Type="http://schemas.openxmlformats.org/officeDocument/2006/relationships/slide" Target="slides/slide12.xml"/><Relationship Id="rId221" Type="http://schemas.openxmlformats.org/officeDocument/2006/relationships/slide" Target="slides/slide217.xml"/><Relationship Id="rId242" Type="http://schemas.openxmlformats.org/officeDocument/2006/relationships/slide" Target="slides/slide238.xml"/><Relationship Id="rId263" Type="http://schemas.openxmlformats.org/officeDocument/2006/relationships/slide" Target="slides/slide259.xml"/><Relationship Id="rId284" Type="http://schemas.openxmlformats.org/officeDocument/2006/relationships/slide" Target="slides/slide280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211" Type="http://schemas.openxmlformats.org/officeDocument/2006/relationships/slide" Target="slides/slide207.xml"/><Relationship Id="rId232" Type="http://schemas.openxmlformats.org/officeDocument/2006/relationships/slide" Target="slides/slide228.xml"/><Relationship Id="rId253" Type="http://schemas.openxmlformats.org/officeDocument/2006/relationships/slide" Target="slides/slide249.xml"/><Relationship Id="rId274" Type="http://schemas.openxmlformats.org/officeDocument/2006/relationships/slide" Target="slides/slide270.xml"/><Relationship Id="rId295" Type="http://schemas.openxmlformats.org/officeDocument/2006/relationships/theme" Target="theme/theme1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201" Type="http://schemas.openxmlformats.org/officeDocument/2006/relationships/slide" Target="slides/slide197.xml"/><Relationship Id="rId222" Type="http://schemas.openxmlformats.org/officeDocument/2006/relationships/slide" Target="slides/slide218.xml"/><Relationship Id="rId243" Type="http://schemas.openxmlformats.org/officeDocument/2006/relationships/slide" Target="slides/slide239.xml"/><Relationship Id="rId264" Type="http://schemas.openxmlformats.org/officeDocument/2006/relationships/slide" Target="slides/slide260.xml"/><Relationship Id="rId285" Type="http://schemas.openxmlformats.org/officeDocument/2006/relationships/slide" Target="slides/slide281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1" Type="http://schemas.openxmlformats.org/officeDocument/2006/relationships/customXml" Target="../customXml/item1.xml"/><Relationship Id="rId212" Type="http://schemas.openxmlformats.org/officeDocument/2006/relationships/slide" Target="slides/slide208.xml"/><Relationship Id="rId233" Type="http://schemas.openxmlformats.org/officeDocument/2006/relationships/slide" Target="slides/slide229.xml"/><Relationship Id="rId254" Type="http://schemas.openxmlformats.org/officeDocument/2006/relationships/slide" Target="slides/slide250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275" Type="http://schemas.openxmlformats.org/officeDocument/2006/relationships/slide" Target="slides/slide271.xml"/><Relationship Id="rId296" Type="http://schemas.openxmlformats.org/officeDocument/2006/relationships/tableStyles" Target="tableStyles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202" Type="http://schemas.openxmlformats.org/officeDocument/2006/relationships/slide" Target="slides/slide198.xml"/><Relationship Id="rId223" Type="http://schemas.openxmlformats.org/officeDocument/2006/relationships/slide" Target="slides/slide219.xml"/><Relationship Id="rId244" Type="http://schemas.openxmlformats.org/officeDocument/2006/relationships/slide" Target="slides/slide240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265" Type="http://schemas.openxmlformats.org/officeDocument/2006/relationships/slide" Target="slides/slide261.xml"/><Relationship Id="rId286" Type="http://schemas.openxmlformats.org/officeDocument/2006/relationships/slide" Target="slides/slide282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13" Type="http://schemas.openxmlformats.org/officeDocument/2006/relationships/slide" Target="slides/slide209.xml"/><Relationship Id="rId234" Type="http://schemas.openxmlformats.org/officeDocument/2006/relationships/slide" Target="slides/slide230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55" Type="http://schemas.openxmlformats.org/officeDocument/2006/relationships/slide" Target="slides/slide251.xml"/><Relationship Id="rId276" Type="http://schemas.openxmlformats.org/officeDocument/2006/relationships/slide" Target="slides/slide272.xml"/><Relationship Id="rId297" Type="http://schemas.microsoft.com/office/2015/10/relationships/revisionInfo" Target="revisionInfo.xml"/><Relationship Id="rId40" Type="http://schemas.openxmlformats.org/officeDocument/2006/relationships/slide" Target="slides/slide36.xml"/><Relationship Id="rId115" Type="http://schemas.openxmlformats.org/officeDocument/2006/relationships/slide" Target="slides/slide111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19" Type="http://schemas.openxmlformats.org/officeDocument/2006/relationships/slide" Target="slides/slide15.xml"/><Relationship Id="rId224" Type="http://schemas.openxmlformats.org/officeDocument/2006/relationships/slide" Target="slides/slide220.xml"/><Relationship Id="rId245" Type="http://schemas.openxmlformats.org/officeDocument/2006/relationships/slide" Target="slides/slide241.xml"/><Relationship Id="rId266" Type="http://schemas.openxmlformats.org/officeDocument/2006/relationships/slide" Target="slides/slide262.xml"/><Relationship Id="rId287" Type="http://schemas.openxmlformats.org/officeDocument/2006/relationships/slide" Target="slides/slide283.xml"/><Relationship Id="rId30" Type="http://schemas.openxmlformats.org/officeDocument/2006/relationships/slide" Target="slides/slide2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189" Type="http://schemas.openxmlformats.org/officeDocument/2006/relationships/slide" Target="slides/slide185.xml"/><Relationship Id="rId3" Type="http://schemas.openxmlformats.org/officeDocument/2006/relationships/customXml" Target="../customXml/item3.xml"/><Relationship Id="rId214" Type="http://schemas.openxmlformats.org/officeDocument/2006/relationships/slide" Target="slides/slide210.xml"/><Relationship Id="rId235" Type="http://schemas.openxmlformats.org/officeDocument/2006/relationships/slide" Target="slides/slide231.xml"/><Relationship Id="rId256" Type="http://schemas.openxmlformats.org/officeDocument/2006/relationships/slide" Target="slides/slide252.xml"/><Relationship Id="rId277" Type="http://schemas.openxmlformats.org/officeDocument/2006/relationships/slide" Target="slides/slide27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179" Type="http://schemas.openxmlformats.org/officeDocument/2006/relationships/slide" Target="slides/slide175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225" Type="http://schemas.openxmlformats.org/officeDocument/2006/relationships/slide" Target="slides/slide221.xml"/><Relationship Id="rId246" Type="http://schemas.openxmlformats.org/officeDocument/2006/relationships/slide" Target="slides/slide242.xml"/><Relationship Id="rId267" Type="http://schemas.openxmlformats.org/officeDocument/2006/relationships/slide" Target="slides/slide263.xml"/><Relationship Id="rId288" Type="http://schemas.openxmlformats.org/officeDocument/2006/relationships/slide" Target="slides/slide284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94" Type="http://schemas.openxmlformats.org/officeDocument/2006/relationships/slide" Target="slides/slide90.xml"/><Relationship Id="rId148" Type="http://schemas.openxmlformats.org/officeDocument/2006/relationships/slide" Target="slides/slide144.xml"/><Relationship Id="rId169" Type="http://schemas.openxmlformats.org/officeDocument/2006/relationships/slide" Target="slides/slide165.xml"/><Relationship Id="rId4" Type="http://schemas.openxmlformats.org/officeDocument/2006/relationships/slideMaster" Target="slideMasters/slideMaster1.xml"/><Relationship Id="rId180" Type="http://schemas.openxmlformats.org/officeDocument/2006/relationships/slide" Target="slides/slide176.xml"/><Relationship Id="rId215" Type="http://schemas.openxmlformats.org/officeDocument/2006/relationships/slide" Target="slides/slide211.xml"/><Relationship Id="rId236" Type="http://schemas.openxmlformats.org/officeDocument/2006/relationships/slide" Target="slides/slide232.xml"/><Relationship Id="rId257" Type="http://schemas.openxmlformats.org/officeDocument/2006/relationships/slide" Target="slides/slide253.xml"/><Relationship Id="rId278" Type="http://schemas.openxmlformats.org/officeDocument/2006/relationships/slide" Target="slides/slide274.xml"/><Relationship Id="rId42" Type="http://schemas.openxmlformats.org/officeDocument/2006/relationships/slide" Target="slides/slide38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247" Type="http://schemas.openxmlformats.org/officeDocument/2006/relationships/slide" Target="slides/slide243.xml"/><Relationship Id="rId107" Type="http://schemas.openxmlformats.org/officeDocument/2006/relationships/slide" Target="slides/slide103.xml"/><Relationship Id="rId289" Type="http://schemas.openxmlformats.org/officeDocument/2006/relationships/slide" Target="slides/slide285.xml"/><Relationship Id="rId11" Type="http://schemas.openxmlformats.org/officeDocument/2006/relationships/slide" Target="slides/slide7.xml"/><Relationship Id="rId53" Type="http://schemas.openxmlformats.org/officeDocument/2006/relationships/slide" Target="slides/slide49.xml"/><Relationship Id="rId149" Type="http://schemas.openxmlformats.org/officeDocument/2006/relationships/slide" Target="slides/slide145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216" Type="http://schemas.openxmlformats.org/officeDocument/2006/relationships/slide" Target="slides/slide212.xml"/><Relationship Id="rId258" Type="http://schemas.openxmlformats.org/officeDocument/2006/relationships/slide" Target="slides/slide254.xml"/><Relationship Id="rId22" Type="http://schemas.openxmlformats.org/officeDocument/2006/relationships/slide" Target="slides/slide18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71" Type="http://schemas.openxmlformats.org/officeDocument/2006/relationships/slide" Target="slides/slide167.xml"/><Relationship Id="rId227" Type="http://schemas.openxmlformats.org/officeDocument/2006/relationships/slide" Target="slides/slide223.xml"/><Relationship Id="rId269" Type="http://schemas.openxmlformats.org/officeDocument/2006/relationships/slide" Target="slides/slide265.xml"/><Relationship Id="rId33" Type="http://schemas.openxmlformats.org/officeDocument/2006/relationships/slide" Target="slides/slide29.xml"/><Relationship Id="rId129" Type="http://schemas.openxmlformats.org/officeDocument/2006/relationships/slide" Target="slides/slide125.xml"/><Relationship Id="rId280" Type="http://schemas.openxmlformats.org/officeDocument/2006/relationships/slide" Target="slides/slide2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513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3.xml"/><Relationship Id="rId1" Type="http://schemas.openxmlformats.org/officeDocument/2006/relationships/notesMaster" Target="../notesMasters/notesMaster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5.xml"/><Relationship Id="rId1" Type="http://schemas.openxmlformats.org/officeDocument/2006/relationships/notesMaster" Target="../notesMasters/notesMaster1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6.xml"/><Relationship Id="rId1" Type="http://schemas.openxmlformats.org/officeDocument/2006/relationships/notesMaster" Target="../notesMasters/notesMaster1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7.xml"/><Relationship Id="rId1" Type="http://schemas.openxmlformats.org/officeDocument/2006/relationships/notesMaster" Target="../notesMasters/notesMaster1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8.xml"/><Relationship Id="rId1" Type="http://schemas.openxmlformats.org/officeDocument/2006/relationships/notesMaster" Target="../notesMasters/notesMaster1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9.xml"/><Relationship Id="rId1" Type="http://schemas.openxmlformats.org/officeDocument/2006/relationships/notesMaster" Target="../notesMasters/notesMaster1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0.xml"/><Relationship Id="rId1" Type="http://schemas.openxmlformats.org/officeDocument/2006/relationships/notesMaster" Target="../notesMasters/notesMaster1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6.xml"/><Relationship Id="rId1" Type="http://schemas.openxmlformats.org/officeDocument/2006/relationships/notesMaster" Target="../notesMasters/notesMaster1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7.xml"/><Relationship Id="rId1" Type="http://schemas.openxmlformats.org/officeDocument/2006/relationships/notesMaster" Target="../notesMasters/notesMaster1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8.xml"/><Relationship Id="rId1" Type="http://schemas.openxmlformats.org/officeDocument/2006/relationships/notesMaster" Target="../notesMasters/notesMaster1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9.xml"/><Relationship Id="rId1" Type="http://schemas.openxmlformats.org/officeDocument/2006/relationships/notesMaster" Target="../notesMasters/notesMaster1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0.xml"/><Relationship Id="rId1" Type="http://schemas.openxmlformats.org/officeDocument/2006/relationships/notesMaster" Target="../notesMasters/notesMaster1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1.xml"/><Relationship Id="rId1" Type="http://schemas.openxmlformats.org/officeDocument/2006/relationships/notesMaster" Target="../notesMasters/notesMaster1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2.xml"/><Relationship Id="rId1" Type="http://schemas.openxmlformats.org/officeDocument/2006/relationships/notesMaster" Target="../notesMasters/notesMaster1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3.xml"/><Relationship Id="rId1" Type="http://schemas.openxmlformats.org/officeDocument/2006/relationships/notesMaster" Target="../notesMasters/notesMaster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4.xml"/><Relationship Id="rId1" Type="http://schemas.openxmlformats.org/officeDocument/2006/relationships/notesMaster" Target="../notesMasters/notesMaster1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5.xml"/><Relationship Id="rId1" Type="http://schemas.openxmlformats.org/officeDocument/2006/relationships/notesMaster" Target="../notesMasters/notesMaster1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7.xml"/><Relationship Id="rId1" Type="http://schemas.openxmlformats.org/officeDocument/2006/relationships/notesMaster" Target="../notesMasters/notesMaster1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8.xml"/><Relationship Id="rId1" Type="http://schemas.openxmlformats.org/officeDocument/2006/relationships/notesMaster" Target="../notesMasters/notesMaster1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9.xml"/><Relationship Id="rId1" Type="http://schemas.openxmlformats.org/officeDocument/2006/relationships/notesMaster" Target="../notesMasters/notesMaster1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0.xml"/><Relationship Id="rId1" Type="http://schemas.openxmlformats.org/officeDocument/2006/relationships/notesMaster" Target="../notesMasters/notesMaster1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1.xml"/><Relationship Id="rId1" Type="http://schemas.openxmlformats.org/officeDocument/2006/relationships/notesMaster" Target="../notesMasters/notesMaster1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2.xml"/><Relationship Id="rId1" Type="http://schemas.openxmlformats.org/officeDocument/2006/relationships/notesMaster" Target="../notesMasters/notesMaster1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3.xml"/><Relationship Id="rId1" Type="http://schemas.openxmlformats.org/officeDocument/2006/relationships/notesMaster" Target="../notesMasters/notesMaster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4.xml"/><Relationship Id="rId1" Type="http://schemas.openxmlformats.org/officeDocument/2006/relationships/notesMaster" Target="../notesMasters/notesMaster1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6.xml"/><Relationship Id="rId1" Type="http://schemas.openxmlformats.org/officeDocument/2006/relationships/notesMaster" Target="../notesMasters/notesMaster1.xml"/></Relationships>
</file>

<file path=ppt/notesSlides/_rels/notesSlide2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kknews.cc/zh-tw/news/vlzpq8y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bob800530/opencv-%E5%AF%A6%E4%BD%9C%E9%82%8A%E7%B7%A3%E5%81%B5%E6%B8%AC-canny%E6%BC%94%E7%AE%97%E6%B3%95-d6e0b92c0aa3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0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1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2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3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4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5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6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8.xml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9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0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1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2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3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4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5.xml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6.xml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7.xml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8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9.xml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2.xml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3.xml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4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5.xml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6.xml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7.xml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8.xml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0.xml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1.xml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2.xml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3.xml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4.xml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5.xml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6.xml"/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7.xml"/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8.xml"/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9.xml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0.xml"/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1.xml"/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3.xml"/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5.xml"/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8.xml"/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0.xml"/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1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2.xml"/><Relationship Id="rId1" Type="http://schemas.openxmlformats.org/officeDocument/2006/relationships/slideLayout" Target="../slideLayouts/slideLayout1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3.xml"/><Relationship Id="rId1" Type="http://schemas.openxmlformats.org/officeDocument/2006/relationships/slideLayout" Target="../slideLayouts/slideLayout1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4.xml"/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5.xml"/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6.xml"/><Relationship Id="rId1" Type="http://schemas.openxmlformats.org/officeDocument/2006/relationships/slideLayout" Target="../slideLayouts/slideLayout1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7.xml"/><Relationship Id="rId1" Type="http://schemas.openxmlformats.org/officeDocument/2006/relationships/slideLayout" Target="../slideLayouts/slideLayout1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8.xml"/><Relationship Id="rId1" Type="http://schemas.openxmlformats.org/officeDocument/2006/relationships/slideLayout" Target="../slideLayouts/slideLayout1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9.xml"/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0.xml"/><Relationship Id="rId1" Type="http://schemas.openxmlformats.org/officeDocument/2006/relationships/slideLayout" Target="../slideLayouts/slideLayout1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1.xml"/><Relationship Id="rId1" Type="http://schemas.openxmlformats.org/officeDocument/2006/relationships/slideLayout" Target="../slideLayouts/slideLayout1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2.xml"/><Relationship Id="rId1" Type="http://schemas.openxmlformats.org/officeDocument/2006/relationships/slideLayout" Target="../slideLayouts/slideLayout1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3.xml"/><Relationship Id="rId1" Type="http://schemas.openxmlformats.org/officeDocument/2006/relationships/slideLayout" Target="../slideLayouts/slideLayout1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1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1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6.xml"/><Relationship Id="rId1" Type="http://schemas.openxmlformats.org/officeDocument/2006/relationships/slideLayout" Target="../slideLayouts/slideLayout1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7.xml"/><Relationship Id="rId1" Type="http://schemas.openxmlformats.org/officeDocument/2006/relationships/slideLayout" Target="../slideLayouts/slideLayout1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1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9.xml"/><Relationship Id="rId1" Type="http://schemas.openxmlformats.org/officeDocument/2006/relationships/slideLayout" Target="../slideLayouts/slideLayout1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0.xml"/><Relationship Id="rId1" Type="http://schemas.openxmlformats.org/officeDocument/2006/relationships/slideLayout" Target="../slideLayouts/slideLayout1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1.xml"/><Relationship Id="rId1" Type="http://schemas.openxmlformats.org/officeDocument/2006/relationships/slideLayout" Target="../slideLayouts/slideLayout1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2.xml"/><Relationship Id="rId1" Type="http://schemas.openxmlformats.org/officeDocument/2006/relationships/slideLayout" Target="../slideLayouts/slideLayout1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3.xml"/><Relationship Id="rId1" Type="http://schemas.openxmlformats.org/officeDocument/2006/relationships/slideLayout" Target="../slideLayouts/slideLayout1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4.xml"/><Relationship Id="rId1" Type="http://schemas.openxmlformats.org/officeDocument/2006/relationships/slideLayout" Target="../slideLayouts/slideLayout1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5.xml"/><Relationship Id="rId1" Type="http://schemas.openxmlformats.org/officeDocument/2006/relationships/slideLayout" Target="../slideLayouts/slideLayout1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6.xml"/><Relationship Id="rId1" Type="http://schemas.openxmlformats.org/officeDocument/2006/relationships/slideLayout" Target="../slideLayouts/slideLayout1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7.xml"/><Relationship Id="rId1" Type="http://schemas.openxmlformats.org/officeDocument/2006/relationships/slideLayout" Target="../slideLayouts/slideLayout1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1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9.xml"/><Relationship Id="rId1" Type="http://schemas.openxmlformats.org/officeDocument/2006/relationships/slideLayout" Target="../slideLayouts/slideLayout1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0.xml"/><Relationship Id="rId1" Type="http://schemas.openxmlformats.org/officeDocument/2006/relationships/slideLayout" Target="../slideLayouts/slideLayout1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1.xml"/><Relationship Id="rId1" Type="http://schemas.openxmlformats.org/officeDocument/2006/relationships/slideLayout" Target="../slideLayouts/slideLayout1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嵌入式電腦視覺系統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影像特徵：偵測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比對 / 追蹤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 CV </a:t>
            </a:r>
            <a:r>
              <a:rPr lang="en-US" sz="18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三部曲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謝昇憲｜2026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課程地圖</a:t>
            </a: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｜「什麼是 feature？」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— 像素 → 結構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</a:t>
            </a:r>
            <a:br>
              <a:rPr lang="en-US" sz="2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從原始像素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提煉出可講話的形狀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74320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33756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— 結構 → 指紋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</a:t>
            </a:r>
            <a:b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044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找跨視角對應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的關鍵點與描述子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— 指紋 → 軌跡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</a:t>
            </a:r>
            <a:br>
              <a:rPr lang="en-US" sz="28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8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軌跡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時間維度上跟蹤同一身分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課程地圖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三週學習目標總覽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W6｜走完應能：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說出 Canny 五步驟與設計目標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Hough 偵測直線與圓形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解釋形態學 erosion/dilation 的集合論定義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OpenCV 抽出輪廓與形狀特徵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246120" y="1005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W7｜走完應能：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19" y="1645920"/>
            <a:ext cx="2508069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寫出 Harris 自相關矩陣與 R 函數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完整重述 SIFT 四大階段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 ORB 為何是嵌入式王牌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RANSAC + Homography 過濾錯配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126480" y="1005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W8｜走完應能：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79" y="1645920"/>
            <a:ext cx="2466703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寫出光流方程與其不適定性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OpenCV 跑 KLT 短片追蹤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列出三大失敗模式並提出對策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說出傳統 CV 與 AI 法的分工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課程地圖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 → 結構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2743200" y="2697480"/>
            <a:ext cx="3657600" cy="7772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74320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是 結構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從原始像素提煉出可以講話的形狀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路線圖｜四模組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594360" y="1152144"/>
            <a:ext cx="548640" cy="548640"/>
          </a:xfrm>
          <a:prstGeom prst="ellipse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94360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097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邊緣偵測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/ Laplacian / DFT / Canny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1261872"/>
            <a:ext cx="1188720" cy="329184"/>
          </a:xfrm>
          <a:prstGeom prst="rect">
            <a:avLst/>
          </a:prstGeom>
          <a:solidFill>
            <a:srgbClr val="FAFAF5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315200" y="12618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94360" y="2130552"/>
            <a:ext cx="548640" cy="548640"/>
          </a:xfrm>
          <a:prstGeom prst="ellipse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0756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Transform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4414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 / 圓形 / Accumulator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2240280"/>
            <a:ext cx="1188720" cy="329184"/>
          </a:xfrm>
          <a:prstGeom prst="rect">
            <a:avLst/>
          </a:prstGeom>
          <a:solidFill>
            <a:srgbClr val="FAFAF5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315200" y="2240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94360" y="3108960"/>
            <a:ext cx="548640" cy="548640"/>
          </a:xfrm>
          <a:prstGeom prst="ellipse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0540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形態學處理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4198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/ Dilation / Opening / Closing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3218688"/>
            <a:ext cx="1188720" cy="329184"/>
          </a:xfrm>
          <a:prstGeom prst="rect">
            <a:avLst/>
          </a:prstGeom>
          <a:solidFill>
            <a:srgbClr val="FAFAF5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15200" y="32186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8229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94360" y="4087368"/>
            <a:ext cx="548640" cy="548640"/>
          </a:xfrm>
          <a:prstGeom prst="ellipse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0325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連通元 + 輪廓 + 形狀特徵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43982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 / 面積 / 緊密度 / 圓度量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4197096"/>
            <a:ext cx="1188720" cy="329184"/>
          </a:xfrm>
          <a:prstGeom prst="rect">
            <a:avLst/>
          </a:prstGeom>
          <a:solidFill>
            <a:srgbClr val="FAFAF5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315200" y="41970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路線圖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學習目標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39571"/>
            <a:ext cx="640080" cy="322707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13957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05156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寫出 Canny 五步驟並解釋每步的設計理由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159258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26311"/>
            <a:ext cx="640080" cy="322707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72631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63830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 Hough Transform 為何用 Accumulator 投票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217932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313051"/>
            <a:ext cx="640080" cy="322707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31305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22504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用集合論定義 erosion / dilation / opening / closing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276606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899791"/>
            <a:ext cx="640080" cy="32270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89979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81178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OpenCV 實作 cv2.Canny / cv2.HoughLines / cv2.morphologyEx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335280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86531"/>
            <a:ext cx="640080" cy="32270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48653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39852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cv2.findContours 抽出形狀，計算 4 個基本度量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34440" y="393954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073271"/>
            <a:ext cx="640080" cy="322707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57200" y="407327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98526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把邊緣 → 形態學 → 輪廓串成完整 pipeline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路線圖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影像結構的三種樣貌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8892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邊（Edge）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057400" cy="1280160"/>
          </a:xfrm>
          <a:prstGeom prst="line">
            <a:avLst/>
          </a:prstGeom>
          <a:noFill/>
          <a:ln w="508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線狀的不連續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沿一個方向延伸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78892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33756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區域（Region）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94760" y="2103120"/>
            <a:ext cx="1874520" cy="137160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520440" y="3794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封閉的同質區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一片一片填滿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788920" cy="457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關鍵點（Keypoint）</a:t>
            </a:r>
            <a:endParaRPr lang="en-US" sz="1500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2B8C037-6767-AE79-2822-C2D2CDD6698C}"/>
              </a:ext>
            </a:extLst>
          </p:cNvPr>
          <p:cNvGrpSpPr/>
          <p:nvPr/>
        </p:nvGrpSpPr>
        <p:grpSpPr>
          <a:xfrm>
            <a:off x="7432040" y="2683933"/>
            <a:ext cx="248920" cy="209973"/>
            <a:chOff x="7155180" y="2423160"/>
            <a:chExt cx="883920" cy="914400"/>
          </a:xfrm>
        </p:grpSpPr>
        <p:sp>
          <p:nvSpPr>
            <p:cNvPr id="16" name="Shape 14"/>
            <p:cNvSpPr/>
            <p:nvPr/>
          </p:nvSpPr>
          <p:spPr>
            <a:xfrm>
              <a:off x="7155180" y="2423160"/>
              <a:ext cx="883920" cy="914400"/>
            </a:xfrm>
            <a:prstGeom prst="ellipse">
              <a:avLst/>
            </a:prstGeom>
            <a:solidFill>
              <a:srgbClr val="375173">
                <a:alpha val="30000"/>
              </a:srgbClr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7447788" y="2715768"/>
              <a:ext cx="318211" cy="329184"/>
            </a:xfrm>
            <a:prstGeom prst="ellipse">
              <a:avLst/>
            </a:prstGeom>
            <a:solidFill>
              <a:srgbClr val="375173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8" name="Text 16"/>
          <p:cNvSpPr/>
          <p:nvPr/>
        </p:nvSpPr>
        <p:spPr>
          <a:xfrm>
            <a:off x="6400800" y="37947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孤立的顯著點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兩個方向都有資訊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283</a:t>
            </a:r>
            <a:endParaRPr lang="en-US" sz="9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A431F96-431B-69D0-A87D-DC5E753892C9}"/>
              </a:ext>
            </a:extLst>
          </p:cNvPr>
          <p:cNvSpPr txBox="1"/>
          <p:nvPr/>
        </p:nvSpPr>
        <p:spPr>
          <a:xfrm>
            <a:off x="2489200" y="16880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形狀特徵源於影像中像素強度的局部變化</a:t>
            </a:r>
            <a:endParaRPr lang="zh-TW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邊緣偵測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你能不能用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「邊」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，畫出你看到的東西？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人臉的輪廓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36576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5204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室內的線條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36576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12648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的邊界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邊緣的本質｜像素強度的「不連續性」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79967" y="103564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訊號示意：跳變 = 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338328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0" cy="237744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645920" cy="0"/>
          </a:xfrm>
          <a:prstGeom prst="line">
            <a:avLst/>
          </a:prstGeom>
          <a:noFill/>
          <a:ln w="381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 flipV="1">
            <a:off x="2514600" y="2560319"/>
            <a:ext cx="0" cy="1097279"/>
          </a:xfrm>
          <a:prstGeom prst="line">
            <a:avLst/>
          </a:prstGeom>
          <a:noFill/>
          <a:ln w="381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514600" y="2560320"/>
            <a:ext cx="1691640" cy="0"/>
          </a:xfrm>
          <a:prstGeom prst="line">
            <a:avLst/>
          </a:prstGeom>
          <a:noFill/>
          <a:ln w="381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60604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像素強度跳變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3977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 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關鍵觀察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影像在邊緣處，像素亮度會「突然」改變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「突然」= 對位置 x 的高斜率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找邊 = 找「亮度導數」的極大值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下一節：怎麼算離散影像的「導數」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283</a:t>
            </a:r>
            <a:endParaRPr lang="en-US" sz="90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88348704-CC7B-8D8B-4392-8453FD158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920" y="1325880"/>
            <a:ext cx="1456240" cy="11864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4891C9E-F381-A06F-D282-69B13ECCD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89" y="206253"/>
            <a:ext cx="8204622" cy="47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49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一階導數抓「跳變」、二階導數抓「跳變的位置」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283</a:t>
            </a:r>
            <a:endParaRPr lang="en-US" sz="900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56E26F18-B789-4465-A99D-9BD77A2F6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34" y="1094289"/>
            <a:ext cx="7391540" cy="36555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一階導數派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影像是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離散的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，怎麼算「導數」？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提示：用「差分」近似「微分」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連續導數 → 離散差分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連續：微積分定義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'(x) = lim (f(x+h) − f(x)) / h    當 h→0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需要「無限小」的步長 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 f(x) 是連續可微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影像不是這樣（不可）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離散：差分（Difference）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Δf(x) ≈ f(x+1) − f(x)    （h = 1 像素）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用最小單位「1 像素」當步長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可以用矩陣（kernel）一次掃過全圖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影像處理可行（OK）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三種差分定義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8892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前向差分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8074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Difference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C1C1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f(x+1) − f(x)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2057400" cy="502920"/>
          </a:xfrm>
          <a:prstGeom prst="rect">
            <a:avLst/>
          </a:prstGeom>
          <a:solidFill>
            <a:srgbClr val="FAFAF5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−1, +1 ]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用「右邊那一格」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337560" y="1051560"/>
            <a:ext cx="278892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37560" y="10972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後向差分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7560" y="138074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Difference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C1C1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− f(x−1)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03320" y="3017520"/>
            <a:ext cx="2057400" cy="502920"/>
          </a:xfrm>
          <a:prstGeom prst="rect">
            <a:avLst/>
          </a:prstGeom>
          <a:solidFill>
            <a:srgbClr val="FAFAF5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703320" y="3017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−1, +1 ]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3794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用「左邊那一格」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217920" y="1051560"/>
            <a:ext cx="278892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217920" y="10972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中心差分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138074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Difference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C1C1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(f(x+1) − f(x−1)) / 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3017520"/>
            <a:ext cx="2057400" cy="502920"/>
          </a:xfrm>
          <a:prstGeom prst="rect">
            <a:avLst/>
          </a:prstGeom>
          <a:solidFill>
            <a:srgbClr val="FAFAF5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583680" y="3017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−1, 0, +1 ]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7947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對稱、誤差較小（推薦）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用卷積實現差分｜把差分包成 kernel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差分公式 → 卷積核（kernel）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97280" y="1554480"/>
            <a:ext cx="4572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554480" y="1554480"/>
            <a:ext cx="4572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solidFill>
            <a:srgbClr val="FFE9D6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solidFill>
            <a:srgbClr val="FFE9D6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554480" y="2011680"/>
            <a:ext cx="457200" cy="457200"/>
          </a:xfrm>
          <a:prstGeom prst="rect">
            <a:avLst/>
          </a:prstGeom>
          <a:solidFill>
            <a:srgbClr val="FFE9D6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097280" y="2468880"/>
            <a:ext cx="4572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554480" y="2468880"/>
            <a:ext cx="4572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0116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5C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∗</a:t>
            </a:r>
            <a:endParaRPr lang="en-US" sz="2800" dirty="0"/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51BD8108-A2BD-A915-36EB-15869A176CA2}"/>
              </a:ext>
            </a:extLst>
          </p:cNvPr>
          <p:cNvGrpSpPr/>
          <p:nvPr/>
        </p:nvGrpSpPr>
        <p:grpSpPr>
          <a:xfrm>
            <a:off x="2560320" y="2011680"/>
            <a:ext cx="1371600" cy="457200"/>
            <a:chOff x="2560320" y="2011680"/>
            <a:chExt cx="1371600" cy="457200"/>
          </a:xfrm>
        </p:grpSpPr>
        <p:sp>
          <p:nvSpPr>
            <p:cNvPr id="15" name="Shape 13"/>
            <p:cNvSpPr/>
            <p:nvPr/>
          </p:nvSpPr>
          <p:spPr>
            <a:xfrm>
              <a:off x="2560320" y="2011680"/>
              <a:ext cx="457200" cy="457200"/>
            </a:xfrm>
            <a:prstGeom prst="rect">
              <a:avLst/>
            </a:prstGeom>
            <a:solidFill>
              <a:srgbClr val="C45C00">
                <a:alpha val="30000"/>
              </a:srgbClr>
            </a:solidFill>
            <a:ln w="12700">
              <a:solidFill>
                <a:srgbClr val="C45C00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2560320" y="20116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3A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−1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017520" y="2011680"/>
              <a:ext cx="457200" cy="457200"/>
            </a:xfrm>
            <a:prstGeom prst="rect">
              <a:avLst/>
            </a:prstGeom>
            <a:solidFill>
              <a:srgbClr val="C45C00">
                <a:alpha val="30000"/>
              </a:srgbClr>
            </a:solidFill>
            <a:ln w="12700">
              <a:solidFill>
                <a:srgbClr val="C45C00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3017520" y="20116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3A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0</a:t>
              </a:r>
              <a:endParaRPr lang="en-US" sz="14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474720" y="2011680"/>
              <a:ext cx="457200" cy="457200"/>
            </a:xfrm>
            <a:prstGeom prst="rect">
              <a:avLst/>
            </a:prstGeom>
            <a:solidFill>
              <a:srgbClr val="C45C00">
                <a:alpha val="30000"/>
              </a:srgbClr>
            </a:solidFill>
            <a:ln w="12700">
              <a:solidFill>
                <a:srgbClr val="C45C00"/>
              </a:solidFill>
              <a:prstDash val="solid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3474720" y="201168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E3A5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+1</a:t>
              </a:r>
              <a:endParaRPr lang="en-US" sz="14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256032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Kernel（中心差分）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為什麼用卷積？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14630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把「逐點計算差分」包成 1D 卷積核 [-1, 0, +1]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 kernel 一次滑過整張影像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硬體加速友善（SIMD / GPU 卷積）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下一步：把 1D 拓展成 2D，得 (Ix, Iy)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cv2;  Ix = cv2.filter2D(img, -1, np.array([[-1, 0, 1]]))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二維拓展｜gradient 向量 (Ix, Iy)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4503" y="100584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兩個方向的偏導數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Ix：水平方向的差分（左右）→ 抓垂直邊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Iy：垂直方向的差分（上下）→ 抓水平邊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兩者組合 → 任意方向的邊都抓得到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下一步：用什麼 kernel 算 Ix、Iy？→ Sobel！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283</a:t>
            </a:r>
            <a:endParaRPr lang="en-US" sz="9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D3B0CB7-A0BD-8467-279D-6DA8B8EF0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326" y="1679526"/>
            <a:ext cx="4088674" cy="338625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287383" y="1024346"/>
            <a:ext cx="4863737" cy="1322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∇I = ( ∂I/∂x , ∂I/∂y ) = ( Ix , Iy )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Kernel｜抗噪 + 加權平均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Sobel-X（抓垂直邊）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54480" y="14173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5544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14173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54480" y="18745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554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18745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011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18745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4688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54480" y="23317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5544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0" y="23317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011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68880" y="23317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4688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Sobel-Y（抓水平邊）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0" y="14173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760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75120" y="14173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66751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60720" y="18745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7607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18745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217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75120" y="18745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675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760720" y="23317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7607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17920" y="23317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62179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675120" y="2331720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6675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為什麼中央列加權 2？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" y="35204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強調最靠近中心的像素，遠離中心的權重較低 → 抗高頻雜訊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本質：差分（邊偵測）+ 平滑（去雜訊）合而為一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OpenCV：cv2.Sobel(img, ddepth, dx, dy, ksize) — 一行算 Ix 或 Iy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/ Prewitt / Roberts｜三種一階偵測器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691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偵測器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中央權重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大小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對雜訊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計算成本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推薦情境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中等抗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通用首選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Prewitt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較弱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簡單實作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速度優先 / 教學示範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283</a:t>
            </a:r>
            <a:endParaRPr lang="en-US" sz="9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577E944-E126-F846-C14C-E9D8A2337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330" y="2610646"/>
            <a:ext cx="3963390" cy="24551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梯度大小 |∇I| 與方向 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|∇I| = √(Ix² + Iy²)        θ = arctan(Iy / Ix)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兩個物理意義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|∇I|：邊「強不強」— 用於強度濾除（threshold）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θ：邊的「方向」— 用於 Canny 的非極大抑制（NMS）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兩者一起構成「邊緣的完整描述」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OpenCV：cv2.cartToPolar(Ix, Iy, mag, angle)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工具層｜cv2.Sobel 完整範例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OpenCV 一行算梯度幅度與方向：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cv2,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cv2.imread('test.jpg', cv2.IMREAD_GRAYSCALE)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Ix = cv2.Sobel(img, cv2.CV_64F, 1, 0, ksize=3)   # 水平梯度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Iy = cv2.Sobel(img, cv2.CV_64F, 0, 1, ksize=3)   # 垂直梯度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 = np.sqrt(Ix**2 + Iy**2)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 = np.arctan2(Iy, Ix)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ddepth=cv2.CV_64F：避免梯度為負數時溢位（uint8 不夠）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ksize=3：Sobel kernel 大小（也可 5、7）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 mag 是 float，視覺化要先 normalize 到 0-255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二階導數派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一階導數有什麼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缺點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提示：一階只給「有邊」、不給「邊在哪一條 pixel 上」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二階導數（Zero</a:t>
            </a: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Crossing）的直覺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1D：f''(x) 在邊處跨零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338328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0" cy="237744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12801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194560" y="2926080"/>
            <a:ext cx="0" cy="45720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194560" y="3383280"/>
            <a:ext cx="18288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 flipV="1">
            <a:off x="2377440" y="2468880"/>
            <a:ext cx="0" cy="91440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377440" y="2468880"/>
            <a:ext cx="18288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2560320" y="2468880"/>
            <a:ext cx="0" cy="45720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560320" y="2926080"/>
            <a:ext cx="128016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313432" y="2853799"/>
            <a:ext cx="128016" cy="128016"/>
          </a:xfrm>
          <a:prstGeom prst="ellipse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761488" y="2941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r>
              <a:rPr lang="en-US" altLang="zh-TW" sz="1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Crossing</a:t>
            </a:r>
            <a:r>
              <a:rPr lang="en-US" sz="1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為什麼用二階？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一階：邊處有「極大值」，但不易找精確位置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二階：邊處剛好「跨零」，位置直接讀取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代價：對雜訊更敏感（雙重微分放大）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解法：先用 Gaussian 平滑 → LoG（下一頁）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Operator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∇²I = ∂²I/∂x² + ∂²I/∂y² ≈ Ixx + Iyy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離散版 Laplacian Kernel（3×3）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輸出值有正有負，邊處跨零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OpenCV：cv2.Laplacian(img, cv2.CV_64F)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283</a:t>
            </a:r>
            <a:endParaRPr lang="en-US" sz="9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12D2D85-7B8D-F60D-4DE9-EFD61E3DAA16}"/>
              </a:ext>
            </a:extLst>
          </p:cNvPr>
          <p:cNvSpPr txBox="1"/>
          <p:nvPr/>
        </p:nvSpPr>
        <p:spPr>
          <a:xfrm>
            <a:off x="3413760" y="6312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3"/>
              </a:rPr>
              <a:t>OpenCV</a:t>
            </a:r>
            <a:r>
              <a:rPr lang="zh-TW" altLang="en-US" dirty="0">
                <a:hlinkClick r:id="rId3"/>
              </a:rPr>
              <a:t>系列十 </a:t>
            </a:r>
            <a:r>
              <a:rPr lang="en-US" altLang="zh-TW" dirty="0">
                <a:hlinkClick r:id="rId3"/>
              </a:rPr>
              <a:t>--- </a:t>
            </a:r>
            <a:r>
              <a:rPr lang="zh-TW" altLang="en-US" dirty="0">
                <a:hlinkClick r:id="rId3"/>
              </a:rPr>
              <a:t>邊緣檢測之</a:t>
            </a:r>
            <a:r>
              <a:rPr lang="en-US" altLang="zh-TW" dirty="0">
                <a:hlinkClick r:id="rId3"/>
              </a:rPr>
              <a:t>Laplacian</a:t>
            </a:r>
            <a:r>
              <a:rPr lang="zh-TW" altLang="en-US" dirty="0">
                <a:hlinkClick r:id="rId3"/>
              </a:rPr>
              <a:t>算子</a:t>
            </a:r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F495E4CB-968D-AE84-A708-43D05206A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367" y="2670048"/>
            <a:ext cx="2140786" cy="169449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8B72E25-0CCA-5016-4DA8-9990C1170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026" y="2670048"/>
            <a:ext cx="2175468" cy="16944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9F765D6-EC30-D845-465A-1A4F0B3E6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498" y="43891"/>
            <a:ext cx="5521285" cy="226224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46816D1-5205-5E0D-DBBF-363FF933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94" y="2436267"/>
            <a:ext cx="8116389" cy="245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74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的雜訊敏感問題 → LoG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直接用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二階微分對雜訊放大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輸入有雜訊 → 輸出邊滿天飛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幾乎不能直接用於真實影像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(Laplacian of Gaussian)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39" y="1645920"/>
            <a:ext cx="375121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 Gaussian 平滑、再 Laplacian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= ∇²(G ∗ I) = (∇²G) ∗ 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兩步合一個 kernel，效率高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控制平滑程度（也決定能抓多大尺度的邊）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視覺化｜以及一個重要伏筆：DoG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09303" y="808590"/>
            <a:ext cx="4114800" cy="4334909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響應（不同 σ）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為什麼提早講 DoG？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9896" y="1691640"/>
            <a:ext cx="41583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= Difference of Gaussian：兩個不同 σ 的 Gaussian 相減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≈ LoG，但只算減法 → 計算便宜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SIFT 的偵測器骨幹就是 DoG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邊緣的工具，會在 W7 變成關鍵點的工具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283</a:t>
            </a:r>
            <a:endParaRPr lang="en-US" sz="900" dirty="0"/>
          </a:p>
        </p:txBody>
      </p:sp>
      <p:pic>
        <p:nvPicPr>
          <p:cNvPr id="11" name="圖片 10" descr="image processing - Python implementation of the laplacian of gaussian edge  detection - Stack Overflow">
            <a:extLst>
              <a:ext uri="{FF2B5EF4-FFF2-40B4-BE49-F238E27FC236}">
                <a16:creationId xmlns:a16="http://schemas.microsoft.com/office/drawing/2014/main" id="{224C38AA-0612-9E4B-BECA-422AAA73E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6" y="1188720"/>
            <a:ext cx="3763267" cy="385680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另一個觀點｜頻率域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 kernel 在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頻率域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長什麼樣？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提示：空間域卷積 ≡ 頻率域相乘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卷積定理（Convolution Theorem）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 f ∗ g ) = F(f) · F(g)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兩條等價的路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空間域：影像 ∗ kernel = 直接卷積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頻率域：F(影像) × F(kernel) = 元素相乘 → 反 FFT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兩者數學上完全等價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為什麼有用？因為 FFT 是 O(N log N)，大 kernel 上比直接卷積快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711FA38-00FC-3E98-A450-62C06EC75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24" y="0"/>
            <a:ext cx="69481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85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5187910-6489-0C78-2BA4-F387B6B1D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49" y="0"/>
            <a:ext cx="73867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988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53BD78B-AFC3-D317-FC30-8D9224D37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420"/>
            <a:ext cx="9144000" cy="355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037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邊緣偵測 = 高通濾波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影像的「慢變」資訊（同質區）→ </a:t>
            </a: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頻譜中心的低頻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影像的「快變」資訊（邊緣、雜訊）→ </a:t>
            </a: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頻譜外圍的高頻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283</a:t>
            </a:r>
            <a:endParaRPr lang="en-US" sz="9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2B3CCC75-C6FD-2DF8-1FB4-A5A2EA8A0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79" y="2464440"/>
            <a:ext cx="7214199" cy="150775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 Filter 的另一條路｜頻率域思考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傳統做法：在空間域寫一個小 kernel（譬如 Sobel 3×3），跑卷積。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另一條路：直接在頻率域畫一個「想保留什麼頻率」的遮罩 → 反 FFT 回空間域。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為什麼這個觀點重要？因為當你想設計新的濾波器（譬如「想抓 5-15 像素寬度的條紋」），在頻率域比在空間域思考容易得多。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回到主線：用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Sobel + Laplacian 鋪好的基礎，看 Canny 怎麼把它們組合成最強的邊緣偵測器。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283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邊緣偵測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已經夠好了，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為什麼還要 Canny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提示：邊緣偵測有三大目標 Sobel 沒解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283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三大設計目標（Canny 1986）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Error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低錯誤率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不漏邊（漏報少）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也不虛報邊（誤報少）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Localization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良好定位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偵測出的邊，要落在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真實邊的「正確位置」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單一響應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0936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一條真實邊</a:t>
            </a: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只標記一條邊出來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283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五步驟總覽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高斯平滑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去雜訊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76272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176272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76272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67712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計算梯度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13432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 |∇I|, 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75304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95344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895344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895344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86784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32504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非極大抑制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細化邊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94376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614416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5614416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614416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05856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雙閾值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51576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分強邊 / 弱邊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13448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333488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7333488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333488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24928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0648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弱邊連到強邊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才保留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整合輸出：高品質邊緣圖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283</a:t>
            </a:r>
            <a:endParaRPr lang="en-US" sz="9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9B5A0E0-1CAF-09DB-FC0E-B760C2316068}"/>
              </a:ext>
            </a:extLst>
          </p:cNvPr>
          <p:cNvSpPr txBox="1"/>
          <p:nvPr/>
        </p:nvSpPr>
        <p:spPr>
          <a:xfrm>
            <a:off x="2962656" y="3378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3"/>
              </a:rPr>
              <a:t>邊緣偵測懶人包</a:t>
            </a:r>
            <a:r>
              <a:rPr lang="en-US" altLang="zh-TW" dirty="0">
                <a:hlinkClick r:id="rId3"/>
              </a:rPr>
              <a:t>-Canny</a:t>
            </a:r>
            <a:r>
              <a:rPr lang="zh-TW" altLang="en-US" dirty="0">
                <a:hlinkClick r:id="rId3"/>
              </a:rPr>
              <a:t>演算法</a:t>
            </a:r>
            <a:endParaRPr lang="zh-TW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+ 2：高斯平滑 + 梯度計算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1：Gaussian Blur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Gaussian kernel 平滑影像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目的：抑制高頻雜訊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太小：雜訊還在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太大：邊也被模糊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OpenCV：cv2.GaussianBlur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2：Sobel 計算梯度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對平滑後的影像做 Sobel-X 與 Sobel-Y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得到 |∇I| 與 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量化到 4 個方向（0°/45°/90°/135°）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為下一步 NMS 鋪路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283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3：非極大值抑制（NMS）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目的：把「肥的邊」細化成「1 像素寬」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機制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5029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874520" y="1920240"/>
            <a:ext cx="5029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874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0"/>
            <a:ext cx="5029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371600" y="2423160"/>
            <a:ext cx="5029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874520" y="2423160"/>
            <a:ext cx="502920" cy="502920"/>
          </a:xfrm>
          <a:prstGeom prst="rect">
            <a:avLst/>
          </a:prstGeom>
          <a:solidFill>
            <a:srgbClr val="FFE9D6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8745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77440" y="2423160"/>
            <a:ext cx="5029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371600" y="2926080"/>
            <a:ext cx="5029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874520" y="2926080"/>
            <a:ext cx="5029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874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377440" y="2926080"/>
            <a:ext cx="5029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沿梯度方向（上下）比較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中心強度若是局部最大 → 保留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否則 → 抑制（清為 0）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方向量化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96596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量化到最近的 4 個方向：0° / 45° / 90° / 135°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對每個像素，沿其方向取「兩個鄰居」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若中心 |∇I| 不是這三點的最大 → 抑制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輸出：邊變成 1 像素細線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283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+ 5：雙閾值 + Hysteresis 連邊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4：Double Threshold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兩個閾值：T_high、T_low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|∇I| &gt; T_high → 強邊（一定保留）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T_low ≤ |∇I| ≤ T_high → 弱邊（候選）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|∇I| &lt; T_low → 直接丟掉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5：Hysteresis 連邊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對每個弱邊像素檢查 8 鄰居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若鄰居有強邊 → 此弱邊提升為邊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否則 → 丟掉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結果：完整連續的邊，沒有斷裂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01 邊緣偵測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283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Transform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給你一堆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邊緣像素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，怎麼把它們組合成「一條直線」？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283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從邊到結構｜邊緣像素 → 幾何模型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邊緣偵測得到的是「散落的像素點」，不是「線」或「圓」這種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幾何物件</a:t>
            </a: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Transform 的核心思想：讓每一個邊緣點對「它可能屬於哪些線/圓」投票，得票最多的線/圓就是答案。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這是一種「將模式辨識轉化為投票統計」的優雅手法。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本節主軸：先用直線講清楚原理，再拓展到圓形與其他可參數化形狀。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283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影像空間 vs 參數空間（直線版）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影像空間 (x, 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我們看到的圖像座標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邊緣像素分布在這裡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一個影像點 = 一個 (x, 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通過此點的直線：無限多條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參數空間 (a, b)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用直線方程 y = ax + b 的 (a, b) 當座標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一條直線 = 一個 (a, 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影像空間「通過 (x,y) 的所有直線」對應 → 參數空間一條線：b = -ax + 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283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直線推導｜f(x, y) = y − ax − b = 0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a·x + b   ⇄   b = −a·x + 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雙向對應的觀念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影像空間：給 (x, y) 固定，b 是 a 的線性函數 → 參數空間一條直線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參數空間：給 (a, b) 固定，這條直線是「通過 (x, y) 的特定一條」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邊緣點 (x_i, y_i) 越多 → 參數空間的「線」越多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若這些線交於一點 (a*, b*) → 影像空間 (a*, b*) 那條直線通過所有點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283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投票機制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參數空間的 2D 票箱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280160" y="18288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645920" y="18288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011680" y="18288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377440" y="18288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743200" y="18288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108960" y="18288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280160" y="219456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645920" y="219456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011680" y="219456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2377440" y="2194560"/>
            <a:ext cx="365760" cy="365760"/>
          </a:xfrm>
          <a:prstGeom prst="rect">
            <a:avLst/>
          </a:prstGeom>
          <a:solidFill>
            <a:srgbClr val="FFE9D6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2743200" y="219456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3108960" y="219456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3474720" y="219456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256032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1280160" y="256032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1645920" y="256032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2011680" y="2560320"/>
            <a:ext cx="365760" cy="365760"/>
          </a:xfrm>
          <a:prstGeom prst="rect">
            <a:avLst/>
          </a:prstGeom>
          <a:solidFill>
            <a:srgbClr val="FFE9D6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2377440" y="2560320"/>
            <a:ext cx="365760" cy="365760"/>
          </a:xfrm>
          <a:prstGeom prst="rect">
            <a:avLst/>
          </a:prstGeom>
          <a:solidFill>
            <a:srgbClr val="C45C00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2743200" y="2560320"/>
            <a:ext cx="365760" cy="365760"/>
          </a:xfrm>
          <a:prstGeom prst="rect">
            <a:avLst/>
          </a:prstGeom>
          <a:solidFill>
            <a:srgbClr val="FFE9D6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3108960" y="256032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3474720" y="256032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914400" y="292608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1280160" y="292608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1645920" y="292608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2011680" y="292608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2377440" y="2926080"/>
            <a:ext cx="365760" cy="365760"/>
          </a:xfrm>
          <a:prstGeom prst="rect">
            <a:avLst/>
          </a:prstGeom>
          <a:solidFill>
            <a:srgbClr val="FFE9D6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2743200" y="292608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108960" y="292608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3474720" y="292608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1280160" y="329184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1645920" y="329184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2011680" y="329184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2377440" y="329184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2743200" y="329184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3108960" y="329184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3474720" y="329184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914400" y="36576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1280160" y="36576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1645920" y="36576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2011680" y="36576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2377440" y="36576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2743200" y="36576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3108960" y="36576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3474720" y="3657600"/>
            <a:ext cx="3657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23774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78892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票數最多 = 最有共識的直線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投票邏輯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3776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參數空間用 2D 陣列存「票數」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對每個邊緣 (x, y)，掃過所有可能 a，計算 b = -ax + 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(a, b) 那格 +1（投一票）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票數最高的 (a*, b*) → 影像中最有共識的直線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283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直線演算法｜四步驟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7830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邊緣抽取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Canny 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得邊緣像素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7830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178308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60604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423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對每點掃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累加 (a,b) 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17830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78308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找峰值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423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 accumulator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局部最大值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7830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903720" y="1371600"/>
            <a:ext cx="178308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90372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回映射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2423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(a*,b*)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影像空間直線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整合輸出：高品質邊緣圖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283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b) 參數化的隱憂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若直線是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垂直的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（x = c），a → ∞ 怎麼存？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解法：換成 (ρ, θ) 標準參數化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283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 Hough｜(ρ, θ) 參數空間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· cos θ + y · sin θ = 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兩個有界參數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θ：直線法向量的角度，範圍 [0, π) — 有界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ρ：原點到直線的有號距離，範圍 [-D, D] — 有界（D = 影像對角線長）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影像空間一個 (x, y) → 參數空間一條正弦曲線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預設：cv2.HoughLines 用的就是這個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283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工具層｜cv2.HoughLines vs HoughLinesP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提供標準版與概率版（Probabilistic）：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cv2.Canny(img, 50, 150)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標準版：返回 (ρ, θ)，需要自己算端點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= cv2.HoughLines(edges, rho=1, theta=np.pi/180, threshold=200)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概率版：直接返回端點 (x1, y1, x2, y2)，效率更高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linesP = cv2.HoughLinesP(edges, 1, np.pi/180, 100, minLineLength=50, maxLineGap=10)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rho/theta：accumulator 的解析度（rho=1 像素、theta=1°）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threshold：accumulator 票數閾值（過低會抓太多假線）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HoughLinesP 多兩個參數：minLineLength（最短線段）、maxLineGap（允許斷開）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283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圓形偵測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直線可以投票，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圓也可以嗎？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提示：圓需要 3 個參數 (a, b, r)，參數空間升到 3D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283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圓形 Hough｜(a, b, r) 三維參數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 − a)² + (y − b)² = r²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影像點對應 3D circular cone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b)：圓心座標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r：半徑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影像空間一個 (x, y) → 參數空間一個圓錐面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兩個影像點若同圓 → 兩個圓錐交於一點 (a*, b*, r*)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283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三維累增器與計算成本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直線版的 accumulator 是 2D：(ρ, θ) — 通常 ~1000×180 = 180K 格。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圓形版升到 3D：(a, b, r) — 影像 512×512 + r 範圍 [10, 100] = 512×512×90 ≈ 23M 格。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兩個成本飆升：(1) 記憶體 100× (2) 投票次數同步 100× — 直接實作會非常慢。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實務簡化：用「梯度方向」加速 — 邊緣點的法向量指向圓心方向，不必對所有 a, b 投票，只在沿梯度方向的線上投票。OpenCV cv2.HoughCircles 用的就是這招（Hough Gradient method）。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283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工具層｜cv2.HoughCircles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圓形偵測比直線多很多參數，需要仔細調：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img_gray = cv2.cvtColor(img, cv2.COLOR_BGR2GRAY)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img_blur = cv2.medianBlur(img_gray, 5)  # 一定要先模糊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circles = cv2.HoughCircles(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img_blur, cv2.HOUGH_GRADIENT, dp=1, minDist=30,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param1=100, param2=30, minRadius=10, maxRadius=80)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(x, y, r) in circles[0]:  cv2.circle(img, (x,y), r, (0,255,0), 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dp：accumulator 解析度比例（1 = 同影像）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minDist：兩圓心最小距離（防止重疊偵測）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param1：Canny 高閾值；param2：accumulator 閾值（越低抓越多）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283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Transform 應用全景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" cy="1645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車道線偵測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自駕車前處理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+ Hough Lines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617720" y="1051560"/>
            <a:ext cx="137160" cy="1645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硬幣計數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工業檢測 / 收銀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Circles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37160" cy="1645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虹膜定位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生物辨識前處理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找眼睛的圓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834640"/>
            <a:ext cx="4023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617720" y="2834640"/>
            <a:ext cx="137160" cy="1645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93776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路標辨識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三角形 / 圓形路標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變形版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283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的限制與小結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的擅長：可參數化的形狀（直線、圓、橢圓）。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 的不擅長：(1) 對雜訊敏感 — accumulator 容易出現假峰值。 (2) 參數空間爆炸 — 形狀越複雜（譬如橢圓 5 參數），記憶體與計算都飆升。 (3) 不適合任意形狀 — 形狀無法寫成解析式時，沒法用。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模組 3 形態學：另一條清資料的路。形態學處理的不是「點集合」，而是「形狀的集合論操作」。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模組 4 連通元/輪廓：再一條找形狀的路，處理任意（非參數化）形狀。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02 Hough Transform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283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形態學影像處理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邊緣偵測或閾值化後，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二值圖滿是雜訊小點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，怎麼清乾淨？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283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形態學是什麼？集合論 + 拓撲學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形態學（Mathematical Morphology）的數學基礎是「集合論」與「拓撲學」。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核心觀念：把二值影像當成「像素集合」，然後用幾何「探針」（structuring element, SE）對這個集合做幾何運算。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從「像素操作」（前幾週）到「集合操作」（本節）— 觀念跳躍很大但威力極強。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本節主菜：erosion、dilation 兩個基本運算 + opening、closing 兩個組合 + 邊界、骨架、頂帽等延伸應用。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283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形態學能做什麼？應用全景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邊界抽取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0972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468880" y="1097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區域填充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0972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480560" y="1097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細線化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0972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92240" y="10972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找骨架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68880" y="20116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2468880" y="2011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凸形輪廓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20116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480560" y="2011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形態濾波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20116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形態梯度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頂帽轉換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29260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2468880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黑帽轉換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80560" y="29260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480560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顆粒量測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29260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492240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紋理分割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本節先講前 4 個基本運算（erosion / dilation / opening / closing），其餘是組合或延伸應用。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283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結構元素（Structuring Element, SE）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= 形狀的「探針」 — 一個小型矩陣定義你想用什麼形狀去測影像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方形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44168" y="1828800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636776" y="1828800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929384" y="1828800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344168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636776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929384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344168" y="2414016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636776" y="2414016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929384" y="2414016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3832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十字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87368" y="1828800"/>
            <a:ext cx="29260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379976" y="1828800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672584" y="1828800"/>
            <a:ext cx="29260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087368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379976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672584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087368" y="2414016"/>
            <a:ext cx="29260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379976" y="2414016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672584" y="2414016"/>
            <a:ext cx="29260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1264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橢圓（近似）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1828800"/>
            <a:ext cx="29260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830568" y="1828800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7123176" y="1828800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7415784" y="1828800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7708392" y="1828800"/>
            <a:ext cx="29260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537960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6830568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7123176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7415784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7708392" y="2121408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6537960" y="2414016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6830568" y="2414016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7123176" y="2414016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7415784" y="2414016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7708392" y="2414016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6537960" y="2706624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6830568" y="2706624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7123176" y="2706624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7415784" y="2706624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7708392" y="2706624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6537960" y="2999232"/>
            <a:ext cx="29260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6830568" y="2999232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7123176" y="2999232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7415784" y="2999232"/>
            <a:ext cx="292608" cy="292608"/>
          </a:xfrm>
          <a:prstGeom prst="rect">
            <a:avLst/>
          </a:prstGeom>
          <a:solidFill>
            <a:srgbClr val="C45C00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7708392" y="2999232"/>
            <a:ext cx="292608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OpenCV：cv2.getStructuringElement(cv2.MORPH_RECT / MORPH_CROSS / MORPH_ELLIPSE, (k, k))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283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基本運算 1｜Erosion 侵蝕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⊖ B = { z | (B)_z ⊆ A }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直觀解讀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SE = B 在影像 = A 上滑動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SE 完全落在 A 內 → 中心保留為 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否則 → 中心變 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效果：縮小前景、消除小亮點、斷開細連接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283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的典型用途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前處理：消雜訊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二值圖中的「孤立白點」雜訊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3×3 SE erode 一次 → 雜訊消失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代價：所有前景都「瘦了一圈」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形狀分析：細連接斷開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兩個物件被一條 1 像素細線粘在一起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把細線「斷開」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 CCL 才能正確分出兩個物件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283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基本運算 2｜Dilation 膨脹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⊕ B = { z | (B̂)_z ∩ A ≠ ∅ }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直觀解讀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SE = B 在影像 = A 上滑動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SE 與 A 有交集 → 中心擴展為 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效果：放大前景、填補小洞、連接斷裂邊界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的「對偶」運算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283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的典型用途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後處理：填小洞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前景物件中有「孤立黑點」雜訊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 一次 → 黑點被填補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代價：所有前景都「胖了一圈」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邊緣連邊：補斷裂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後邊有時斷裂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 → 把鄰近的邊「拉在一起」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 findContours 才能抽出完整輪廓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283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組合運算 1｜Opening = Erosion → Dilation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∘ B = (A ⊖ B) ⊕ 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為什麼這個順序？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先去除小亮點 / 細連接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把保留的物件回復原本大小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結果：去雜訊、但保持大物件形狀不變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效果：「打開」物件之間的縫隙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283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組合運算 2｜Closing = Dilation → Erosion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• B = (A ⊕ B) ⊖ 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的對偶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先填補小洞 / 連接斷裂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把擴大的部分縮回原本大小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結果：填補洞、但保持大物件形狀不變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效果：「關閉」物件中的破洞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283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vs Closing 對照表</a:t>
            </a:r>
            <a:endParaRPr lang="en-US" sz="2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順序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Erosion → Dilation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Dilation → Erosion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效果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去除小亮點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填補小洞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保留大物件？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典型場景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去除雜訊斑點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連接斷裂邊緣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結果幾何意義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「打開」間隙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「關閉」破洞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283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形態學梯度（Morphological Gradient）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G(A) = (A ⊕ B) − (A ⊖ B)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另一條找邊的路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膨脹結果 − 侵蝕結果 = 1 像素寬的物件邊界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Sobel/Canny 比：不需要梯度計算，純集合運算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缺點：對雜訊敏感（沒有平滑步驟）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OpenCV：cv2.morphologyEx(img, cv2.MORPH_GRADIENT, kernel)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/ 283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頂帽轉換（Top-hat）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T(A) = A − (A ∘ B)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抽取「比背景亮的小結構」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原圖 − Opening 結果 = 那些被 Opening 「砍掉」的部分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適用：照明不均的影像，分割小亮物件（如文字）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對「光照背景」做 Opening → 留下光照圖 → 原圖減掉它 = 物件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OpenCV：cv2.morphologyEx(img, cv2.MORPH_TOPHAT, kernel)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/ 283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黑帽轉換（Black-hat）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B(A) = (A • B) − 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抽取「比背景暗的小結構」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結果 − 原圖 = 那些被 Closing 「填補掉」的部分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適用：找暗紋（地圖上的細線、X 光中的細小裂縫）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Top-hat 互為對偶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OpenCV：cv2.morphologyEx(img, cv2.MORPH_BLACKHAT, kernel)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/ 283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邊界抽取（Boundary Extraction）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β(A) = A − (A ⊖ B)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像素寬的物件邊界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原圖 − Erosion 結果 = 物件邊緣的 1 像素環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與形態學梯度的差異：少了膨脹那部分（更瘦的邊）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用於物件輪廓視覺化或形狀分析前處理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結果幾乎等同物件外輪廓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/ 283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區域填充（Region Filling）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問題：物件外輪廓你有了，但內部沒填滿，怎麼填？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解法：從區域內的種子點 p 出發，反覆做「Dilation 限制在 ¬A 內」的迭代運算，直到收斂。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公式：X_k = (X_{k-1} ⊕ B) ∩ A^c，X_0 = {p}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提供 cv2.floodFill 直接實作這個邏輯，更實用。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/ 283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細線化（Skeletonization / Topological Skeleton）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目標：把一個前景物件「瘦身」到只剩 1 像素寬的骨架，但保留拓撲連通性。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方法：反覆 Erosion，每次保留「erode 之前的物件 − erode 之後的物件」直到物件消失。所有保留下來的像素聯合 = 骨架。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應用：手寫字筆劃分析、血管網路提取、指紋紋線分析。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OpenCV：opencv-contrib 模組的 cv2.ximgproc.thinning 提供高效實作（Zhang-Suen 演算法）。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283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骨架萃取應用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前處理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Character Recognition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把粗筆劃文字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細化成 1 像素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好做形狀比對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醫學影像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血管網路、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神經樹狀分析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保留拓撲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生物辨識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指紋紋線骨架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找端點與分岔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當特徵點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283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形態學在彩色與灰階影像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二值版（前面講的）：A、B 都是 {0, 1} 的集合。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灰階版：把集合論換成 max/min — Dilation = 鄰域最大值，Erosion = 鄰域最小值。所有公式同步推廣。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彩色版：三通道（B, G, R）各自做形態學，最後合併。但會產生顏色漂移，實務常先轉到 HSV、只動 V 通道。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本週示範以二值為主，灰階版只在 cv2.morphologyEx 的參數中標明 — OpenCV 自動處理灰階輸入。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/ 283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工具層｜OpenCV 形態學一覽</a:t>
            </a:r>
            <a:endParaRPr lang="en-US" sz="22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函數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等價數學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cv2.erode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侵蝕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⊖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cv2.dilate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膨脹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⊕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cv2.morphologyEx(MORPH_OPEN)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 ⊖ B) ⊕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cv2.morphologyEx(MORPH_CLOSE)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 ⊕ B) ⊖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cv2.morphologyEx(MORPH_GRADIENT)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形態梯度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 ⊕ B) − (A ⊖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cv2.morphologyEx(MORPH_TOPHAT)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頂帽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− (A ∘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cv2.morphologyEx(MORPH_BLACKHAT)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黑帽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 • B) −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283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整合範例｜Canny + 形態學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邊緣後常常需要形態學「補綴」才能用：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cv2.Canny(img, 50, 150)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Closing：把斷裂的邊連起來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cv2.getStructuringElement(cv2.MORPH_RECT, (3, 3))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= cv2.morphologyEx(edges, cv2.MORPH_CLOSE, kernel, iterations=2)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Opening：去除孤立小點雜訊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= cv2.morphologyEx(closed, cv2.MORPH_OPEN, kernel)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size 越大 → 補的洞越大但物件變形也越多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多次效果疊加（譬如 2 次 close 大約等於 5×5 kernel close 1 次）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順序：先 Close 再 Open 通常能得到「乾淨且連續」的邊緣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/ 283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 3 小結 + 過渡到模組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形態學的核心：用「結構元素」當探針，以集合運算操作影像形狀。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兩個基本運算（erosion、dilation）+ 兩個組合（opening、closing）+ 衍生變化（梯度、頂帽、黑帽、骨架）= 完整工具箱。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形態學讓二值圖「乾淨可用」，下一節我們把這些乾淨的形狀「量化描述」 — 連通元標記、輪廓抽取、形狀特徵。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模組 4：CCL → findContours → 形狀度量。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03 形態學處理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283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連通元 + 輪廓 + 形狀特徵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清乾淨的二值圖裡有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個白色斑塊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，怎麼一個個編號、量它們的形狀？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/ 283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連通性｜4-connectivity vs 8-connectivity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4-connectivity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鄰居 = 上下左右 4 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對角不算鄰居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結果：物件較「保守」分得多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8-connectivity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鄰居 = 上下左右 + 4 對角 = 8 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對角也算鄰居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結果：物件較「寬鬆」分得少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預設 8-connectivity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/ 283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連通元標記（Connected Component Labeling, CCL）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目標：給每個連通的前景區塊一個唯一的整數標籤（1, 2, 3, ...）。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經典演算法：兩遍掃描法（Two-pass）。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第一遍：左到右、上到下逐像素掃描；若是前景，看左方與上方鄰居是否已有標籤。沒有就給新標籤；有就用最小的標籤，並紀錄等價關係（譬如 2≡5）。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第二遍：根據等價表（用 Union-Find 高效處理）統一標籤 — 譬如所有 5 都改成 2。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OpenCV：cv2.connectedComponents 或 cv2.connectedComponentsWithStats（後者額外給面積、bounding box、質心）。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/ 283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工具層｜cv2.connectedComponentsWithStats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一行得到「每個連通元的所有統計資訊」：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ret, labels, stats, centroids = cv2.connectedComponentsWithStats(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binary_img, connectivity=8, ltype=cv2.CV_32S)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stats 每行 5 欄：[x_left, y_top, width, height, area]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centroids 每行 2 欄：[centroid_x, centroid_y]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ret):  # 跳過 0（背景）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w, h, area = stats[i]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ret：連通元數量（含背景，所以 i 從 1 開始）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labels：與輸入同尺寸的 int 陣列，每像素的標籤值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為什麼好用：把標記 + 統計一次完成，不用再寫 loop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/ 283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從連通元到「形狀」｜四個基本度量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像素數量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最直觀的尺寸度量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幾何中心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(x̄, ȳ)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平均座標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物件位置的代表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緊密度 / 圓度量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 / Circularity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P²/A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0936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形狀「多接近圓」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圓最小（4π）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複雜形狀大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/ 283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面積與周長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| { (x,y) ∈ 物件 } |     P = | 邊界像素 |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兩個最基本的幾何量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A：像素數量（已在 cv2.connectedComponentsWithStats 直接給）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P：周長 — 邊界像素的數量 / 弧長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OpenCV：cv2.contourArea(cnt) 與 cv2.arcLength(cnt, closed=True)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周長計算需要先抽輪廓 contour，下一節會講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/ 283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幾何中心（Centroid）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x̄ = m_{10} / m_{00}      ȳ = m_{01} / m_{00}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用「矩」來算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m_{00} = Σ 1（= 面積）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m_{10} = Σ x（所有 x 座標和）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m_{01} = Σ y（所有 y 座標和）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OpenCV：M = cv2.moments(cnt); cx = int(M['m10']/M['m00'])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/ 283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緊密度（Compactness）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= P² / 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形狀越複雜，C 越大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圓形：C = (2πr)² / (πr²) = 4π ≈ 12.57（最小值）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正方形：C ≈ 16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細長條 / 多角星：C 可達 100+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用法：閾值 C 過濾「太複雜」的形狀（譬如非物件雜訊）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283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圓度量（Circularity）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Circularity = 4πA / P²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[0, 1] 之間，圓 =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圓形：4π·πr² / (2πr)² = 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正方形：4π · 1 / 16 ≈ 0.785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細長條：很接近 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用法：硬幣 / 瞳孔等圓物件偵測，先 threshold = 0.85+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/ 283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輪廓搜尋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怎麼把連通元的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「邊界」抽出來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提示：邊界 = 一連串有序的邊緣像素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/ 283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輪廓表達方式｜邊界像素鏈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= 一連串有序的邊界像素 [(x1,y1), (x2,y2), ...]，閉合或開放。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Chain Code：另一種表示法 — 不存座標，而是存「下一步往哪走」（8 個方向 = 0-7 的整數）。比座標更省空間。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的 cv2.findContours 預設用座標序列，第二個參數 method 可選 CHAIN_APPROX_NONE（全部存）或 CHAIN_APPROX_SIMPLE（只存轉折點，省空間）。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拿到後，幾乎所有形狀分析都是「對這個點序列做計算」。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/ 283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工具層｜cv2.findContours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的核心輪廓 API：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contours, hierarchy = cv2.findContours(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binary_img, mode=cv2.RETR_EXTERNAL, method=cv2.CHAIN_APPROX_SIMPLE)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contours 是 list，每個元素是一個 contour（N×1×2 陣列）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cnt in contours: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area = cv2.contourArea(cnt)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perimeter = cv2.arcLength(cnt, True)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RETR_EXTERNAL：只外輪廓；RETR_LIST：所有；RETR_TREE：含階層關係（外/內）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CHAIN_APPROX_NONE：全部點；CHAIN_APPROX_SIMPLE：壓縮（直線只存兩端）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給輪廓間的父子關係（外層、內洞）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/ 283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輪廓特徵 1｜Bounding Box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軸對齊外接矩形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w, h = cv2.boundingRect(cnt)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邊永遠水平/垂直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計算極快（只要找 x, y 的 max/min）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缺點：旋轉物件的 box 會比物件大很多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最小外接矩形（含旋轉）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 = cv2.minAreaRect(cnt)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 = (center, (w, h), angle)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包含旋轉資訊，box 緊貼物件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計算稍慢（旋轉卡尺演算法）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283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輪廓特徵 2｜凸包（Convex Hull）與凸缺陷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凸包：包住物件的「最小凸多邊形」 — 直觀：用橡皮筋圍住所有點。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演算法：Graham scan、Andrew monotone chain（O(n log n)）。OpenCV 提供 cv2.convexHull。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凸缺陷（Convexity Defects）：原物件輪廓「凹」進去的部分。每個缺陷由 (start, end, far_point, distance) 表示。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經典應用：手勢辨識 — 5 根手指構成手部凸包，4 個指縫構成 4 個凸缺陷 → 算指縫數可推手勢。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/ 283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輪廓特徵 3｜圓擬合與橢圓擬合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用最小平方法擬合幾何形狀：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最小外接圓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(cx, cy), radius = cv2.minEnclosingCircle(cnt)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最小平方擬合圓（更精確，需要至少 5 個點）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ellipse = cv2.fitEllipse(cnt)  # ((cx,cy), (a,b), angle)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一般用法：物件中心定位、方向估計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minEnclosingCircle：保證包住所有點，但圓可能比物件大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fitEllipse：擬合最佳橢圓，更貼近物件實際形狀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應用：細胞顯微影像、車輪識別、瞳孔追蹤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/ 283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輪廓特徵 4｜Hu Moments 形狀描述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Moments（Hu 1962）：7 個對「平移、旋轉、尺度」三種變化都不變的矩。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做法：先計算原始矩 m_pq（前面看過的 m_10、m_01、m_00 都是），再做歸一化中心矩，最後用 7 個固定組合得到 7 個不變量 ϕ_1…ϕ_7。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用途：形狀比對（譬如「這個輪廓跟哪個樣本最像」）。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OpenCV：M = cv2.moments(cnt); hu = cv2.HuMoments(M).flatten() — 一行得到 7 維形狀指紋。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283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整合應用｜硬幣計數實例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W6 學到的工具串成完整 pipeline：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cv2.imread('coins.jpg')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cv2.cvtColor(img, cv2.COLOR_BGR2GRAY)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 = cv2.GaussianBlur(gray, (5, 5), 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cv2.Canny(blur, 50, 150)                          # W6 模組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cv2.getStructuringElement(cv2.MORPH_RECT, (5, 5))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= cv2.morphologyEx(edges, cv2.MORPH_CLOSE, k)      # W6 模組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contours, _ = cv2.findContours(closed, cv2.RETR_EXTERNAL, cv2.CHAIN_APPROX_SIMPLE)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coins = [c for c in contours if cv2.contourArea(c) &gt; 500]  # W6 模組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print(f'共偵測到 {len(coins)} 枚硬幣')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若用 cv2.HoughCircles 直接做，效率更高 — 兩種路徑都應該會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閾值 500 是經驗值，要依影像大小調整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也可加圓度量過濾（只保留 circularity &gt; 0.85 的物件）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/ 283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整合應用｜文件區塊分割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報紙、發票等版面切割的標準流程：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cv2.cvtColor(img, cv2.COLOR_BGR2GRAY)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binary = cv2.threshold(gray, 0, 255, cv2.THRESH_BINARY_INV + cv2.THRESH_OTSU)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Closing：把同一段文字的字符連成一塊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cv2.getStructuringElement(cv2.MORPH_RECT, (15, 5))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= cv2.morphologyEx(binary, cv2.MORPH_CLOSE, 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ret, labels, stats, _ = cv2.connectedComponentsWithStats(closed)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ret):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w, h, area = stats[i]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area &gt; 500:  cv2.rectangle(img, (x,y), (x+w,y+h), (0,255,0), 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形狀 (15, 5) 是長方形 — 水平延伸把字連成行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閾值化用 OTSU 自適應，不用手調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適用於印刷文件版面分析、發票欄位定位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/ 283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整合 Pipeline｜邊緣 → Hough/形態學 → 形狀特徵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286000"/>
          </a:xfrm>
          <a:prstGeom prst="rect">
            <a:avLst/>
          </a:prstGeom>
          <a:solidFill>
            <a:srgbClr val="ECECE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原始影像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5740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148840" y="1371600"/>
            <a:ext cx="1554480" cy="228600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14884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邊緣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1554480" cy="2286000"/>
          </a:xfrm>
          <a:prstGeom prst="rect">
            <a:avLst/>
          </a:prstGeom>
          <a:solidFill>
            <a:srgbClr val="FFD4A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4048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形態學處理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4068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532120" y="1371600"/>
            <a:ext cx="1554480" cy="22860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53212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輪廓抽取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223760" y="1371600"/>
            <a:ext cx="1554480" cy="22860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22376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形狀特徵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工業檢測：找出產品瑕疵 → 量化大小 → 自動分類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/ Module 04 連通元 + 輪廓 + 形狀特徵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/ 283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是「結構」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從原始像素提煉出可量化的形狀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下一週：找「可指認的點」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/ 283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知識回顧表｜四模組 × 四層</a:t>
            </a:r>
            <a:endParaRPr lang="en-US" sz="22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邊緣偵測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怎麼找形狀？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差分 / 卷積 / Canny 5 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cv2.Sobel, cv2.Canny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邊緣提取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怎麼從點變線？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(ρ,θ) 投票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cv2.HoughLines/Circles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車道、硬幣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形態學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怎麼清乾淨？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集合論 + 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cv2.morphologyEx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去雜訊、連邊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連通元/輪廓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怎麼量形狀？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CCL / 矩 / Hu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cv2.findContours, .moments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計數、分類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回顧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/ 283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作業預告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" cy="155448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W6-1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雜訊穩健度測試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在不同雜訊強度下調 Canny 閾值，量化評估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37160" cy="155448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W6-2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3017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hr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 + Hough 硬幣計數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W6 四模組做完整 pipeline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作業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/ 283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「結構不夠用的時候」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兩張不同視角的同一物件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邊與形狀都對不上 →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我們需要更挑剔的特徵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/ 283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 → 指紋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2743200" y="2697480"/>
            <a:ext cx="3657600" cy="7772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74320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是 指紋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兩張不同視角的圖，怎麼找對應？</a:t>
            </a:r>
            <a:endParaRPr 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路線圖｜四模組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594360" y="1152144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94360" y="1152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097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角點偵測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Moravec / Harris / Shi-Tomasi / FAST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1261872"/>
            <a:ext cx="1188720" cy="329184"/>
          </a:xfrm>
          <a:prstGeom prst="rect">
            <a:avLst/>
          </a:prstGeom>
          <a:solidFill>
            <a:srgbClr val="FAFAF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315200" y="12618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94360" y="213055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0756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完整四階段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4414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/ 定位 / 主方向 / 描述子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2240280"/>
            <a:ext cx="1188720" cy="329184"/>
          </a:xfrm>
          <a:prstGeom prst="rect">
            <a:avLst/>
          </a:prstGeom>
          <a:solidFill>
            <a:srgbClr val="FAFAF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315200" y="2240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94360" y="310896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0540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二元描述子家族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5880" y="34198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/ ORB / BRISK / FREAK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3218688"/>
            <a:ext cx="1188720" cy="329184"/>
          </a:xfrm>
          <a:prstGeom prst="rect">
            <a:avLst/>
          </a:prstGeom>
          <a:solidFill>
            <a:srgbClr val="FAFAF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15200" y="32186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41064"/>
            <a:ext cx="8229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94360" y="4087368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0325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比對與 RANSAC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43982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tree / FLANN / ratio test / Homography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4197096"/>
            <a:ext cx="1188720" cy="329184"/>
          </a:xfrm>
          <a:prstGeom prst="rect">
            <a:avLst/>
          </a:prstGeom>
          <a:solidFill>
            <a:srgbClr val="FAFAF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315200" y="41970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路線圖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/ 283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學習目標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39571"/>
            <a:ext cx="640080" cy="322707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13957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05156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寫出 Harris 自相關矩陣 M 與 R 函數的物理意義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159258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26311"/>
            <a:ext cx="640080" cy="322707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72631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63830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完整重述 SIFT 四大階段（含 DoG、Hessian 去邊、描述子）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217932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313051"/>
            <a:ext cx="640080" cy="322707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31305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22504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解釋為什麼二元描述子在嵌入式比 SIFT 適合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276606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899791"/>
            <a:ext cx="640080" cy="32270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89979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81178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cv2.SIFT_create / cv2.ORB_create 抽取關鍵點與描述子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335280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86531"/>
            <a:ext cx="640080" cy="32270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48653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39852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BFMatcher / FLANN + ratio test 做比對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34440" y="393954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073271"/>
            <a:ext cx="640080" cy="322707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57200" y="407327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98526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RANSAC + Homography 過濾錯配並做物件對位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路線圖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/ 283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角點偵測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邊只給你方向，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角點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同時給你「點位」和「獨特性」。怎麼找？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/ 283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從邊到角的直覺｜shift 視窗測試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平坦區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≈ 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任何方向 shift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影像強度都不變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沿邊小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沿垂直大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沿邊方向 shift 不變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垂直邊方向變化大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任何方向 shift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影像強度都改變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/ 283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Moravec(1977)｜歷史第一個 corner 偵測子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E(u, v) = Σ w(x, y) · [I(x+u, y+v) − I(x, y)]²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8 個方向上測 SSD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u, v 取 8 組（上下左右 + 4 對角）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對每個位置 (x, y)，算 8 個 E 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8 個都大 → 是角點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缺點：只測 8 個方向、響應不平滑、對旋轉敏感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/ 283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Moravec 在三種情境下的行為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1（平坦區）：所有 8 個方向 SSD 都接近 0 — min(E) 也是 0 → 不是角。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2（邊上）：沿邊方向 SSD 小、其他方向 SSD 大 — min(E) 接近 0 → 不是角。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 3（角點）：所有方向 SSD 都大 — min(E) 較大 → 是角。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判斷邏輯：以 min(E) 設定閾值，超過就標為角點。簡單但有效。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延伸閱讀：Wikipedia 'Moravec corner detection' — 知名 CV 課程都用這個當入門教學。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/ 283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Moravec 的三大限制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1：只測 8 個離散方向 — 對 22.5° 這種「斜向」邊緣，可能誤判為角。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2：響應 E 對位置不平滑 — 一個真實角點的鄰居像素也會被標為角，輸出有冗餘。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3：對旋轉敏感 — 影像旋轉後，原本的「角」可能消失或變強。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這三個限制全部由 Harris (1988) 用「泰勒展開」一招解決：把離散 8 方向變成連續所有方向的解析解。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/ 283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Harris(1988) 的關鍵改進｜泰勒展開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E(u, v) ≈ [u  v] · M · [u  v]ᵀ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SSD 變成二次型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I(x+u, y+v) 在 (x, y) 做一階泰勒展開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得到 E(u, v) ≈ Σ w(x,y) · (u·Ix + v·Iy)²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整理成矩陣形式 [u v] M [u v]ᵀ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就是「自相關矩陣」（結構張量），下一頁細看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/ 283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自相關矩陣 M（結構張量）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Σ w(x,y) · [ Ix²  IxIy ; IxIy  Iy² ]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W6 學過的 gradient 直接組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Ix、Iy：W6 模組 1 的 Sobel 結果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的每個元素都是 gradient 的平方/乘積在鄰域內的加權和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w(x,y)：高斯加權（離中心越近權重越大）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是 2×2 矩陣，分析它的特徵值就能判斷是否為角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/ 283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的兩個特徵值 λ₁, λ₂ 的幾何意義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平坦區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 ≈ 0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λ₂ ≈ 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兩個方向都沒變化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不是角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 &gt;&gt; λ₂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一個方向變化大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另一個方向幾乎不變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λ₁, λ₂ 都大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0936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兩個方向都變化大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是角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/ 283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R 函數｜避免直接算特徵值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= det(M) − k · trace(M)² = λ₁λ₂ − k(λ₁+λ₂)²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trace 與 determinant 替代特徵值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det(M) = λ₁λ₂、trace(M) = λ₁+λ₂ — 都不需要解特徵方程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通常取 0.04~0.06（經驗值）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為 2x2 矩陣的「響應函數」，可正可負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下一頁：R 值與三種區域的對應關係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/ 283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值與三種區域的對應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平坦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兩特徵值都小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接近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&lt; 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一大一小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λ₁λ₂ 小、(λ₁+λ₂)² 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965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&gt; 0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且大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31546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兩個都大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通過閾值即為角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/ 283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的不變性分析</a:t>
            </a:r>
            <a:endParaRPr lang="en-US" sz="2200" dirty="0"/>
          </a:p>
        </p:txBody>
      </p:sp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變化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 反應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不變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用相對 gradient，平移後 M 不變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旋轉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不變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λ₁, λ₂ 是矩陣特徵值，旋轉不影響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線性光照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不變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用相對響應比較，亮度倍增不影響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尺度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不變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縮放後 corner 可能變 edge — 需 SIFT 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/ 283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工具層｜cv2.cornerHarris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角點的 OpenCV 實作：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cv2.cvtColor(img, cv2.COLOR_BGR2GRAY)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np.float32(gray)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cv2.cornerHarris(gray, blockSize=2, ksize=3, k=0.04)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 是和影像同尺寸的浮點圖，標記每像素的 R 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img[R &gt; 0.01 * R.max()] = [0, 0, 255]  # R 大的像素標紅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blockSize：M 的計算鄰域大小（2-7）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ksize：Sobel 的 kernel size（3 或 5）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k：Harris R 函數的 k 值（0.04 是預設）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/ 283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Shi-Tomasi(1994)｜直接用 min(λ₁, λ₂)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= min(λ₁, λ₂)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為什麼這樣改？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R 對 k 敏感（換 k 結果不一樣）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Shi-Tomasi 直接用兩個特徵值的較小值，沒有 k 參數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在某些影像上比 Harris 更穩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用於後面的 KLT 追蹤，挑「適合追蹤的點」（W8 模組 1）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/ 283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工具層｜cv2.goodFeaturesToTrack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Shi-Tomasi 的 OpenCV 實作（KLT 種子點常用）：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corners = cv2.goodFeaturesToTrack(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gray, maxCorners=100, qualityLevel=0.01, minDistance=10)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corners shape = (N, 1, 2)，每行是 [x, y]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corners: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 = c.ravel().astype(int)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cv2.circle(img, (x, y), 3, (0, 255, 0), -1)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maxCorners：最多保留幾個（通常 100-500）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qualityLevel：最低品質（最大 R 的比例，0.01 = 1%）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minDistance：兩個 corner 的最小間距（NMS）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/ 283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vs Shi-Tomasi 對照表</a:t>
            </a:r>
            <a:endParaRPr lang="en-US" sz="220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Shi-Tomasi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響應函數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λ₁λ₂ - k(λ₁+λ₂)²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min(λ₁, λ₂)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參數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blockSize, ksize,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qualityLevel, minDistance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計算成本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稍低（不需特徵值）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稍高（需特徵值）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實務偏好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教學示範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KLT 追蹤前置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函數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cv2.cornerHarris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cv2.goodFeaturesToTrack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/ 283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偵測子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對每個像素都要算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矩陣特徵值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。在 MCU 上跑得動嗎？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提示：FAST = Features from Accelerated Segment Test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/ 283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FAST(2006)｜用機器學習加速的角點偵測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核心想法：在以候選像素 p 為中心、半徑 3 的圓上，取 16 個離散像素。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若這 16 個中有「連續 N 個」（通常 N = 9 或 12）都比 p 顯著亮（&gt; p + t）或顯著暗（&lt; p − t），則 p 為角點。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為什麼快：(1) 不需要梯度計算 (2) 只比較像素亮度大小 (3) 用 ID3 學決策樹，先測 1, 9, 5, 13 四個關鍵位置就能淘汰大多數非角點。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速度：在同樣硬體上比 Harris 快約 10-20 倍 — 嵌入式即時應用的首選。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/ 283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的決策樹加速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若直接檢查全部 16 個像素，平均成本約 16 次比較。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改進：只檢查圓上對稱的 4 個位置（編號 1, 9, 5, 13）。若這 4 個中沒有 3 個比 p 都亮或都暗，p 一定不是角 — 直接淘汰。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ID3（資訊熵）演算法在訓練集上學出最優判斷順序，把「平均檢查像素數」壓到 &lt; 4 個。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實作上，這個決策樹被「展開成程式碼」（程式碼產生器），每次新版本都重新訓練 + 編譯。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/ 283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的非極大抑制（NMS）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問題：FAST 對每個被標為角點的像素，鄰居像素也常常被標 — 形成「角點群」而非單點。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解法：對每個 FAST 角點計算響應值 V = Σ |I(p) − I(圓上像素)|。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在每個鄰域內只保留 V 最大的點，其餘抑制 — 與 Canny 的 NMS 概念相同。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預設啟用 NMS，可用 nonmaxSuppression=False 關閉（適合學術比較）。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/ 283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工具層｜cv2.FastFeatureDetector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的 OpenCV 實作：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= cv2.FastFeatureDetector_create(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threshold=10, nonmaxSuppression=True)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 = fast.detect(gray, None)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kp 是 KeyPoint 物件 list，每個有 .pt (x, y), .response 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img2 = cv2.drawKeypoints(img, kp, None, color=(255, 0, 0))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threshold：亮度差的閾值（10 是常用，越低越多角點）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nonmaxSuppression：是否啟用 NMS（建議 True）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只給「位置」，沒給「描述子」— 後者要 BRIEF/ORB 接手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/ 283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vs Harris 速度對比（典型 1080p 影像）</a:t>
            </a:r>
            <a:endParaRPr lang="en-US" sz="22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 (ms)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(ms)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加速比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桌機 i7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0.5-1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120-180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Jetson Nano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60-90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Cortex-A7 (MCU)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800+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60-100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/ 283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角點偵測家族 5 維度比較</a:t>
            </a:r>
            <a:endParaRPr lang="en-US" sz="2200" dirty="0"/>
          </a:p>
        </p:txBody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偵測子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旋轉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光照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尺度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Moravec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Shi-Tomasi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/ 283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子像素精化（Subpixel Refinement）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Harris/FAST 給出的角點精度是「整數像素」 — 但真實角點可能在 (123.7, 45.3) 這種小數位置。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做法：在響應函數 R 的局部最大附近，用二次曲面擬合，求極大值的小數位置。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OpenCV：cv2.cornerSubPix(gray, corners, winSize=(5,5), zeroZone=(-1,-1), criteria=...) — 直接精化整個 corner list。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用途：相機標定、SLAM、3D 重建等對精度敏感的應用。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/ 283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為什麼角點不夠用｜尺度問題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同一物件，不同距離拍攝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73152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近距離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抓 4 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2194560"/>
            <a:ext cx="36576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468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遠距離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角擠在一起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Harris 在縮放後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認不出來是同一物件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需要尺度不變特徵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Harris：對旋轉、光照不變，但對尺度敏感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解法：不只在原圖找 feature，在多個模糊程度上一起找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跨尺度的「斑點偵測子」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下一節：SIFT 完整四階段（這是本週的重頭戲）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/ 283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解法預告｜尺度空間（Scale-Space）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概念：用一系列不同 σ 的 Gaussian 模糊原圖，得到「金字塔」。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在每個尺度上偵測 feature → 自動處理「物件大小不一」。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若一個 feature 在多個尺度上都被偵測到，它就具備「尺度不變」性質。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DoG（Difference of Gaussian）= 兩個相鄰尺度相減 ≈ LoG，計算便宜。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SIFT 偵測階段就是基於 DoG 金字塔。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/ 283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 1 小結｜角點是「兩方向都有梯度的點」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Moravec：原始版，8 方向 SSD min。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Harris：泰勒展開 → 自相關矩陣 → R 函數。對旋轉、光照不變。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Shi-Tomasi：用 min(λ₁, λ₂) 替代 R，較穩。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FAST：圓上 16 點亮暗比較 + 決策樹加速。嵌入式王牌。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都不解決「尺度問題」 — 下一節 SIFT 來處理。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01 角點偵測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/ 283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「同一個東西，遠近不同也要認得出來」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從 1m vs 5m 拍 → 怎麼匹配？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SIFT 登場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/ 283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完整四階段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有沒有一種特徵，無論你怎麼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縮放、旋轉、變光照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，都能找到對應？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提示：SIFT — Scale-Invariant Feature Transform (Lowe 1999/2004)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/ 283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的四個野心（Lowe 2004）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尺度不變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縮放後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還能找到對應點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旋轉不變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旋轉任意角度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descriptor 不變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光照部分不變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亮度線性變化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descriptor 不變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/ 283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第四個野心：Distinctive — 一個 SIFT descriptor 應該足夠獨特，能在資料庫中可靠匹配</a:t>
            </a:r>
            <a:endParaRPr lang="en-US" sz="11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四步驟總覽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7830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8308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Scale-space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金字塔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找極值點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7830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178308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60604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423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精化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去邊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17830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78308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423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36-bin 方向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直方圖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7830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903720" y="1371600"/>
            <a:ext cx="178308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90372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1920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242316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4×4×8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128 維向量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整合輸出：高品質邊緣圖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/ 283</a:t>
            </a:r>
            <a:endParaRPr lang="en-US" sz="9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Scale-space Extrema Detection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怎麼在「不知道物件多大」的前提下找特徵？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提示：同時在多個尺度上找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/ 283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高斯尺度空間（Gaussian Scale-Space）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L(x, y, σ) = G(x, y, σ) ∗ I(x, y)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建構金字塔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G(x, y, σ)：標準二維高斯函數，σ 控制模糊程度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是「在尺度 σ 下的影像」 — σ 越大越模糊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用一系列 σ（譬如 1.6, 1.6×k, 1.6×k², ...）建出金字塔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通常取 √2，每 4 層 σ 翻倍 → 一個 octave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/ 283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的角色｜跨尺度的「斑點偵測子」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of Gaussian (LoG)：先 Gaussian 平滑再 Laplacian。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尺度歸一化版：σ²·∇²G — 用 σ² 補償 Laplacian 對尺度的依賴。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性質：對於半徑 r 的圓形斑點，LoG 在 σ ≈ r/√2 時響應最強。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因此：在 (x, y, σ) 三維空間找 LoG 極值 = 找出影像中各種尺度的「斑點中心」。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問題：LoG 計算貴 — 改用 DoG 近似（下一頁）。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/ 283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取代 LoG｜便宜很多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DoG(x, y, σ) = L(x, y, kσ) − L(x, y, σ) ≈ (k − 1) · σ² · ∇²G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為什麼能取代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約等於尺度歸一化的 LoG，差個 (k-1) 常數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計算成本：DoG 只是兩個高斯模糊的「相減」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計算成本：每點都要算二階導數（更貴）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SIFT 用 DoG 金字塔當「LoG 的便宜替代品」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/ 283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高斯金字塔與 DoG 金字塔結構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Octave：相同空間解析度的一組影像。每個 octave 內有 s+3 層 Gaussian 模糊（s 通常 = 3）。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金字塔：octave 之間用 down-sample 縮小一半（譬如 1024 → 512 → 256 → 128）。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金字塔：每個 octave 內，相鄰兩層 Gaussian 相減得 s+2 個 DoG 影像。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搜尋空間：對每個 DoG 影像，找局部極值點 — 這些就是 SIFT 候選關鍵點。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/ 283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Extrema 偵測｜3D 鄰域比較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DoG 金字塔的某一層 (x, y, σ)，與 26 個鄰居比較：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同一層 8 個鄰居（上下左右 + 4 對角）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上一層 9 個鄰居（同位置 + 8 鄰居）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下一層 9 個鄰居（同上）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若中心點是這 26 個之中的最大值或最小值 → 入選為候選關鍵點。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意義：這個點不只「在它所在的位置」是極值，「在它所在的尺度」也是極值 — 雙重穩定。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/ 283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 1 小結｜一堆候選關鍵點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輸出：(x, y, σ) 三元組的 list，可能成千上萬個。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問題：這些候選點還很粗糙 — 有些是低對比（雜訊）、有些落在邊上（不是真斑點）。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步驟 2：把它們精化、過濾。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視覺化常見圖：原圖上密密麻麻的紅圈，圈大小代表 σ。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/ 283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Localization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候選點還很粗糙：低對比、邊上的點。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怎麼篩？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提示：用 Taylor 展開精化位置 + 用 Hessian 去除邊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/ 283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子像素位置精化｜Taylor 展開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D(x) = D + (∂D/∂x)ᵀ x + ½ xᵀ (∂²D/∂x²) 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 ∂D/∂x = 0 得偏移 x̂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(Δx, Δy, Δσ) 是相對候選位置的偏移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 = −(∂²D/∂x²)⁻¹ · ∂D/∂x — 三維最佳化解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|x̂| &gt; 0.5 → 把 sample point 移到 x̂ 重算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|x̂| 還是大 → 收斂失敗，丟掉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/ 283</a:t>
            </a:r>
            <a:endParaRPr lang="en-US" sz="9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偏移大則更新位置；小則保留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展開告訴我們：真正的極值不一定剛好在原本的整數像素位置 — 可能在 (x + 0.3, y - 0.2, σ × 1.05)。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做法：若 |x̂| 在三個維度上都 &lt; 0.5，就接受目前位置，把 x̂ 加到候選點作為「子像素精度」。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若有任一維度 &gt; 0.5，就把候選點移到 x̂ 對應的整數位置，重新計算 Taylor 展開。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若多次迭代仍不收斂（譬如超過 5 次），就丟掉這個候選點 — 通常代表它在邊上或雜訊處。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 / 283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濾除低對比點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D(x̂) = D + ½ · (∂D/∂x)ᵀ · x̂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用精化後的 D 值當對比度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D(x̂) 是精化位置處的 DoG 值，代表「這個極值有多顯著」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|D(x̂)| &lt; 0.03（Lowe 預設閾值）→ 視為雜訊，丟掉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意義：把雜訊產生的微小極值過濾掉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閾值 0.03 是相對於 [0, 1] 歸一化影像而言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/ 283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濾除邊緣響應點｜Hessian Matrix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= [ Dxx  Dxy ; Dyx  Dyy ]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為什麼需要這一步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在邊上會有強響應 — 但邊不是好的 keypoint（位置不獨特）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邊：一個方向曲率大、另一個小 → Hessian 特徵值比大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角：兩個方向曲率都大 → Hessian 特徵值比接近 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Tr(H)² / Det(H) 判斷曲率比例（不需直接算特徵值）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/ 283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的 Trace 與 Det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Tr(H)² / Det(H) = (α + β)² / (αβ) = (r + 1)² / 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r = α / β（α 較大特徵值）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Tr(H) = Dxx + Dyy = α + 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Det(H) = Dxx·Dyy − Dxy² = α·β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比例 (r+1)²/r 隨 r 單調遞增（r ≥ 1 時）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設定 r 的上限就能濾除「邊」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/ 283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≤ 10 通常被接受；r &gt; 10 視為邊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 (2004) 用 r = 10 — 即 α 最多比 β 大 10 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對應的閾值：(r+1)²/r = 121/10 = 12.1。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若候選點的 Tr(H)² / Det(H) &gt; 12.1 → 它在「邊上」，丟掉。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為什麼不直接算特徵值：解 2×2 矩陣特徵方程要算平方根，計算成本高。用比例公式只要乘除法 — 對嵌入式特別重要。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/ 283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 2 小結｜精煉後的關鍵點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輸入：步驟 1 的候選關鍵點 list（可能上萬個）。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輸出：精化、過濾後的「真正關鍵點」 — 每個帶有子像素精度的 (x, y, σ)。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數量大幅減少（典型壓到 1000-3000 個），且每個都「位置準、對比高、不在邊上」。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步驟 3：給每個關鍵點一個「方向」，這樣 descriptor 才能旋轉不變。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/ 283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Assignment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怎麼讓特徵點對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「旋轉」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不變？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提示：給每個點一個「主方向」，descriptor 都依此方向走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/ 283</a:t>
            </a:r>
            <a:endParaRPr lang="en-US" sz="9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計算梯度大小與方向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m(x,y) = √( (L(x+1,y) − L(x−1,y))² + (L(x,y+1) − L(x,y−1))² 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在關鍵點周圍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θ(x,y) = arctan( (L(x,y+1) − L(x,y−1)) / (L(x+1,y) − L(x−1,y)) 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計算範圍：以關鍵點為中心、1.5σ 為標準差的高斯加權鄰域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高斯加權：離中心越遠權重越小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本步驟的輸入：步驟 2 篩過的關鍵點 + Gaussian 金字塔對應層 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/ 283</a:t>
            </a:r>
            <a:endParaRPr lang="en-US" sz="9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36-bin 方向直方圖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360° 切成 36 個 bin，每 bin = 10°。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對鄰域內每個樣本點：把它的 m × Gaussian 權重加到對應 θ 的 bin。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結果：一個 36 維直方圖，每個 bin 代表「這個方向上有多少梯度能量」。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找最大 bin 的方向 = 該關鍵點的「主方向」。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把每個關鍵點對齊到主方向後，後續 descriptor 都對主方向取樣 → 旋轉不變。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/ 283</a:t>
            </a:r>
            <a:endParaRPr lang="en-US" sz="9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多主方向（Auxiliary Orientation）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問題：若直方圖有兩個峰差不多高，只取一個主方向 → 另一個資訊浪費。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解法：凡是 ≥ 80% 最大 bin 的所有 bin，都建立一個獨立的關鍵點（同位置、同尺度，但方向不同）。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結果：典型情況下，10-15% 的關鍵點會有多個方向版本。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好處：在強旋轉、複雜紋理場景下，匹配成功率明顯提升。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/ 283</a:t>
            </a:r>
            <a:endParaRPr lang="en-US" sz="9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 3 小結｜旋轉不變的鋪墊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每個關鍵點現在是「位置 + 尺度 + 方向」三元組（含可能的多方向）。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重要：之後所有 descriptor 計算都會「旋轉到主方向」做。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同一個物件不管影像怎麼旋轉，關鍵點的主方向都會跟著旋轉，descriptor 計算結果完全相同。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下一步：用 16×16 鄰域 + 4×4 子區方向直方圖，把這個結構化的方向資訊變成 128 維 descriptor。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/ 283</a:t>
            </a:r>
            <a:endParaRPr lang="en-US" sz="9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Descriptor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怎麼用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一個向量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描述「這個點周圍的樣子」？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提示：4×4 子區 × 8 方向 = 128 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/ 283</a:t>
            </a:r>
            <a:endParaRPr lang="en-US" sz="9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 鄰域 → 4×4 子區域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以關鍵點為中心、依「主方向」旋轉後的 16×16 視窗。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把這個 16×16 切成 4×4 的子區，每個子區大小 4×4 像素。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為什麼這樣切？實驗發現 4×4 子區的「在地化」最能平衡 descriptor 的「獨特性」與「對小位移的容忍度」。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更小（譬如 2×2）→ descriptor 太細、對位置敏感；更大（譬如 8×8）→ 失去局部資訊。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/ 283</a:t>
            </a:r>
            <a:endParaRPr lang="en-US" sz="9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每子區算 8 方向直方圖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對每個 4×4 子區，計算 8-bin 方向直方圖（每 45° 一個 bin）。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用步驟 3 學過的相同方法：對子區內每點計算 m, θ；加 Gaussian 加權後加到對應 bin。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每個子區產出 8 個數字（8 個方向的能量）。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整合：16 個子區 × 8 個方向 = 128 個數字 — 這就是 SIFT descriptor。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/ 283</a:t>
            </a:r>
            <a:endParaRPr lang="en-US" sz="9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 × 8 = 128 維 SIFT 描述子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(h₁₁, h₁₂, ..., h₁₆) ∈ ℝ¹²⁸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歸一化處理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把 128 維向量歸一化成單位向量 → 抗光照「線性」變化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把每個元素 clip 到 0.2（防止某個方向過強蓋住其他）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再歸一化一次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結果：每個關鍵點的指紋 = 128 維單位向量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/ 283</a:t>
            </a:r>
            <a:endParaRPr lang="en-US" sz="9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Descriptor 視覺化｜128 維 = 16 cell × 8 方向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691640" y="1691640"/>
            <a:ext cx="203285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691640" y="1691640"/>
            <a:ext cx="135946" cy="135946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691640" y="1691640"/>
            <a:ext cx="0" cy="145691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691640" y="1691640"/>
            <a:ext cx="0" cy="112607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69164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69164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169164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1691640" y="1691640"/>
            <a:ext cx="129262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331720" y="1691640"/>
            <a:ext cx="138689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331720" y="1691640"/>
            <a:ext cx="156868" cy="156868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331720" y="1691640"/>
            <a:ext cx="0" cy="209763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331720" y="1691640"/>
            <a:ext cx="0" cy="10332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233172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233172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233172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2331720" y="1691640"/>
            <a:ext cx="126603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651760" y="137160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2971800" y="1691640"/>
            <a:ext cx="209898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2971800" y="1691640"/>
            <a:ext cx="153768" cy="153768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2971800" y="1691640"/>
            <a:ext cx="0" cy="225594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2971800" y="1691640"/>
            <a:ext cx="0" cy="135061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297180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297180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297180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2971800" y="1691640"/>
            <a:ext cx="10546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3291840" y="137160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3611880" y="1691640"/>
            <a:ext cx="146074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3611880" y="1691640"/>
            <a:ext cx="120728" cy="120728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3611880" y="1691640"/>
            <a:ext cx="0" cy="154667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3611880" y="1691640"/>
            <a:ext cx="0" cy="125729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61188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361188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3611880" y="169164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3611880" y="1691640"/>
            <a:ext cx="97005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1371600" y="201168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1691640" y="2331720"/>
            <a:ext cx="155744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1691640" y="2331720"/>
            <a:ext cx="117578" cy="117578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1691640" y="2331720"/>
            <a:ext cx="0" cy="167674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1691640" y="2331720"/>
            <a:ext cx="0" cy="140789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169164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169164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169164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1691640" y="2331720"/>
            <a:ext cx="113268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2011680" y="201168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7"/>
          <p:cNvSpPr/>
          <p:nvPr/>
        </p:nvSpPr>
        <p:spPr>
          <a:xfrm>
            <a:off x="2331720" y="2331720"/>
            <a:ext cx="183926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2331720" y="2331720"/>
            <a:ext cx="114709" cy="114709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2331720" y="2331720"/>
            <a:ext cx="0" cy="216968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2331720" y="2331720"/>
            <a:ext cx="0" cy="139259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1"/>
          <p:cNvSpPr/>
          <p:nvPr/>
        </p:nvSpPr>
        <p:spPr>
          <a:xfrm>
            <a:off x="233172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2"/>
          <p:cNvSpPr/>
          <p:nvPr/>
        </p:nvSpPr>
        <p:spPr>
          <a:xfrm>
            <a:off x="233172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3"/>
          <p:cNvSpPr/>
          <p:nvPr/>
        </p:nvSpPr>
        <p:spPr>
          <a:xfrm>
            <a:off x="233172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4"/>
          <p:cNvSpPr/>
          <p:nvPr/>
        </p:nvSpPr>
        <p:spPr>
          <a:xfrm>
            <a:off x="2331720" y="2331720"/>
            <a:ext cx="106141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5"/>
          <p:cNvSpPr/>
          <p:nvPr/>
        </p:nvSpPr>
        <p:spPr>
          <a:xfrm>
            <a:off x="2651760" y="201168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6"/>
          <p:cNvSpPr/>
          <p:nvPr/>
        </p:nvSpPr>
        <p:spPr>
          <a:xfrm>
            <a:off x="2971800" y="2331720"/>
            <a:ext cx="18331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Shape 57"/>
          <p:cNvSpPr/>
          <p:nvPr/>
        </p:nvSpPr>
        <p:spPr>
          <a:xfrm>
            <a:off x="2971800" y="2331720"/>
            <a:ext cx="141962" cy="141962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8"/>
          <p:cNvSpPr/>
          <p:nvPr/>
        </p:nvSpPr>
        <p:spPr>
          <a:xfrm>
            <a:off x="2971800" y="2331720"/>
            <a:ext cx="0" cy="145777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9"/>
          <p:cNvSpPr/>
          <p:nvPr/>
        </p:nvSpPr>
        <p:spPr>
          <a:xfrm>
            <a:off x="2971800" y="2331720"/>
            <a:ext cx="0" cy="146471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60"/>
          <p:cNvSpPr/>
          <p:nvPr/>
        </p:nvSpPr>
        <p:spPr>
          <a:xfrm>
            <a:off x="297180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1"/>
          <p:cNvSpPr/>
          <p:nvPr/>
        </p:nvSpPr>
        <p:spPr>
          <a:xfrm>
            <a:off x="297180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2"/>
          <p:cNvSpPr/>
          <p:nvPr/>
        </p:nvSpPr>
        <p:spPr>
          <a:xfrm>
            <a:off x="297180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Shape 63"/>
          <p:cNvSpPr/>
          <p:nvPr/>
        </p:nvSpPr>
        <p:spPr>
          <a:xfrm>
            <a:off x="2971800" y="2331720"/>
            <a:ext cx="122389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Shape 64"/>
          <p:cNvSpPr/>
          <p:nvPr/>
        </p:nvSpPr>
        <p:spPr>
          <a:xfrm>
            <a:off x="3291840" y="201168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Shape 65"/>
          <p:cNvSpPr/>
          <p:nvPr/>
        </p:nvSpPr>
        <p:spPr>
          <a:xfrm>
            <a:off x="3611880" y="2331720"/>
            <a:ext cx="181349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Shape 66"/>
          <p:cNvSpPr/>
          <p:nvPr/>
        </p:nvSpPr>
        <p:spPr>
          <a:xfrm>
            <a:off x="3611880" y="2331720"/>
            <a:ext cx="160147" cy="160147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Shape 67"/>
          <p:cNvSpPr/>
          <p:nvPr/>
        </p:nvSpPr>
        <p:spPr>
          <a:xfrm>
            <a:off x="3611880" y="2331720"/>
            <a:ext cx="0" cy="217151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Shape 68"/>
          <p:cNvSpPr/>
          <p:nvPr/>
        </p:nvSpPr>
        <p:spPr>
          <a:xfrm>
            <a:off x="3611880" y="2331720"/>
            <a:ext cx="0" cy="137747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Shape 69"/>
          <p:cNvSpPr/>
          <p:nvPr/>
        </p:nvSpPr>
        <p:spPr>
          <a:xfrm>
            <a:off x="361188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Shape 70"/>
          <p:cNvSpPr/>
          <p:nvPr/>
        </p:nvSpPr>
        <p:spPr>
          <a:xfrm>
            <a:off x="361188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Shape 71"/>
          <p:cNvSpPr/>
          <p:nvPr/>
        </p:nvSpPr>
        <p:spPr>
          <a:xfrm>
            <a:off x="3611880" y="233172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Shape 72"/>
          <p:cNvSpPr/>
          <p:nvPr/>
        </p:nvSpPr>
        <p:spPr>
          <a:xfrm>
            <a:off x="3611880" y="2331720"/>
            <a:ext cx="121038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Shape 73"/>
          <p:cNvSpPr/>
          <p:nvPr/>
        </p:nvSpPr>
        <p:spPr>
          <a:xfrm>
            <a:off x="1371600" y="265176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Shape 74"/>
          <p:cNvSpPr/>
          <p:nvPr/>
        </p:nvSpPr>
        <p:spPr>
          <a:xfrm>
            <a:off x="1691640" y="2971800"/>
            <a:ext cx="173149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Shape 75"/>
          <p:cNvSpPr/>
          <p:nvPr/>
        </p:nvSpPr>
        <p:spPr>
          <a:xfrm>
            <a:off x="1691640" y="2971800"/>
            <a:ext cx="102245" cy="102245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Shape 76"/>
          <p:cNvSpPr/>
          <p:nvPr/>
        </p:nvSpPr>
        <p:spPr>
          <a:xfrm>
            <a:off x="1691640" y="2971800"/>
            <a:ext cx="0" cy="189252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Shape 77"/>
          <p:cNvSpPr/>
          <p:nvPr/>
        </p:nvSpPr>
        <p:spPr>
          <a:xfrm>
            <a:off x="1691640" y="2971800"/>
            <a:ext cx="0" cy="111381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Shape 78"/>
          <p:cNvSpPr/>
          <p:nvPr/>
        </p:nvSpPr>
        <p:spPr>
          <a:xfrm>
            <a:off x="169164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Shape 79"/>
          <p:cNvSpPr/>
          <p:nvPr/>
        </p:nvSpPr>
        <p:spPr>
          <a:xfrm>
            <a:off x="169164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Shape 80"/>
          <p:cNvSpPr/>
          <p:nvPr/>
        </p:nvSpPr>
        <p:spPr>
          <a:xfrm>
            <a:off x="169164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Shape 81"/>
          <p:cNvSpPr/>
          <p:nvPr/>
        </p:nvSpPr>
        <p:spPr>
          <a:xfrm>
            <a:off x="1691640" y="2971800"/>
            <a:ext cx="109731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Shape 82"/>
          <p:cNvSpPr/>
          <p:nvPr/>
        </p:nvSpPr>
        <p:spPr>
          <a:xfrm>
            <a:off x="2011680" y="265176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Shape 83"/>
          <p:cNvSpPr/>
          <p:nvPr/>
        </p:nvSpPr>
        <p:spPr>
          <a:xfrm>
            <a:off x="2331720" y="2971800"/>
            <a:ext cx="149476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Shape 84"/>
          <p:cNvSpPr/>
          <p:nvPr/>
        </p:nvSpPr>
        <p:spPr>
          <a:xfrm>
            <a:off x="2331720" y="2971800"/>
            <a:ext cx="135898" cy="135898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Shape 85"/>
          <p:cNvSpPr/>
          <p:nvPr/>
        </p:nvSpPr>
        <p:spPr>
          <a:xfrm>
            <a:off x="2331720" y="2971800"/>
            <a:ext cx="0" cy="151136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Shape 86"/>
          <p:cNvSpPr/>
          <p:nvPr/>
        </p:nvSpPr>
        <p:spPr>
          <a:xfrm>
            <a:off x="2331720" y="2971800"/>
            <a:ext cx="0" cy="99852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Shape 87"/>
          <p:cNvSpPr/>
          <p:nvPr/>
        </p:nvSpPr>
        <p:spPr>
          <a:xfrm>
            <a:off x="233172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Shape 88"/>
          <p:cNvSpPr/>
          <p:nvPr/>
        </p:nvSpPr>
        <p:spPr>
          <a:xfrm>
            <a:off x="233172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Shape 89"/>
          <p:cNvSpPr/>
          <p:nvPr/>
        </p:nvSpPr>
        <p:spPr>
          <a:xfrm>
            <a:off x="233172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Shape 90"/>
          <p:cNvSpPr/>
          <p:nvPr/>
        </p:nvSpPr>
        <p:spPr>
          <a:xfrm>
            <a:off x="2331720" y="2971800"/>
            <a:ext cx="137385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Shape 91"/>
          <p:cNvSpPr/>
          <p:nvPr/>
        </p:nvSpPr>
        <p:spPr>
          <a:xfrm>
            <a:off x="2651760" y="265176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Shape 92"/>
          <p:cNvSpPr/>
          <p:nvPr/>
        </p:nvSpPr>
        <p:spPr>
          <a:xfrm>
            <a:off x="2971800" y="2971800"/>
            <a:ext cx="155656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Shape 93"/>
          <p:cNvSpPr/>
          <p:nvPr/>
        </p:nvSpPr>
        <p:spPr>
          <a:xfrm>
            <a:off x="2971800" y="2971800"/>
            <a:ext cx="152543" cy="152543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Shape 94"/>
          <p:cNvSpPr/>
          <p:nvPr/>
        </p:nvSpPr>
        <p:spPr>
          <a:xfrm>
            <a:off x="2971800" y="2971800"/>
            <a:ext cx="0" cy="220218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Shape 95"/>
          <p:cNvSpPr/>
          <p:nvPr/>
        </p:nvSpPr>
        <p:spPr>
          <a:xfrm>
            <a:off x="2971800" y="2971800"/>
            <a:ext cx="0" cy="156186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Shape 96"/>
          <p:cNvSpPr/>
          <p:nvPr/>
        </p:nvSpPr>
        <p:spPr>
          <a:xfrm>
            <a:off x="297180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Shape 97"/>
          <p:cNvSpPr/>
          <p:nvPr/>
        </p:nvSpPr>
        <p:spPr>
          <a:xfrm>
            <a:off x="297180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Shape 98"/>
          <p:cNvSpPr/>
          <p:nvPr/>
        </p:nvSpPr>
        <p:spPr>
          <a:xfrm>
            <a:off x="297180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Shape 99"/>
          <p:cNvSpPr/>
          <p:nvPr/>
        </p:nvSpPr>
        <p:spPr>
          <a:xfrm>
            <a:off x="2971800" y="2971800"/>
            <a:ext cx="99298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Shape 100"/>
          <p:cNvSpPr/>
          <p:nvPr/>
        </p:nvSpPr>
        <p:spPr>
          <a:xfrm>
            <a:off x="3291840" y="265176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Shape 101"/>
          <p:cNvSpPr/>
          <p:nvPr/>
        </p:nvSpPr>
        <p:spPr>
          <a:xfrm>
            <a:off x="3611880" y="2971800"/>
            <a:ext cx="227097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Shape 102"/>
          <p:cNvSpPr/>
          <p:nvPr/>
        </p:nvSpPr>
        <p:spPr>
          <a:xfrm>
            <a:off x="3611880" y="2971800"/>
            <a:ext cx="140741" cy="140741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Shape 103"/>
          <p:cNvSpPr/>
          <p:nvPr/>
        </p:nvSpPr>
        <p:spPr>
          <a:xfrm>
            <a:off x="3611880" y="2971800"/>
            <a:ext cx="0" cy="141568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Shape 104"/>
          <p:cNvSpPr/>
          <p:nvPr/>
        </p:nvSpPr>
        <p:spPr>
          <a:xfrm>
            <a:off x="3611880" y="2971800"/>
            <a:ext cx="0" cy="109143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Shape 105"/>
          <p:cNvSpPr/>
          <p:nvPr/>
        </p:nvSpPr>
        <p:spPr>
          <a:xfrm>
            <a:off x="361188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Shape 106"/>
          <p:cNvSpPr/>
          <p:nvPr/>
        </p:nvSpPr>
        <p:spPr>
          <a:xfrm>
            <a:off x="361188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Shape 107"/>
          <p:cNvSpPr/>
          <p:nvPr/>
        </p:nvSpPr>
        <p:spPr>
          <a:xfrm>
            <a:off x="3611880" y="297180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Shape 108"/>
          <p:cNvSpPr/>
          <p:nvPr/>
        </p:nvSpPr>
        <p:spPr>
          <a:xfrm>
            <a:off x="3611880" y="2971800"/>
            <a:ext cx="105024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Shape 109"/>
          <p:cNvSpPr/>
          <p:nvPr/>
        </p:nvSpPr>
        <p:spPr>
          <a:xfrm>
            <a:off x="1371600" y="329184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Shape 110"/>
          <p:cNvSpPr/>
          <p:nvPr/>
        </p:nvSpPr>
        <p:spPr>
          <a:xfrm>
            <a:off x="1691640" y="3611880"/>
            <a:ext cx="166856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Shape 111"/>
          <p:cNvSpPr/>
          <p:nvPr/>
        </p:nvSpPr>
        <p:spPr>
          <a:xfrm>
            <a:off x="1691640" y="3611880"/>
            <a:ext cx="138188" cy="138188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Shape 112"/>
          <p:cNvSpPr/>
          <p:nvPr/>
        </p:nvSpPr>
        <p:spPr>
          <a:xfrm>
            <a:off x="1691640" y="3611880"/>
            <a:ext cx="0" cy="187711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Shape 113"/>
          <p:cNvSpPr/>
          <p:nvPr/>
        </p:nvSpPr>
        <p:spPr>
          <a:xfrm>
            <a:off x="1691640" y="3611880"/>
            <a:ext cx="0" cy="131106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Shape 114"/>
          <p:cNvSpPr/>
          <p:nvPr/>
        </p:nvSpPr>
        <p:spPr>
          <a:xfrm>
            <a:off x="169164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Shape 115"/>
          <p:cNvSpPr/>
          <p:nvPr/>
        </p:nvSpPr>
        <p:spPr>
          <a:xfrm>
            <a:off x="169164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Shape 116"/>
          <p:cNvSpPr/>
          <p:nvPr/>
        </p:nvSpPr>
        <p:spPr>
          <a:xfrm>
            <a:off x="169164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Shape 117"/>
          <p:cNvSpPr/>
          <p:nvPr/>
        </p:nvSpPr>
        <p:spPr>
          <a:xfrm>
            <a:off x="1691640" y="3611880"/>
            <a:ext cx="99863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Shape 118"/>
          <p:cNvSpPr/>
          <p:nvPr/>
        </p:nvSpPr>
        <p:spPr>
          <a:xfrm>
            <a:off x="2011680" y="329184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Shape 119"/>
          <p:cNvSpPr/>
          <p:nvPr/>
        </p:nvSpPr>
        <p:spPr>
          <a:xfrm>
            <a:off x="2331720" y="3611880"/>
            <a:ext cx="21836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Shape 120"/>
          <p:cNvSpPr/>
          <p:nvPr/>
        </p:nvSpPr>
        <p:spPr>
          <a:xfrm>
            <a:off x="2331720" y="3611880"/>
            <a:ext cx="104845" cy="104845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Shape 121"/>
          <p:cNvSpPr/>
          <p:nvPr/>
        </p:nvSpPr>
        <p:spPr>
          <a:xfrm>
            <a:off x="2331720" y="3611880"/>
            <a:ext cx="0" cy="138682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Shape 122"/>
          <p:cNvSpPr/>
          <p:nvPr/>
        </p:nvSpPr>
        <p:spPr>
          <a:xfrm>
            <a:off x="2331720" y="3611880"/>
            <a:ext cx="0" cy="133663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Shape 123"/>
          <p:cNvSpPr/>
          <p:nvPr/>
        </p:nvSpPr>
        <p:spPr>
          <a:xfrm>
            <a:off x="233172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Shape 124"/>
          <p:cNvSpPr/>
          <p:nvPr/>
        </p:nvSpPr>
        <p:spPr>
          <a:xfrm>
            <a:off x="233172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Shape 125"/>
          <p:cNvSpPr/>
          <p:nvPr/>
        </p:nvSpPr>
        <p:spPr>
          <a:xfrm>
            <a:off x="233172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Shape 126"/>
          <p:cNvSpPr/>
          <p:nvPr/>
        </p:nvSpPr>
        <p:spPr>
          <a:xfrm>
            <a:off x="2331720" y="3611880"/>
            <a:ext cx="161186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Shape 127"/>
          <p:cNvSpPr/>
          <p:nvPr/>
        </p:nvSpPr>
        <p:spPr>
          <a:xfrm>
            <a:off x="2651760" y="329184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0" name="Shape 128"/>
          <p:cNvSpPr/>
          <p:nvPr/>
        </p:nvSpPr>
        <p:spPr>
          <a:xfrm>
            <a:off x="2971800" y="3611880"/>
            <a:ext cx="150109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1" name="Shape 129"/>
          <p:cNvSpPr/>
          <p:nvPr/>
        </p:nvSpPr>
        <p:spPr>
          <a:xfrm>
            <a:off x="2971800" y="3611880"/>
            <a:ext cx="138820" cy="13882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Shape 130"/>
          <p:cNvSpPr/>
          <p:nvPr/>
        </p:nvSpPr>
        <p:spPr>
          <a:xfrm>
            <a:off x="2971800" y="3611880"/>
            <a:ext cx="0" cy="223449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3" name="Shape 131"/>
          <p:cNvSpPr/>
          <p:nvPr/>
        </p:nvSpPr>
        <p:spPr>
          <a:xfrm>
            <a:off x="2971800" y="3611880"/>
            <a:ext cx="0" cy="101739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4" name="Shape 132"/>
          <p:cNvSpPr/>
          <p:nvPr/>
        </p:nvSpPr>
        <p:spPr>
          <a:xfrm>
            <a:off x="297180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5" name="Shape 133"/>
          <p:cNvSpPr/>
          <p:nvPr/>
        </p:nvSpPr>
        <p:spPr>
          <a:xfrm>
            <a:off x="297180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6" name="Shape 134"/>
          <p:cNvSpPr/>
          <p:nvPr/>
        </p:nvSpPr>
        <p:spPr>
          <a:xfrm>
            <a:off x="297180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7" name="Shape 135"/>
          <p:cNvSpPr/>
          <p:nvPr/>
        </p:nvSpPr>
        <p:spPr>
          <a:xfrm>
            <a:off x="2971800" y="3611880"/>
            <a:ext cx="12493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8" name="Shape 136"/>
          <p:cNvSpPr/>
          <p:nvPr/>
        </p:nvSpPr>
        <p:spPr>
          <a:xfrm>
            <a:off x="3291840" y="3291840"/>
            <a:ext cx="640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9" name="Shape 137"/>
          <p:cNvSpPr/>
          <p:nvPr/>
        </p:nvSpPr>
        <p:spPr>
          <a:xfrm>
            <a:off x="3611880" y="3611880"/>
            <a:ext cx="163206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0" name="Shape 138"/>
          <p:cNvSpPr/>
          <p:nvPr/>
        </p:nvSpPr>
        <p:spPr>
          <a:xfrm>
            <a:off x="3611880" y="3611880"/>
            <a:ext cx="151530" cy="15153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1" name="Shape 139"/>
          <p:cNvSpPr/>
          <p:nvPr/>
        </p:nvSpPr>
        <p:spPr>
          <a:xfrm>
            <a:off x="3611880" y="3611880"/>
            <a:ext cx="0" cy="189727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2" name="Shape 140"/>
          <p:cNvSpPr/>
          <p:nvPr/>
        </p:nvSpPr>
        <p:spPr>
          <a:xfrm>
            <a:off x="3611880" y="3611880"/>
            <a:ext cx="0" cy="99652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3" name="Shape 141"/>
          <p:cNvSpPr/>
          <p:nvPr/>
        </p:nvSpPr>
        <p:spPr>
          <a:xfrm>
            <a:off x="361188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4" name="Shape 142"/>
          <p:cNvSpPr/>
          <p:nvPr/>
        </p:nvSpPr>
        <p:spPr>
          <a:xfrm>
            <a:off x="361188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5" name="Shape 143"/>
          <p:cNvSpPr/>
          <p:nvPr/>
        </p:nvSpPr>
        <p:spPr>
          <a:xfrm>
            <a:off x="3611880" y="3611880"/>
            <a:ext cx="0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6" name="Shape 144"/>
          <p:cNvSpPr/>
          <p:nvPr/>
        </p:nvSpPr>
        <p:spPr>
          <a:xfrm>
            <a:off x="3611880" y="3611880"/>
            <a:ext cx="100057" cy="0"/>
          </a:xfrm>
          <a:prstGeom prst="line">
            <a:avLst/>
          </a:prstGeom>
          <a:noFill/>
          <a:ln w="1905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7" name="Text 145"/>
          <p:cNvSpPr/>
          <p:nvPr/>
        </p:nvSpPr>
        <p:spPr>
          <a:xfrm>
            <a:off x="1188720" y="4069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cells × 8 方向 = 128 維</a:t>
            </a:r>
            <a:endParaRPr lang="en-US" sz="1300" dirty="0"/>
          </a:p>
        </p:txBody>
      </p:sp>
      <p:sp>
        <p:nvSpPr>
          <p:cNvPr id="148" name="Text 146"/>
          <p:cNvSpPr/>
          <p:nvPr/>
        </p:nvSpPr>
        <p:spPr>
          <a:xfrm>
            <a:off x="493776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 SIFT descriptor 視覺化</a:t>
            </a:r>
            <a:endParaRPr lang="en-US" sz="1400" dirty="0"/>
          </a:p>
        </p:txBody>
      </p:sp>
      <p:sp>
        <p:nvSpPr>
          <p:cNvPr id="149" name="Text 147"/>
          <p:cNvSpPr/>
          <p:nvPr/>
        </p:nvSpPr>
        <p:spPr>
          <a:xfrm>
            <a:off x="4937760" y="19202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每個小方塊 = 一個 4×4 子區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方塊內的 8 條短線 = 8 個方向 bin 的能量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線越長 = 該方向的梯度能量越強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這個圖案就是該關鍵點的「指紋」</a:t>
            </a:r>
            <a:endParaRPr lang="en-US" sz="1200" dirty="0"/>
          </a:p>
        </p:txBody>
      </p:sp>
      <p:sp>
        <p:nvSpPr>
          <p:cNvPr id="150" name="Text 148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 / 283</a:t>
            </a:r>
            <a:endParaRPr lang="en-US" sz="9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工具層｜cv2.SIFT_create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4.4+ patent 過期，直接可用：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sift = cv2.SIFT_create()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kp, des = sift.detectAndCompute(gray, None)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kp: list of KeyPoint, len 通常 1000-5000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des: (N, 128) ndarray，每行是一個 128 維 descriptor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img2 = cv2.drawKeypoints(img, kp, None,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flags=cv2.DRAW_MATCHES_FLAGS_DRAW_RICH_KEYPOINTS)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DRAW_RICH_KEYPOINTS：畫圈 + 主方向短線（豐富版視覺化）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detectAndCompute 一次完成偵測 + 描述子（更高效）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想限制數量：cv2.SIFT_create(nfeatures=500)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/ 283</a:t>
            </a:r>
            <a:endParaRPr lang="en-US" sz="9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四步驟一頁回顧</a:t>
            </a:r>
            <a:endParaRPr lang="en-US" sz="2200" dirty="0"/>
          </a:p>
        </p:txBody>
      </p:sp>
      <p:graphicFrame>
        <p:nvGraphicFramePr>
          <p:cNvPr id="1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步驟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輸出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關鍵概念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Scale-space Extrema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y, σ) 候選點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 金字塔 + 26 鄰居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Localization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候選點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精化關鍵點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Taylor + Hessian 去邊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Orientation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+主方向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36-bin 方向直方圖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Descriptor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+主方向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維向量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4×4×8 直方圖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02 SIFT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/ 283</a:t>
            </a:r>
            <a:endParaRPr lang="en-US" sz="9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二元描述子家族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一個點要存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個 float = 512 bytes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。MCU 跑得動嗎？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提示：二元描述子只存幾十 bytes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/ 283</a:t>
            </a:r>
            <a:endParaRPr lang="en-US" sz="9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的計算負擔分析（典型 1080p 影像）</a:t>
            </a:r>
            <a:endParaRPr lang="en-US" sz="2200" dirty="0"/>
          </a:p>
        </p:txBody>
      </p:sp>
      <p:graphicFrame>
        <p:nvGraphicFramePr>
          <p:cNvPr id="1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嵌入式衝擊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 金字塔記憶體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不夠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每點 descriptor 計算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~5000 浮點運算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Cortex-M 慢 100×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距離（128 維）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~256 浮點運算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比較成本高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 5000 點儲存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 不夠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/ 283</a:t>
            </a:r>
            <a:endParaRPr lang="en-US" sz="9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二元描述子的核心想法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概念：用「N 對像素亮度誰比較亮」的二元結果當 descriptor。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做法：在關鍵點周圍 patch 內取 N 對位置 (a_i, b_i)，比較 I(a_i) 和 I(b_i) 的亮度。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I(a_i) &gt; I(b_i)，第 i 位寫 1；否則寫 0。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結果：N-bit 字串。N 通常取 256 或 512 — 即 32 或 64 bytes（比 SIFT 小 8-16×）。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比較：用 Hamming 距離（XOR 後 popcount）— 比 L2 浮點距離快 10-100×。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/ 283</a:t>
            </a:r>
            <a:endParaRPr lang="en-US" sz="9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(Calonder 2010)｜Binary Robust Independent Elementary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全名：Binary Robust Independent Elementary Features。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做法：在 patch 內按某個分布隨機取 N 對點，比較亮度寫入 N-bit 字串。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Calonder 等實驗發現：「中心 Gaussian 分布取點」效果最好（比均勻分布好）。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典型參數：patch 31×31、N = 256（即 256-bit = 32 bytes 描述子）。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比 SIFT 快 100×，記憶體小 16×。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 / 283</a:t>
            </a:r>
            <a:endParaRPr lang="en-US" sz="9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的三大限制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1：不旋轉不變 — 影像旋轉後，取點對的相對位置改變，descriptor 完全不同。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2：不尺度不變 — 同樣的問題：縮放後 patch 大小固定，採樣的「物理區域」變了。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 3：對 patch 大小敏感 — 31×31 是 Calonder 經驗值，換 patch 結果差很多。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解法：ORB（下一頁）— 在 BRIEF 上加旋轉感知。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/ 283</a:t>
            </a:r>
            <a:endParaRPr lang="en-US" sz="9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(Rublee 2011)｜oriented FAST + rotated BRIEF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全名：Oriented FAST and Rotated BRIEF。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FAST 偵測（含 intensity centroid 算主方向）+ 旋轉感知 BRIEF（rBRIEF）。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兩個關鍵改進：(1) 給每個 FAST 角點一個「主方向」 (2) BRIEF 取點對也跟著主方向旋轉。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另外用機器學習挑出「最不相關的 256 對」當 BRIEF 取樣 — 提升獨特性。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結果：比 SIFT 快 ~100×，比 BRIEF 多了旋轉不變，OpenCV 4.4 之前的預設首選（無 patent）。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/ 283</a:t>
            </a:r>
            <a:endParaRPr lang="en-US" sz="9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的方向｜Intensity Centroid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 = arctan( m_{01} / m_{10} )    其中 m_{pq} = Σ x^p y^q I(x,y)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patch 內亮度 moment 算「重心方向」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m_{10}：patch 內亮度的 x 方向加權和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m_{01}：patch 內亮度的 y 方向加權和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重心 = (m_{10}/m_{00}, m_{01}/m_{00})，主方向 = 中心指向重心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SIFT 的 36-bin 直方圖簡單很多，但夠用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/ 283</a:t>
            </a:r>
            <a:endParaRPr lang="en-US" sz="9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的旋轉感知 BRIEF（rBRIEF）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 BRIEF：256 對固定位置 (a_i, b_i) — 但這假設「永遠是正向」。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rBRIEF：每個關鍵點先旋轉到主方向，採樣位置 (a_i, b_i) 也跟著旋轉。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Rublee 等：在訓練集上學出「相關性最低、變異數最大」的 256 對位置 — 取代隨機選。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結果：descriptor 對旋轉穩、獨特性比 BRIEF 強。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預設 ORB 的 nfeatures=500，typical descriptor size = 32 bytes。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/ 283</a:t>
            </a:r>
            <a:endParaRPr lang="en-US" sz="9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工具層｜cv2.ORB_create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的 OpenCV 實作（嵌入式首選）：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orb = cv2.ORB_create(nfeatures=500)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kp, des = orb.detectAndCompute(gray, None)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des: (N, 32) uint8 ndarray，每行是 256-bit descriptor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比 SIFT 的 (N, 128) float32 小 16 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img2 = cv2.drawKeypoints(img, kp, None, color=(0, 255, 0))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nfeatures：最多保留幾個 keypoint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scaleFactor=1.2：金字塔縮放比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nlevels=8：金字塔層數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WTA_K：每對比較取 2/3/4 個位置（影響 descriptor 設計）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/ 283</a:t>
            </a:r>
            <a:endParaRPr lang="en-US" sz="9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BRISK (Leutenegger 2011)｜Binary Robust Invariant Scalable Keypoints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ORB 同年發表，但採樣模式更系統化。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採樣：用「同心圓」固定取樣點 — 內外圈不同密度，模仿生物視覺的中央凹高解析、周邊低解析。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比較：選「短距離對」（高頻細節）+「長距離對」（粗糙結構）兩種尺度。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結果：對尺度與旋轉都比 BRIEF 穩；速度比 ORB 慢一些但更穩健。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/ 283</a:t>
            </a:r>
            <a:endParaRPr lang="en-US" sz="9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FREAK (Alahi 2012)｜Fast Retina Keypoint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靈感來自人類視網膜的取樣分布：中央凹密、周邊稀疏。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採樣模式：43 個取樣點按指數遞減的距離分布在同心圓上。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二元比較：選 512 對「資訊最豐富」的對，按「由內到外」的順序排列。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好處：當匹配時，先比對前 128 bits（中心區域），若相似度低就直接拒絕 — 加速比對。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比 ORB 快、精度相當；OpenCV 在 opencv-contrib 模組提供。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/ 283</a:t>
            </a:r>
            <a:endParaRPr lang="en-US" sz="9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二元描述子家族對照表</a:t>
            </a:r>
            <a:endParaRPr lang="en-US" sz="2200" dirty="0"/>
          </a:p>
        </p:txBody>
      </p:sp>
      <p:graphicFrame>
        <p:nvGraphicFramePr>
          <p:cNvPr id="1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旋轉不變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尺度不變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取樣模式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隨機 Gaussian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rBRIEF 學習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同心圓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視網膜分布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 OpenCV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(4.4+)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/ 283</a:t>
            </a:r>
            <a:endParaRPr lang="en-US" sz="9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距離度量｜L2 vs Hamming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浮點距離（SIFT 用）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 a − b ‖₂ = √( Σ (aᵢ − bᵢ)² 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128 維向量：256 浮點運算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FPU（嵌入式 MCU 沒有）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距離（二元描述子用）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d_H(a, b) = popcount(a XOR 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256-bit：1 次 XOR + 1 次 popcount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SSE4.2 / ARM NEON 都有硬體指令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速度：比 L2 快 10-100×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/ 283</a:t>
            </a:r>
            <a:endParaRPr lang="en-US" sz="9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Hamming + popcount 是嵌入式王道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popcount = 數一個整數的二進位中有幾個 1。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SSE4.2 提供 POPCNT 指令 — 64-bit 整數一次 popcount，1 個 cycle。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NEON 提供 vcnt 指令 — 8/16 通道並行 popcount。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256-bit ORB descriptor，比較成本 = 4 次 XOR + 4 次 POPCNT = ~10 ns。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SIFT 的 256 浮點運算（典型 ~500 ns，無 FPU 加速時 ~10 μs）快 50-1000×。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在 MCU 等級的硬體上，這個差距決定「能不能做即時 CV」。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/ 283</a:t>
            </a:r>
            <a:endParaRPr lang="en-US" sz="9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vs ORB 速度精度對比（Rublee 2011 Table 1）</a:t>
            </a:r>
            <a:endParaRPr lang="en-US" sz="2200" dirty="0"/>
          </a:p>
        </p:txBody>
      </p:sp>
      <p:graphicFrame>
        <p:nvGraphicFramePr>
          <p:cNvPr id="1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偵測時間（ms）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4.1× 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描述子計算（ms）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2.5× 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匹配時間（ms）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10× 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記憶體（每點）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16× 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匹配精度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100%（基準）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85-95%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損失 5-15%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/ 283</a:t>
            </a:r>
            <a:endParaRPr lang="en-US" sz="9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 3 小結｜什麼時候用哪個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高精度離線（醫學影像、SLAM 建圖）：SIFT。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即時嵌入式（無人機、AR、機器人）：ORB（首選）或 BRISK。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資源極限 MCU（Cortex-M）：BRIEF（若場景不旋轉）或 ORB（一般）。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4.4+ 的 SIFT 已 patent free，但 ORB 仍是嵌入式預設首選。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下一節：descriptor 抽出來後，怎麼比對？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03 二元描述子家族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/ 283</a:t>
            </a:r>
            <a:endParaRPr lang="en-US" sz="9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比對與 RANSAC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圖 1000 個 ORB 描述子，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怎麼快速找對應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/ 283</a:t>
            </a:r>
            <a:endParaRPr lang="en-US" sz="9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暴力比對 BFMatcher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Brute-Force：對 A 的每個 descriptor，遍歷 B 的所有 descriptor 找最近的。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O(N × M)：A 有 1000 個、B 有 1000 個 → 1,000,000 次距離計算。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好處：簡單、保證找到最近鄰、可平行化。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壞處：規模大時慢 — 5000 vs 5000 = 25M 次距離 → 即使 ORB Hamming 也要幾秒。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對小規模或精度優先場景用 BF；對大規模用 k-d tree / FLANN。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/ 283</a:t>
            </a:r>
            <a:endParaRPr lang="en-US" sz="9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BFMatcher 的 normType 參數</a:t>
            </a:r>
            <a:endParaRPr lang="en-US" sz="2200" dirty="0"/>
          </a:p>
        </p:txBody>
      </p:sp>
      <p:graphicFrame>
        <p:nvGraphicFramePr>
          <p:cNvPr id="1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 descriptor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距離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NORM_L2 (預設)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SIFT, SURF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歐幾里得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NORM_L1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SIFT, SURF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曼哈頓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NORM_HAMMING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ORB, BRIEF, BRISK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Hamming（XOR popcount）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NORM_HAMMING2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(WTA_K=3 或 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Hamming on pairs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/ 283</a:t>
            </a:r>
            <a:endParaRPr lang="en-US" sz="9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tree｜加速最近鄰搜尋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概念：把 k 維空間用「軸對齊超平面」遞迴切分，建出二元樹。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建構：選一個維度（譬如 x）、用該維度的中位數切點切成兩半 → 遞迴對左右子樹建樹。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查詢：給一個 query，從根遞迴下行 → 抵達葉節點 → 回溯檢查鄰近區塊。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平均複雜度 O(log N)，比 BF 的 O(N) 快很多。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問題：高維（&gt;20 維）時退化到 O(N) — SIFT 128 維時要近似算法。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/ 283</a:t>
            </a:r>
            <a:endParaRPr lang="en-US" sz="9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tree 建構範例（搬自去年 deck）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點集：(2,3), (5,4), (9,6), (8,1), (4,7), (7,2)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1（切 x 軸）：x 中位數 = 6.5 → 取 (7,2) 為根。左：(2,3)(5,4)(4,7)；右：(9,6)(8,1)。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2（切 y 軸）：左子樹 y 中位數 = 4 → (5,4) 為根。左：(2,3)；右：(4,7)。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3（切 y 軸）：右子樹 y 中位數 = 3.5 → (8,1) 為根。右：(9,6)。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建出的樹：根 (7,2) → 左 (5,4)/(2,3)/(4,7) → 右 (8,1)/(9,6)。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/ 283</a:t>
            </a:r>
            <a:endParaRPr lang="en-US" sz="9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tree 查詢範例｜找 (2.1, 3.1) 最近鄰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1：從根 (7,2) 比較 x — query x=2.1 &lt; 7 → 走左。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2：到 (5,4)，比較 y — query y=3.1 &lt; 4 → 走左。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3：抵達 (2,3) — 計算距離 = √((2.1-2)² + (3.1-3)²) ≈ 0.14 — 候選最近鄰。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4（回溯）：往上回到 (5,4)，檢查右子樹 (4,7) — 距離 ≈ 4.45，不更新。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5（再回溯）：回到根 (7,2)，檢查右子樹但距離 &gt; 0.14 → 不更新。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結果：最近鄰 = (2,3)，距離 0.14。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/ 283</a:t>
            </a:r>
            <a:endParaRPr lang="en-US" sz="9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tree 的維度詛咒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在低維（&lt; 20）效率好，但 SIFT 是 128 維。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原因：高維時，「資料點之間的距離」變得越來越接近 — 「最近鄰」與「次近鄰」幾乎一樣遠。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結果：k-d tree 必須回溯檢查幾乎所有節點 → 退化成 O(N)。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解法：放棄精確，用「近似最近鄰」（Approximate Nearest Neighbor, ANN）演算法 — FLANN 是最常用的實作。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/ 283</a:t>
            </a:r>
            <a:endParaRPr lang="en-US" sz="9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FLANN｜Fast Library for Approximate Nearest Neighbors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FLANN 自動選擇最佳 ANN 演算法：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對 SIFT/SURF 浮點 descriptor：用 randomized k-d tree forest（多個 k-d tree 並行）。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對 ORB/BRIEF 二元 descriptor：用 LSH (Locality-Sensitive Hashing) index。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在高維下比 BF 快 10-100×，匹配精度 95%+。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OpenCV：cv2.FlannBasedMatcher — 用法與 BFMatcher 幾乎一樣。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/ 283</a:t>
            </a:r>
            <a:endParaRPr lang="en-US" sz="9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工具層｜FlannBasedMatcher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 SIFT/SURF 用 k-d tree forest：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FLANN_INDEX_KDTREE =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index_params = dict(algorithm=FLANN_INDEX_KDTREE, trees=5)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search_params = dict(checks=50)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flann = cv2.FlannBasedMatcher(index_params, search_params)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 = flann.knnMatch(des1, des2, k=2)  # k=2 為了 ratio test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對 ORB 用 LSH：FLANN_INDEX_LSH = 6, index_params 設定不同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trees=5：5 棵 k-d tree forest 平行搜尋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checks=50：每次查詢檢查多少候選（精度與速度的 trade-off）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knnMatch 返回 (k 個最近鄰)，後面用 ratio test 過濾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/ 283</a:t>
            </a:r>
            <a:endParaRPr lang="en-US" sz="9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比對的兩個品質問題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描述子相似但不是真對應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成因：紋理重複（譬如格紋衣服）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後果：geometry 被錯配誤導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真對應被別的近似搶走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成因：descriptor 對遮擋/形變的容忍有限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後果：能用的對應太少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 / 283</a:t>
            </a:r>
            <a:endParaRPr lang="en-US" sz="9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Lowe's Ratio Test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若 d₁ / d₂ &lt; 0.7，接受 match；否則丟掉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雙閘觀念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對每個 query descriptor，找最近鄰 d₁ 與次近鄰 d₂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d₁ 比 d₂ 「明顯小」（譬如 &lt; 70%），表示這個對應「獨特」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d₁ ≈ d₂，表示有兩個都很像 — 可能是紋理重複，丟掉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 (2004)：閾值 0.7 是經驗最佳值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/ 283</a:t>
            </a:r>
            <a:endParaRPr lang="en-US" sz="9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Cross-check｜雙向最近鄰互相對應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概念：A→B 的最近鄰 (a, b)，必須與 B→A 的最近鄰 (b, a) 互相對應，才接受。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A→B 中 a 的最近鄰是 b，但 B→A 中 b 的最近鄰是 c（不是 a）→ 拒絕。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實作：cv2.BFMatcher(crossCheck=True) — 一個參數搞定。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ratio test 的差異：cross-check 不需要次近鄰、計算雙向；ratio test 只算單向但需要次近鄰。實務上兩者都用更穩。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/ 283</a:t>
            </a:r>
            <a:endParaRPr lang="en-US" sz="9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比對結果視覺化｜cv2.drawMatches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把對應點連起來，最直觀的 debug 工具：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ratio test 後得到 good matches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= [m for m, n in matches if m.distance &lt; 0.7 * n.distance]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img_match = cv2.drawMatches(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img1, kp1, img2, kp2, good, None,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flags=cv2.DrawMatchesFlags_NOT_DRAW_SINGLE_POINTS)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cv2.imshow('matches', img_match)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兩張圖並列、對應點連線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好的 match：連線多且大致平行（無交叉、無散亂）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壞的 match：連線交叉、散亂無章 → 幾乎都是錯配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/ 283</a:t>
            </a:r>
            <a:endParaRPr lang="en-US" sz="9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幾何驗證的必要性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即使過了 ratio test 與 cross-check，還會有錯配 — 譬如因為紋理重複造成的「巧合相似」。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問題：這些錯配在 descriptor 空間像，但在「物理空間」對不上。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解法：強制要求所有對應點滿足某個「幾何模型」（譬如兩平面之間的單應性、3D 場景的 essential matrix）。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RANSAC 找這個模型 + 過濾離群值（outliers）。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下一節：RANSAC + Homography。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/ 283</a:t>
            </a:r>
            <a:endParaRPr lang="en-US" sz="9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RANSAC｜Random Sample Consensus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隨機抽樣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 minimal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樣本對應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56232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76272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176272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76272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67712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估模型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13432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從樣本算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模型參數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75304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95344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895344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895344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86784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 inliers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32504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對所有對應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算誤差 &lt; t 的數量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94376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614416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5614416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614416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05856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51576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inliers 多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更新最佳模型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13448" y="137160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333488" y="1371600"/>
            <a:ext cx="1353312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7333488" y="1371600"/>
            <a:ext cx="1353312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333488" y="137160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24928" y="19202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迭代收斂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70648" y="2423160"/>
            <a:ext cx="1078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 k 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回傳最佳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整合輸出：高品質邊緣圖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/ 283</a:t>
            </a:r>
            <a:endParaRPr lang="en-US" sz="9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+ Homography 估計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 x' ; y' ; 1 ] ~ H · [ x ; y ; 1 ]    H ∈ ℝ^{3×3}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兩個平面之間的「單應性變換」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= 3×3 矩陣（8 自由度，因為齊次座標相差一個比例）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 H 需要至少 4 對對應點 — RANSAC 每次隨機抽 4 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用每組 4 對解 H，然後算「其他對應點的重投影誤差」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通常迭代 1000-10000 次，找誤差最小的 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/ 283</a:t>
            </a:r>
            <a:endParaRPr lang="en-US" sz="9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工具層｜cv2.findHomography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+ Homography 一行解：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src_pts = np.float32([kp1[m.queryIdx].pt for m in good]).reshape(-1, 1, 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dst_pts = np.float32([kp2[m.trainIdx].pt for m in good]).reshape(-1, 1, 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H, mask = cv2.findHomography(src_pts, dst_pts,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method=cv2.RANSAC, ransacReprojThreshold=5.0)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H: 3x3 homography matrix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mask: (N, 1) 0/1 — 1 表示是 inlier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ransacReprojThreshold=5.0：誤差超過 5 像素就視為 outlier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也可選 cv2.LMEDS（Least Median of Squares，更穩但慢）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用法：把 reference 影像四個角用 H 投到 query 影像，畫 box → AR 對齊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/ 283</a:t>
            </a:r>
            <a:endParaRPr lang="en-US" sz="9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比對完整 Pipeline｜從特徵到對應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286000"/>
          </a:xfrm>
          <a:prstGeom prst="rect">
            <a:avLst/>
          </a:prstGeom>
          <a:solidFill>
            <a:srgbClr val="ECECE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148840" y="1371600"/>
            <a:ext cx="1554480" cy="228600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14884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1554480" cy="2286000"/>
          </a:xfrm>
          <a:prstGeom prst="rect">
            <a:avLst/>
          </a:prstGeom>
          <a:solidFill>
            <a:srgbClr val="FFD4A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4048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/ FLANN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532120" y="1371600"/>
            <a:ext cx="1554480" cy="22860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53212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CrossCheck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223760" y="1371600"/>
            <a:ext cx="1554480" cy="22860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22376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Homography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輸出：純 inlier 對應 + 變換矩陣 H → 可用於 AR / Stitching / SLAM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/ Module 04 比對與 RANSAC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/ 283</a:t>
            </a:r>
            <a:endParaRPr lang="en-US" sz="9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「兩張不同視角你會匹配了」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那兩張不同時間呢？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Tracking 登場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/ 283</a:t>
            </a:r>
            <a:endParaRPr lang="en-US" sz="9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指紋 → 軌跡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2743200" y="2697480"/>
            <a:ext cx="3657600" cy="7772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74320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是 軌跡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在不同視角，tracking 在不同時間</a:t>
            </a:r>
            <a:endParaRPr lang="en-US" sz="18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路線圖｜五模組（含跨越橋）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594360" y="941832"/>
            <a:ext cx="502920" cy="502920"/>
          </a:xfrm>
          <a:prstGeom prst="ellipse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94360" y="941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光流與 KLT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constancy / LK / 金字塔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1051560"/>
            <a:ext cx="1188720" cy="292608"/>
          </a:xfrm>
          <a:prstGeom prst="rect">
            <a:avLst/>
          </a:prstGeom>
          <a:solidFill>
            <a:srgbClr val="FAFAF5"/>
          </a:solidFill>
          <a:ln w="12700">
            <a:solidFill>
              <a:srgbClr val="37517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315200" y="1051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94360" y="1719072"/>
            <a:ext cx="502920" cy="502920"/>
          </a:xfrm>
          <a:prstGeom prst="ellipse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9436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tracker 一覽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011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Mean-Shift / KCF / CSRT / MOSSE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1188720" cy="292608"/>
          </a:xfrm>
          <a:prstGeom prst="rect">
            <a:avLst/>
          </a:prstGeom>
          <a:solidFill>
            <a:srgbClr val="FAFAF5"/>
          </a:solidFill>
          <a:ln w="12700">
            <a:solidFill>
              <a:srgbClr val="37517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315200" y="1828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94360" y="2496312"/>
            <a:ext cx="502920" cy="502920"/>
          </a:xfrm>
          <a:prstGeom prst="ellipse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9436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經典應用實作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/ Stitching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2606040"/>
            <a:ext cx="1188720" cy="292608"/>
          </a:xfrm>
          <a:prstGeom prst="rect">
            <a:avLst/>
          </a:prstGeom>
          <a:solidFill>
            <a:srgbClr val="FAFAF5"/>
          </a:solidFill>
          <a:ln w="12700">
            <a:solidFill>
              <a:srgbClr val="37517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15200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94360" y="3273552"/>
            <a:ext cx="502920" cy="502920"/>
          </a:xfrm>
          <a:prstGeom prst="ellipse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Trade-off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3566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演算法 × 平台對照矩陣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0" y="3383280"/>
            <a:ext cx="1188720" cy="292608"/>
          </a:xfrm>
          <a:prstGeom prst="rect">
            <a:avLst/>
          </a:prstGeom>
          <a:solidFill>
            <a:srgbClr val="FAFAF5"/>
          </a:solidFill>
          <a:ln w="12700">
            <a:solidFill>
              <a:srgbClr val="37517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315200" y="33832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594360" y="4050792"/>
            <a:ext cx="502920" cy="502920"/>
          </a:xfrm>
          <a:prstGeom prst="ellipse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9436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跨越橋｜古典 → AI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4343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SuperPoint / DeepSORT / YOLO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0" y="4160520"/>
            <a:ext cx="1188720" cy="292608"/>
          </a:xfrm>
          <a:prstGeom prst="rect">
            <a:avLst/>
          </a:prstGeom>
          <a:solidFill>
            <a:srgbClr val="FAFAF5"/>
          </a:solidFill>
          <a:ln w="12700">
            <a:solidFill>
              <a:srgbClr val="37517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7315200" y="4160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路線圖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/ 283</a:t>
            </a:r>
            <a:endParaRPr lang="en-US" sz="9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學習目標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39571"/>
            <a:ext cx="640080" cy="322707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13957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05156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寫出光流方程與 aperture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159258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726311"/>
            <a:ext cx="640080" cy="322707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72631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63830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解釋 LK 三大假設與 KLT 金字塔策略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217932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313051"/>
            <a:ext cx="640080" cy="322707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31305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22504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列出傳統 tracker 三大失敗模式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276606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899791"/>
            <a:ext cx="640080" cy="32270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89979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81178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cv2.calcOpticalFlowPyrLK 跑 KLT 短片追蹤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335280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86531"/>
            <a:ext cx="640080" cy="322707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48653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39852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cv2.legacy.TrackerKCF_create 做物件追蹤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34440" y="3939540"/>
            <a:ext cx="749808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073271"/>
            <a:ext cx="640080" cy="322707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57200" y="4073271"/>
            <a:ext cx="640080" cy="322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985260"/>
            <a:ext cx="7498080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說出傳統 CV 與 AI 法的分工建議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路線圖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/ 283</a:t>
            </a:r>
            <a:endParaRPr lang="en-US" sz="9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光流與 KLT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一秒 30 frames，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物件跑來跑去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，怎麼追？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/ 283</a:t>
            </a:r>
            <a:endParaRPr lang="en-US" sz="9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→ tracking 觀念橋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Matching（W7）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兩張不同視角的圖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找跨視角的點對應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幾何約束：Homography / Essential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非時間維度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Tracking（W8）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同一視角的連續 frames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找跨時間的點對應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假設：brightness constancy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本質：matching 在時間軸上的延伸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/ 283</a:t>
            </a:r>
            <a:endParaRPr lang="en-US" sz="9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 Tracking 範式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Tracking-by-Detection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frame 重新偵測 + 比對 W7 流程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優點：對遮擋強、能處理 ID 變更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缺點：計算成本高（每 frame 重做）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Tracking-by-Motion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從上一 frame 預測位移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優點：計算便宜、能達到即時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缺點：累積誤差（drift）、遮擋失敗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/ 283</a:t>
            </a:r>
            <a:endParaRPr lang="en-US" sz="9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本週重點｜基於 motion 的 tracking → optical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Tracking-by-detection 在「物件級」追蹤特別重要（W8 模組 2 會碰到）。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本模組重點：基於「亮度連續性」假設的稀疏 motion tracking — 也就是 Lucas-Kanade 與其延伸 KLT。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為什麼這個是嵌入式入門首選：(1) 計算便宜 (2) 邏輯清晰 (3) 是後面 AI tracker（譬如 DeepSORT 的 Kalman 濾波部分）的觀念基礎。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從光流方程開始講起。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/ 283</a:t>
            </a:r>
            <a:endParaRPr lang="en-US" sz="9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光流（Optical Flow）的定義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光流：影像中每個像素在連續 frames 之間的「視覺速度向量」 (u, v)。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u：水平方向位移（像素 / frame）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v：垂直方向位移（像素 / frame）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在每個 frame 內，整張影像的 (u, v) 場稱為「光流場」（optical flow field）。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問題：怎麼從兩個 frames 的「亮度資訊」推導出 (u, v) 場？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/ 283</a:t>
            </a:r>
            <a:endParaRPr lang="en-US" sz="9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關鍵假設 1｜Brightness Constancy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I(x, y, t) = I(x + u, y + v, t + 1)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同一物件點在連續 frame 上亮度不變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若像素 (x, y) 在 frame t 是某物件，到 frame t+1 移動到 (x+u, y+v)，亮度應該相同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這個假設成立的前提：(1) 短時間 (2) 無強光照變化 (3) 無遮擋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在實務上 99% 的「相鄰兩 frame」都成立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下一頁：把這個假設「微分化」變光流方程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/ 283</a:t>
            </a:r>
            <a:endParaRPr lang="en-US" sz="9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光流方程｜對 brightness constancy 做泰勒展開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Ix · u + Iy · v + It = 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三個梯度的線性組合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Ix, Iy：空間梯度（與 W6 模組 1 學的同一個）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It：時間梯度 = 兩個 frame 對應像素的亮度差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u, v：要求的光流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問題：1 個方程，2 個未知數 → 不可解！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283</a:t>
            </a:r>
            <a:endParaRPr lang="en-US" sz="9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光流方程的「不適定」（Ill-posed）問題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 · u + Iy · v + It = 0 是一條方程，兩個未知數 (u, v)。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解：(u, v) 在這條直線上「無限多組」都滿足。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幾何意義：我們只能感知「沿梯度方向的位移」 — 譬如垂直邊只能感知水平位移，不能感知垂直位移。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這個現象的視覺類比 = aperture problem。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/ 283</a:t>
            </a:r>
            <a:endParaRPr lang="en-US" sz="9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Problem｜小孔看條紋的視覺類比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想像你透過一個小孔看一條斜線移動。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你只能感知到「沿線垂直方向」的位移 — 沿線方向的滑動你看不出來（線本身樣子不變）。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光流方程也是一樣：在一個小視窗內，只能解出「沿梯度方向」的位移分量。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解法：擴大「視窗」尺寸 → 集合多條梯度方向的方程 → 解出唯一的 (u, v)。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這就是 Lucas-Kanade 的核心：在小視窗 W 內，假設所有像素共享相同 (u, v)。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 / 283</a:t>
            </a:r>
            <a:endParaRPr lang="en-US" sz="9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 aperture｜兩種主流策略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局部假設 (LK)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鄰域 W 內所有像素共享相同 (u, v)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用最小平方解超定方程組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Lucas-Kanade (1981)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稀疏光流（只在好的點上算）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全域假設 (HS)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鄰近像素的 (u, v) 應該平滑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用變分法解整張影像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Horn-Schunck (1981)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稠密光流（每像素都算）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 / 283</a:t>
            </a:r>
            <a:endParaRPr lang="en-US" sz="9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關鍵假設｜鄰域內位移一致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在以關鍵點為中心的小視窗 W（譬如 5×5 或 9×9）內，所有像素共享相同 (u, v)。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這個假設合理因為：物件的剛性運動下，物件內所有點同步移動。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結果：W 內每個像素 (xᵢ, yᵢ) 都給出一條方程 Ix(xᵢ,yᵢ)·u + Iy(xᵢ,yᵢ)·v + It(xᵢ,yᵢ) = 0。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W 是 5×5 = 25 個像素，得到 25 條方程、2 個未知 → 超定方程組，可用最小平方解。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/ 283</a:t>
            </a:r>
            <a:endParaRPr lang="en-US" sz="9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的 Normal Equation 解法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E3A5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[u  v]ᵀ = (AᵀA)⁻¹ Aᵀ 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把問題寫成 A · [u v]ᵀ = b 的最小平方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是 N×2 矩陣，每行 [Ix, Iy]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是 N×1 向量，每元素 -It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AᵀA 是 2×2，AᵀA × [u v]ᵀ = Aᵀb 解 (u, v)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AᵀA = Σ [Ix² IxIy ; IxIy Iy²] — 看起來眼熟？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/ 283</a:t>
            </a:r>
            <a:endParaRPr lang="en-US" sz="9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重大發現｜LK 的可解條件 = Harris 角點條件！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AᵀA = Σ [Ix² IxIy ; IxIy Iy²] — 這就是 W7 學過的「自相關矩陣 M」！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可解條件：AᵀA 必須非奇異（det ≠ 0） — 即兩個特徵值都大。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這正是 Harris 角點的條件！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啟示：「適合追蹤的點」 = 角點。在平坦區或邊上 LK 都會失敗（aperture problem）。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Shi-Tomasi (1994) 就是基於這個觀察提出 cv2.goodFeaturesToTrack — 直接用 min(λ₁, λ₂) 挑「適合 LK 追蹤的點」。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/ 283</a:t>
            </a:r>
            <a:endParaRPr lang="en-US" sz="9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啟示｜用 Shi-Tomasi 挑「適合追蹤」的點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在做 KLT 追蹤前，先用 cv2.goodFeaturesToTrack 在 frame 0 挑「種子點」 — 通常 100-500 個。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這些點都通過 Shi-Tomasi 響應 → 都是「適合 LK 解的角點」。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後續每個 frame 用這些種子點追蹤 — 大幅提升成功率。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如果一段時間後種子點剩下太少（譬如 &lt; 30%），重新跑 goodFeaturesToTrack 補新點。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/ 283</a:t>
            </a:r>
            <a:endParaRPr lang="en-US" sz="9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第三個假設｜小位移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光流方程是「對 brightness constancy 做一階泰勒展開」 — 一階泰勒只在 (u, v) 很小時準確。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「小位移」具體是多小？通常 ≤ 1 像素 — 否則泰勒誤差快速累積。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問題：30 fps 下車輛 / 球的單 frame 位移可能 30+ 像素。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直接 LK 失敗 — 解出的 (u, v) 完全不對。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解法：金字塔粗到細策略（下一頁）。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/ 283</a:t>
            </a:r>
            <a:endParaRPr lang="en-US" sz="9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在大位移下的失敗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想像追蹤一顆 30 像素 / frame 移動的球。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假設 (u, v) 小，所以從 (x, y) 出發找最近鄰 — 但目標已經跑到 30 像素外。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結果：LK 收斂到「附近的局部最佳」 — 譬如球的尾巴或背景紋理 — 完全失去目標。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多解析度策略：先在低解析度估「粗位移」，再上一層細化。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 KLT（Kanade-Lucas-Tomasi）的金字塔版本。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 / 283</a:t>
            </a:r>
            <a:endParaRPr lang="en-US" sz="9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KLT｜金字塔粗到細（Coarse-to-Fine）策略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建構 Gaussian 金字塔：原圖 (level 0) → 縮 1/2 (level 1) → 縮 1/4 (level 2) → ...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在最高層（最低解析度）：1/16 解析度下，30 像素 / frame 的位移變成 ~2 像素 → LK 可解。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把這個粗位移作為「初始猜測」傳到下一層（解析度 ×2）。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在每層做一次 LK 細化，直到 level 0 得到精確位移。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Bouguet (2001) 在 OpenCV 實作了這個版本，今天我們用的就是它。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/ 283</a:t>
            </a:r>
            <a:endParaRPr lang="en-US" sz="9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 金字塔結構視覺化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703320" y="1280160"/>
            <a:ext cx="173736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703320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3（0.125× 解析度）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06140" y="2057400"/>
            <a:ext cx="2331720" cy="64008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406140" y="2057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2（0.25× 解析度）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2834640"/>
            <a:ext cx="3108960" cy="640080"/>
          </a:xfrm>
          <a:prstGeom prst="rect">
            <a:avLst/>
          </a:prstGeom>
          <a:solidFill>
            <a:srgbClr val="FFD4A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01752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1（0.5× 解析度）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3611880"/>
            <a:ext cx="4114800" cy="64008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514600" y="3611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0（1× 解析度）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由上而下：粗位移估計 → 一層一層細化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/ 283</a:t>
            </a:r>
            <a:endParaRPr lang="en-US" sz="9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 在每一層內的迭代精化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每一層內的 LK 不只算一次，而是反覆迭代：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1：用當前 (u, v) 估計，在新 frame 找對應位置 (x+u, y+v)。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2：算殘差 r = I_new(x+u, y+v) - I_old(x, y)。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3：用 Newton-Raphson 更新 (u, v) 減少 r。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4：若殘差 &lt; ε 或迭代達上限 → 收斂；否則回 Step 1。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預設 maxIter = 10、ε = 0.03 — 通常 3-5 次就收斂。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/ 283</a:t>
            </a:r>
            <a:endParaRPr lang="en-US" sz="9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工具層｜cv2.calcOpticalFlowPyrLK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的 KLT 主要 API：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next_pts, status, err = cv2.calcOpticalFlowPyrLK(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prev_gray, next_gray, prev_pts, None,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winSize=(15, 15), maxLevel=2,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criteria=(cv2.TERM_CRITERIA_EPS | cv2.TERM_CRITERIA_COUNT, 10, 0.03))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next_pts: 同 prev_pts shape，更新後的位置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status: (N, 1) 0/1 — 1 表示追蹤成功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err: (N, 1) 殘差，用來判斷品質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winSize：LK 視窗大小（越大越穩但越慢）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maxLevel=2：金字塔層數（0 = 不用金字塔）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criteria：迭代終止條件（10 次或 ε=0.03）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 / 283</a:t>
            </a:r>
            <a:endParaRPr lang="en-US" sz="9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 完整 Pipeline 程式範例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從種子點到逐 frame 追蹤：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cv2.VideoCapture('video.mp4')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ret, frame = cap.read()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prev_gray = cv2.cvtColor(frame, cv2.COLOR_BGR2GRAY)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= cv2.goodFeaturesToTrack(prev_gray, maxCorners=100, qualityLevel=0.3, minDistance=7)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ret: break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gray = cv2.cvtColor(frame, cv2.COLOR_BGR2GRAY)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p1, st, _ = cv2.calcOpticalFlowPyrLK(prev_gray, gray, p0, None)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good_new = p1[st == 1];  good_old = p0[st == 1]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prev_gray = gray.copy();  p0 = good_new.reshape(-1, 1, 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== 1 過濾：只保留追蹤成功的點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good_new 數量太少，呼叫 goodFeaturesToTrack 補新點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good_new 與 good_old 連起來畫線 = 軌跡視覺化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/ 283</a:t>
            </a:r>
            <a:endParaRPr lang="en-US" sz="9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 視覺化｜稀疏軌跡圖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經典視覺化：在 video 上疊加每個追蹤點的歷史軌跡（最近 N frames 的位置連線）。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視覺效果：車流、行人、運動軌跡都「顯影」 — 即使原 video 是靜態畫面也能看出運動。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用途：交通流量分析、運動分析（運動員動作）、無人機 SLAM 前處理。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samples/python/lk_track.py 是現成的經典範例 — 學生作業可參考。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/ 283</a:t>
            </a:r>
            <a:endParaRPr lang="en-US" sz="9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 失敗模式 1｜遮擋（Occlusion）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場景：被追蹤的點被另一個物件擋住（行人走過、樹葉飄過）。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結果：brightness constancy 完全破壞 — 同一位置的亮度從「追蹤目標」變成「遮擋物」。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 會：(1) 計算殘差很大 (2) status 變 0 (3) 點被丟掉。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對策：(1) 偵測 status == 0 並重新偵測 (2) 用 Kalman filter 預測遮擋期間的位置 (3) 改用 tracking-by-detection（W9 起的 AI 法）。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/ 283</a:t>
            </a:r>
            <a:endParaRPr lang="en-US" sz="9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 失敗模式 2｜大旋轉/形變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場景：物件旋轉超過 LK 的容忍（譬如車子轉彎、人臉轉側面）。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結果：物件外觀劇變 — LK 視窗內的紋理結構改變，殘差大。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對策：(1) 接受短期失蹤、定期重新偵測 (2) 用形變模型（譬如 affine LK）容忍小旋轉 (3) 改用 ORB / SIFT 比對重新對位。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在嵌入式即時應用，通常選 (1) — 簡單可行。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/ 283</a:t>
            </a:r>
            <a:endParaRPr lang="en-US" sz="9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 失敗模式 3｜漂移（Drift）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場景：每 frame LK 都有微小誤差（譬如 0.1 像素），累積 100 frames 後追蹤點偏離真實位置 10 像素。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結果：點看起來還在追蹤，但已經不是原本的目標了 — 「飄走」到附近紋理。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成因：LK 是「frame-to-frame」的局部最佳，沒有「全局約束」。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對策：(1) 定期用 W7 學的 SIFT/ORB 重新對位 (2) 用 Kalman filter 加運動平滑 (3) 多模板比對防止飄走。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/ 283</a:t>
            </a:r>
            <a:endParaRPr lang="en-US" sz="9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 vs 稀疏光流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稀疏（KLT）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只追蹤少量「適合的點」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計算便宜（100-500 點 × LK）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用途：車流追蹤、SLAM 點雲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限制：只在角點等特殊位置有結果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稠密（Farneback / TV-L1）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對每像素都計算 (u, v)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計算貴（百萬級像素）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用途：影像穩定、視訊壓縮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OpenCV：cv2.calcOpticalFlowFarneback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/ 283</a:t>
            </a:r>
            <a:endParaRPr lang="en-US" sz="9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工具層｜cv2.calcOpticalFlowFarneback（稠密）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稠密光流的 OpenCV 實作：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 = cv2.calcOpticalFlowFarneback(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prev_gray, next_gray, None,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pyr_scale=0.5, levels=3, winsize=15, iterations=3,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poly_n=5, poly_sigma=1.2, flags=0)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flow shape = (H, W, 2)，每像素的 [u, v]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視覺化：用 HSV 色輪 (hue=方向, value=幅度)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hsv = np.zeros_like(prev_frame)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mag, ang = cv2.cartToPolar(flow[..., 0], flow[..., 1])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hsv[..., 0] = ang * 180 / np.pi / 2;  hsv[..., 2] = cv2.normalize(mag, None, 0, 255, cv2.NORM_MINMAX)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Farneback 用「多項式擴展」近似亮度面，解析法求光流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在現代 CPU 上 1080p 影像 ~50 ms 一 frame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視覺化的 HSV 圖很有美感，常出現在論文 figure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01 光流與 KLT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/ 283</a:t>
            </a:r>
            <a:endParaRPr lang="en-US" sz="9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Tracker 一覽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 追「稀疏點」。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要追「一整個物件 box」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有什麼選擇？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/ 283</a:t>
            </a:r>
            <a:endParaRPr lang="en-US" sz="9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物件級 Tracker 的兩條路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用「外觀模型」匹配新 frame 中的 ROI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Mean-Shift / CamShift / KCF / CSRT / MOSSE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計算便宜，適合即時嵌入式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對外觀劇變脆弱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Tracking-by-Detection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frame 重新偵測（YOLO 等）+ 比對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 / FairMOT / ByteTrack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對遮擋、ID 變更強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計算貴，需要 GPU/NPU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 / 283</a:t>
            </a:r>
            <a:endParaRPr lang="en-US" sz="9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Mean-Shift｜用「外觀直方圖」追蹤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Comaniciu (2003)：在新 frame 中找一個位置，使其鄰域的色彩直方圖與 template 最相似。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做法：mean-shift 是個「迭代收斂」演算法 — 從上一 frame 的位置出發，每次移動到「鄰域內加權重心」，直到收斂。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為什麼快：不用搜整張影像，只用「鄰域」資訊收斂，幾步就到。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適用：顏色明顯的物件追蹤（譬如紅色球、特定衣服顏色）。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 / 283</a:t>
            </a:r>
            <a:endParaRPr lang="en-US" sz="9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Mean-Shift 的迭代過程視覺化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0：手動圈出 ROI（譬如人的衣服），抽出色彩直方圖作為 template。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1：從 Frame 0 的 ROI 位置出發，計算當前 ROI 的直方圖與 template 的匹配度。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mean-shift 迭代移動 ROI 中心 → 通常 3-5 次迭代就收斂到「最匹配」位置。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 之後：以前一 frame 的收斂位置為新起點，重複過程。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/ 283</a:t>
            </a:r>
            <a:endParaRPr lang="en-US" sz="9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Mean-Shift 的限制｜固定窗大小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Mean-Shift 不調整 ROI 大小 — 物件遠離鏡頭變小時，window 仍然原大。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結果：window 內混入太多背景，匹配品質下降，追蹤漂移。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對策 1：手動偵測物件大小變化、定期重啟 mean-shift（很煩）。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對策 2：用 CamShift（自動調整窗大小） — 下一頁。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 / 283</a:t>
            </a:r>
            <a:endParaRPr lang="en-US" sz="9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CamShift｜Continuously Adaptive Mean-Shift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mean-shift 收斂後，計算 ROI 內響應的「分佈大小與方向」 — 用 0 階矩 + 2 階矩。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階矩 → 物件大小變化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階矩 → 物件方向變化（旋轉）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 frame 的 ROI 大小、方向都自動更新，物件遠離/旋轉都能追。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OpenCV：cv2.CamShift。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/ 283</a:t>
            </a:r>
            <a:endParaRPr lang="en-US" sz="9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工具層｜cv2.meanShift / cv2.CamShift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 API 用法幾乎相同：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初始化 ROI（手動或自動偵測）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w, h = 200, 100, 50, 80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 = frame[y:y+h, x:x+w]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hsv_roi = cv2.cvtColor(roi, cv2.COLOR_BGR2HSV)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roi_hist = cv2.calcHist([hsv_roi], [0], None, [180], [0, 180])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cv2.normalize(roi_hist, roi_hist, 0, 255, cv2.NORM_MINMAX)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每 frame 用 backProject + meanShift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hsv = cv2.cvtColor(frame, cv2.COLOR_BGR2HSV)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dst = cv2.calcBackProject([hsv], [0], roi_hist, [0, 180], 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track_window = cv2.meanShift(dst, track_window, term_crit)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calcBackProject：把整張影像每像素「在 template 直方圖裡的機率」算出來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term_crit：迭代終止條件（max iter + ε）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CamShift 用法相同，只把 cv2.meanShift 改成 cv2.CamShift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/ 283</a:t>
            </a:r>
            <a:endParaRPr lang="en-US" sz="9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 Trackers｜高速時代開啟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MOSSE (Bolme 2010)：開創性論文 — 把追蹤視為「在新 frame 上找最大相關響應」。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ROI 訓練成一個「濾波器」，新 frame 上做相關 → 響應最強處就是新位置。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FFT 加速：相關 = 頻率域相乘，O(N log N) 比 O(N²) 快很多。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1080p 影像可以跑到 600+ FPS，從此「即時追蹤」變成標配。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後繼：KCF（kernelized）、CSRT（spatial reliability）— 在 OpenCV legacy 模組。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 / 283</a:t>
            </a:r>
            <a:endParaRPr lang="en-US" sz="9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內建 Tracker 對照表</a:t>
            </a:r>
            <a:endParaRPr lang="en-US" sz="2200" dirty="0"/>
          </a:p>
        </p:txBody>
      </p:sp>
      <p:graphicFrame>
        <p:nvGraphicFramePr>
          <p:cNvPr id="2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極快 600+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極限即時、簡單場景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 100+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通用嵌入式選擇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 25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高精度、複雜場景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教學用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深度學習版（嵌入式較難）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DaSiamRPN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深度學習版（W9 起接觸）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/ 283</a:t>
            </a:r>
            <a:endParaRPr lang="en-US" sz="9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實作示範｜cv2.legacy.TrackerKCF_create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行程式跑完整追蹤：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 = cv2.legacy.TrackerKCF_create()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cv2.VideoCapture('video.mp4')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ret, frame = cap.read()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bbox = cv2.selectROI('Select', frame, False)  # 滑鼠選 ROI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tracker.init(frame, bbox)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ret, frame = cap.read()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ret: break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success, bbox = tracker.update(frame)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success: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y, w, h = [int(v) for v in bbox]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cv2.rectangle(frame, (x, y), (x+w, y+h), (0, 255, 0), 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cv2.imshow('Tracking', frame);  cv2.waitKey(1)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選不同 tracker：把 TrackerKCF_create 換成 TrackerCSRT_create / TrackerMOSSE_create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 opencv-contrib-python 套件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注意：OpenCV 4.5+ tracker 在 cv2.legacy.* 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/ 283</a:t>
            </a:r>
            <a:endParaRPr lang="en-US" sz="9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Tracker 三大失敗模式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物件被擋住短時間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外觀模型完全失效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點 / box 永久遺失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外觀劇變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Change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光照、形變、轉角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外觀模型過時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追蹤漂走或停在原地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漂移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frame-to-frame 微小誤差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累積飄離真實位置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看起來在追，實際早飛了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/ 283</a:t>
            </a:r>
            <a:endParaRPr lang="en-US" sz="9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 2 小結｜tracker = template + 搜尋策略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Mean-Shift：直方圖匹配 + mean-shift 收斂。簡單可靠。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CamShift：mean-shift + 自動調 window 大小。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MOSSE / KCF / CSRT：相關濾波器 + FFT 加速。即時可行。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三大失敗模式（遮擋、形變、漂移）是傳統 tracker 的天花板。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下一節：把 W7+W8 的工具串起來看實例。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02 古典 tracker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 / 283</a:t>
            </a:r>
            <a:endParaRPr lang="en-US" sz="9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經典應用實作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前面三週學的所有東西，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能組合成什麼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 / 283</a:t>
            </a:r>
            <a:endParaRPr lang="en-US" sz="9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 1｜SIFT-based Object Detection（去年招牌實例）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情境：在大場景影像中，找出「我關心的那本書」 — 把它框出來。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Pipeline：(1) 對 query（書封）抽 SIFT (2) 對 scene 抽 SIFT (3) BFMatcher + ratio test (4) RANSAC + Homography (5) 把書封的四個角投到 scene → 框出物件。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全部用 W7 模組 1+2+4 + 模組 3（OpenCV 整合）的工具。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下一頁：你去年實際跑出來的 timing 表（極寶貴的真實數據）。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 / 283</a:t>
            </a:r>
            <a:endParaRPr lang="en-US" sz="9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Timing 表（去年實測）</a:t>
            </a:r>
            <a:endParaRPr lang="en-US" sz="2200" dirty="0"/>
          </a:p>
        </p:txBody>
      </p:sp>
      <p:graphicFrame>
        <p:nvGraphicFramePr>
          <p:cNvPr id="2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時間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特徵抽取 (Scene)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384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特徵抽取 (Book)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 × 289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比對 (Match)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Affine 變換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總時間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235 / 283</a:t>
            </a:r>
            <a:endParaRPr lang="en-US" sz="90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表的解讀｜哪一步最耗時？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比對是最大瓶頸（1.5 s，54%） — BFMatcher 對 1215 × 1022 = 1.24M 次距離計算。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對策 1：換 ORB descriptor — 比對成本壓到 0.05 s（30× 快）。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對策 2：用 FLANN 索引 — 比對成本壓到 0.2 s（7× 快）。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若改成 ORB + FLANN 組合：總時間從 2.76s 壓到約 0.5 s（5× 快），精度損失約 10%。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在嵌入式即時應用，這個 trade-off 通常划算。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 / 283</a:t>
            </a:r>
            <a:endParaRPr lang="en-US" sz="9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 1 程式範例｜SIFT + FLANN + Homography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行整合 W7 全部工具：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sift = cv2.SIFT_create()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kp1, des1 = sift.detectAndCompute(book, None)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kp2, des2 = sift.detectAndCompute(scene, None)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flann = cv2.FlannBasedMatcher({'algorithm': 1, 'trees': 5}, {'checks': 50})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 = flann.knnMatch(des1, des2, k=2)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= [m for m, n in matches if m.distance &lt; 0.7 * n.distance]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src_pts = np.float32([kp1[m.queryIdx].pt for m in good]).reshape(-1, 1, 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dst_pts = np.float32([kp2[m.trainIdx].pt for m in good]).reshape(-1, 1, 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H, mask = cv2.findHomography(src_pts, dst_pts, cv2.RANSAC, 5.0)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h, w = book.shape[:2]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corners = np.float32([[0,0], [w,0], [w,h], [0,h]]).reshape(-1, 1, 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scene_corners = cv2.perspectiveTransform(corners, H)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cv2.polylines(scene, [np.int32(scene_corners)], True, (0, 255, 0), 3)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/ 283</a:t>
            </a:r>
            <a:endParaRPr lang="en-US" sz="90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 2｜Image Stitching（影像拼接）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情境：兩張部分重疊的照片 — 想拼成一張全景。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Pipeline：(1) 兩張影像各抽 SIFT/ORB (2) BFMatcher + ratio test (3) RANSAC + Homography 算 H (4) cv2.warpPerspective 把第二張 warp 到第一張座標系 (5) blending 處理重疊區。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Object Detection 共用前 4 步 — 唯一差別是最後做的事不同（Object 是「框出物件」、Stitch 是「合成全景」）。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同樣的特徵驅動概念，應用差很多。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/ 283</a:t>
            </a:r>
            <a:endParaRPr lang="en-US" sz="90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Stitching 視覺化每一步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286000"/>
          </a:xfrm>
          <a:prstGeom prst="rect">
            <a:avLst/>
          </a:prstGeom>
          <a:solidFill>
            <a:srgbClr val="ECECE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原圖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148840" y="1371600"/>
            <a:ext cx="1554480" cy="2286000"/>
          </a:xfrm>
          <a:prstGeom prst="rect">
            <a:avLst/>
          </a:prstGeom>
          <a:solidFill>
            <a:srgbClr val="ECECE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14884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原圖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1554480" cy="2286000"/>
          </a:xfrm>
          <a:prstGeom prst="rect">
            <a:avLst/>
          </a:prstGeom>
          <a:solidFill>
            <a:srgbClr val="FFE9D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4048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雙邊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特徵點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532120" y="1371600"/>
            <a:ext cx="1554480" cy="2286000"/>
          </a:xfrm>
          <a:prstGeom prst="rect">
            <a:avLst/>
          </a:prstGeom>
          <a:solidFill>
            <a:srgbClr val="FFD4A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53212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對應線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（match）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1371600"/>
            <a:ext cx="118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223760" y="1371600"/>
            <a:ext cx="1554480" cy="22860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223760" y="1371600"/>
            <a:ext cx="1554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全景結果：兩張接成連續視角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 / 283</a:t>
            </a:r>
            <a:endParaRPr lang="en-US" sz="9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工具層｜cv2.Stitcher 高階 API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提供現成的 Stitcher，但一行就跑完：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stitcher = cv2.Stitcher_create(cv2.Stitcher_PANORAMA)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result = stitcher.stitch([img1, img2, img3])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status == cv2.Stitcher_OK: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cv2.imwrite('panorama.jpg', result)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print('Stitching failed:', status)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底層仍然是 SIFT + RANSAC + 多帶 blending — 這個高階 API 等於「自動駕駛版」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適合快速 prototype；想客製化（譬如指定特徵類型）需要用 Stitcher 的 set 系列方法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 W8-2 要求學生「不用 Stitcher、自己組裝」 — 才能真正理解原理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/ 283</a:t>
            </a:r>
            <a:endParaRPr lang="en-US" sz="90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 3｜KLT 追蹤稀疏軌跡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video 上疊加每個追蹤點的歷史軌跡 — 「畫」出運動。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Pipeline：(1) 第 1 frame 用 goodFeaturesToTrack 取 100 點 (2) 每 frame 用 calcOpticalFlowPyrLK 更新 (3) 把 (前位置, 新位置) 連線疊到原 frame 上。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視覺效果：行人路徑、車流、攝影機運動都「顯影」。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用途：交通流量分析（車道線方向）、運動數據分析、SLAM 前端。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/ 283</a:t>
            </a:r>
            <a:endParaRPr lang="en-US" sz="90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 4｜Lane Detection（車道線偵測）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經典自駕車前處理：W6 工具的整合：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cv2.cvtColor(frame, cv2.COLOR_BGR2GRAY)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 = cv2.GaussianBlur(gray, (5, 5), 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cv2.Canny(blur, 50, 150)               # W6 模組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ROI mask：只保留路面區域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np.zeros_like(edges)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polygon = np.array([[(100, 540), (450, 320), (550, 320), (900, 540)]])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cv2.fillPoly(mask, polygon, 255)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edges_roi = cv2.bitwise_and(edges, mask)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= cv2.HoughLinesP(edges_roi, 1, np.pi/180, 50, minLineLength=50, maxLineGap=10)  # W6 模組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x1, y1, x2, y2 in lines.reshape(-1, 4):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cv2.line(frame, (x1, y1), (x2, y2), (0, 255, 0), 3)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mask 把天空、車內飾板等不是路面的區域過濾掉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HoughLinesP 直接給線段端點，畫線方便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進階：分左右車道線分開處理、用 averaging 平滑線段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 / 283</a:t>
            </a:r>
            <a:endParaRPr lang="en-US" sz="90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 5｜人臉與物件 Tracking（KCF Demo）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場景：在一段短片上初始 KCF tracker，跟蹤行人。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Pipeline：(1) 第一 frame 用 cv2.selectROI 滑鼠圈出目標 (2) tracker.init(frame, bbox) (3) 每 frame tracker.update(frame) (4) 畫 box 視覺化。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效率：在 Pi 4 上 1080p 影像可達 30 FPS，足以即時應用。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限制：行人轉身（外觀劇變）或被擋（遮擋）時容易失敗 — 需要重啟。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/ 283</a:t>
            </a:r>
            <a:endParaRPr lang="en-US" sz="9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五個應用總表｜用了哪些技術</a:t>
            </a:r>
            <a:endParaRPr lang="en-US" sz="2200" dirty="0"/>
          </a:p>
        </p:txBody>
      </p:sp>
      <p:graphicFrame>
        <p:nvGraphicFramePr>
          <p:cNvPr id="2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應用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 工具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 工具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W8 工具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SIFT, FLANN, RANSAC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Stitching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SIFT, RANSAC, Homography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KLT 軌跡視覺化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goodFeatures, calcOpticalFlowPyrLK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Canny, Hough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KCF 物件追蹤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TrackerKCF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03 經典應用實作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/ 283</a:t>
            </a:r>
            <a:endParaRPr lang="en-US" sz="9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Trade-off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這些演算法搬到 </a:t>
            </a: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4 / Jetson / MCU</a:t>
            </a:r>
            <a:r>
              <a:rPr lang="en-US" sz="3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上會怎樣？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04 嵌入式 trade-off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/ 283</a:t>
            </a:r>
            <a:endParaRPr lang="en-US" sz="9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嵌入式平台分級</a:t>
            </a:r>
            <a:endParaRPr lang="en-US" sz="2200" dirty="0"/>
          </a:p>
        </p:txBody>
      </p:sp>
      <p:graphicFrame>
        <p:nvGraphicFramePr>
          <p:cNvPr id="2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代表硬體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適合演算法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Cortex-M4 1MHz / 256KB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Sobel / 簡單形態學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/ Pi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Cortex-A 1GHz+ / 1GB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Canny, Hough, ORB, KLT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邊緣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Jetson Nano (128 CUDA)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SIFT, Stitcher, 稠密光流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邊緣 NPU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Coral / Hailo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高（AI專用）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YOLO, SuperPoint, DeepSORT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04 嵌入式 trade-off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 / 283</a:t>
            </a:r>
            <a:endParaRPr lang="en-US" sz="9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演算法 × 平台對照矩陣（本週核心一張）</a:t>
            </a:r>
            <a:endParaRPr lang="en-US" sz="2200" dirty="0"/>
          </a:p>
        </p:txBody>
      </p:sp>
      <p:graphicFrame>
        <p:nvGraphicFramePr>
          <p:cNvPr id="2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演算法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運算複雜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記憶體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即時性 (Pi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硬體加速友善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Sobel/Canny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1080p 30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SIMD 完美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形態學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1080p 30+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SIMD 完美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1080p 15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 SIMD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1080p 60+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720p 1-2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需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1080p 20-30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1080p 30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 SIMD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04 嵌入式 trade-off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247 / 283</a:t>
            </a:r>
            <a:endParaRPr lang="en-US" sz="9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哪些步驟適合 SIMD 加速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卷積（Sobel、Gaussian）：SIMD 一次處理 4-16 個像素，加速 4-16×。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形態學（max/min 運算）：同上，加速 4-16×。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popcount（ORB 比對）：SSE4.2 POPCNT 指令、ARM NEON vcnt — 加速 8-16×。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距離計算（SIFT 比對）：SIMD 浮點 dot product — 加速 4-8×。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內部用 universal intrinsics 自動偵測平台、選最佳 SIMD — 不用自己寫。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04 嵌入式 trade-off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/ 283</a:t>
            </a:r>
            <a:endParaRPr lang="en-US" sz="9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哪些步驟適合 GPU 加速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金字塔（SIFT）：金字塔每層的 Gaussian 可以平行處理，一個 thread 一個像素。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特徵抽取（SIFT、ORB）：每個 keypoint 獨立計算 descriptor — 完美平行。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稠密光流（Farneback、TV-L1）：每像素獨立計算 (u, v) — 適合 GPU 大規模平行。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CUDA 模組：cv2.cuda.SIFT、cv2.cuda.calcOpticalFlowFarneback 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Nano 128 CUDA cores 跑 SIFT 從 1.5 FPS 提升到 25 FPS。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04 嵌入式 trade-off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/ 283</a:t>
            </a:r>
            <a:endParaRPr lang="en-US" sz="9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哪些步驟適合 NPU/DSP 加速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CV 大部分在 CPU/GPU 上跑 — NPU 主要對應「神經網路」操作。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唯一例外：某些 NPU（譬如 Coral Edge TPU）可以加速「卷積」類操作 — 把 Sobel/Canny 包成 1 層 CNN 即可加速。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未來：W9 起的 SuperPoint、DeepSORT 等 AI tracker 是 NPU 的主場 — 比古典 CPU 算法快 10-50×。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跨越橋的下一節，就要面對這個問題。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04 嵌入式 trade-off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/ 283</a:t>
            </a:r>
            <a:endParaRPr lang="en-US" sz="90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Trade-off 範例 1｜SIFT vs ORB on Jetson Nano</a:t>
            </a:r>
            <a:endParaRPr lang="en-US" sz="2200" dirty="0"/>
          </a:p>
        </p:txBody>
      </p:sp>
      <p:graphicFrame>
        <p:nvGraphicFramePr>
          <p:cNvPr id="2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1080p 一 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7.6× 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特徵點數量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 多 10×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匹配精度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(基準)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85-92%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損失 8-15%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記憶體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13× 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 8×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04 嵌入式 trade-off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 / 283</a:t>
            </a:r>
            <a:endParaRPr lang="en-US" sz="90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Trade-off 範例 2｜KLT vs DeepSORT on Jetson Nano</a:t>
            </a:r>
            <a:endParaRPr lang="en-US" sz="2200" dirty="0"/>
          </a:p>
        </p:txBody>
      </p:sp>
      <p:graphicFrame>
        <p:nvGraphicFramePr>
          <p:cNvPr id="2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1080p 一 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KLT 4× 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KLT 3×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遮擋 robust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完勝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一致性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完勝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精度（簡單場景）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差不多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精度（複雜場景）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04 嵌入式 trade-off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/ 283</a:t>
            </a:r>
            <a:endParaRPr lang="en-US" sz="9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 4 小結｜選擇取決於三件事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計算預算：MCU、AP、邊緣 GPU、NPU 各有上限。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場景複雜度：簡單室內 → 古典即可；複雜戶外 → 需要 AI。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容錯成本：醫療、自駕 → 高精度必選 AI；玩具、AR → 古典即可。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工程師永遠在這個三維空間中做選擇 — 沒有萬靈丹。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下一節跨越橋：當古典不夠用時，AI 法接什麼棒？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04 嵌入式 trade-off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 / 283</a:t>
            </a:r>
            <a:endParaRPr lang="en-US" sz="9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跨越橋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你剛剛走完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年的人類視覺工程史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下週起，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神經網路接這條棒子。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/ 283</a:t>
            </a:r>
            <a:endParaRPr lang="en-US" sz="9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CV 的三大天花板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天花板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表達極限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手工特徵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表達能力受限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設計者經驗決定上限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天花板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語意缺口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知道「這裡有特徵」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不知「這是什麼」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與類別斷裂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88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天花板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跨域脆弱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古典參數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換場景就要重調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泛化能力低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/ 283</a:t>
            </a:r>
            <a:endParaRPr lang="en-US" sz="9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天花板 1｜手工特徵的表達極限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的 128 維 = 4×4 cell × 8 方向 — 是 Lowe 用直覺設計的。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問題：這個結構真的最優嗎？或者有更好的「方向 / 尺度 / 取樣」組合？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學習式特徵（譬如 SuperPoint）：用 CNN 從資料學出最優的特徵表達 — 可能用 256 維，且每維都是「資料驅動的最佳投影」。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結果：在 viewpoint 變化、室內室外切換等任務上，學習式比手工版高 20-40% 精度。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/ 283</a:t>
            </a:r>
            <a:endParaRPr lang="en-US" sz="9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天花板 2｜語意缺口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SIFT/ORB 給你「這個位置有獨特的紋理特徵」 — 但不知道這個特徵屬於「貓」、「狗」還是「車」。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CV 的邊界：對「形狀」與「相對位置」敏感，但對「語意類別」無感。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深度學習的核心：把「特徵抽取」與「類別預測」端到端學在一起 — feature 自帶語意。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YOLO 之類的物件偵測器，不是「先抽特徵再分類」，而是「直接從像素到類別 + 位置」。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 / 283</a:t>
            </a:r>
            <a:endParaRPr lang="en-US" sz="9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天花板 3｜跨域泛化弱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在自然影像上預設參數通常 OK — 但搬到醫學影像（X 光、超音波）就要重調 k、threshold。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 在風景照片成功率 90%+，搬到醫學顯微影像可能失敗 — 因為紋理特性不同。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深度學習的優勢（也是劣勢）：需要該領域的訓練資料 — 但資料夠就能泛化好。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工程現實：跨域通常選「古典 + 該領域的少量微調」 OR「DL + 該領域大量資料」 — 沒有捷徑。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/ 283</a:t>
            </a:r>
            <a:endParaRPr lang="en-US" sz="9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三組對位視覺化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從手工到學習，一個工具一個工具看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對位 1：偵測子   |   對位 2：描述子   |   對位 3：比對 / 追蹤 / 偵測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/ 283</a:t>
            </a:r>
            <a:endParaRPr lang="en-US" sz="90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對位 1｜偵測子：SIFT vs SuperPoint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(1999/2004)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手工設計：DoG + Hessian 篩選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對縮放、旋轉、光照不變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每張圖典型 2000-5000 點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點分布：依紋理結構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SuperPoint (DeTone 2018)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學習式：CNN 學「適合匹配的點」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viewpoint 變化下更穩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每張圖約 1000 點，分布更均勻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點分布：學出的「最容易匹配」位置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/ 283</a:t>
            </a:r>
            <a:endParaRPr lang="en-US" sz="90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對位 2｜描述子：ORB vs HardNet/SuperPoint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(2011) 二元描述子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= 32 bytes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距離超快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嵌入式王牌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但精度受 BRIEF 結構限制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HardNet / SuperPoint (2017+)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128-256 維浮點，CNN 學出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loss 訓練：明確「拉近正對、推遠反對」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匹配精度比 ORB 高 20-30%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計算貴 10-100×（NPU 才划算）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 / 283</a:t>
            </a:r>
            <a:endParaRPr lang="en-US" sz="9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對位 3｜比對：RANSAC vs LoFTR / SuperGlue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 BFMatcher + RANSAC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兩階段：descriptor 比對 + 幾何驗證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keypoint 已偵測（不能對「弱紋理區」匹配）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獨立兩步，沒有「整體優化」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LoFTR (2021) / SuperGlue (2020)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端到端：CNN + Transformer 一次給出對應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可以在弱紋理區產生對應（譬如純白牆面）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detection、description、matching 整合在一起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 / 283</a:t>
            </a:r>
            <a:endParaRPr lang="en-US" sz="90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追蹤的對位｜KLT vs DeepSORT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KLT（W8 主菜）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追蹤稀疏「點」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constancy + 局部假設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遮擋 → 失去點，無法復原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 (Wojke 2017)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追蹤「物件身分」（含 ID 一致性）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 + 學習式 appearance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遮擋短時間後重接 → 同一 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 GPU、即時性差於 KLT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/ 283</a:t>
            </a:r>
            <a:endParaRPr lang="en-US" sz="9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偵測的對位｜Hough/Cascade vs YOLO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古典：Hough / Cascade Classifier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Hough：可參數化形狀（線、圓）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Cascade：人臉等固定模式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受限於「能寫出明確規則」的形狀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AI：YOLO 系列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可偵測 80+ 類任意物件（COCO）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每偵測 = 位置 + 類別 + 信心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端到端：直接從像素到「貓在 (100,200,30,40) 信心 0.9」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/ 283</a:t>
            </a:r>
            <a:endParaRPr lang="en-US" sz="90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學習式特徵解了什麼？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表達力：CNN 能學到比手工設計更豐富的特徵分佈。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語意：端到端訓練讓 feature 自帶類別資訊。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端到端優化：detection、description、matching 一起學，全局最佳化。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自動適應：給該領域的訓練資料，模型自動學出該領域的最佳參數。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 / 283</a:t>
            </a:r>
            <a:endParaRPr lang="en-US" sz="90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學習式特徵的代價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算力翻 10-100× — 需要 GPU 或 NPU 才能即時。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模型參數 MB-GB 級 — 嵌入式 ROM 容量挑戰。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訓練需要大量標註資料 — 標註成本可能比演算法本身貴。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黑盒子 — 失敗時難 debug、模型行為難解釋（醫療等高風險領域問題大）。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工程師的選擇：什麼時候付這個代價？答案在下一頁。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/ 283</a:t>
            </a:r>
            <a:endParaRPr lang="en-US" sz="9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古典 CV ↔ AI CV 分工建議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嵌入式管線實務上常常是 hybrid：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前處理（去雜訊、對比增強、ROI 切割）→ 古典 CV（便宜、穩定）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中間處理（特徵抽取、追蹤）→ 視場景複雜度選古典或 AI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後處理（語意理解、決策）→ AI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「用對的工具做對的事」 — 不要為了 AI 而 AI、也不要為了便宜而忽略精度需求。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/ 283</a:t>
            </a:r>
            <a:endParaRPr lang="en-US" sz="9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三週走完傳統 CV｜儀式回顧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27432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是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743200" cy="27432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33756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是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743200" cy="27432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21792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是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軌跡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/ 283</a:t>
            </a:r>
            <a:endParaRPr lang="en-US" sz="9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下週起｜AI CV 主題預告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051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基礎與卷積回顧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13716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31520" y="176479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7647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系列：物件偵測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137160" cy="59436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47802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47802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姿態偵測（Human Pose）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19125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191256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DeepSORT：物件追蹤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904488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13716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90448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390448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嵌入式部署：TensorRT、ONNX、量化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 / 283</a:t>
            </a:r>
            <a:endParaRPr lang="en-US" sz="9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是什麼，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由你決定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 vs 學習，沒有對錯，只有取捨。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嵌入式工程師永遠在這條光譜上做選擇。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/ Module 05 跨越橋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/ 283</a:t>
            </a:r>
            <a:endParaRPr lang="en-US" sz="9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知識回顧表｜五模組 × 四層</a:t>
            </a:r>
            <a:endParaRPr lang="en-US" sz="2200" dirty="0"/>
          </a:p>
        </p:txBody>
      </p:sp>
      <p:graphicFrame>
        <p:nvGraphicFramePr>
          <p:cNvPr id="2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光流與 KLT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怎麼跨時間追？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constancy / LK 假設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calcOpticalFlowPyrLK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車流軌跡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古典 tracker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怎麼追物件 box？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Mean-shift / KCF / 相關濾波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TrackerKCF/CSRT/MOSSE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人臉追蹤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經典應用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怎麼整合？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SIFT/ORB + RANSAC + warp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Det / Stitching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嵌入式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怎麼選？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演算法×平台矩陣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CUDA / SIMD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決策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跨越橋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古典夠用嗎？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三大天花板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與 AI 法對位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未來路徑圖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回顧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 / 283</a:t>
            </a:r>
            <a:endParaRPr lang="en-US" sz="9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作業預告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" cy="155448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W8-1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234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hr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KLT 失敗模式實證分析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在三段不同情境的影片上跑 KLT，量化分析三大失敗模式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37160" cy="155448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W8-2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hr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自製全景拼接（禁用 Stitcher）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W6+W7+W8 全部工具，從 0 拼出全景圖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作業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/ 283</a:t>
            </a:r>
            <a:endParaRPr lang="en-US" sz="90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三週整門課回顧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我們走了哪條路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 / 283</a:t>
            </a:r>
            <a:endParaRPr lang="en-US" sz="90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三週敘事弧線視覺化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828800" cy="137160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8288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651760" y="1828800"/>
            <a:ext cx="1828800" cy="13716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5176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18288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1828800" cy="137160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軌跡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858000" y="1828800"/>
            <a:ext cx="1828800" cy="137160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8580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神經網路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從像素到神經網路 — 整門課的時間軸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/ 283</a:t>
            </a:r>
            <a:endParaRPr lang="en-US" sz="90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三週學到的工具盒（Tool Box）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10515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828800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Prewitt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291840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Roberts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Laplacian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217920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/ DoG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0" y="10515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680960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55448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657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HoughLines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0" y="155448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82880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HoughCircles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55448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29184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erode/dilate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75488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open/close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21792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morphGrad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80960" y="155448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76809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tophat/blackhat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05740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6576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skeletonize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0" y="205740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182880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205740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329184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findContours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05740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75488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 Moments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05740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621792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Moravec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205740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768096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Harris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256032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36576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Shi-Tomasi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0" y="256032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182880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256032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329184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SIFT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56032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475488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256032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621792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680960" y="256032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7680960" y="2560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BRISK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306324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3657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FREAK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0" y="306324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182880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BFMatcher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91840" y="306324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329184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FLANN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306324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475488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test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17920" y="306324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8"/>
          <p:cNvSpPr/>
          <p:nvPr/>
        </p:nvSpPr>
        <p:spPr>
          <a:xfrm>
            <a:off x="621792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RANSAC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680960" y="306324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768096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Homography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65760" y="35661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2"/>
          <p:cNvSpPr/>
          <p:nvPr/>
        </p:nvSpPr>
        <p:spPr>
          <a:xfrm>
            <a:off x="36576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goodFeaturesToTrack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28800" y="35661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64"/>
          <p:cNvSpPr/>
          <p:nvPr/>
        </p:nvSpPr>
        <p:spPr>
          <a:xfrm>
            <a:off x="182880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calcOpticalFlowPyrLK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91840" y="35661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6"/>
          <p:cNvSpPr/>
          <p:nvPr/>
        </p:nvSpPr>
        <p:spPr>
          <a:xfrm>
            <a:off x="329184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Mean-Shift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54880" y="35661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Text 68"/>
          <p:cNvSpPr/>
          <p:nvPr/>
        </p:nvSpPr>
        <p:spPr>
          <a:xfrm>
            <a:off x="475488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CamShift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17920" y="35661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 70"/>
          <p:cNvSpPr/>
          <p:nvPr/>
        </p:nvSpPr>
        <p:spPr>
          <a:xfrm>
            <a:off x="621792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KCF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680960" y="356616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Text 72"/>
          <p:cNvSpPr/>
          <p:nvPr/>
        </p:nvSpPr>
        <p:spPr>
          <a:xfrm>
            <a:off x="768096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65760" y="406908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7620">
            <a:solidFill>
              <a:srgbClr val="C45C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4"/>
          <p:cNvSpPr/>
          <p:nvPr/>
        </p:nvSpPr>
        <p:spPr>
          <a:xfrm>
            <a:off x="365760" y="4069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MOSSE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37 個工具，三週走完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/ 283</a:t>
            </a:r>
            <a:endParaRPr lang="en-US" sz="90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五個跨章核心概念｜記得這五個就能重建大部分內容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94560" y="1005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不知道物件多大 → 多尺度同時處理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LoG / W7 SIFT 金字塔 / W8 KLT 金字塔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13716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不變性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94560" y="17190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對哪些變化保持？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旋轉、光照、尺度、視角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不同特徵覆蓋不同組合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137160" cy="594360"/>
          </a:xfrm>
          <a:prstGeom prst="rect">
            <a:avLst/>
          </a:prstGeom>
          <a:solidFill>
            <a:srgbClr val="37517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43230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51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94560" y="243230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怎麼比較兩個東西？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L2（浮點）vs Hamming（二元）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決定速度與成本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14553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94560" y="3145536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誤差總是有 → 用「投票」過濾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Hough（W6）/ RANSAC（W7）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13716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8587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194560" y="385876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從靜態到動態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光流方程 / KLT / 三大失敗模式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/ 283</a:t>
            </a:r>
            <a:endParaRPr lang="en-US" sz="90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三週六題作業總覽</a:t>
            </a:r>
            <a:endParaRPr lang="en-US" sz="2200" dirty="0"/>
          </a:p>
        </p:txBody>
      </p:sp>
      <p:graphicFrame>
        <p:nvGraphicFramePr>
          <p:cNvPr id="2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編號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題目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難度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預估時數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Canny 雜訊穩健度測試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形態學 + Hough 硬幣計數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 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 vs ORB 三種擾動比對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 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SIFT + RANSAC AR 海報辨識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7-9 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W8-1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KLT 失敗模式實證分析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 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W8-2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自製全景拼接（禁用 Stitcher）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 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 / 283</a:t>
            </a:r>
            <a:endParaRPr lang="en-US" sz="90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學生課後自學資源清單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37160" cy="7772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官方 tutorials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docs.opencv.org/4.x/  ·  samples.cpp / samples.python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37160" cy="7772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Szeliski 第 2 版 (2022)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Ch.7 Feature detection and matching  ·  Ch.9 Motion estimation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137160" cy="7772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名校課程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CMU 16-385 Computer Vision  ·  Stanford CS231A  ·  Brown CSCI1430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37160" cy="77724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經典論文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Harris 1988 / Lowe 2004 SIFT / Rublee 2011 ORB / Lucas-Kanade 1981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 / 283</a:t>
            </a:r>
            <a:endParaRPr lang="en-US" sz="90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推薦延伸閱讀｜五篇必讀經典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4008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&amp; Kanade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298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 image registration technique with an application to stereo vision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64008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764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 &amp; Stephens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corner and edge detector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64008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43230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7249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image features from scale-invariant keypoints (SIFT)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45536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64008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314553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1912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Rosten &amp; Drummond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43814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high-speed corner detection (FAST)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640080" cy="5943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8587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9044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Rublee et al.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41513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ORB: An efficient alternative to SIFT or SURF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/ 283</a:t>
            </a:r>
            <a:endParaRPr lang="en-US" sz="90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預備｜十個學生最常問的問題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為什麼 SIFT 比 ORB 準？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846320" y="1051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為什麼 RANSAC 用「隨機」而不窮舉？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KLT 為什麼要金字塔？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764792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572000" y="1764792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17647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Canny 的 threshold 怎麼選？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478024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478024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4780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形態學 kernel size 怎麼選？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478024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0" y="2478024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46320" y="24780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SIFT 的 128 維為什麼是 4×4×8？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9125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3191256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1912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ORB 為什麼能旋轉不變？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319125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0" y="3191256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31912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Lowe's ratio test 為什麼用 0.7？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904488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904488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40080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KLT 失敗了怎麼辦？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3904488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572000" y="3904488"/>
            <a:ext cx="137160" cy="594360"/>
          </a:xfrm>
          <a:prstGeom prst="rect">
            <a:avLst/>
          </a:prstGeom>
          <a:solidFill>
            <a:srgbClr val="C45C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846320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什麼時候該換成 AI 法？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/ 283</a:t>
            </a:r>
            <a:endParaRPr lang="en-US" sz="90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致謝與引用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Szeliski — Computer Vision: Algorithms and Applications, 2nd Ed (2022)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Radke — Filters / Edges / Harris / Describe-Match / Match 系列投影片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community — 開源實作與 tutorials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經典論文作者：Lowe, Harris, Lucas-Kanade, Rublee, Rosten, Calonder...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去年班級的學生 — 你們的提問與回饋讓今年的版本更好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本投影片內容若有錯誤或建議，歡迎回饋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 / 283</a:t>
            </a:r>
            <a:endParaRPr lang="en-US" sz="90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課程意見回饋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0" y="1371600"/>
            <a:ext cx="365760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743200" y="137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Code]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掃描或前往：https://forms.gle/your-feedback-form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你的回饋是下一屆課程改進的最重要素材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整門課回顧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 / 283</a:t>
            </a:r>
            <a:endParaRPr lang="en-US" sz="90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C4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下週起：W9 — CNN 基礎與卷積回顧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謝昇憲（George）｜georgeh@g4e.npust.edu.tw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64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0" y="4864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 / 283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66F70693C6F44D8DE9C1E869485E02" ma:contentTypeVersion="9" ma:contentTypeDescription="Create a new document." ma:contentTypeScope="" ma:versionID="c489af70c3c02474232de36650c85cb3">
  <xsd:schema xmlns:xsd="http://www.w3.org/2001/XMLSchema" xmlns:xs="http://www.w3.org/2001/XMLSchema" xmlns:p="http://schemas.microsoft.com/office/2006/metadata/properties" xmlns:ns3="03b9a1e0-32be-4d41-bf8d-8f9e5c5e2c74" targetNamespace="http://schemas.microsoft.com/office/2006/metadata/properties" ma:root="true" ma:fieldsID="c3e05e77697307e2b078191d84704017" ns3:_="">
    <xsd:import namespace="03b9a1e0-32be-4d41-bf8d-8f9e5c5e2c7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b9a1e0-32be-4d41-bf8d-8f9e5c5e2c7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b9a1e0-32be-4d41-bf8d-8f9e5c5e2c74" xsi:nil="true"/>
  </documentManagement>
</p:properties>
</file>

<file path=customXml/itemProps1.xml><?xml version="1.0" encoding="utf-8"?>
<ds:datastoreItem xmlns:ds="http://schemas.openxmlformats.org/officeDocument/2006/customXml" ds:itemID="{916C22E2-38A4-4FFC-B7B7-54BF3244E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b9a1e0-32be-4d41-bf8d-8f9e5c5e2c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2AAF5C-72FF-4F6D-937F-1A61289BF9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BE3F6B-21CB-40D8-922F-C5EEC08E359C}">
  <ds:schemaRefs>
    <ds:schemaRef ds:uri="http://purl.org/dc/terms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03b9a1e0-32be-4d41-bf8d-8f9e5c5e2c7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19861</Words>
  <Application>Microsoft Office PowerPoint</Application>
  <PresentationFormat>如螢幕大小 (16:9)</PresentationFormat>
  <Paragraphs>3517</Paragraphs>
  <Slides>287</Slides>
  <Notes>282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287</vt:i4>
      </vt:variant>
    </vt:vector>
  </HeadingPairs>
  <TitlesOfParts>
    <vt:vector size="288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嵌入式電腦視覺｜W6-W8 影像特徵</dc:title>
  <dc:subject>PptxGenJS Presentation</dc:subject>
  <dc:creator>George (謝昇憲)</dc:creator>
  <cp:lastModifiedBy>謝昇憲 HSIEH SHENG HSIEN</cp:lastModifiedBy>
  <cp:revision>3</cp:revision>
  <dcterms:created xsi:type="dcterms:W3CDTF">2026-05-07T13:02:51Z</dcterms:created>
  <dcterms:modified xsi:type="dcterms:W3CDTF">2026-05-28T10:16:04Z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0x0101007266F70693C6F44D8DE9C1E869485E02</vt:lpwstr>
  </property>
</Properties>
</file>