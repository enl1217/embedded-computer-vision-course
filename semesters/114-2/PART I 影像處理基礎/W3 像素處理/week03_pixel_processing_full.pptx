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379" r:id="rId16"/>
    <p:sldId id="380" r:id="rId17"/>
    <p:sldId id="381" r:id="rId18"/>
    <p:sldId id="382" r:id="rId19"/>
    <p:sldId id="383" r:id="rId20"/>
    <p:sldId id="270" r:id="rId21"/>
    <p:sldId id="271" r:id="rId22"/>
    <p:sldId id="272" r:id="rId23"/>
    <p:sldId id="273" r:id="rId24"/>
    <p:sldId id="274" r:id="rId25"/>
    <p:sldId id="38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85" r:id="rId70"/>
    <p:sldId id="318" r:id="rId71"/>
    <p:sldId id="386" r:id="rId72"/>
    <p:sldId id="387" r:id="rId73"/>
    <p:sldId id="388" r:id="rId74"/>
    <p:sldId id="319" r:id="rId75"/>
    <p:sldId id="320" r:id="rId76"/>
    <p:sldId id="321" r:id="rId77"/>
    <p:sldId id="322" r:id="rId78"/>
    <p:sldId id="323" r:id="rId79"/>
    <p:sldId id="324" r:id="rId80"/>
    <p:sldId id="325" r:id="rId81"/>
    <p:sldId id="326" r:id="rId82"/>
    <p:sldId id="1658" r:id="rId83"/>
    <p:sldId id="1659" r:id="rId84"/>
    <p:sldId id="327" r:id="rId85"/>
    <p:sldId id="1657" r:id="rId86"/>
    <p:sldId id="328" r:id="rId87"/>
    <p:sldId id="329" r:id="rId88"/>
    <p:sldId id="330" r:id="rId89"/>
    <p:sldId id="331" r:id="rId90"/>
    <p:sldId id="1660" r:id="rId91"/>
    <p:sldId id="1661" r:id="rId92"/>
    <p:sldId id="1662" r:id="rId93"/>
    <p:sldId id="1663" r:id="rId94"/>
    <p:sldId id="1664" r:id="rId95"/>
    <p:sldId id="1665" r:id="rId96"/>
    <p:sldId id="332" r:id="rId97"/>
    <p:sldId id="333" r:id="rId98"/>
    <p:sldId id="334" r:id="rId99"/>
    <p:sldId id="335" r:id="rId100"/>
    <p:sldId id="1666" r:id="rId101"/>
    <p:sldId id="340" r:id="rId102"/>
    <p:sldId id="341" r:id="rId103"/>
    <p:sldId id="342" r:id="rId104"/>
    <p:sldId id="343" r:id="rId105"/>
    <p:sldId id="344" r:id="rId106"/>
    <p:sldId id="336" r:id="rId107"/>
    <p:sldId id="337" r:id="rId108"/>
    <p:sldId id="338" r:id="rId109"/>
    <p:sldId id="339" r:id="rId110"/>
    <p:sldId id="345" r:id="rId111"/>
    <p:sldId id="346" r:id="rId112"/>
    <p:sldId id="1675" r:id="rId113"/>
    <p:sldId id="1676" r:id="rId114"/>
    <p:sldId id="347" r:id="rId115"/>
    <p:sldId id="348" r:id="rId116"/>
    <p:sldId id="349" r:id="rId117"/>
    <p:sldId id="350" r:id="rId118"/>
    <p:sldId id="351" r:id="rId119"/>
    <p:sldId id="352" r:id="rId120"/>
    <p:sldId id="353" r:id="rId121"/>
    <p:sldId id="354" r:id="rId122"/>
    <p:sldId id="355" r:id="rId123"/>
    <p:sldId id="356" r:id="rId124"/>
    <p:sldId id="357" r:id="rId125"/>
    <p:sldId id="358" r:id="rId126"/>
    <p:sldId id="1667" r:id="rId127"/>
    <p:sldId id="1668" r:id="rId128"/>
    <p:sldId id="1669" r:id="rId129"/>
    <p:sldId id="1670" r:id="rId130"/>
    <p:sldId id="1671" r:id="rId131"/>
    <p:sldId id="1672" r:id="rId132"/>
    <p:sldId id="1673" r:id="rId133"/>
    <p:sldId id="1674" r:id="rId134"/>
    <p:sldId id="359" r:id="rId135"/>
    <p:sldId id="360" r:id="rId136"/>
    <p:sldId id="361" r:id="rId137"/>
    <p:sldId id="362" r:id="rId138"/>
    <p:sldId id="363" r:id="rId139"/>
    <p:sldId id="364" r:id="rId140"/>
    <p:sldId id="365" r:id="rId141"/>
    <p:sldId id="366" r:id="rId142"/>
    <p:sldId id="367" r:id="rId143"/>
    <p:sldId id="368" r:id="rId144"/>
    <p:sldId id="369" r:id="rId145"/>
    <p:sldId id="370" r:id="rId146"/>
    <p:sldId id="371" r:id="rId147"/>
    <p:sldId id="372" r:id="rId148"/>
    <p:sldId id="373" r:id="rId149"/>
    <p:sldId id="374" r:id="rId150"/>
    <p:sldId id="375" r:id="rId151"/>
    <p:sldId id="376" r:id="rId152"/>
    <p:sldId id="377" r:id="rId153"/>
    <p:sldId id="378" r:id="rId154"/>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2650" autoAdjust="0"/>
    <p:restoredTop sz="94610"/>
  </p:normalViewPr>
  <p:slideViewPr>
    <p:cSldViewPr snapToGrid="0" snapToObjects="1">
      <p:cViewPr varScale="1">
        <p:scale>
          <a:sx n="146" d="100"/>
          <a:sy n="146" d="100"/>
        </p:scale>
        <p:origin x="2448"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tableStyles" Target="tableStyles.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slide" Target="slides/slide149.xml"/><Relationship Id="rId155" Type="http://schemas.openxmlformats.org/officeDocument/2006/relationships/notesMaster" Target="notesMasters/notesMaster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presProps" Target="pres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637639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2F0694-554B-46C7-C014-B4A15CF907F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18C72C-037B-86E4-F733-85C12BA8162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0555DFD-8C91-766C-BF1A-2030EC4BC0B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602892-0279-B025-2506-381E229EE2CE}"/>
              </a:ext>
            </a:extLst>
          </p:cNvPr>
          <p:cNvSpPr>
            <a:spLocks noGrp="1"/>
          </p:cNvSpPr>
          <p:nvPr>
            <p:ph type="sldNum" sz="quarter" idx="10"/>
          </p:nvPr>
        </p:nvSpPr>
        <p:spPr/>
        <p:txBody>
          <a:bodyPr/>
          <a:lstStyle/>
          <a:p>
            <a:fld id="{F7021451-1387-4CA6-816F-3879F97B5CBC}" type="slidenum">
              <a:rPr lang="en-US"/>
              <a:t>82</a:t>
            </a:fld>
            <a:endParaRPr lang="en-US"/>
          </a:p>
        </p:txBody>
      </p:sp>
    </p:spTree>
    <p:extLst>
      <p:ext uri="{BB962C8B-B14F-4D97-AF65-F5344CB8AC3E}">
        <p14:creationId xmlns:p14="http://schemas.microsoft.com/office/powerpoint/2010/main" val="303841663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1ACE16-A284-BA93-182C-823DAC833FD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DA6F056-6D84-A770-BD16-774D0CFCDB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92E5F76-A968-8ECC-8BB6-EC2B55F6A39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4E66E7E-4A71-8FE1-99F2-A583DE205C8E}"/>
              </a:ext>
            </a:extLst>
          </p:cNvPr>
          <p:cNvSpPr>
            <a:spLocks noGrp="1"/>
          </p:cNvSpPr>
          <p:nvPr>
            <p:ph type="sldNum" sz="quarter" idx="10"/>
          </p:nvPr>
        </p:nvSpPr>
        <p:spPr/>
        <p:txBody>
          <a:bodyPr/>
          <a:lstStyle/>
          <a:p>
            <a:fld id="{F7021451-1387-4CA6-816F-3879F97B5CBC}" type="slidenum">
              <a:rPr lang="en-US"/>
              <a:t>83</a:t>
            </a:fld>
            <a:endParaRPr lang="en-US"/>
          </a:p>
        </p:txBody>
      </p:sp>
    </p:spTree>
    <p:extLst>
      <p:ext uri="{BB962C8B-B14F-4D97-AF65-F5344CB8AC3E}">
        <p14:creationId xmlns:p14="http://schemas.microsoft.com/office/powerpoint/2010/main" val="1888930966"/>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0"/>
        <p:cNvGrpSpPr/>
        <p:nvPr/>
      </p:nvGrpSpPr>
      <p:grpSpPr>
        <a:xfrm>
          <a:off x="0" y="0"/>
          <a:ext cx="0" cy="0"/>
          <a:chOff x="0" y="0"/>
          <a:chExt cx="0" cy="0"/>
        </a:xfrm>
      </p:grpSpPr>
      <p:sp>
        <p:nvSpPr>
          <p:cNvPr id="1451" name="Google Shape;1451;g82e84bb10b_0_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52" name="Google Shape;1452;g82e84bb10b_0_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82864680"/>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2"/>
        <p:cNvGrpSpPr/>
        <p:nvPr/>
      </p:nvGrpSpPr>
      <p:grpSpPr>
        <a:xfrm>
          <a:off x="0" y="0"/>
          <a:ext cx="0" cy="0"/>
          <a:chOff x="0" y="0"/>
          <a:chExt cx="0" cy="0"/>
        </a:xfrm>
      </p:grpSpPr>
      <p:sp>
        <p:nvSpPr>
          <p:cNvPr id="1463" name="Google Shape;1463;g82e84bb10b_0_286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64" name="Google Shape;1464;g82e84bb10b_0_286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548723853"/>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solidFill>
                  <a:srgbClr val="336699"/>
                </a:solidFill>
              </a:defRPr>
            </a:lvl1pPr>
          </a:lstStyle>
          <a:p>
            <a:r>
              <a:rPr lang="zh-TW" altLang="en-US" dirty="0"/>
              <a:t>按一下以編輯母片標題樣式</a:t>
            </a:r>
          </a:p>
        </p:txBody>
      </p:sp>
      <p:sp>
        <p:nvSpPr>
          <p:cNvPr id="9" name="Rectangle 3"/>
          <p:cNvSpPr>
            <a:spLocks noGrp="1" noChangeArrowheads="1"/>
          </p:cNvSpPr>
          <p:nvPr>
            <p:ph idx="1"/>
          </p:nvPr>
        </p:nvSpPr>
        <p:spPr bwMode="auto">
          <a:xfrm>
            <a:off x="323850" y="897731"/>
            <a:ext cx="8135938" cy="378023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2pPr marL="1191" indent="534591">
              <a:defRPr/>
            </a:lvl2pPr>
            <a:lvl3pPr marL="0" indent="2381">
              <a:defRPr/>
            </a:lvl3pPr>
          </a:lstStyle>
          <a:p>
            <a:pPr lvl="0"/>
            <a:r>
              <a:rPr lang="en-US" altLang="zh-TW" noProof="0" dirty="0"/>
              <a:t>1-1-1</a:t>
            </a:r>
            <a:r>
              <a:rPr lang="zh-TW" altLang="en-US" noProof="0" dirty="0"/>
              <a:t>第一層第一層第一層第一層第一層第一層第一層</a:t>
            </a:r>
          </a:p>
          <a:p>
            <a:pPr lvl="1"/>
            <a:r>
              <a:rPr lang="zh-TW" altLang="en-US" noProof="0" dirty="0"/>
              <a:t>第二層內文第二層內文第二層內文第二層內文第二層內文第二層內文</a:t>
            </a:r>
            <a:endParaRPr lang="en-US" altLang="zh-TW" noProof="0" dirty="0"/>
          </a:p>
          <a:p>
            <a:pPr lvl="2"/>
            <a:r>
              <a:rPr lang="zh-TW" altLang="en-US" noProof="0" dirty="0"/>
              <a:t>第三層題目第三層題目第三層題目第三層題目第三層題目第三層題目</a:t>
            </a:r>
            <a:endParaRPr lang="en-US" altLang="zh-TW" noProof="0" dirty="0"/>
          </a:p>
          <a:p>
            <a:pPr lvl="3"/>
            <a:r>
              <a:rPr lang="en-US" altLang="zh-TW" noProof="0" dirty="0"/>
              <a:t>(1)</a:t>
            </a:r>
            <a:r>
              <a:rPr lang="zh-TW" altLang="en-US" noProof="0" dirty="0"/>
              <a:t>第四層第四層第四層第四層第四層第四層第四層第四層</a:t>
            </a:r>
            <a:endParaRPr lang="en-US" altLang="zh-TW" noProof="0" dirty="0"/>
          </a:p>
          <a:p>
            <a:pPr lvl="4"/>
            <a:r>
              <a:rPr lang="zh-TW" altLang="en-US" noProof="0" dirty="0"/>
              <a:t>第五層解答設逐行動畫第五層解答設逐行動畫第五層解答設逐行動畫</a:t>
            </a:r>
          </a:p>
        </p:txBody>
      </p:sp>
    </p:spTree>
    <p:extLst>
      <p:ext uri="{BB962C8B-B14F-4D97-AF65-F5344CB8AC3E}">
        <p14:creationId xmlns:p14="http://schemas.microsoft.com/office/powerpoint/2010/main" val="830260411"/>
      </p:ext>
    </p:extLst>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805750"/>
            <a:ext cx="8520600" cy="3763200"/>
          </a:xfrm>
          <a:prstGeom prst="rect">
            <a:avLst/>
          </a:prstGeom>
        </p:spPr>
        <p:txBody>
          <a:bodyPr spcFirstLastPara="1" wrap="square" lIns="91425" tIns="91425" rIns="91425" bIns="91425" anchor="t" anchorCtr="0">
            <a:noAutofit/>
          </a:bodyPr>
          <a:lstStyle>
            <a:lvl1pPr marL="457189" lvl="0" indent="-342892">
              <a:spcBef>
                <a:spcPts val="0"/>
              </a:spcBef>
              <a:spcAft>
                <a:spcPts val="0"/>
              </a:spcAft>
              <a:buSzPts val="1800"/>
              <a:buChar char="●"/>
              <a:defRPr/>
            </a:lvl1pPr>
            <a:lvl2pPr marL="914378" lvl="1" indent="-317492">
              <a:spcBef>
                <a:spcPts val="1600"/>
              </a:spcBef>
              <a:spcAft>
                <a:spcPts val="0"/>
              </a:spcAft>
              <a:buSzPts val="1400"/>
              <a:buChar char="○"/>
              <a:defRPr/>
            </a:lvl2pPr>
            <a:lvl3pPr marL="1371566" lvl="2" indent="-317492">
              <a:spcBef>
                <a:spcPts val="1600"/>
              </a:spcBef>
              <a:spcAft>
                <a:spcPts val="0"/>
              </a:spcAft>
              <a:buSzPts val="1400"/>
              <a:buChar char="■"/>
              <a:defRPr/>
            </a:lvl3pPr>
            <a:lvl4pPr marL="1828754" lvl="3" indent="-317492">
              <a:spcBef>
                <a:spcPts val="1600"/>
              </a:spcBef>
              <a:spcAft>
                <a:spcPts val="0"/>
              </a:spcAft>
              <a:buSzPts val="1400"/>
              <a:buChar char="●"/>
              <a:defRPr/>
            </a:lvl4pPr>
            <a:lvl5pPr marL="2285943" lvl="4" indent="-317492">
              <a:spcBef>
                <a:spcPts val="1600"/>
              </a:spcBef>
              <a:spcAft>
                <a:spcPts val="0"/>
              </a:spcAft>
              <a:buSzPts val="1400"/>
              <a:buChar char="○"/>
              <a:defRPr/>
            </a:lvl5pPr>
            <a:lvl6pPr marL="2743132" lvl="5" indent="-317492">
              <a:spcBef>
                <a:spcPts val="1600"/>
              </a:spcBef>
              <a:spcAft>
                <a:spcPts val="0"/>
              </a:spcAft>
              <a:buSzPts val="1400"/>
              <a:buChar char="■"/>
              <a:defRPr/>
            </a:lvl6pPr>
            <a:lvl7pPr marL="3200320" lvl="6" indent="-317492">
              <a:spcBef>
                <a:spcPts val="1600"/>
              </a:spcBef>
              <a:spcAft>
                <a:spcPts val="0"/>
              </a:spcAft>
              <a:buSzPts val="1400"/>
              <a:buChar char="●"/>
              <a:defRPr/>
            </a:lvl7pPr>
            <a:lvl8pPr marL="3657509" lvl="7" indent="-317492">
              <a:spcBef>
                <a:spcPts val="1600"/>
              </a:spcBef>
              <a:spcAft>
                <a:spcPts val="0"/>
              </a:spcAft>
              <a:buSzPts val="1400"/>
              <a:buChar char="○"/>
              <a:defRPr/>
            </a:lvl8pPr>
            <a:lvl9pPr marL="4114697" lvl="8" indent="-317492">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algn="r"/>
            <a:fld id="{00000000-1234-1234-1234-123412341234}" type="slidenum">
              <a:rPr lang="en" smtClean="0"/>
              <a:pPr algn="r"/>
              <a:t>‹#›</a:t>
            </a:fld>
            <a:endParaRPr lang="en"/>
          </a:p>
        </p:txBody>
      </p:sp>
    </p:spTree>
    <p:extLst>
      <p:ext uri="{BB962C8B-B14F-4D97-AF65-F5344CB8AC3E}">
        <p14:creationId xmlns:p14="http://schemas.microsoft.com/office/powerpoint/2010/main" val="4097423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cSld name="只有標題">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05EDA61-D8CF-46F0-856B-88006B4748DD}"/>
              </a:ext>
            </a:extLst>
          </p:cNvPr>
          <p:cNvSpPr>
            <a:spLocks noGrp="1"/>
          </p:cNvSpPr>
          <p:nvPr>
            <p:ph type="title"/>
          </p:nvPr>
        </p:nvSpPr>
        <p:spPr/>
        <p:txBody>
          <a:bodyPr/>
          <a:lstStyle/>
          <a:p>
            <a:r>
              <a:rPr lang="zh-TW" altLang="en-US"/>
              <a:t>按一下以編輯母片標題樣式</a:t>
            </a:r>
          </a:p>
        </p:txBody>
      </p:sp>
      <p:sp>
        <p:nvSpPr>
          <p:cNvPr id="3" name="日期版面配置區 2">
            <a:extLst>
              <a:ext uri="{FF2B5EF4-FFF2-40B4-BE49-F238E27FC236}">
                <a16:creationId xmlns:a16="http://schemas.microsoft.com/office/drawing/2014/main" id="{0C1CC0B8-2224-438C-A249-E142D5A9F02A}"/>
              </a:ext>
            </a:extLst>
          </p:cNvPr>
          <p:cNvSpPr>
            <a:spLocks noGrp="1"/>
          </p:cNvSpPr>
          <p:nvPr>
            <p:ph type="dt" sz="half" idx="10"/>
          </p:nvPr>
        </p:nvSpPr>
        <p:spPr/>
        <p:txBody>
          <a:bodyPr/>
          <a:lstStyle/>
          <a:p>
            <a:fld id="{91D976F6-E174-464D-9925-48DE9771C252}" type="datetimeFigureOut">
              <a:rPr lang="zh-TW" altLang="en-US" smtClean="0"/>
              <a:t>2026/3/26</a:t>
            </a:fld>
            <a:endParaRPr lang="zh-TW" altLang="en-US"/>
          </a:p>
        </p:txBody>
      </p:sp>
      <p:sp>
        <p:nvSpPr>
          <p:cNvPr id="4" name="頁尾版面配置區 3">
            <a:extLst>
              <a:ext uri="{FF2B5EF4-FFF2-40B4-BE49-F238E27FC236}">
                <a16:creationId xmlns:a16="http://schemas.microsoft.com/office/drawing/2014/main" id="{972858A5-A898-4283-9335-7C9D034934D6}"/>
              </a:ext>
            </a:extLst>
          </p:cNvPr>
          <p:cNvSpPr>
            <a:spLocks noGrp="1"/>
          </p:cNvSpPr>
          <p:nvPr>
            <p:ph type="ftr" sz="quarter" idx="11"/>
          </p:nvPr>
        </p:nvSpPr>
        <p:spPr/>
        <p:txBody>
          <a:bodyPr/>
          <a:lstStyle/>
          <a:p>
            <a:endParaRPr lang="zh-TW" altLang="en-US"/>
          </a:p>
        </p:txBody>
      </p:sp>
      <p:sp>
        <p:nvSpPr>
          <p:cNvPr id="5" name="投影片編號版面配置區 4">
            <a:extLst>
              <a:ext uri="{FF2B5EF4-FFF2-40B4-BE49-F238E27FC236}">
                <a16:creationId xmlns:a16="http://schemas.microsoft.com/office/drawing/2014/main" id="{F1EE8003-AB2E-4852-AB56-E911ABA39559}"/>
              </a:ext>
            </a:extLst>
          </p:cNvPr>
          <p:cNvSpPr>
            <a:spLocks noGrp="1"/>
          </p:cNvSpPr>
          <p:nvPr>
            <p:ph type="sldNum" sz="quarter" idx="12"/>
          </p:nvPr>
        </p:nvSpPr>
        <p:spPr/>
        <p:txBody>
          <a:bodyPr/>
          <a:lstStyle/>
          <a:p>
            <a:fld id="{880FF089-0D9D-42FC-B0FA-5AF5AE3CEEAD}" type="slidenum">
              <a:rPr lang="zh-TW" altLang="en-US" smtClean="0"/>
              <a:t>‹#›</a:t>
            </a:fld>
            <a:endParaRPr lang="zh-TW" altLang="en-US"/>
          </a:p>
        </p:txBody>
      </p:sp>
    </p:spTree>
    <p:extLst>
      <p:ext uri="{BB962C8B-B14F-4D97-AF65-F5344CB8AC3E}">
        <p14:creationId xmlns:p14="http://schemas.microsoft.com/office/powerpoint/2010/main" val="400025335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1" r:id="rId2"/>
    <p:sldLayoutId id="2147483652" r:id="rId3"/>
    <p:sldLayoutId id="2147483653"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hyperlink" Target="https://zh.wikipedia.org/zh-tw/%E8%90%8A%E5%A8%9C%E5%9C%96" TargetMode="Externa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6.xml"/><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57.xml"/><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64.xml"/><Relationship Id="rId1" Type="http://schemas.openxmlformats.org/officeDocument/2006/relationships/slideLayout" Target="../slideLayouts/slideLayout1.xml"/><Relationship Id="rId4" Type="http://schemas.openxmlformats.org/officeDocument/2006/relationships/image" Target="../media/image20.emf"/></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2" Type="http://schemas.openxmlformats.org/officeDocument/2006/relationships/image" Target="../media/image25.emf"/><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0.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hyperlink" Target="https://medium.com/@benhsu501/%E6%BF%BE%E6%B3%A2%E5%99%A8%E5%B0%8D%E5%9C%96%E5%83%8F%E9%9B%9C%E8%A8%8A%E8%99%95%E7%90%86%E6%AF%94%E8%BC%83-%E4%B8%8B-5c0fe4d47b5" TargetMode="Externa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3.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89.xml"/><Relationship Id="rId1" Type="http://schemas.openxmlformats.org/officeDocument/2006/relationships/slideLayout" Target="../slideLayouts/slideLayout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3" Type="http://schemas.openxmlformats.org/officeDocument/2006/relationships/hyperlink" Target="https://medium.com/@benhsu501/%E6%BF%BE%E6%B3%A2%E5%99%A8%E5%B0%8D%E5%9C%96%E5%83%8F%E9%9B%9C%E8%A8%8A%E8%99%95%E7%90%86%E6%AF%94%E8%BC%83-%E4%B8%8B-5c0fe4d47b5" TargetMode="External"/><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4.xml"/></Relationships>
</file>

<file path=ppt/slides/_rels/slide113.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102.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103.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2" Type="http://schemas.openxmlformats.org/officeDocument/2006/relationships/notesSlide" Target="../notesSlides/notesSlide105.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21.xml.rels><?xml version="1.0" encoding="UTF-8" standalone="yes"?>
<Relationships xmlns="http://schemas.openxmlformats.org/package/2006/relationships"><Relationship Id="rId2" Type="http://schemas.openxmlformats.org/officeDocument/2006/relationships/notesSlide" Target="../notesSlides/notesSlide108.xml"/><Relationship Id="rId1" Type="http://schemas.openxmlformats.org/officeDocument/2006/relationships/slideLayout" Target="../slideLayouts/slideLayout1.xml"/></Relationships>
</file>

<file path=ppt/slides/_rels/slide122.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24.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36.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2" Type="http://schemas.openxmlformats.org/officeDocument/2006/relationships/notesSlide" Target="../notesSlides/notesSlide117.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18.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475488"/>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0"/>
            <a:ext cx="8503920" cy="475488"/>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嵌入式電腦視覺系統  •  Embedded Computer Vision  •  Week 03</a:t>
            </a:r>
            <a:endParaRPr lang="en-US" sz="1100" dirty="0"/>
          </a:p>
        </p:txBody>
      </p:sp>
      <p:sp>
        <p:nvSpPr>
          <p:cNvPr id="4" name="Shape 2"/>
          <p:cNvSpPr/>
          <p:nvPr/>
        </p:nvSpPr>
        <p:spPr>
          <a:xfrm>
            <a:off x="320040" y="685800"/>
            <a:ext cx="1417320" cy="329184"/>
          </a:xfrm>
          <a:prstGeom prst="roundRect">
            <a:avLst>
              <a:gd name="adj" fmla="val 22222"/>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320040" y="685800"/>
            <a:ext cx="1417320"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Week 03</a:t>
            </a:r>
            <a:endParaRPr lang="en-US" sz="1100" dirty="0"/>
          </a:p>
        </p:txBody>
      </p:sp>
      <p:sp>
        <p:nvSpPr>
          <p:cNvPr id="6" name="Text 4"/>
          <p:cNvSpPr/>
          <p:nvPr/>
        </p:nvSpPr>
        <p:spPr>
          <a:xfrm>
            <a:off x="320040" y="1078992"/>
            <a:ext cx="8503920" cy="1005840"/>
          </a:xfrm>
          <a:prstGeom prst="rect">
            <a:avLst/>
          </a:prstGeom>
          <a:noFill/>
          <a:ln/>
        </p:spPr>
        <p:txBody>
          <a:bodyPr wrap="square" rtlCol="0" anchor="ctr"/>
          <a:lstStyle/>
          <a:p>
            <a:pPr marL="0" indent="0" algn="l">
              <a:buNone/>
            </a:pPr>
            <a:r>
              <a:rPr lang="en-US" sz="4600" b="1" dirty="0" err="1">
                <a:solidFill>
                  <a:srgbClr val="C45C00"/>
                </a:solidFill>
                <a:latin typeface="Calibri" pitchFamily="34" charset="0"/>
                <a:ea typeface="Calibri" pitchFamily="34" charset="-122"/>
                <a:cs typeface="Calibri" pitchFamily="34" charset="-120"/>
              </a:rPr>
              <a:t>操控像素的</a:t>
            </a:r>
            <a:r>
              <a:rPr lang="zh-TW" altLang="en-US" sz="4600" b="1" dirty="0">
                <a:solidFill>
                  <a:srgbClr val="C45C00"/>
                </a:solidFill>
                <a:latin typeface="Calibri" pitchFamily="34" charset="0"/>
                <a:ea typeface="Calibri" pitchFamily="34" charset="-122"/>
                <a:cs typeface="Calibri" pitchFamily="34" charset="-120"/>
              </a:rPr>
              <a:t>方</a:t>
            </a:r>
            <a:r>
              <a:rPr lang="en-US" sz="4600" b="1" dirty="0">
                <a:solidFill>
                  <a:srgbClr val="C45C00"/>
                </a:solidFill>
                <a:latin typeface="Calibri" pitchFamily="34" charset="0"/>
                <a:ea typeface="Calibri" pitchFamily="34" charset="-122"/>
                <a:cs typeface="Calibri" pitchFamily="34" charset="-120"/>
              </a:rPr>
              <a:t>法</a:t>
            </a:r>
            <a:endParaRPr lang="en-US" sz="4600" dirty="0"/>
          </a:p>
        </p:txBody>
      </p:sp>
      <p:sp>
        <p:nvSpPr>
          <p:cNvPr id="7" name="Text 5"/>
          <p:cNvSpPr/>
          <p:nvPr/>
        </p:nvSpPr>
        <p:spPr>
          <a:xfrm>
            <a:off x="320040" y="2011680"/>
            <a:ext cx="8503920" cy="512064"/>
          </a:xfrm>
          <a:prstGeom prst="rect">
            <a:avLst/>
          </a:prstGeom>
          <a:noFill/>
          <a:ln/>
        </p:spPr>
        <p:txBody>
          <a:bodyPr wrap="square" rtlCol="0" anchor="ctr"/>
          <a:lstStyle/>
          <a:p>
            <a:pPr marL="0" indent="0" algn="l">
              <a:buNone/>
            </a:pPr>
            <a:r>
              <a:rPr lang="en-US" sz="1700" dirty="0">
                <a:solidFill>
                  <a:srgbClr val="D6E4F0"/>
                </a:solidFill>
                <a:latin typeface="Calibri" pitchFamily="34" charset="0"/>
                <a:ea typeface="Calibri" pitchFamily="34" charset="-122"/>
                <a:cs typeface="Calibri" pitchFamily="34" charset="-120"/>
              </a:rPr>
              <a:t>Pixel Processing, Filtering &amp; Image Formats</a:t>
            </a:r>
            <a:endParaRPr lang="en-US" sz="1700" dirty="0"/>
          </a:p>
        </p:txBody>
      </p:sp>
      <p:sp>
        <p:nvSpPr>
          <p:cNvPr id="8" name="Shape 6"/>
          <p:cNvSpPr/>
          <p:nvPr/>
        </p:nvSpPr>
        <p:spPr>
          <a:xfrm>
            <a:off x="320040" y="2651760"/>
            <a:ext cx="8503920" cy="1691640"/>
          </a:xfrm>
          <a:prstGeom prst="rect">
            <a:avLst/>
          </a:prstGeom>
          <a:solidFill>
            <a:srgbClr val="162E4A"/>
          </a:solidFill>
          <a:ln w="19050">
            <a:solidFill>
              <a:srgbClr val="C45C00"/>
            </a:solidFill>
            <a:prstDash val="solid"/>
          </a:ln>
        </p:spPr>
        <p:txBody>
          <a:bodyPr/>
          <a:lstStyle/>
          <a:p>
            <a:endParaRPr lang="zh-TW" altLang="en-US"/>
          </a:p>
        </p:txBody>
      </p:sp>
      <p:sp>
        <p:nvSpPr>
          <p:cNvPr id="9" name="Shape 7"/>
          <p:cNvSpPr/>
          <p:nvPr/>
        </p:nvSpPr>
        <p:spPr>
          <a:xfrm>
            <a:off x="320040" y="2651760"/>
            <a:ext cx="8503920" cy="347472"/>
          </a:xfrm>
          <a:prstGeom prst="rect">
            <a:avLst/>
          </a:prstGeom>
          <a:solidFill>
            <a:srgbClr val="C45C00"/>
          </a:solidFill>
          <a:ln w="12700">
            <a:solidFill>
              <a:srgbClr val="C45C00"/>
            </a:solidFill>
            <a:prstDash val="solid"/>
          </a:ln>
        </p:spPr>
        <p:txBody>
          <a:bodyPr/>
          <a:lstStyle/>
          <a:p>
            <a:endParaRPr lang="zh-TW" altLang="en-US"/>
          </a:p>
        </p:txBody>
      </p:sp>
      <p:sp>
        <p:nvSpPr>
          <p:cNvPr id="10" name="Text 8"/>
          <p:cNvSpPr/>
          <p:nvPr/>
        </p:nvSpPr>
        <p:spPr>
          <a:xfrm>
            <a:off x="365760" y="2651760"/>
            <a:ext cx="8412480" cy="347472"/>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本週章節一覽</a:t>
            </a:r>
            <a:endParaRPr lang="en-US" sz="1150" dirty="0"/>
          </a:p>
        </p:txBody>
      </p:sp>
      <p:sp>
        <p:nvSpPr>
          <p:cNvPr id="11" name="Text 9"/>
          <p:cNvSpPr/>
          <p:nvPr/>
        </p:nvSpPr>
        <p:spPr>
          <a:xfrm>
            <a:off x="457200" y="3044952"/>
            <a:ext cx="8321040" cy="1207008"/>
          </a:xfrm>
          <a:prstGeom prst="rect">
            <a:avLst/>
          </a:prstGeom>
          <a:noFill/>
          <a:ln/>
        </p:spPr>
        <p:txBody>
          <a:bodyPr wrap="square" rtlCol="0" anchor="ctr"/>
          <a:lstStyle/>
          <a:p>
            <a:pPr marL="0" indent="0" algn="ctr">
              <a:buNone/>
            </a:pPr>
            <a:r>
              <a:rPr lang="en-US" sz="1150" dirty="0">
                <a:solidFill>
                  <a:srgbClr val="F5E6D3"/>
                </a:solidFill>
                <a:latin typeface="Calibri" pitchFamily="34" charset="0"/>
                <a:ea typeface="Calibri" pitchFamily="34" charset="-122"/>
                <a:cs typeface="Calibri" pitchFamily="34" charset="-120"/>
              </a:rPr>
              <a:t>§0 像素複習  •  §1 影像格式（JPEG/PNG/H.264）  •  §2 單點運算（Brightness/Contrast）</a:t>
            </a:r>
            <a:endParaRPr lang="en-US" sz="1150" dirty="0"/>
          </a:p>
          <a:p>
            <a:pPr marL="0" indent="0" algn="ctr">
              <a:buNone/>
            </a:pPr>
            <a:r>
              <a:rPr lang="en-US" sz="1150" dirty="0">
                <a:solidFill>
                  <a:srgbClr val="F5E6D3"/>
                </a:solidFill>
                <a:latin typeface="Calibri" pitchFamily="34" charset="0"/>
                <a:ea typeface="Calibri" pitchFamily="34" charset="-122"/>
                <a:cs typeface="Calibri" pitchFamily="34" charset="-120"/>
              </a:rPr>
              <a:t>§3 Gamma 矯正 + LUT 加速  •  §4 直方圖 / CLAHE / Otsu 閾值化</a:t>
            </a:r>
            <a:endParaRPr lang="en-US" sz="1150" dirty="0"/>
          </a:p>
          <a:p>
            <a:pPr marL="0" indent="0" algn="ctr">
              <a:buNone/>
            </a:pPr>
            <a:r>
              <a:rPr lang="en-US" sz="1150" dirty="0">
                <a:solidFill>
                  <a:srgbClr val="F5E6D3"/>
                </a:solidFill>
                <a:latin typeface="Calibri" pitchFamily="34" charset="0"/>
                <a:ea typeface="Calibri" pitchFamily="34" charset="-122"/>
                <a:cs typeface="Calibri" pitchFamily="34" charset="-120"/>
              </a:rPr>
              <a:t>§5 卷積基礎 + Padding + 中值濾波  •  §6 高斯 / 雙邊 / 銳化 + 頻域概念  •  §7 總結 + Lab</a:t>
            </a:r>
            <a:endParaRPr lang="en-US" sz="1150" dirty="0"/>
          </a:p>
        </p:txBody>
      </p:sp>
      <p:sp>
        <p:nvSpPr>
          <p:cNvPr id="12" name="Text 10"/>
          <p:cNvSpPr/>
          <p:nvPr/>
        </p:nvSpPr>
        <p:spPr>
          <a:xfrm>
            <a:off x="320040" y="4773168"/>
            <a:ext cx="8503920" cy="256032"/>
          </a:xfrm>
          <a:prstGeom prst="rect">
            <a:avLst/>
          </a:prstGeom>
          <a:noFill/>
          <a:ln/>
        </p:spPr>
        <p:txBody>
          <a:bodyPr wrap="square" lIns="0" tIns="0" rIns="0" bIns="0" rtlCol="0" anchor="ctr"/>
          <a:lstStyle/>
          <a:p>
            <a:pPr marL="0" indent="0">
              <a:buNone/>
            </a:pPr>
            <a:r>
              <a:rPr lang="en-US" sz="900" dirty="0">
                <a:solidFill>
                  <a:srgbClr val="6B7280"/>
                </a:solidFill>
                <a:latin typeface="Calibri" pitchFamily="34" charset="0"/>
                <a:ea typeface="Calibri" pitchFamily="34" charset="-122"/>
                <a:cs typeface="Calibri" pitchFamily="34" charset="-120"/>
              </a:rPr>
              <a:t>授課教師： </a:t>
            </a:r>
            <a:r>
              <a:rPr lang="zh-TW" altLang="en-US" sz="900" dirty="0">
                <a:solidFill>
                  <a:srgbClr val="6B7280"/>
                </a:solidFill>
                <a:latin typeface="Calibri" pitchFamily="34" charset="0"/>
                <a:ea typeface="Calibri" pitchFamily="34" charset="-122"/>
                <a:cs typeface="Calibri" pitchFamily="34" charset="-120"/>
              </a:rPr>
              <a:t>謝昇憲</a:t>
            </a:r>
            <a:r>
              <a:rPr lang="en-US" sz="900" dirty="0">
                <a:solidFill>
                  <a:srgbClr val="6B7280"/>
                </a:solidFill>
                <a:latin typeface="Calibri" pitchFamily="34" charset="0"/>
                <a:ea typeface="Calibri" pitchFamily="34" charset="-122"/>
                <a:cs typeface="Calibri" pitchFamily="34" charset="-120"/>
              </a:rPr>
              <a:t>                     |  202</a:t>
            </a:r>
            <a:r>
              <a:rPr lang="en-US" altLang="zh-TW" sz="900" dirty="0">
                <a:solidFill>
                  <a:srgbClr val="6B7280"/>
                </a:solidFill>
                <a:latin typeface="Calibri" pitchFamily="34" charset="0"/>
                <a:ea typeface="Calibri" pitchFamily="34" charset="-122"/>
                <a:cs typeface="Calibri" pitchFamily="34" charset="-120"/>
              </a:rPr>
              <a:t>6-03-20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00</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開場與複習</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像素的本質  |  上週知識橋接</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  開場複習</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上週回顧：光是如何變成數字的？</a:t>
            </a:r>
            <a:endParaRPr lang="en-US" sz="2000" dirty="0"/>
          </a:p>
        </p:txBody>
      </p:sp>
      <p:sp>
        <p:nvSpPr>
          <p:cNvPr id="7" name="Text 5"/>
          <p:cNvSpPr/>
          <p:nvPr/>
        </p:nvSpPr>
        <p:spPr>
          <a:xfrm>
            <a:off x="365760" y="1033272"/>
            <a:ext cx="5120640" cy="3520440"/>
          </a:xfrm>
          <a:prstGeom prst="rect">
            <a:avLst/>
          </a:prstGeom>
          <a:noFill/>
          <a:ln/>
        </p:spPr>
        <p:txBody>
          <a:bodyPr wrap="square" rtlCol="0" anchor="t"/>
          <a:lstStyle/>
          <a:p>
            <a:pPr marL="0" indent="0">
              <a:buNone/>
            </a:pPr>
            <a:r>
              <a:rPr lang="en-US" sz="1500" b="1" dirty="0">
                <a:solidFill>
                  <a:srgbClr val="C45C00"/>
                </a:solidFill>
                <a:latin typeface="Calibri" pitchFamily="34" charset="0"/>
                <a:ea typeface="Calibri" pitchFamily="34" charset="-122"/>
                <a:cs typeface="Calibri" pitchFamily="34" charset="-120"/>
              </a:rPr>
              <a:t>光子 → 感測器 → ADC → 記憶體矩陣
</a:t>
            </a:r>
            <a:r>
              <a:rPr lang="en-US" sz="4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300" dirty="0">
                <a:solidFill>
                  <a:srgbClr val="1A1A1A"/>
                </a:solidFill>
                <a:latin typeface="Calibri" pitchFamily="34" charset="0"/>
                <a:ea typeface="Calibri" pitchFamily="34" charset="-122"/>
                <a:cs typeface="Calibri" pitchFamily="34" charset="-120"/>
              </a:rPr>
              <a:t>1.  相機鏡頭聚焦，光子打在 CMOS/CCD 感測器上的光電二極體
2.  每個像素點累積電荷，光越強電荷越多
3.  類比數位轉換器（ADC）將電壓量化為 0～255</a:t>
            </a:r>
            <a:r>
              <a:rPr lang="en-US" altLang="zh-TW" sz="1300" dirty="0">
                <a:solidFill>
                  <a:srgbClr val="1A1A1A"/>
                </a:solidFill>
                <a:latin typeface="Calibri" pitchFamily="34" charset="0"/>
                <a:ea typeface="Calibri" pitchFamily="34" charset="-122"/>
                <a:cs typeface="Calibri" pitchFamily="34" charset="-120"/>
              </a:rPr>
              <a:t>(8bit)</a:t>
            </a:r>
            <a:r>
              <a:rPr lang="en-US" sz="1300" dirty="0">
                <a:solidFill>
                  <a:srgbClr val="1A1A1A"/>
                </a:solidFill>
                <a:latin typeface="Calibri" pitchFamily="34" charset="0"/>
                <a:ea typeface="Calibri" pitchFamily="34" charset="-122"/>
                <a:cs typeface="Calibri" pitchFamily="34" charset="-120"/>
              </a:rPr>
              <a:t> 的整數
4.  結果是一個躺在記憶體中的二維整數矩陣
</a:t>
            </a:r>
            <a:r>
              <a:rPr lang="en-US" sz="4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300" b="1" dirty="0">
                <a:solidFill>
                  <a:srgbClr val="1E3A5F"/>
                </a:solidFill>
                <a:latin typeface="Calibri" pitchFamily="34" charset="0"/>
                <a:ea typeface="Calibri" pitchFamily="34" charset="-122"/>
                <a:cs typeface="Calibri" pitchFamily="34" charset="-120"/>
              </a:rPr>
              <a:t>今天我們要學的，就是如何操控這個矩陣裡面的每個數字！</a:t>
            </a:r>
            <a:endParaRPr lang="en-US" sz="1500" dirty="0"/>
          </a:p>
        </p:txBody>
      </p:sp>
      <p:sp>
        <p:nvSpPr>
          <p:cNvPr id="8" name="Shape 6"/>
          <p:cNvSpPr/>
          <p:nvPr/>
        </p:nvSpPr>
        <p:spPr>
          <a:xfrm>
            <a:off x="5577840" y="1115568"/>
            <a:ext cx="3246120" cy="3520440"/>
          </a:xfrm>
          <a:prstGeom prst="rect">
            <a:avLst/>
          </a:prstGeom>
          <a:solidFill>
            <a:srgbClr val="D6E4F0"/>
          </a:solidFill>
          <a:ln w="10160">
            <a:solidFill>
              <a:srgbClr val="1E3A5F"/>
            </a:solidFill>
            <a:prstDash val="solid"/>
          </a:ln>
        </p:spPr>
        <p:txBody>
          <a:bodyPr/>
          <a:lstStyle/>
          <a:p>
            <a:endParaRPr lang="zh-TW" altLang="en-US"/>
          </a:p>
        </p:txBody>
      </p:sp>
      <p:sp>
        <p:nvSpPr>
          <p:cNvPr id="9" name="Shape 7"/>
          <p:cNvSpPr/>
          <p:nvPr/>
        </p:nvSpPr>
        <p:spPr>
          <a:xfrm>
            <a:off x="5577840" y="1115568"/>
            <a:ext cx="3246120" cy="329184"/>
          </a:xfrm>
          <a:prstGeom prst="rect">
            <a:avLst/>
          </a:prstGeom>
          <a:solidFill>
            <a:srgbClr val="1E3A5F"/>
          </a:solidFill>
          <a:ln w="12700">
            <a:solidFill>
              <a:srgbClr val="1E3A5F"/>
            </a:solidFill>
            <a:prstDash val="solid"/>
          </a:ln>
        </p:spPr>
        <p:txBody>
          <a:bodyPr/>
          <a:lstStyle/>
          <a:p>
            <a:endParaRPr lang="zh-TW" altLang="en-US"/>
          </a:p>
        </p:txBody>
      </p:sp>
      <p:sp>
        <p:nvSpPr>
          <p:cNvPr id="10" name="Text 8"/>
          <p:cNvSpPr/>
          <p:nvPr/>
        </p:nvSpPr>
        <p:spPr>
          <a:xfrm>
            <a:off x="5623560" y="1115568"/>
            <a:ext cx="315468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本質一句話</a:t>
            </a:r>
            <a:endParaRPr lang="en-US" sz="1000" dirty="0"/>
          </a:p>
        </p:txBody>
      </p:sp>
      <p:sp>
        <p:nvSpPr>
          <p:cNvPr id="11" name="Text 9"/>
          <p:cNvSpPr/>
          <p:nvPr/>
        </p:nvSpPr>
        <p:spPr>
          <a:xfrm>
            <a:off x="5623560" y="1490472"/>
            <a:ext cx="31089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影像 = 一個裝滿整數的二維矩陣</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f(x, y)  ∈  [0, 255]</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每個整數代表該位置的光線強度（灰階）或色彩分量（RGB）</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NumPy shape：(H, W) 灰階 / (H, W, 3) 彩色</a:t>
            </a:r>
            <a:endParaRPr lang="en-US" sz="1100" dirty="0"/>
          </a:p>
        </p:txBody>
      </p:sp>
      <p:pic>
        <p:nvPicPr>
          <p:cNvPr id="13" name="圖片 12">
            <a:extLst>
              <a:ext uri="{FF2B5EF4-FFF2-40B4-BE49-F238E27FC236}">
                <a16:creationId xmlns:a16="http://schemas.microsoft.com/office/drawing/2014/main" id="{9925AE98-AF7D-F585-E77D-B7B05018F81A}"/>
              </a:ext>
            </a:extLst>
          </p:cNvPr>
          <p:cNvPicPr>
            <a:picLocks noChangeAspect="1"/>
          </p:cNvPicPr>
          <p:nvPr/>
        </p:nvPicPr>
        <p:blipFill>
          <a:blip r:embed="rId3"/>
          <a:stretch>
            <a:fillRect/>
          </a:stretch>
        </p:blipFill>
        <p:spPr>
          <a:xfrm>
            <a:off x="658480" y="2650423"/>
            <a:ext cx="4030103" cy="2383349"/>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  開場複習</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電腦眼中的三種影像世界</a:t>
            </a:r>
            <a:endParaRPr lang="en-US" sz="2000" dirty="0"/>
          </a:p>
        </p:txBody>
      </p:sp>
      <p:sp>
        <p:nvSpPr>
          <p:cNvPr id="7" name="Shape 5"/>
          <p:cNvSpPr/>
          <p:nvPr/>
        </p:nvSpPr>
        <p:spPr>
          <a:xfrm>
            <a:off x="32004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8" name="Shape 6"/>
          <p:cNvSpPr/>
          <p:nvPr/>
        </p:nvSpPr>
        <p:spPr>
          <a:xfrm>
            <a:off x="320040" y="1115568"/>
            <a:ext cx="2743200" cy="329184"/>
          </a:xfrm>
          <a:prstGeom prst="rect">
            <a:avLst/>
          </a:prstGeom>
          <a:solidFill>
            <a:srgbClr val="444444"/>
          </a:solidFill>
          <a:ln w="12700">
            <a:solidFill>
              <a:srgbClr val="444444"/>
            </a:solidFill>
            <a:prstDash val="solid"/>
          </a:ln>
        </p:spPr>
        <p:txBody>
          <a:bodyPr/>
          <a:lstStyle/>
          <a:p>
            <a:endParaRPr lang="zh-TW" altLang="en-US"/>
          </a:p>
        </p:txBody>
      </p:sp>
      <p:sp>
        <p:nvSpPr>
          <p:cNvPr id="9" name="Text 7"/>
          <p:cNvSpPr/>
          <p:nvPr/>
        </p:nvSpPr>
        <p:spPr>
          <a:xfrm>
            <a:off x="39319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Binary  /  1-bit</a:t>
            </a:r>
            <a:endParaRPr lang="en-US" sz="1100" dirty="0"/>
          </a:p>
        </p:txBody>
      </p:sp>
      <p:sp>
        <p:nvSpPr>
          <p:cNvPr id="10" name="Text 8"/>
          <p:cNvSpPr/>
          <p:nvPr/>
        </p:nvSpPr>
        <p:spPr>
          <a:xfrm>
            <a:off x="411480" y="1490472"/>
            <a:ext cx="256032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每個像素只有 0 或 1（黑或白）</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Shape: (H, W)</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用途：文件掃描、OCR 前處理、條碼辨識</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1080p 僅需約 248 KB</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（比 Grayscale 小 8 倍）</a:t>
            </a:r>
            <a:endParaRPr lang="en-US" sz="1100" dirty="0"/>
          </a:p>
        </p:txBody>
      </p:sp>
      <p:sp>
        <p:nvSpPr>
          <p:cNvPr id="11" name="Shape 9"/>
          <p:cNvSpPr/>
          <p:nvPr/>
        </p:nvSpPr>
        <p:spPr>
          <a:xfrm>
            <a:off x="320040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2" name="Shape 10"/>
          <p:cNvSpPr/>
          <p:nvPr/>
        </p:nvSpPr>
        <p:spPr>
          <a:xfrm>
            <a:off x="3200400" y="1115568"/>
            <a:ext cx="2743200" cy="329184"/>
          </a:xfrm>
          <a:prstGeom prst="rect">
            <a:avLst/>
          </a:prstGeom>
          <a:solidFill>
            <a:srgbClr val="555555"/>
          </a:solidFill>
          <a:ln w="12700">
            <a:solidFill>
              <a:srgbClr val="555555"/>
            </a:solidFill>
            <a:prstDash val="solid"/>
          </a:ln>
        </p:spPr>
        <p:txBody>
          <a:bodyPr/>
          <a:lstStyle/>
          <a:p>
            <a:endParaRPr lang="zh-TW" altLang="en-US"/>
          </a:p>
        </p:txBody>
      </p:sp>
      <p:sp>
        <p:nvSpPr>
          <p:cNvPr id="13" name="Text 11"/>
          <p:cNvSpPr/>
          <p:nvPr/>
        </p:nvSpPr>
        <p:spPr>
          <a:xfrm>
            <a:off x="327355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Grayscale  /  8-bit</a:t>
            </a:r>
            <a:endParaRPr lang="en-US" sz="1100" dirty="0"/>
          </a:p>
        </p:txBody>
      </p:sp>
      <p:sp>
        <p:nvSpPr>
          <p:cNvPr id="14" name="Text 12"/>
          <p:cNvSpPr/>
          <p:nvPr/>
        </p:nvSpPr>
        <p:spPr>
          <a:xfrm>
            <a:off x="3291840" y="1490472"/>
            <a:ext cx="256032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每個像素 0～255</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（256 個灰階等級）</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Shape: (H, W)</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用途：X光、夜視攝影、大多數視覺算法先轉灰階</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1080p ≈ 2.1 MB</a:t>
            </a:r>
            <a:endParaRPr lang="en-US" sz="1100" dirty="0"/>
          </a:p>
        </p:txBody>
      </p:sp>
      <p:sp>
        <p:nvSpPr>
          <p:cNvPr id="15" name="Shape 13"/>
          <p:cNvSpPr/>
          <p:nvPr/>
        </p:nvSpPr>
        <p:spPr>
          <a:xfrm>
            <a:off x="608076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6" name="Shape 14"/>
          <p:cNvSpPr/>
          <p:nvPr/>
        </p:nvSpPr>
        <p:spPr>
          <a:xfrm>
            <a:off x="6080760" y="1115568"/>
            <a:ext cx="2743200" cy="329184"/>
          </a:xfrm>
          <a:prstGeom prst="rect">
            <a:avLst/>
          </a:prstGeom>
          <a:solidFill>
            <a:srgbClr val="1E3A5F"/>
          </a:solidFill>
          <a:ln w="12700">
            <a:solidFill>
              <a:srgbClr val="1E3A5F"/>
            </a:solidFill>
            <a:prstDash val="solid"/>
          </a:ln>
        </p:spPr>
        <p:txBody>
          <a:bodyPr/>
          <a:lstStyle/>
          <a:p>
            <a:endParaRPr lang="zh-TW" altLang="en-US"/>
          </a:p>
        </p:txBody>
      </p:sp>
      <p:sp>
        <p:nvSpPr>
          <p:cNvPr id="17" name="Text 15"/>
          <p:cNvSpPr/>
          <p:nvPr/>
        </p:nvSpPr>
        <p:spPr>
          <a:xfrm>
            <a:off x="615391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Full-color RGB  /  24-bit</a:t>
            </a:r>
            <a:endParaRPr lang="en-US" sz="1100" dirty="0"/>
          </a:p>
        </p:txBody>
      </p:sp>
      <p:sp>
        <p:nvSpPr>
          <p:cNvPr id="18" name="Text 16"/>
          <p:cNvSpPr/>
          <p:nvPr/>
        </p:nvSpPr>
        <p:spPr>
          <a:xfrm>
            <a:off x="6172200" y="1490472"/>
            <a:ext cx="256032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三個通道，各 0～255</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Red / Green / Blue</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Shape: (H, W, 3)</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用途：彩色相機輸出、顯示器顯示</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1080p ≈ 6.2 MB（未壓縮）</a:t>
            </a:r>
            <a:endParaRPr lang="en-US" sz="1100" dirty="0"/>
          </a:p>
        </p:txBody>
      </p:sp>
      <p:pic>
        <p:nvPicPr>
          <p:cNvPr id="19" name="Picture 2">
            <a:extLst>
              <a:ext uri="{FF2B5EF4-FFF2-40B4-BE49-F238E27FC236}">
                <a16:creationId xmlns:a16="http://schemas.microsoft.com/office/drawing/2014/main" id="{A1478DB7-4AEE-25EC-241D-510BCBF1C11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9903"/>
          <a:stretch>
            <a:fillRect/>
          </a:stretch>
        </p:blipFill>
        <p:spPr bwMode="auto">
          <a:xfrm>
            <a:off x="320040" y="3361612"/>
            <a:ext cx="2740495" cy="157106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Picture 2">
            <a:extLst>
              <a:ext uri="{FF2B5EF4-FFF2-40B4-BE49-F238E27FC236}">
                <a16:creationId xmlns:a16="http://schemas.microsoft.com/office/drawing/2014/main" id="{E3BDCB46-FE5F-1500-3E14-616DEE0ED906}"/>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b="7010"/>
          <a:stretch>
            <a:fillRect/>
          </a:stretch>
        </p:blipFill>
        <p:spPr bwMode="auto">
          <a:xfrm>
            <a:off x="3347710" y="3145822"/>
            <a:ext cx="2448579" cy="17868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1" name="Google Shape;91;p17">
            <a:extLst>
              <a:ext uri="{FF2B5EF4-FFF2-40B4-BE49-F238E27FC236}">
                <a16:creationId xmlns:a16="http://schemas.microsoft.com/office/drawing/2014/main" id="{796B288E-2668-27C0-672F-812D3A7B9FBC}"/>
              </a:ext>
            </a:extLst>
          </p:cNvPr>
          <p:cNvPicPr preferRelativeResize="0"/>
          <p:nvPr/>
        </p:nvPicPr>
        <p:blipFill>
          <a:blip r:embed="rId5">
            <a:alphaModFix/>
          </a:blip>
          <a:stretch>
            <a:fillRect/>
          </a:stretch>
        </p:blipFill>
        <p:spPr>
          <a:xfrm>
            <a:off x="6990080" y="3752583"/>
            <a:ext cx="1925320" cy="1357181"/>
          </a:xfrm>
          <a:prstGeom prst="rect">
            <a:avLst/>
          </a:prstGeom>
          <a:noFill/>
          <a:ln>
            <a:noFill/>
          </a:ln>
        </p:spPr>
      </p:pic>
      <p:pic>
        <p:nvPicPr>
          <p:cNvPr id="22" name="Google Shape;93;p17">
            <a:extLst>
              <a:ext uri="{FF2B5EF4-FFF2-40B4-BE49-F238E27FC236}">
                <a16:creationId xmlns:a16="http://schemas.microsoft.com/office/drawing/2014/main" id="{F5647B1E-A2E6-9777-02D2-1D15F2F5CA16}"/>
              </a:ext>
            </a:extLst>
          </p:cNvPr>
          <p:cNvPicPr preferRelativeResize="0"/>
          <p:nvPr/>
        </p:nvPicPr>
        <p:blipFill>
          <a:blip r:embed="rId6">
            <a:alphaModFix/>
          </a:blip>
          <a:stretch>
            <a:fillRect/>
          </a:stretch>
        </p:blipFill>
        <p:spPr>
          <a:xfrm>
            <a:off x="6210295" y="2901883"/>
            <a:ext cx="1285250" cy="8507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§0  開場複習</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本週學習地圖：三大主軸</a:t>
            </a:r>
            <a:endParaRPr lang="en-US" sz="2000" dirty="0"/>
          </a:p>
        </p:txBody>
      </p:sp>
      <p:sp>
        <p:nvSpPr>
          <p:cNvPr id="6" name="Shape 4"/>
          <p:cNvSpPr/>
          <p:nvPr/>
        </p:nvSpPr>
        <p:spPr>
          <a:xfrm>
            <a:off x="320040" y="1115568"/>
            <a:ext cx="4251960" cy="150876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7" name="Shape 5"/>
          <p:cNvSpPr/>
          <p:nvPr/>
        </p:nvSpPr>
        <p:spPr>
          <a:xfrm>
            <a:off x="320040" y="1115568"/>
            <a:ext cx="4251960" cy="347472"/>
          </a:xfrm>
          <a:prstGeom prst="rect">
            <a:avLst/>
          </a:prstGeom>
          <a:solidFill>
            <a:srgbClr val="1E3A5F"/>
          </a:solidFill>
          <a:ln w="12700">
            <a:solidFill>
              <a:srgbClr val="1E3A5F"/>
            </a:solidFill>
            <a:prstDash val="solid"/>
          </a:ln>
        </p:spPr>
        <p:txBody>
          <a:bodyPr/>
          <a:lstStyle/>
          <a:p>
            <a:endParaRPr lang="zh-TW" altLang="en-US"/>
          </a:p>
        </p:txBody>
      </p:sp>
      <p:sp>
        <p:nvSpPr>
          <p:cNvPr id="8" name="Text 6"/>
          <p:cNvSpPr/>
          <p:nvPr/>
        </p:nvSpPr>
        <p:spPr>
          <a:xfrm>
            <a:off x="393192" y="1115568"/>
            <a:ext cx="410565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  影像格式</a:t>
            </a:r>
            <a:endParaRPr lang="en-US" sz="1300" dirty="0"/>
          </a:p>
        </p:txBody>
      </p:sp>
      <p:sp>
        <p:nvSpPr>
          <p:cNvPr id="9" name="Text 7"/>
          <p:cNvSpPr/>
          <p:nvPr/>
        </p:nvSpPr>
        <p:spPr>
          <a:xfrm>
            <a:off x="429768" y="1527048"/>
            <a:ext cx="4032504" cy="1005840"/>
          </a:xfrm>
          <a:prstGeom prst="rect">
            <a:avLst/>
          </a:prstGeom>
          <a:noFill/>
          <a:ln/>
        </p:spPr>
        <p:txBody>
          <a:bodyPr wrap="square" rtlCol="0" anchor="ctr"/>
          <a:lstStyle/>
          <a:p>
            <a:pPr marL="0" indent="0" algn="ctr">
              <a:buNone/>
            </a:pPr>
            <a:r>
              <a:rPr lang="en-US" sz="1250" dirty="0">
                <a:solidFill>
                  <a:srgbClr val="1A1A1A"/>
                </a:solidFill>
                <a:latin typeface="Calibri" pitchFamily="34" charset="0"/>
                <a:ea typeface="Calibri" pitchFamily="34" charset="-122"/>
                <a:cs typeface="Calibri" pitchFamily="34" charset="-120"/>
              </a:rPr>
              <a:t>BMP / PNG / JPEG</a:t>
            </a:r>
            <a:endParaRPr lang="en-US" sz="1250" dirty="0"/>
          </a:p>
          <a:p>
            <a:pPr marL="0" indent="0" algn="ctr">
              <a:buNone/>
            </a:pPr>
            <a:r>
              <a:rPr lang="en-US" sz="1250" dirty="0">
                <a:solidFill>
                  <a:srgbClr val="1A1A1A"/>
                </a:solidFill>
                <a:latin typeface="Calibri" pitchFamily="34" charset="0"/>
                <a:ea typeface="Calibri" pitchFamily="34" charset="-122"/>
                <a:cs typeface="Calibri" pitchFamily="34" charset="-120"/>
              </a:rPr>
              <a:t>H.264 / MP4 視訊壓縮</a:t>
            </a:r>
            <a:endParaRPr lang="en-US" sz="1250" dirty="0"/>
          </a:p>
        </p:txBody>
      </p:sp>
      <p:sp>
        <p:nvSpPr>
          <p:cNvPr id="10" name="Shape 8"/>
          <p:cNvSpPr/>
          <p:nvPr/>
        </p:nvSpPr>
        <p:spPr>
          <a:xfrm>
            <a:off x="4754880" y="1115568"/>
            <a:ext cx="4251960" cy="150876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1" name="Shape 9"/>
          <p:cNvSpPr/>
          <p:nvPr/>
        </p:nvSpPr>
        <p:spPr>
          <a:xfrm>
            <a:off x="4754880" y="1115568"/>
            <a:ext cx="4251960" cy="347472"/>
          </a:xfrm>
          <a:prstGeom prst="rect">
            <a:avLst/>
          </a:prstGeom>
          <a:solidFill>
            <a:srgbClr val="C45C00"/>
          </a:solidFill>
          <a:ln w="12700">
            <a:solidFill>
              <a:srgbClr val="C45C00"/>
            </a:solidFill>
            <a:prstDash val="solid"/>
          </a:ln>
        </p:spPr>
        <p:txBody>
          <a:bodyPr/>
          <a:lstStyle/>
          <a:p>
            <a:endParaRPr lang="zh-TW" altLang="en-US"/>
          </a:p>
        </p:txBody>
      </p:sp>
      <p:sp>
        <p:nvSpPr>
          <p:cNvPr id="12" name="Text 10"/>
          <p:cNvSpPr/>
          <p:nvPr/>
        </p:nvSpPr>
        <p:spPr>
          <a:xfrm>
            <a:off x="4828032" y="1115568"/>
            <a:ext cx="410565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§2-3  單點運算</a:t>
            </a:r>
            <a:endParaRPr lang="en-US" sz="1300" dirty="0"/>
          </a:p>
        </p:txBody>
      </p:sp>
      <p:sp>
        <p:nvSpPr>
          <p:cNvPr id="13" name="Text 11"/>
          <p:cNvSpPr/>
          <p:nvPr/>
        </p:nvSpPr>
        <p:spPr>
          <a:xfrm>
            <a:off x="4864608" y="1527048"/>
            <a:ext cx="4032504" cy="1005840"/>
          </a:xfrm>
          <a:prstGeom prst="rect">
            <a:avLst/>
          </a:prstGeom>
          <a:noFill/>
          <a:ln/>
        </p:spPr>
        <p:txBody>
          <a:bodyPr wrap="square" rtlCol="0" anchor="ctr"/>
          <a:lstStyle/>
          <a:p>
            <a:pPr marL="0" indent="0" algn="ctr">
              <a:buNone/>
            </a:pPr>
            <a:r>
              <a:rPr lang="en-US" sz="1250" dirty="0">
                <a:solidFill>
                  <a:srgbClr val="1A1A1A"/>
                </a:solidFill>
                <a:latin typeface="Calibri" pitchFamily="34" charset="0"/>
                <a:ea typeface="Calibri" pitchFamily="34" charset="-122"/>
                <a:cs typeface="Calibri" pitchFamily="34" charset="-120"/>
              </a:rPr>
              <a:t>Contrast / Brightness</a:t>
            </a:r>
            <a:endParaRPr lang="en-US" sz="1250" dirty="0"/>
          </a:p>
          <a:p>
            <a:pPr marL="0" indent="0" algn="ctr">
              <a:buNone/>
            </a:pPr>
            <a:r>
              <a:rPr lang="en-US" sz="1250" dirty="0">
                <a:solidFill>
                  <a:srgbClr val="1A1A1A"/>
                </a:solidFill>
                <a:latin typeface="Calibri" pitchFamily="34" charset="0"/>
                <a:ea typeface="Calibri" pitchFamily="34" charset="-122"/>
                <a:cs typeface="Calibri" pitchFamily="34" charset="-120"/>
              </a:rPr>
              <a:t>Gamma 矯正 / LUT 加速</a:t>
            </a:r>
            <a:endParaRPr lang="en-US" sz="1250" dirty="0"/>
          </a:p>
        </p:txBody>
      </p:sp>
      <p:sp>
        <p:nvSpPr>
          <p:cNvPr id="14" name="Shape 12"/>
          <p:cNvSpPr/>
          <p:nvPr/>
        </p:nvSpPr>
        <p:spPr>
          <a:xfrm>
            <a:off x="320040" y="2834640"/>
            <a:ext cx="4251960" cy="150876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5" name="Shape 13"/>
          <p:cNvSpPr/>
          <p:nvPr/>
        </p:nvSpPr>
        <p:spPr>
          <a:xfrm>
            <a:off x="320040" y="2834640"/>
            <a:ext cx="4251960" cy="347472"/>
          </a:xfrm>
          <a:prstGeom prst="rect">
            <a:avLst/>
          </a:prstGeom>
          <a:solidFill>
            <a:srgbClr val="1A6049"/>
          </a:solidFill>
          <a:ln w="12700">
            <a:solidFill>
              <a:srgbClr val="1A6049"/>
            </a:solidFill>
            <a:prstDash val="solid"/>
          </a:ln>
        </p:spPr>
        <p:txBody>
          <a:bodyPr/>
          <a:lstStyle/>
          <a:p>
            <a:endParaRPr lang="zh-TW" altLang="en-US"/>
          </a:p>
        </p:txBody>
      </p:sp>
      <p:sp>
        <p:nvSpPr>
          <p:cNvPr id="16" name="Text 14"/>
          <p:cNvSpPr/>
          <p:nvPr/>
        </p:nvSpPr>
        <p:spPr>
          <a:xfrm>
            <a:off x="393192" y="2834640"/>
            <a:ext cx="410565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  直方圖與閾值</a:t>
            </a:r>
            <a:endParaRPr lang="en-US" sz="1300" dirty="0"/>
          </a:p>
        </p:txBody>
      </p:sp>
      <p:sp>
        <p:nvSpPr>
          <p:cNvPr id="17" name="Text 15"/>
          <p:cNvSpPr/>
          <p:nvPr/>
        </p:nvSpPr>
        <p:spPr>
          <a:xfrm>
            <a:off x="429768" y="3246120"/>
            <a:ext cx="4032504" cy="1005840"/>
          </a:xfrm>
          <a:prstGeom prst="rect">
            <a:avLst/>
          </a:prstGeom>
          <a:noFill/>
          <a:ln/>
        </p:spPr>
        <p:txBody>
          <a:bodyPr wrap="square" rtlCol="0" anchor="ctr"/>
          <a:lstStyle/>
          <a:p>
            <a:pPr marL="0" indent="0" algn="ctr">
              <a:buNone/>
            </a:pPr>
            <a:r>
              <a:rPr lang="en-US" sz="1250" dirty="0">
                <a:solidFill>
                  <a:srgbClr val="1A1A1A"/>
                </a:solidFill>
                <a:latin typeface="Calibri" pitchFamily="34" charset="0"/>
                <a:ea typeface="Calibri" pitchFamily="34" charset="-122"/>
                <a:cs typeface="Calibri" pitchFamily="34" charset="-120"/>
              </a:rPr>
              <a:t>Histogram / CLAHE</a:t>
            </a:r>
            <a:endParaRPr lang="en-US" sz="1250" dirty="0"/>
          </a:p>
          <a:p>
            <a:pPr marL="0" indent="0" algn="ctr">
              <a:buNone/>
            </a:pPr>
            <a:r>
              <a:rPr lang="en-US" sz="1250" dirty="0">
                <a:solidFill>
                  <a:srgbClr val="1A1A1A"/>
                </a:solidFill>
                <a:latin typeface="Calibri" pitchFamily="34" charset="0"/>
                <a:ea typeface="Calibri" pitchFamily="34" charset="-122"/>
                <a:cs typeface="Calibri" pitchFamily="34" charset="-120"/>
              </a:rPr>
              <a:t>Otsu 自動二值化</a:t>
            </a:r>
            <a:endParaRPr lang="en-US" sz="1250" dirty="0"/>
          </a:p>
        </p:txBody>
      </p:sp>
      <p:sp>
        <p:nvSpPr>
          <p:cNvPr id="18" name="Shape 16"/>
          <p:cNvSpPr/>
          <p:nvPr/>
        </p:nvSpPr>
        <p:spPr>
          <a:xfrm>
            <a:off x="4754880" y="2834640"/>
            <a:ext cx="4251960" cy="150876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9" name="Shape 17"/>
          <p:cNvSpPr/>
          <p:nvPr/>
        </p:nvSpPr>
        <p:spPr>
          <a:xfrm>
            <a:off x="4754880" y="2834640"/>
            <a:ext cx="4251960" cy="347472"/>
          </a:xfrm>
          <a:prstGeom prst="rect">
            <a:avLst/>
          </a:prstGeom>
          <a:solidFill>
            <a:srgbClr val="5A2D82"/>
          </a:solidFill>
          <a:ln w="12700">
            <a:solidFill>
              <a:srgbClr val="5A2D82"/>
            </a:solidFill>
            <a:prstDash val="solid"/>
          </a:ln>
        </p:spPr>
        <p:txBody>
          <a:bodyPr/>
          <a:lstStyle/>
          <a:p>
            <a:endParaRPr lang="zh-TW" altLang="en-US"/>
          </a:p>
        </p:txBody>
      </p:sp>
      <p:sp>
        <p:nvSpPr>
          <p:cNvPr id="20" name="Text 18"/>
          <p:cNvSpPr/>
          <p:nvPr/>
        </p:nvSpPr>
        <p:spPr>
          <a:xfrm>
            <a:off x="4828032" y="2834640"/>
            <a:ext cx="4105656"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§5-6  濾波與卷積</a:t>
            </a:r>
            <a:endParaRPr lang="en-US" sz="1300" dirty="0"/>
          </a:p>
        </p:txBody>
      </p:sp>
      <p:sp>
        <p:nvSpPr>
          <p:cNvPr id="21" name="Text 19"/>
          <p:cNvSpPr/>
          <p:nvPr/>
        </p:nvSpPr>
        <p:spPr>
          <a:xfrm>
            <a:off x="4864608" y="3246120"/>
            <a:ext cx="4032504" cy="1005840"/>
          </a:xfrm>
          <a:prstGeom prst="rect">
            <a:avLst/>
          </a:prstGeom>
          <a:noFill/>
          <a:ln/>
        </p:spPr>
        <p:txBody>
          <a:bodyPr wrap="square" rtlCol="0" anchor="ctr"/>
          <a:lstStyle/>
          <a:p>
            <a:pPr marL="0" indent="0" algn="ctr">
              <a:buNone/>
            </a:pPr>
            <a:r>
              <a:rPr lang="en-US" sz="1250" dirty="0">
                <a:solidFill>
                  <a:srgbClr val="1A1A1A"/>
                </a:solidFill>
                <a:latin typeface="Calibri" pitchFamily="34" charset="0"/>
                <a:ea typeface="Calibri" pitchFamily="34" charset="-122"/>
                <a:cs typeface="Calibri" pitchFamily="34" charset="-120"/>
              </a:rPr>
              <a:t>Mean / Gaussian / Median</a:t>
            </a:r>
            <a:endParaRPr lang="en-US" sz="1250" dirty="0"/>
          </a:p>
          <a:p>
            <a:pPr marL="0" indent="0" algn="ctr">
              <a:buNone/>
            </a:pPr>
            <a:r>
              <a:rPr lang="en-US" sz="1250" dirty="0">
                <a:solidFill>
                  <a:srgbClr val="1A1A1A"/>
                </a:solidFill>
                <a:latin typeface="Calibri" pitchFamily="34" charset="0"/>
                <a:ea typeface="Calibri" pitchFamily="34" charset="-122"/>
                <a:cs typeface="Calibri" pitchFamily="34" charset="-120"/>
              </a:rPr>
              <a:t>銳化 / 頻域概念</a:t>
            </a:r>
            <a:endParaRPr lang="en-US" sz="1250" dirty="0"/>
          </a:p>
        </p:txBody>
      </p:sp>
      <p:sp>
        <p:nvSpPr>
          <p:cNvPr id="22" name="Shape 20"/>
          <p:cNvSpPr/>
          <p:nvPr/>
        </p:nvSpPr>
        <p:spPr>
          <a:xfrm>
            <a:off x="320040" y="4480560"/>
            <a:ext cx="8503920" cy="256032"/>
          </a:xfrm>
          <a:prstGeom prst="rect">
            <a:avLst/>
          </a:prstGeom>
          <a:solidFill>
            <a:srgbClr val="F5E6D3"/>
          </a:solidFill>
          <a:ln w="12700">
            <a:solidFill>
              <a:srgbClr val="F5E6D3"/>
            </a:solidFill>
            <a:prstDash val="solid"/>
          </a:ln>
        </p:spPr>
        <p:txBody>
          <a:bodyPr/>
          <a:lstStyle/>
          <a:p>
            <a:endParaRPr lang="zh-TW" altLang="en-US"/>
          </a:p>
        </p:txBody>
      </p:sp>
      <p:sp>
        <p:nvSpPr>
          <p:cNvPr id="23" name="Text 21"/>
          <p:cNvSpPr/>
          <p:nvPr/>
        </p:nvSpPr>
        <p:spPr>
          <a:xfrm>
            <a:off x="365760" y="4480560"/>
            <a:ext cx="8412480" cy="256032"/>
          </a:xfrm>
          <a:prstGeom prst="rect">
            <a:avLst/>
          </a:prstGeom>
          <a:noFill/>
          <a:ln/>
        </p:spPr>
        <p:txBody>
          <a:bodyPr wrap="square" lIns="0" tIns="0" rIns="0" bIns="0" rtlCol="0" anchor="ctr"/>
          <a:lstStyle/>
          <a:p>
            <a:pPr marL="0" indent="0" algn="ctr">
              <a:buNone/>
            </a:pPr>
            <a:r>
              <a:rPr lang="en-US" sz="950" b="1" dirty="0">
                <a:solidFill>
                  <a:srgbClr val="C45C00"/>
                </a:solidFill>
                <a:latin typeface="Calibri" pitchFamily="34" charset="0"/>
                <a:ea typeface="Calibri" pitchFamily="34" charset="-122"/>
                <a:cs typeface="Calibri" pitchFamily="34" charset="-120"/>
              </a:rPr>
              <a:t>⚠️  重要聲明：本週所有技術只改變像素的數值，不改變像素的空間位置（無旋轉、縮放、平移）</a:t>
            </a:r>
            <a:endParaRPr lang="en-US" sz="9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01</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影像與視訊格式</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Image &amp; Video Formats  |  </a:t>
            </a:r>
            <a:r>
              <a:rPr lang="en-US" sz="1300" dirty="0" err="1">
                <a:solidFill>
                  <a:srgbClr val="F5E6D3"/>
                </a:solidFill>
                <a:latin typeface="Calibri" pitchFamily="34" charset="0"/>
                <a:ea typeface="Calibri" pitchFamily="34" charset="-122"/>
                <a:cs typeface="Calibri" pitchFamily="34" charset="-120"/>
              </a:rPr>
              <a:t>壓縮的</a:t>
            </a:r>
            <a:r>
              <a:rPr lang="zh-TW" altLang="en-US" sz="1300" dirty="0">
                <a:solidFill>
                  <a:srgbClr val="F5E6D3"/>
                </a:solidFill>
                <a:latin typeface="Calibri" pitchFamily="34" charset="0"/>
                <a:ea typeface="Calibri" pitchFamily="34" charset="-122"/>
                <a:cs typeface="Calibri" pitchFamily="34" charset="-120"/>
              </a:rPr>
              <a:t>技術</a:t>
            </a:r>
            <a:r>
              <a:rPr lang="en-US" sz="1300" dirty="0" err="1">
                <a:solidFill>
                  <a:srgbClr val="F5E6D3"/>
                </a:solidFill>
                <a:latin typeface="Calibri" pitchFamily="34" charset="0"/>
                <a:ea typeface="Calibri" pitchFamily="34" charset="-122"/>
                <a:cs typeface="Calibri" pitchFamily="34" charset="-120"/>
              </a:rPr>
              <a:t>與代價</a:t>
            </a:r>
            <a:endParaRPr lang="en-US" sz="1300" dirty="0"/>
          </a:p>
        </p:txBody>
      </p:sp>
      <p:sp>
        <p:nvSpPr>
          <p:cNvPr id="6" name="Shape 4"/>
          <p:cNvSpPr/>
          <p:nvPr/>
        </p:nvSpPr>
        <p:spPr>
          <a:xfrm>
            <a:off x="685800" y="2788920"/>
            <a:ext cx="7406640" cy="822960"/>
          </a:xfrm>
          <a:prstGeom prst="rect">
            <a:avLst/>
          </a:prstGeom>
          <a:solidFill>
            <a:srgbClr val="162E4A"/>
          </a:solidFill>
          <a:ln w="19050">
            <a:solidFill>
              <a:srgbClr val="C45C00"/>
            </a:solidFill>
            <a:prstDash val="solid"/>
          </a:ln>
        </p:spPr>
        <p:txBody>
          <a:bodyPr/>
          <a:lstStyle/>
          <a:p>
            <a:endParaRPr lang="zh-TW" altLang="en-US"/>
          </a:p>
        </p:txBody>
      </p:sp>
      <p:sp>
        <p:nvSpPr>
          <p:cNvPr id="7" name="Text 5"/>
          <p:cNvSpPr/>
          <p:nvPr/>
        </p:nvSpPr>
        <p:spPr>
          <a:xfrm>
            <a:off x="822960" y="2788920"/>
            <a:ext cx="7132320" cy="822960"/>
          </a:xfrm>
          <a:prstGeom prst="rect">
            <a:avLst/>
          </a:prstGeom>
          <a:noFill/>
          <a:ln/>
        </p:spPr>
        <p:txBody>
          <a:bodyPr wrap="square" lIns="0" tIns="0" rIns="0" bIns="0" rtlCol="0" anchor="ctr"/>
          <a:lstStyle/>
          <a:p>
            <a:pPr marL="0" indent="0" algn="l">
              <a:buNone/>
            </a:pPr>
            <a:r>
              <a:rPr lang="en-US" sz="1100" i="1" dirty="0">
                <a:solidFill>
                  <a:srgbClr val="F5E6D3"/>
                </a:solidFill>
                <a:latin typeface="Calibri" pitchFamily="34" charset="0"/>
                <a:ea typeface="Calibri" pitchFamily="34" charset="-122"/>
                <a:cs typeface="Calibri" pitchFamily="34" charset="-120"/>
              </a:rPr>
              <a:t>💡 這些像素矩陣是怎麼存進硬碟的？壓縮後會發生什麼事？</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基礎計算 / 外部補充</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記憶體的現實考量：原始影像有多大？</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1920 × 1080 × 3 Bytes  =  6,220,800 Bytes  ≈  6 MB / 張</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一張未壓縮的 1080p Full HD 彩色影像，就佔用 6 MB 記憶體</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影片 30fps，1 分鐘：</a:t>
            </a:r>
            <a:r>
              <a:rPr lang="en-US" sz="1250" dirty="0">
                <a:solidFill>
                  <a:srgbClr val="1A1A1A"/>
                </a:solidFill>
                <a:latin typeface="Calibri" pitchFamily="34" charset="0"/>
                <a:ea typeface="Calibri" pitchFamily="34" charset="-122"/>
                <a:cs typeface="Calibri" pitchFamily="34" charset="-120"/>
              </a:rPr>
              <a:t>6 MB × 30幀 × 60秒 = 10,800 MB ≈ 10.8 GB！</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嵌入式裝置 RAM：</a:t>
            </a:r>
            <a:r>
              <a:rPr lang="en-US" sz="1250" dirty="0">
                <a:solidFill>
                  <a:srgbClr val="1A1A1A"/>
                </a:solidFill>
                <a:latin typeface="Calibri" pitchFamily="34" charset="0"/>
                <a:ea typeface="Calibri" pitchFamily="34" charset="-122"/>
                <a:cs typeface="Calibri" pitchFamily="34" charset="-120"/>
              </a:rPr>
              <a:t>Raspberry Pi 4 約 1～4 GB，根本放不了幾張未壓縮影像</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網路即時串流：</a:t>
            </a:r>
            <a:r>
              <a:rPr lang="en-US" sz="1250" dirty="0">
                <a:solidFill>
                  <a:srgbClr val="1A1A1A"/>
                </a:solidFill>
                <a:latin typeface="Calibri" pitchFamily="34" charset="0"/>
                <a:ea typeface="Calibri" pitchFamily="34" charset="-122"/>
                <a:cs typeface="Calibri" pitchFamily="34" charset="-120"/>
              </a:rPr>
              <a:t>10 GB/分鐘無法傳輸，壓縮是絕對必要的</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結論：</a:t>
            </a:r>
            <a:r>
              <a:rPr lang="en-US" sz="1250" dirty="0">
                <a:solidFill>
                  <a:srgbClr val="1A1A1A"/>
                </a:solidFill>
                <a:latin typeface="Calibri" pitchFamily="34" charset="0"/>
                <a:ea typeface="Calibri" pitchFamily="34" charset="-122"/>
                <a:cs typeface="Calibri" pitchFamily="34" charset="-120"/>
              </a:rPr>
              <a:t>儲存、傳輸、即時處理，三個理由都迫使我們必須壓縮</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壓縮（Compression）的兩大類型</a:t>
            </a:r>
            <a:endParaRPr lang="en-US" sz="2000" dirty="0"/>
          </a:p>
        </p:txBody>
      </p:sp>
      <p:sp>
        <p:nvSpPr>
          <p:cNvPr id="7" name="Text 5"/>
          <p:cNvSpPr/>
          <p:nvPr/>
        </p:nvSpPr>
        <p:spPr>
          <a:xfrm>
            <a:off x="320040" y="1115568"/>
            <a:ext cx="4160520" cy="3520440"/>
          </a:xfrm>
          <a:prstGeom prst="rect">
            <a:avLst/>
          </a:prstGeom>
          <a:noFill/>
          <a:ln/>
        </p:spPr>
        <p:txBody>
          <a:bodyPr wrap="square" rtlCol="0" anchor="t"/>
          <a:lstStyle/>
          <a:p>
            <a:pPr marL="0" indent="0">
              <a:buNone/>
            </a:pPr>
            <a:r>
              <a:rPr lang="en-US" sz="1300" b="1" dirty="0">
                <a:solidFill>
                  <a:srgbClr val="C45C00"/>
                </a:solidFill>
                <a:latin typeface="Calibri" pitchFamily="34" charset="0"/>
                <a:ea typeface="Calibri" pitchFamily="34" charset="-122"/>
                <a:cs typeface="Calibri" pitchFamily="34" charset="-120"/>
              </a:rPr>
              <a:t>無損壓縮 Lossless：
</a:t>
            </a:r>
            <a:r>
              <a:rPr lang="en-US" sz="1200" dirty="0">
                <a:solidFill>
                  <a:srgbClr val="1A1A1A"/>
                </a:solidFill>
                <a:latin typeface="Calibri" pitchFamily="34" charset="0"/>
                <a:ea typeface="Calibri" pitchFamily="34" charset="-122"/>
                <a:cs typeface="Calibri" pitchFamily="34" charset="-120"/>
              </a:rPr>
              <a:t>解壓後可完美還原每個像素值，不丟棄任何資訊。代表：PNG、BMP（無壓縮）、TIFF
</a:t>
            </a:r>
            <a:r>
              <a:rPr lang="en-US" sz="300" dirty="0">
                <a:solidFill>
                  <a:srgbClr val="000000"/>
                </a:solidFill>
                <a:latin typeface="Calibri" pitchFamily="34" charset="0"/>
                <a:ea typeface="Calibri" pitchFamily="34" charset="-122"/>
                <a:cs typeface="Calibri" pitchFamily="34" charset="-120"/>
              </a:rPr>
              <a:t>
</a:t>
            </a:r>
            <a:endParaRPr lang="en-US" sz="1300" dirty="0"/>
          </a:p>
          <a:p>
            <a:r>
              <a:rPr lang="en-US" sz="1300" b="1" dirty="0">
                <a:solidFill>
                  <a:srgbClr val="C45C00"/>
                </a:solidFill>
                <a:latin typeface="Calibri" pitchFamily="34" charset="0"/>
                <a:ea typeface="Calibri" pitchFamily="34" charset="-122"/>
                <a:cs typeface="Calibri" pitchFamily="34" charset="-120"/>
              </a:rPr>
              <a:t>有損壓縮 Lossy：
</a:t>
            </a:r>
            <a:r>
              <a:rPr lang="en-US" sz="1200" dirty="0" err="1">
                <a:solidFill>
                  <a:srgbClr val="1A1A1A"/>
                </a:solidFill>
                <a:latin typeface="Calibri" pitchFamily="34" charset="0"/>
                <a:ea typeface="Calibri" pitchFamily="34" charset="-122"/>
                <a:cs typeface="Calibri" pitchFamily="34" charset="-120"/>
              </a:rPr>
              <a:t>丟棄人眼感知不到的資訊換取極小檔案。代表：JPEG（靜態</a:t>
            </a:r>
            <a:r>
              <a:rPr lang="en-US" sz="1200" dirty="0">
                <a:solidFill>
                  <a:srgbClr val="1A1A1A"/>
                </a:solidFill>
                <a:latin typeface="Calibri" pitchFamily="34" charset="0"/>
                <a:ea typeface="Calibri" pitchFamily="34" charset="-122"/>
                <a:cs typeface="Calibri" pitchFamily="34" charset="-120"/>
              </a:rPr>
              <a:t>）</a:t>
            </a:r>
            <a:r>
              <a:rPr lang="en-US" altLang="zh-TW" sz="1200" dirty="0">
                <a:solidFill>
                  <a:srgbClr val="1A1A1A"/>
                </a:solidFill>
                <a:latin typeface="Calibri" pitchFamily="34" charset="0"/>
                <a:ea typeface="Calibri" pitchFamily="34" charset="-122"/>
                <a:cs typeface="Calibri" pitchFamily="34" charset="-120"/>
              </a:rPr>
              <a:t>、Motion </a:t>
            </a:r>
            <a:r>
              <a:rPr lang="en-US" altLang="zh-TW" sz="1200" dirty="0" err="1">
                <a:solidFill>
                  <a:srgbClr val="1A1A1A"/>
                </a:solidFill>
                <a:latin typeface="Calibri" pitchFamily="34" charset="0"/>
                <a:ea typeface="Calibri" pitchFamily="34" charset="-122"/>
                <a:cs typeface="Calibri" pitchFamily="34" charset="-120"/>
              </a:rPr>
              <a:t>JPEG（視訊</a:t>
            </a:r>
            <a:r>
              <a:rPr lang="en-US" altLang="zh-TW" sz="1200" dirty="0">
                <a:solidFill>
                  <a:srgbClr val="1A1A1A"/>
                </a:solidFill>
                <a:latin typeface="Calibri" pitchFamily="34" charset="0"/>
                <a:ea typeface="Calibri" pitchFamily="34" charset="-122"/>
                <a:cs typeface="Calibri" pitchFamily="34" charset="-120"/>
              </a:rPr>
              <a:t>）</a:t>
            </a:r>
            <a:r>
              <a:rPr lang="en-US" sz="1200" dirty="0">
                <a:solidFill>
                  <a:srgbClr val="1A1A1A"/>
                </a:solidFill>
                <a:latin typeface="Calibri" pitchFamily="34" charset="0"/>
                <a:ea typeface="Calibri" pitchFamily="34" charset="-122"/>
                <a:cs typeface="Calibri" pitchFamily="34" charset="-120"/>
              </a:rPr>
              <a:t>、MPEG/MPEG4/H.264 5（視訊）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壓縮率 vs 品質：
</a:t>
            </a:r>
            <a:r>
              <a:rPr lang="en-US" sz="1200" dirty="0">
                <a:solidFill>
                  <a:srgbClr val="1A1A1A"/>
                </a:solidFill>
                <a:latin typeface="Calibri" pitchFamily="34" charset="0"/>
                <a:ea typeface="Calibri" pitchFamily="34" charset="-122"/>
                <a:cs typeface="Calibri" pitchFamily="34" charset="-120"/>
              </a:rPr>
              <a:t>兩者無法兼得：壓縮率越高，丟失資訊越多，影像品質越低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嵌入式視覺原則：
</a:t>
            </a:r>
            <a:r>
              <a:rPr lang="en-US" sz="1200" dirty="0">
                <a:solidFill>
                  <a:srgbClr val="1A1A1A"/>
                </a:solidFill>
                <a:latin typeface="Calibri" pitchFamily="34" charset="0"/>
                <a:ea typeface="Calibri" pitchFamily="34" charset="-122"/>
                <a:cs typeface="Calibri" pitchFamily="34" charset="-120"/>
              </a:rPr>
              <a:t>開發期請存 PNG（精確），部署傳輸再考慮 JPEG（節省頻寬）
</a:t>
            </a:r>
            <a:endParaRPr lang="en-US" sz="1300" dirty="0"/>
          </a:p>
        </p:txBody>
      </p:sp>
      <p:sp>
        <p:nvSpPr>
          <p:cNvPr id="8" name="Shape 6"/>
          <p:cNvSpPr/>
          <p:nvPr/>
        </p:nvSpPr>
        <p:spPr>
          <a:xfrm>
            <a:off x="4663440" y="1115568"/>
            <a:ext cx="4160520" cy="3520440"/>
          </a:xfrm>
          <a:prstGeom prst="rect">
            <a:avLst/>
          </a:prstGeom>
          <a:solidFill>
            <a:srgbClr val="F5E6D3"/>
          </a:solidFill>
          <a:ln w="10160">
            <a:solidFill>
              <a:srgbClr val="D1C9BC"/>
            </a:solidFill>
            <a:prstDash val="solid"/>
          </a:ln>
        </p:spPr>
        <p:txBody>
          <a:bodyPr/>
          <a:lstStyle/>
          <a:p>
            <a:endParaRPr lang="zh-TW" altLang="en-US"/>
          </a:p>
        </p:txBody>
      </p:sp>
      <p:sp>
        <p:nvSpPr>
          <p:cNvPr id="9" name="Shape 7"/>
          <p:cNvSpPr/>
          <p:nvPr/>
        </p:nvSpPr>
        <p:spPr>
          <a:xfrm>
            <a:off x="4663440" y="1115568"/>
            <a:ext cx="4160520" cy="329184"/>
          </a:xfrm>
          <a:prstGeom prst="rect">
            <a:avLst/>
          </a:prstGeom>
          <a:solidFill>
            <a:srgbClr val="C45C00"/>
          </a:solidFill>
          <a:ln w="12700">
            <a:solidFill>
              <a:srgbClr val="C45C00"/>
            </a:solidFill>
            <a:prstDash val="solid"/>
          </a:ln>
        </p:spPr>
        <p:txBody>
          <a:bodyPr/>
          <a:lstStyle/>
          <a:p>
            <a:endParaRPr lang="zh-TW" altLang="en-US"/>
          </a:p>
        </p:txBody>
      </p:sp>
      <p:sp>
        <p:nvSpPr>
          <p:cNvPr id="10" name="Text 8"/>
          <p:cNvSpPr/>
          <p:nvPr/>
        </p:nvSpPr>
        <p:spPr>
          <a:xfrm>
            <a:off x="4709160" y="1115568"/>
            <a:ext cx="406908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壓縮率比較（1080p 圖片）</a:t>
            </a:r>
            <a:endParaRPr lang="en-US" sz="1050" dirty="0"/>
          </a:p>
        </p:txBody>
      </p:sp>
      <p:sp>
        <p:nvSpPr>
          <p:cNvPr id="11" name="Text 9"/>
          <p:cNvSpPr/>
          <p:nvPr/>
        </p:nvSpPr>
        <p:spPr>
          <a:xfrm>
            <a:off x="4709160" y="1490472"/>
            <a:ext cx="40233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BMP（無壓縮）</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6.2 MB</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PNG（無損）</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1～3 MB  縮 50-70%</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JPEG 高品質（Q=90）</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800 KB  縮 87%</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JPEG 低品質（Q=30）</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150 KB  縮 97%</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H.264 影片（每幀均攤）</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10～50 KB / 幀</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無損壓縮：BMP 與 PNG</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500" b="1" dirty="0">
                <a:solidFill>
                  <a:srgbClr val="1E3A5F"/>
                </a:solidFill>
                <a:latin typeface="Calibri" pitchFamily="34" charset="0"/>
                <a:ea typeface="Calibri" pitchFamily="34" charset="-122"/>
                <a:cs typeface="Calibri" pitchFamily="34" charset="-120"/>
              </a:rPr>
              <a:t>BMP（Bitmap）
</a:t>
            </a:r>
            <a:r>
              <a:rPr lang="en-US" sz="1300" dirty="0">
                <a:solidFill>
                  <a:srgbClr val="1A1A1A"/>
                </a:solidFill>
                <a:latin typeface="Calibri" pitchFamily="34" charset="0"/>
                <a:ea typeface="Calibri" pitchFamily="34" charset="-122"/>
                <a:cs typeface="Calibri" pitchFamily="34" charset="-120"/>
              </a:rPr>
              <a:t>幾乎等於原始像素矩陣，沒有壓縮（或僅有 Run-Length Encoding）。
每個像素直接以 RGB 三個 Byte 依序排列在檔案中，讀取速度快但檔案巨大。
Windows 早期標準格式，現在主要用於記憶體對映（Memory-mapped）場景。
</a:t>
            </a:r>
            <a:r>
              <a:rPr lang="en-US" sz="400" dirty="0">
                <a:solidFill>
                  <a:srgbClr val="000000"/>
                </a:solidFill>
                <a:latin typeface="Calibri" pitchFamily="34" charset="0"/>
                <a:ea typeface="Calibri" pitchFamily="34" charset="-122"/>
                <a:cs typeface="Calibri" pitchFamily="34" charset="-120"/>
              </a:rPr>
              <a:t>
</a:t>
            </a:r>
            <a:endParaRPr lang="en-US" sz="1500" dirty="0"/>
          </a:p>
          <a:p>
            <a:pPr marL="0" indent="0">
              <a:buNone/>
            </a:pPr>
            <a:r>
              <a:rPr lang="en-US" sz="1500" b="1" dirty="0">
                <a:solidFill>
                  <a:srgbClr val="1E3A5F"/>
                </a:solidFill>
                <a:latin typeface="Calibri" pitchFamily="34" charset="0"/>
                <a:ea typeface="Calibri" pitchFamily="34" charset="-122"/>
                <a:cs typeface="Calibri" pitchFamily="34" charset="-120"/>
              </a:rPr>
              <a:t>PNG（Portable Network Graphics）
</a:t>
            </a:r>
            <a:r>
              <a:rPr lang="en-US" sz="1300" dirty="0">
                <a:solidFill>
                  <a:srgbClr val="1A1A1A"/>
                </a:solidFill>
                <a:latin typeface="Calibri" pitchFamily="34" charset="0"/>
                <a:ea typeface="Calibri" pitchFamily="34" charset="-122"/>
                <a:cs typeface="Calibri" pitchFamily="34" charset="-120"/>
              </a:rPr>
              <a:t>使用 DEFLATE 無損壓縮演算法。核心技巧：
  • 差值濾波（Difference Filter）：只記錄與鄰近像素的差，不記絕對值
  • 高度重複的差值序列 → DEFLATE 壓縮率高
  • 支援透明通道（Alpha），適合 UI </a:t>
            </a:r>
            <a:r>
              <a:rPr lang="en-US" sz="1300" dirty="0" err="1">
                <a:solidFill>
                  <a:srgbClr val="1A1A1A"/>
                </a:solidFill>
                <a:latin typeface="Calibri" pitchFamily="34" charset="0"/>
                <a:ea typeface="Calibri" pitchFamily="34" charset="-122"/>
                <a:cs typeface="Calibri" pitchFamily="34" charset="-120"/>
              </a:rPr>
              <a:t>圖示、截圖</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有損壓縮：JPEG — 利用人眼的視覺弱點</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JPEG 四步驟壓縮流程：
</a:t>
            </a:r>
            <a:r>
              <a:rPr lang="en-US" sz="1300" b="1" dirty="0">
                <a:solidFill>
                  <a:srgbClr val="1E3A5F"/>
                </a:solidFill>
                <a:latin typeface="Calibri" pitchFamily="34" charset="0"/>
                <a:ea typeface="Calibri" pitchFamily="34" charset="-122"/>
                <a:cs typeface="Calibri" pitchFamily="34" charset="-120"/>
              </a:rPr>
              <a:t>Step 1：分塊（Block）
</a:t>
            </a:r>
            <a:r>
              <a:rPr lang="en-US" sz="1250" dirty="0">
                <a:solidFill>
                  <a:srgbClr val="1A1A1A"/>
                </a:solidFill>
                <a:latin typeface="Calibri" pitchFamily="34" charset="0"/>
                <a:ea typeface="Calibri" pitchFamily="34" charset="-122"/>
                <a:cs typeface="Calibri" pitchFamily="34" charset="-120"/>
              </a:rPr>
              <a:t>  將影像切割成 8×8 像素的小區塊，分別處理
</a:t>
            </a:r>
            <a:r>
              <a:rPr lang="en-US" sz="1300" b="1" dirty="0">
                <a:solidFill>
                  <a:srgbClr val="1E3A5F"/>
                </a:solidFill>
                <a:latin typeface="Calibri" pitchFamily="34" charset="0"/>
                <a:ea typeface="Calibri" pitchFamily="34" charset="-122"/>
                <a:cs typeface="Calibri" pitchFamily="34" charset="-120"/>
              </a:rPr>
              <a:t>Step 2：DCT（離散餘弦轉換）
</a:t>
            </a:r>
            <a:r>
              <a:rPr lang="en-US" sz="1250" dirty="0">
                <a:solidFill>
                  <a:srgbClr val="1A1A1A"/>
                </a:solidFill>
                <a:latin typeface="Calibri" pitchFamily="34" charset="0"/>
                <a:ea typeface="Calibri" pitchFamily="34" charset="-122"/>
                <a:cs typeface="Calibri" pitchFamily="34" charset="-120"/>
              </a:rPr>
              <a:t>  將每個 8×8 塊轉換成頻率係數（低頻=整體色調，高頻=邊緣細節）
</a:t>
            </a:r>
            <a:r>
              <a:rPr lang="en-US" sz="1300" b="1" dirty="0">
                <a:solidFill>
                  <a:srgbClr val="C45C00"/>
                </a:solidFill>
                <a:latin typeface="Calibri" pitchFamily="34" charset="0"/>
                <a:ea typeface="Calibri" pitchFamily="34" charset="-122"/>
                <a:cs typeface="Calibri" pitchFamily="34" charset="-120"/>
              </a:rPr>
              <a:t>Step 3：量化（Quantization）—  有損關鍵步驟
</a:t>
            </a:r>
            <a:r>
              <a:rPr lang="en-US" sz="1250" dirty="0">
                <a:solidFill>
                  <a:srgbClr val="1A1A1A"/>
                </a:solidFill>
                <a:latin typeface="Calibri" pitchFamily="34" charset="0"/>
                <a:ea typeface="Calibri" pitchFamily="34" charset="-122"/>
                <a:cs typeface="Calibri" pitchFamily="34" charset="-120"/>
              </a:rPr>
              <a:t>  低頻係數保留高精度，高頻係數大幅捨棄（人眼對高頻不敏感）
</a:t>
            </a:r>
            <a:r>
              <a:rPr lang="en-US" sz="1300" b="1" dirty="0">
                <a:solidFill>
                  <a:srgbClr val="1E3A5F"/>
                </a:solidFill>
                <a:latin typeface="Calibri" pitchFamily="34" charset="0"/>
                <a:ea typeface="Calibri" pitchFamily="34" charset="-122"/>
                <a:cs typeface="Calibri" pitchFamily="34" charset="-120"/>
              </a:rPr>
              <a:t>Step 4：Huffman 編碼（無損壓縮）
</a:t>
            </a:r>
            <a:r>
              <a:rPr lang="en-US" sz="1250" dirty="0">
                <a:solidFill>
                  <a:srgbClr val="1A1A1A"/>
                </a:solidFill>
                <a:latin typeface="Calibri" pitchFamily="34" charset="0"/>
                <a:ea typeface="Calibri" pitchFamily="34" charset="-122"/>
                <a:cs typeface="Calibri" pitchFamily="34" charset="-120"/>
              </a:rPr>
              <a:t>  對量化後的係數再做熵編碼，進一步壓縮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結果：原 6 MB → 100 ～ 500 KB，縮小 12 ～ 60 倍</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JPEG 的副作用：方塊瑕疵（Block Artifacts）</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視覺現象：
</a:t>
            </a:r>
            <a:r>
              <a:rPr lang="en-US" sz="1300" dirty="0">
                <a:solidFill>
                  <a:srgbClr val="1A1A1A"/>
                </a:solidFill>
                <a:latin typeface="Calibri" pitchFamily="34" charset="0"/>
                <a:ea typeface="Calibri" pitchFamily="34" charset="-122"/>
                <a:cs typeface="Calibri" pitchFamily="34" charset="-120"/>
              </a:rPr>
              <a:t>高壓縮率（品質設定 &lt; 30）的 JPEG 影像，在尖銳邊緣附近可見 8×8 格狀的邊界線，稱為方塊瑕疵（Blocking Artifacts）。亦常見振鈴效應（Ringing）。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對電腦視覺的危害：
</a:t>
            </a:r>
            <a:r>
              <a:rPr lang="en-US" sz="1250" dirty="0">
                <a:solidFill>
                  <a:srgbClr val="1A1A1A"/>
                </a:solidFill>
                <a:latin typeface="Calibri" pitchFamily="34" charset="0"/>
                <a:ea typeface="Calibri" pitchFamily="34" charset="-122"/>
                <a:cs typeface="Calibri" pitchFamily="34" charset="-120"/>
              </a:rPr>
              <a:t>  • 邊緣偵測算法：把 JPEG 壓縮格線誤判為真實物理邊緣
  • 深度學習訓練：模型學到壓縮特徵而非語意特徵，泛化能力下降
  • 工業視覺量測：壓縮模糊導致亞像素定位誤差放大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實務規則：
</a:t>
            </a:r>
            <a:r>
              <a:rPr lang="en-US" sz="1250" dirty="0">
                <a:solidFill>
                  <a:srgbClr val="1A1A1A"/>
                </a:solidFill>
                <a:latin typeface="Calibri" pitchFamily="34" charset="0"/>
                <a:ea typeface="Calibri" pitchFamily="34" charset="-122"/>
                <a:cs typeface="Calibri" pitchFamily="34" charset="-120"/>
              </a:rPr>
              <a:t>  • 開發 / 訓練期間 → 存 PNG 或 TIFF（完整保留像素值）
  • 傳輸 / 顯示期間 → 才考慮 JPEG（品質 ≥ 85 可接受）</a:t>
            </a:r>
            <a:endParaRPr lang="en-US" sz="1400" dirty="0"/>
          </a:p>
        </p:txBody>
      </p:sp>
      <p:pic>
        <p:nvPicPr>
          <p:cNvPr id="1026" name="Picture 2" descr="JPEG compressed color image showing blocking artifacts in the right... |  Download Scientific Diagram">
            <a:extLst>
              <a:ext uri="{FF2B5EF4-FFF2-40B4-BE49-F238E27FC236}">
                <a16:creationId xmlns:a16="http://schemas.microsoft.com/office/drawing/2014/main" id="{2107F9AA-204B-1E8E-CC92-8CE79D73A09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41372" y="2520415"/>
            <a:ext cx="4140925" cy="2516187"/>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視訊格式：影片本質上是什麼？</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影片的本質定義：
</a:t>
            </a:r>
            <a:r>
              <a:rPr lang="en-US" sz="1400" b="1" dirty="0">
                <a:solidFill>
                  <a:srgbClr val="1A1A1A"/>
                </a:solidFill>
                <a:latin typeface="Calibri" pitchFamily="34" charset="0"/>
                <a:ea typeface="Calibri" pitchFamily="34" charset="-122"/>
                <a:cs typeface="Calibri" pitchFamily="34" charset="-120"/>
              </a:rPr>
              <a:t>影片  =  連續的靜態影像幀（Frames）  +  時間軸  +  音訊軌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關鍵參數：
</a:t>
            </a:r>
            <a:r>
              <a:rPr lang="en-US" sz="1300" dirty="0">
                <a:solidFill>
                  <a:srgbClr val="1A1A1A"/>
                </a:solidFill>
                <a:latin typeface="Calibri" pitchFamily="34" charset="0"/>
                <a:ea typeface="Calibri" pitchFamily="34" charset="-122"/>
                <a:cs typeface="Calibri" pitchFamily="34" charset="-120"/>
              </a:rPr>
              <a:t>  • FPS（Frames Per Second）：每秒幾幀，通常 24 / 30 / 60 fps
  • 解析度：1920×1080（FHD）、3840×2160（4K）
  • 位元率（Bitrate）：每秒資料量，決定視訊品質，單位 Mbps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未壓縮的計算：
</a:t>
            </a:r>
            <a:r>
              <a:rPr lang="en-US" sz="1300" dirty="0">
                <a:solidFill>
                  <a:srgbClr val="1A1A1A"/>
                </a:solidFill>
                <a:latin typeface="Calibri" pitchFamily="34" charset="0"/>
                <a:ea typeface="Calibri" pitchFamily="34" charset="-122"/>
                <a:cs typeface="Calibri" pitchFamily="34" charset="-120"/>
              </a:rPr>
              <a:t>  1080p @ 30fps  =  6 MB × 30  =  180 MB / 秒  ≈  10.8 GB / 分鐘
</a:t>
            </a:r>
            <a:r>
              <a:rPr lang="en-US" sz="1400" b="1" dirty="0">
                <a:solidFill>
                  <a:srgbClr val="C45C00"/>
                </a:solidFill>
                <a:latin typeface="Calibri" pitchFamily="34" charset="0"/>
                <a:ea typeface="Calibri" pitchFamily="34" charset="-122"/>
                <a:cs typeface="Calibri" pitchFamily="34" charset="-120"/>
              </a:rPr>
              <a:t>  H.264 壓縮後  ≈  1 ～ 8 MB / 秒（縮小 20 ～ 180 倍！）</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H.264 / MP4：視訊壓縮的雙層策略</a:t>
            </a:r>
            <a:endParaRPr lang="en-US" sz="2000" dirty="0"/>
          </a:p>
        </p:txBody>
      </p:sp>
      <p:sp>
        <p:nvSpPr>
          <p:cNvPr id="7" name="Shape 5"/>
          <p:cNvSpPr/>
          <p:nvPr/>
        </p:nvSpPr>
        <p:spPr>
          <a:xfrm>
            <a:off x="32004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8" name="Shape 6"/>
          <p:cNvSpPr/>
          <p:nvPr/>
        </p:nvSpPr>
        <p:spPr>
          <a:xfrm>
            <a:off x="320040" y="1115568"/>
            <a:ext cx="4206240" cy="329184"/>
          </a:xfrm>
          <a:prstGeom prst="rect">
            <a:avLst/>
          </a:prstGeom>
          <a:solidFill>
            <a:srgbClr val="1E3A5F"/>
          </a:solidFill>
          <a:ln w="12700">
            <a:solidFill>
              <a:srgbClr val="1E3A5F"/>
            </a:solidFill>
            <a:prstDash val="solid"/>
          </a:ln>
        </p:spPr>
        <p:txBody>
          <a:bodyPr/>
          <a:lstStyle/>
          <a:p>
            <a:endParaRPr lang="zh-TW" altLang="en-US"/>
          </a:p>
        </p:txBody>
      </p:sp>
      <p:sp>
        <p:nvSpPr>
          <p:cNvPr id="9" name="Text 7"/>
          <p:cNvSpPr/>
          <p:nvPr/>
        </p:nvSpPr>
        <p:spPr>
          <a:xfrm>
            <a:off x="39319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空間壓縮（Intra-frame）</a:t>
            </a:r>
            <a:endParaRPr lang="en-US" sz="1150" dirty="0"/>
          </a:p>
        </p:txBody>
      </p:sp>
      <p:sp>
        <p:nvSpPr>
          <p:cNvPr id="10" name="Text 8"/>
          <p:cNvSpPr/>
          <p:nvPr/>
        </p:nvSpPr>
        <p:spPr>
          <a:xfrm>
            <a:off x="42976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對每一幀內部做類似 JPEG 的壓縮</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稱為 I-frame（關鍵幀 / Intra-coded frame）</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每隔幾秒插入一個完整的 I-frame，作為解碼的參考起始點</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嵌入式意義：</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隨機定位（seek）只能跳到 I-frame，不能跳到任意位置</a:t>
            </a:r>
            <a:endParaRPr lang="en-US" sz="1150" dirty="0"/>
          </a:p>
        </p:txBody>
      </p:sp>
      <p:sp>
        <p:nvSpPr>
          <p:cNvPr id="11" name="Shape 9"/>
          <p:cNvSpPr/>
          <p:nvPr/>
        </p:nvSpPr>
        <p:spPr>
          <a:xfrm>
            <a:off x="470916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2" name="Shape 10"/>
          <p:cNvSpPr/>
          <p:nvPr/>
        </p:nvSpPr>
        <p:spPr>
          <a:xfrm>
            <a:off x="4709160" y="1115568"/>
            <a:ext cx="4206240" cy="329184"/>
          </a:xfrm>
          <a:prstGeom prst="rect">
            <a:avLst/>
          </a:prstGeom>
          <a:solidFill>
            <a:srgbClr val="1A6049"/>
          </a:solidFill>
          <a:ln w="12700">
            <a:solidFill>
              <a:srgbClr val="1A6049"/>
            </a:solidFill>
            <a:prstDash val="solid"/>
          </a:ln>
        </p:spPr>
        <p:txBody>
          <a:bodyPr/>
          <a:lstStyle/>
          <a:p>
            <a:endParaRPr lang="zh-TW" altLang="en-US"/>
          </a:p>
        </p:txBody>
      </p:sp>
      <p:sp>
        <p:nvSpPr>
          <p:cNvPr id="13" name="Text 11"/>
          <p:cNvSpPr/>
          <p:nvPr/>
        </p:nvSpPr>
        <p:spPr>
          <a:xfrm>
            <a:off x="478231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時間壓縮（Inter-frame）</a:t>
            </a:r>
            <a:endParaRPr lang="en-US" sz="1150" dirty="0"/>
          </a:p>
        </p:txBody>
      </p:sp>
      <p:sp>
        <p:nvSpPr>
          <p:cNvPr id="14" name="Text 12"/>
          <p:cNvSpPr/>
          <p:nvPr/>
        </p:nvSpPr>
        <p:spPr>
          <a:xfrm>
            <a:off x="481888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利用相鄰幀的相似性，只記錄「變化的部分」</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 P-frame（預測幀）：只存與前一幀的差異向量</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 B-frame（雙向幀）：參考前後幀插值計算</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效果：靜態場景（如監控）壓縮率極高</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嵌入式意義：</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cv2.VideoCapture() 自動解碼 I/P/B frame，每次 .read() 回傳一幀的 NumPy 矩陣</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§1  影像格式</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Docs — Image I/O 與 VideoCapture</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OpenCV 實作意義：格式解碼都在背後幫你做好了</a:t>
            </a:r>
            <a:endParaRPr lang="en-US" sz="2000" dirty="0"/>
          </a:p>
        </p:txBody>
      </p:sp>
      <p:sp>
        <p:nvSpPr>
          <p:cNvPr id="7" name="Text 5"/>
          <p:cNvSpPr/>
          <p:nvPr/>
        </p:nvSpPr>
        <p:spPr>
          <a:xfrm>
            <a:off x="320040" y="1115568"/>
            <a:ext cx="8503920" cy="365760"/>
          </a:xfrm>
          <a:prstGeom prst="rect">
            <a:avLst/>
          </a:prstGeom>
          <a:noFill/>
          <a:ln/>
        </p:spPr>
        <p:txBody>
          <a:bodyPr wrap="square" rtlCol="0" anchor="ctr"/>
          <a:lstStyle/>
          <a:p>
            <a:pPr marL="0" indent="0">
              <a:buNone/>
            </a:pPr>
            <a:r>
              <a:rPr lang="en-US" sz="1500" b="1" dirty="0">
                <a:solidFill>
                  <a:srgbClr val="C45C00"/>
                </a:solidFill>
                <a:latin typeface="Courier New" pitchFamily="34" charset="0"/>
                <a:ea typeface="Courier New" pitchFamily="34" charset="-122"/>
                <a:cs typeface="Courier New" pitchFamily="34" charset="-120"/>
              </a:rPr>
              <a:t>cv2.imread( 'photo.jpg' )</a:t>
            </a:r>
            <a:endParaRPr lang="en-US" sz="1500" dirty="0"/>
          </a:p>
        </p:txBody>
      </p:sp>
      <p:sp>
        <p:nvSpPr>
          <p:cNvPr id="8" name="Text 6"/>
          <p:cNvSpPr/>
          <p:nvPr/>
        </p:nvSpPr>
        <p:spPr>
          <a:xfrm>
            <a:off x="457200" y="1508760"/>
            <a:ext cx="8321040" cy="50292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讀取 JPEG 檔案 → JPEG 解壓縮（DCT逆轉換）→ 還原成 NumPy uint8 陣列  (H, W, 3)</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 注意：通道順序是 BGR，不是 RGB！</a:t>
            </a:r>
            <a:endParaRPr lang="en-US" sz="1200" dirty="0"/>
          </a:p>
        </p:txBody>
      </p:sp>
      <p:sp>
        <p:nvSpPr>
          <p:cNvPr id="9" name="Shape 7"/>
          <p:cNvSpPr/>
          <p:nvPr/>
        </p:nvSpPr>
        <p:spPr>
          <a:xfrm>
            <a:off x="320040" y="2066544"/>
            <a:ext cx="8503920" cy="0"/>
          </a:xfrm>
          <a:prstGeom prst="line">
            <a:avLst/>
          </a:prstGeom>
          <a:noFill/>
          <a:ln w="10160">
            <a:solidFill>
              <a:srgbClr val="D1C9BC"/>
            </a:solidFill>
            <a:prstDash val="solid"/>
          </a:ln>
        </p:spPr>
        <p:txBody>
          <a:bodyPr/>
          <a:lstStyle/>
          <a:p>
            <a:endParaRPr lang="zh-TW" altLang="en-US"/>
          </a:p>
        </p:txBody>
      </p:sp>
      <p:sp>
        <p:nvSpPr>
          <p:cNvPr id="10" name="Text 8"/>
          <p:cNvSpPr/>
          <p:nvPr/>
        </p:nvSpPr>
        <p:spPr>
          <a:xfrm>
            <a:off x="320040" y="2148840"/>
            <a:ext cx="8503920" cy="365760"/>
          </a:xfrm>
          <a:prstGeom prst="rect">
            <a:avLst/>
          </a:prstGeom>
          <a:noFill/>
          <a:ln/>
        </p:spPr>
        <p:txBody>
          <a:bodyPr wrap="square" rtlCol="0" anchor="ctr"/>
          <a:lstStyle/>
          <a:p>
            <a:pPr marL="0" indent="0">
              <a:buNone/>
            </a:pPr>
            <a:r>
              <a:rPr lang="en-US" sz="1500" b="1" dirty="0">
                <a:solidFill>
                  <a:srgbClr val="C45C00"/>
                </a:solidFill>
                <a:latin typeface="Courier New" pitchFamily="34" charset="0"/>
                <a:ea typeface="Courier New" pitchFamily="34" charset="-122"/>
                <a:cs typeface="Courier New" pitchFamily="34" charset="-120"/>
              </a:rPr>
              <a:t>cv2.VideoCapture( 'video.mp4' )</a:t>
            </a:r>
            <a:endParaRPr lang="en-US" sz="1500" dirty="0"/>
          </a:p>
        </p:txBody>
      </p:sp>
      <p:sp>
        <p:nvSpPr>
          <p:cNvPr id="11" name="Text 9"/>
          <p:cNvSpPr/>
          <p:nvPr/>
        </p:nvSpPr>
        <p:spPr>
          <a:xfrm>
            <a:off x="457200" y="2542032"/>
            <a:ext cx="8321040" cy="594360"/>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 讀取 MP4 容器 → H.264 解碼（利用 I/P/B 幀重建）</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 每次呼叫 .read() 返回下一幀的 NumPy 矩陣，自動管理幀緩衝</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 串流結束時 .read() 返回 (False, None)</a:t>
            </a:r>
            <a:endParaRPr lang="en-US" sz="1200" dirty="0"/>
          </a:p>
        </p:txBody>
      </p:sp>
      <p:sp>
        <p:nvSpPr>
          <p:cNvPr id="12" name="Shape 10"/>
          <p:cNvSpPr/>
          <p:nvPr/>
        </p:nvSpPr>
        <p:spPr>
          <a:xfrm>
            <a:off x="320040" y="3246120"/>
            <a:ext cx="8503920" cy="1097280"/>
          </a:xfrm>
          <a:prstGeom prst="rect">
            <a:avLst/>
          </a:prstGeom>
          <a:solidFill>
            <a:srgbClr val="FFF8F0"/>
          </a:solidFill>
          <a:ln w="12700">
            <a:solidFill>
              <a:srgbClr val="C45C00"/>
            </a:solidFill>
            <a:prstDash val="solid"/>
          </a:ln>
        </p:spPr>
        <p:txBody>
          <a:bodyPr/>
          <a:lstStyle/>
          <a:p>
            <a:endParaRPr lang="zh-TW" altLang="en-US"/>
          </a:p>
        </p:txBody>
      </p:sp>
      <p:sp>
        <p:nvSpPr>
          <p:cNvPr id="13" name="Text 11"/>
          <p:cNvSpPr/>
          <p:nvPr/>
        </p:nvSpPr>
        <p:spPr>
          <a:xfrm>
            <a:off x="457200" y="3291840"/>
            <a:ext cx="8229600" cy="320040"/>
          </a:xfrm>
          <a:prstGeom prst="rect">
            <a:avLst/>
          </a:prstGeom>
          <a:noFill/>
          <a:ln/>
        </p:spPr>
        <p:txBody>
          <a:bodyPr wrap="square" rtlCol="0" anchor="ctr"/>
          <a:lstStyle/>
          <a:p>
            <a:pPr marL="0" indent="0">
              <a:buNone/>
            </a:pPr>
            <a:r>
              <a:rPr lang="en-US" sz="1250" b="1" dirty="0">
                <a:solidFill>
                  <a:srgbClr val="C45C00"/>
                </a:solidFill>
                <a:latin typeface="Calibri" pitchFamily="34" charset="0"/>
                <a:ea typeface="Calibri" pitchFamily="34" charset="-122"/>
                <a:cs typeface="Calibri" pitchFamily="34" charset="-120"/>
              </a:rPr>
              <a:t>⚠️  初學者最常踩的坑：</a:t>
            </a:r>
            <a:endParaRPr lang="en-US" sz="1250" dirty="0"/>
          </a:p>
        </p:txBody>
      </p:sp>
      <p:sp>
        <p:nvSpPr>
          <p:cNvPr id="14" name="Text 12"/>
          <p:cNvSpPr/>
          <p:nvPr/>
        </p:nvSpPr>
        <p:spPr>
          <a:xfrm>
            <a:off x="457200" y="3611880"/>
            <a:ext cx="8229600" cy="658368"/>
          </a:xfrm>
          <a:prstGeom prst="rect">
            <a:avLst/>
          </a:prstGeom>
          <a:noFill/>
          <a:ln/>
        </p:spPr>
        <p:txBody>
          <a:bodyPr wrap="square" rtlCol="0" anchor="ctr"/>
          <a:lstStyle/>
          <a:p>
            <a:pPr marL="0" indent="0">
              <a:buNone/>
            </a:pPr>
            <a:r>
              <a:rPr lang="en-US" sz="1200" dirty="0">
                <a:solidFill>
                  <a:srgbClr val="1A1A1A"/>
                </a:solidFill>
                <a:latin typeface="Calibri" pitchFamily="34" charset="0"/>
                <a:ea typeface="Calibri" pitchFamily="34" charset="-122"/>
                <a:cs typeface="Calibri" pitchFamily="34" charset="-120"/>
              </a:rPr>
              <a:t>OpenCV 的通道順序是 BGR（藍-綠-紅），不是 RGB！</a:t>
            </a:r>
            <a:endParaRPr lang="en-US" sz="1200" dirty="0"/>
          </a:p>
          <a:p>
            <a:pPr marL="0" indent="0">
              <a:buNone/>
            </a:pPr>
            <a:r>
              <a:rPr lang="en-US" sz="1200" dirty="0">
                <a:solidFill>
                  <a:srgbClr val="1A1A1A"/>
                </a:solidFill>
                <a:latin typeface="Calibri" pitchFamily="34" charset="0"/>
                <a:ea typeface="Calibri" pitchFamily="34" charset="-122"/>
                <a:cs typeface="Calibri" pitchFamily="34" charset="-120"/>
              </a:rPr>
              <a:t>若要顯示正確色彩，需先轉換：rgb = cv2.cvtColor(img, cv2.COLOR_BGR2RGB)</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20040" y="228600"/>
            <a:ext cx="73152" cy="82296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502920" y="201168"/>
            <a:ext cx="8321040" cy="502920"/>
          </a:xfrm>
          <a:prstGeom prst="rect">
            <a:avLst/>
          </a:prstGeom>
          <a:noFill/>
          <a:ln/>
        </p:spPr>
        <p:txBody>
          <a:bodyPr wrap="square" lIns="0" tIns="0" rIns="0" bIns="0" rtlCol="0" anchor="ctr"/>
          <a:lstStyle/>
          <a:p>
            <a:pPr marL="0" indent="0">
              <a:buNone/>
            </a:pPr>
            <a:r>
              <a:rPr lang="en-US" sz="2200" b="1" dirty="0" err="1">
                <a:solidFill>
                  <a:srgbClr val="1E3A5F"/>
                </a:solidFill>
                <a:latin typeface="Calibri" pitchFamily="34" charset="0"/>
                <a:ea typeface="Calibri" pitchFamily="34" charset="-122"/>
                <a:cs typeface="Calibri" pitchFamily="34" charset="-120"/>
              </a:rPr>
              <a:t>影像串流架構</a:t>
            </a:r>
            <a:endParaRPr lang="en-US" sz="2200" dirty="0"/>
          </a:p>
        </p:txBody>
      </p:sp>
      <p:sp>
        <p:nvSpPr>
          <p:cNvPr id="4" name="Text 2"/>
          <p:cNvSpPr/>
          <p:nvPr/>
        </p:nvSpPr>
        <p:spPr>
          <a:xfrm>
            <a:off x="502920" y="713232"/>
            <a:ext cx="7772400" cy="320040"/>
          </a:xfrm>
          <a:prstGeom prst="rect">
            <a:avLst/>
          </a:prstGeom>
          <a:noFill/>
          <a:ln/>
        </p:spPr>
        <p:txBody>
          <a:bodyPr wrap="square" lIns="0" tIns="0" rIns="0" bIns="0" rtlCol="0" anchor="t"/>
          <a:lstStyle/>
          <a:p>
            <a:pPr marL="0" indent="0">
              <a:buNone/>
            </a:pPr>
            <a:r>
              <a:rPr lang="en-US" sz="1300" i="1" dirty="0" err="1">
                <a:solidFill>
                  <a:srgbClr val="6B7280"/>
                </a:solidFill>
                <a:latin typeface="Calibri" pitchFamily="34" charset="0"/>
                <a:ea typeface="Calibri" pitchFamily="34" charset="-122"/>
                <a:cs typeface="Calibri" pitchFamily="34" charset="-120"/>
              </a:rPr>
              <a:t>從硬體到應用API</a:t>
            </a:r>
            <a:r>
              <a:rPr lang="zh-TW" altLang="en-US" sz="1300" i="1" dirty="0">
                <a:solidFill>
                  <a:srgbClr val="6B7280"/>
                </a:solidFill>
                <a:latin typeface="Calibri" pitchFamily="34" charset="0"/>
                <a:ea typeface="Calibri" pitchFamily="34" charset="-122"/>
                <a:cs typeface="Calibri" pitchFamily="34" charset="-120"/>
              </a:rPr>
              <a:t>在</a:t>
            </a:r>
            <a:r>
              <a:rPr lang="en-US" sz="1300" i="1" dirty="0" err="1">
                <a:solidFill>
                  <a:srgbClr val="6B7280"/>
                </a:solidFill>
                <a:latin typeface="Calibri" pitchFamily="34" charset="0"/>
                <a:ea typeface="Calibri" pitchFamily="34" charset="-122"/>
                <a:cs typeface="Calibri" pitchFamily="34" charset="-120"/>
              </a:rPr>
              <a:t>哪一層？有什麼職責</a:t>
            </a:r>
            <a:r>
              <a:rPr lang="en-US" sz="1300" i="1" dirty="0">
                <a:solidFill>
                  <a:srgbClr val="6B7280"/>
                </a:solidFill>
                <a:latin typeface="Calibri" pitchFamily="34" charset="0"/>
                <a:ea typeface="Calibri" pitchFamily="34" charset="-122"/>
                <a:cs typeface="Calibri" pitchFamily="34" charset="-120"/>
              </a:rPr>
              <a:t>？</a:t>
            </a:r>
            <a:endParaRPr lang="en-US" sz="1300" dirty="0"/>
          </a:p>
        </p:txBody>
      </p:sp>
      <p:sp>
        <p:nvSpPr>
          <p:cNvPr id="5" name="Shape 3"/>
          <p:cNvSpPr/>
          <p:nvPr/>
        </p:nvSpPr>
        <p:spPr>
          <a:xfrm>
            <a:off x="7315200" y="1078992"/>
            <a:ext cx="201168" cy="201168"/>
          </a:xfrm>
          <a:prstGeom prst="rect">
            <a:avLst/>
          </a:prstGeom>
          <a:solidFill>
            <a:srgbClr val="2C3E50"/>
          </a:solidFill>
          <a:ln w="12700">
            <a:solidFill>
              <a:srgbClr val="2C3E50"/>
            </a:solidFill>
            <a:prstDash val="solid"/>
          </a:ln>
        </p:spPr>
        <p:txBody>
          <a:bodyPr/>
          <a:lstStyle/>
          <a:p>
            <a:endParaRPr lang="zh-TW" altLang="en-US"/>
          </a:p>
        </p:txBody>
      </p:sp>
      <p:sp>
        <p:nvSpPr>
          <p:cNvPr id="6" name="Text 4"/>
          <p:cNvSpPr/>
          <p:nvPr/>
        </p:nvSpPr>
        <p:spPr>
          <a:xfrm>
            <a:off x="7562088" y="1078992"/>
            <a:ext cx="1508760" cy="2011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硬體 / 韌體</a:t>
            </a:r>
            <a:endParaRPr lang="en-US" sz="850" dirty="0"/>
          </a:p>
        </p:txBody>
      </p:sp>
      <p:sp>
        <p:nvSpPr>
          <p:cNvPr id="7" name="Shape 5"/>
          <p:cNvSpPr/>
          <p:nvPr/>
        </p:nvSpPr>
        <p:spPr>
          <a:xfrm>
            <a:off x="7315200" y="1371600"/>
            <a:ext cx="201168" cy="201168"/>
          </a:xfrm>
          <a:prstGeom prst="rect">
            <a:avLst/>
          </a:prstGeom>
          <a:solidFill>
            <a:srgbClr val="1A5276"/>
          </a:solidFill>
          <a:ln w="12700">
            <a:solidFill>
              <a:srgbClr val="1A5276"/>
            </a:solidFill>
            <a:prstDash val="solid"/>
          </a:ln>
        </p:spPr>
        <p:txBody>
          <a:bodyPr/>
          <a:lstStyle/>
          <a:p>
            <a:endParaRPr lang="zh-TW" altLang="en-US"/>
          </a:p>
        </p:txBody>
      </p:sp>
      <p:sp>
        <p:nvSpPr>
          <p:cNvPr id="8" name="Text 6"/>
          <p:cNvSpPr/>
          <p:nvPr/>
        </p:nvSpPr>
        <p:spPr>
          <a:xfrm>
            <a:off x="7562088" y="1371600"/>
            <a:ext cx="1508760" cy="2011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OS 核心驅動</a:t>
            </a:r>
            <a:endParaRPr lang="en-US" sz="850" dirty="0"/>
          </a:p>
        </p:txBody>
      </p:sp>
      <p:sp>
        <p:nvSpPr>
          <p:cNvPr id="9" name="Shape 7"/>
          <p:cNvSpPr/>
          <p:nvPr/>
        </p:nvSpPr>
        <p:spPr>
          <a:xfrm>
            <a:off x="7315200" y="1664208"/>
            <a:ext cx="201168" cy="201168"/>
          </a:xfrm>
          <a:prstGeom prst="rect">
            <a:avLst/>
          </a:prstGeom>
          <a:solidFill>
            <a:srgbClr val="1E3A5F"/>
          </a:solidFill>
          <a:ln w="12700">
            <a:solidFill>
              <a:srgbClr val="1E3A5F"/>
            </a:solidFill>
            <a:prstDash val="solid"/>
          </a:ln>
        </p:spPr>
        <p:txBody>
          <a:bodyPr/>
          <a:lstStyle/>
          <a:p>
            <a:endParaRPr lang="zh-TW" altLang="en-US"/>
          </a:p>
        </p:txBody>
      </p:sp>
      <p:sp>
        <p:nvSpPr>
          <p:cNvPr id="10" name="Text 8"/>
          <p:cNvSpPr/>
          <p:nvPr/>
        </p:nvSpPr>
        <p:spPr>
          <a:xfrm>
            <a:off x="7562088" y="1664208"/>
            <a:ext cx="1508760" cy="2011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OS 使用者空間 API</a:t>
            </a:r>
            <a:endParaRPr lang="en-US" sz="850" dirty="0"/>
          </a:p>
        </p:txBody>
      </p:sp>
      <p:sp>
        <p:nvSpPr>
          <p:cNvPr id="11" name="Shape 9"/>
          <p:cNvSpPr/>
          <p:nvPr/>
        </p:nvSpPr>
        <p:spPr>
          <a:xfrm>
            <a:off x="7315200" y="1956816"/>
            <a:ext cx="201168" cy="201168"/>
          </a:xfrm>
          <a:prstGeom prst="rect">
            <a:avLst/>
          </a:prstGeom>
          <a:solidFill>
            <a:srgbClr val="C45C00"/>
          </a:solidFill>
          <a:ln w="12700">
            <a:solidFill>
              <a:srgbClr val="C45C00"/>
            </a:solidFill>
            <a:prstDash val="solid"/>
          </a:ln>
        </p:spPr>
        <p:txBody>
          <a:bodyPr/>
          <a:lstStyle/>
          <a:p>
            <a:endParaRPr lang="zh-TW" altLang="en-US"/>
          </a:p>
        </p:txBody>
      </p:sp>
      <p:sp>
        <p:nvSpPr>
          <p:cNvPr id="12" name="Text 10"/>
          <p:cNvSpPr/>
          <p:nvPr/>
        </p:nvSpPr>
        <p:spPr>
          <a:xfrm>
            <a:off x="7562088" y="1956816"/>
            <a:ext cx="1508760" cy="2011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跨平台框架 / Pipeline</a:t>
            </a:r>
            <a:endParaRPr lang="en-US" sz="850" dirty="0"/>
          </a:p>
        </p:txBody>
      </p:sp>
      <p:sp>
        <p:nvSpPr>
          <p:cNvPr id="13" name="Shape 11"/>
          <p:cNvSpPr/>
          <p:nvPr/>
        </p:nvSpPr>
        <p:spPr>
          <a:xfrm>
            <a:off x="7315200" y="2249424"/>
            <a:ext cx="201168" cy="201168"/>
          </a:xfrm>
          <a:prstGeom prst="rect">
            <a:avLst/>
          </a:prstGeom>
          <a:solidFill>
            <a:srgbClr val="2D7D46"/>
          </a:solidFill>
          <a:ln w="12700">
            <a:solidFill>
              <a:srgbClr val="2D7D46"/>
            </a:solidFill>
            <a:prstDash val="solid"/>
          </a:ln>
        </p:spPr>
        <p:txBody>
          <a:bodyPr/>
          <a:lstStyle/>
          <a:p>
            <a:endParaRPr lang="zh-TW" altLang="en-US"/>
          </a:p>
        </p:txBody>
      </p:sp>
      <p:sp>
        <p:nvSpPr>
          <p:cNvPr id="14" name="Text 12"/>
          <p:cNvSpPr/>
          <p:nvPr/>
        </p:nvSpPr>
        <p:spPr>
          <a:xfrm>
            <a:off x="7562088" y="2249424"/>
            <a:ext cx="1508760" cy="201168"/>
          </a:xfrm>
          <a:prstGeom prst="rect">
            <a:avLst/>
          </a:prstGeom>
          <a:noFill/>
          <a:ln/>
        </p:spPr>
        <p:txBody>
          <a:bodyPr wrap="square" lIns="0" tIns="0" rIns="0" bIns="0" rtlCol="0" anchor="ctr"/>
          <a:lstStyle/>
          <a:p>
            <a:pPr marL="0" indent="0">
              <a:buNone/>
            </a:pPr>
            <a:r>
              <a:rPr lang="en-US" sz="850" dirty="0">
                <a:solidFill>
                  <a:srgbClr val="6B7280"/>
                </a:solidFill>
                <a:latin typeface="Calibri" pitchFamily="34" charset="0"/>
                <a:ea typeface="Calibri" pitchFamily="34" charset="-122"/>
                <a:cs typeface="Calibri" pitchFamily="34" charset="-120"/>
              </a:rPr>
              <a:t>應用程式</a:t>
            </a:r>
            <a:endParaRPr lang="en-US" sz="850" dirty="0"/>
          </a:p>
        </p:txBody>
      </p:sp>
      <p:sp>
        <p:nvSpPr>
          <p:cNvPr id="15" name="Shape 13"/>
          <p:cNvSpPr/>
          <p:nvPr/>
        </p:nvSpPr>
        <p:spPr>
          <a:xfrm>
            <a:off x="320040" y="1051560"/>
            <a:ext cx="3474720" cy="320040"/>
          </a:xfrm>
          <a:prstGeom prst="rect">
            <a:avLst/>
          </a:prstGeom>
          <a:solidFill>
            <a:srgbClr val="333333"/>
          </a:solidFill>
          <a:ln w="12700">
            <a:solidFill>
              <a:srgbClr val="333333"/>
            </a:solidFill>
            <a:prstDash val="solid"/>
          </a:ln>
        </p:spPr>
        <p:txBody>
          <a:bodyPr/>
          <a:lstStyle/>
          <a:p>
            <a:endParaRPr lang="zh-TW" altLang="en-US"/>
          </a:p>
        </p:txBody>
      </p:sp>
      <p:sp>
        <p:nvSpPr>
          <p:cNvPr id="16" name="Text 14"/>
          <p:cNvSpPr/>
          <p:nvPr/>
        </p:nvSpPr>
        <p:spPr>
          <a:xfrm>
            <a:off x="457200" y="1051560"/>
            <a:ext cx="333756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Linux / 嵌入式（Raspberry Pi、Jetson…）</a:t>
            </a:r>
            <a:endParaRPr lang="en-US" sz="1100" dirty="0"/>
          </a:p>
        </p:txBody>
      </p:sp>
      <p:sp>
        <p:nvSpPr>
          <p:cNvPr id="17" name="Shape 15"/>
          <p:cNvSpPr/>
          <p:nvPr/>
        </p:nvSpPr>
        <p:spPr>
          <a:xfrm>
            <a:off x="320040" y="1417320"/>
            <a:ext cx="3474720" cy="502920"/>
          </a:xfrm>
          <a:prstGeom prst="rect">
            <a:avLst/>
          </a:prstGeom>
          <a:solidFill>
            <a:srgbClr val="2C3E50"/>
          </a:solidFill>
          <a:ln w="12700">
            <a:solidFill>
              <a:srgbClr val="2C3E50"/>
            </a:solidFill>
            <a:prstDash val="solid"/>
          </a:ln>
        </p:spPr>
        <p:txBody>
          <a:bodyPr/>
          <a:lstStyle/>
          <a:p>
            <a:endParaRPr lang="zh-TW" altLang="en-US" dirty="0"/>
          </a:p>
        </p:txBody>
      </p:sp>
      <p:sp>
        <p:nvSpPr>
          <p:cNvPr id="18" name="Text 16"/>
          <p:cNvSpPr/>
          <p:nvPr/>
        </p:nvSpPr>
        <p:spPr>
          <a:xfrm>
            <a:off x="457200" y="1453896"/>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USB Camera（UVC 相容）</a:t>
            </a:r>
            <a:endParaRPr lang="en-US" sz="1200" dirty="0"/>
          </a:p>
        </p:txBody>
      </p:sp>
      <p:sp>
        <p:nvSpPr>
          <p:cNvPr id="19" name="Text 17"/>
          <p:cNvSpPr/>
          <p:nvPr/>
        </p:nvSpPr>
        <p:spPr>
          <a:xfrm>
            <a:off x="457200" y="1673352"/>
            <a:ext cx="3593592"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USB Video Class </a:t>
            </a:r>
            <a:r>
              <a:rPr lang="en-US" sz="900" dirty="0" err="1">
                <a:solidFill>
                  <a:srgbClr val="D8E8F0"/>
                </a:solidFill>
                <a:latin typeface="Calibri" pitchFamily="34" charset="0"/>
                <a:ea typeface="Calibri" pitchFamily="34" charset="-122"/>
                <a:cs typeface="Calibri" pitchFamily="34" charset="-120"/>
              </a:rPr>
              <a:t>標準韌體，即插即用不需要廠商特定驅動</a:t>
            </a:r>
            <a:endParaRPr lang="en-US" sz="900" dirty="0"/>
          </a:p>
        </p:txBody>
      </p:sp>
      <p:sp>
        <p:nvSpPr>
          <p:cNvPr id="20" name="Shape 18"/>
          <p:cNvSpPr/>
          <p:nvPr/>
        </p:nvSpPr>
        <p:spPr>
          <a:xfrm>
            <a:off x="320040" y="1965960"/>
            <a:ext cx="3474720" cy="502920"/>
          </a:xfrm>
          <a:prstGeom prst="rect">
            <a:avLst/>
          </a:prstGeom>
          <a:solidFill>
            <a:srgbClr val="1A5276"/>
          </a:solidFill>
          <a:ln w="12700">
            <a:solidFill>
              <a:srgbClr val="1A5276"/>
            </a:solidFill>
            <a:prstDash val="solid"/>
          </a:ln>
        </p:spPr>
        <p:txBody>
          <a:bodyPr/>
          <a:lstStyle/>
          <a:p>
            <a:endParaRPr lang="zh-TW" altLang="en-US"/>
          </a:p>
        </p:txBody>
      </p:sp>
      <p:sp>
        <p:nvSpPr>
          <p:cNvPr id="21" name="Text 19"/>
          <p:cNvSpPr/>
          <p:nvPr/>
        </p:nvSpPr>
        <p:spPr>
          <a:xfrm>
            <a:off x="457200" y="2002536"/>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V4L2 驅動層</a:t>
            </a:r>
            <a:endParaRPr lang="en-US" sz="1200" dirty="0"/>
          </a:p>
        </p:txBody>
      </p:sp>
      <p:sp>
        <p:nvSpPr>
          <p:cNvPr id="22" name="Text 20"/>
          <p:cNvSpPr/>
          <p:nvPr/>
        </p:nvSpPr>
        <p:spPr>
          <a:xfrm>
            <a:off x="457200" y="2221992"/>
            <a:ext cx="324612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Video for Linux 2（Linux </a:t>
            </a:r>
            <a:r>
              <a:rPr lang="en-US" sz="900" dirty="0" err="1">
                <a:solidFill>
                  <a:srgbClr val="D8E8F0"/>
                </a:solidFill>
                <a:latin typeface="Calibri" pitchFamily="34" charset="0"/>
                <a:ea typeface="Calibri" pitchFamily="34" charset="-122"/>
                <a:cs typeface="Calibri" pitchFamily="34" charset="-120"/>
              </a:rPr>
              <a:t>核心內建）統一各種相機的核心介面</a:t>
            </a:r>
            <a:endParaRPr lang="en-US" sz="900" dirty="0"/>
          </a:p>
        </p:txBody>
      </p:sp>
      <p:sp>
        <p:nvSpPr>
          <p:cNvPr id="23" name="Shape 21"/>
          <p:cNvSpPr/>
          <p:nvPr/>
        </p:nvSpPr>
        <p:spPr>
          <a:xfrm>
            <a:off x="320040" y="2514600"/>
            <a:ext cx="3474720" cy="502920"/>
          </a:xfrm>
          <a:prstGeom prst="rect">
            <a:avLst/>
          </a:prstGeom>
          <a:solidFill>
            <a:srgbClr val="1E3A5F"/>
          </a:solidFill>
          <a:ln w="12700">
            <a:solidFill>
              <a:srgbClr val="1E3A5F"/>
            </a:solidFill>
            <a:prstDash val="solid"/>
          </a:ln>
        </p:spPr>
        <p:txBody>
          <a:bodyPr/>
          <a:lstStyle/>
          <a:p>
            <a:endParaRPr lang="zh-TW" altLang="en-US"/>
          </a:p>
        </p:txBody>
      </p:sp>
      <p:sp>
        <p:nvSpPr>
          <p:cNvPr id="24" name="Text 22"/>
          <p:cNvSpPr/>
          <p:nvPr/>
        </p:nvSpPr>
        <p:spPr>
          <a:xfrm>
            <a:off x="457200" y="2541597"/>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/dev/video0  ·  V4L2 API</a:t>
            </a:r>
            <a:endParaRPr lang="en-US" sz="1200" dirty="0"/>
          </a:p>
        </p:txBody>
      </p:sp>
      <p:sp>
        <p:nvSpPr>
          <p:cNvPr id="25" name="Text 23"/>
          <p:cNvSpPr/>
          <p:nvPr/>
        </p:nvSpPr>
        <p:spPr>
          <a:xfrm>
            <a:off x="457200" y="2756916"/>
            <a:ext cx="324612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使用者空間透過 ioctl() 控制相機</a:t>
            </a:r>
            <a:endParaRPr lang="en-US" sz="900" dirty="0"/>
          </a:p>
          <a:p>
            <a:pPr marL="0" indent="0">
              <a:buNone/>
            </a:pPr>
            <a:r>
              <a:rPr lang="en-US" sz="900" dirty="0">
                <a:solidFill>
                  <a:srgbClr val="D8E8F0"/>
                </a:solidFill>
                <a:latin typeface="Calibri" pitchFamily="34" charset="0"/>
                <a:ea typeface="Calibri" pitchFamily="34" charset="-122"/>
                <a:cs typeface="Calibri" pitchFamily="34" charset="-120"/>
              </a:rPr>
              <a:t>open/read/mmap 取得影像幀</a:t>
            </a:r>
            <a:endParaRPr lang="en-US" sz="900" dirty="0"/>
          </a:p>
        </p:txBody>
      </p:sp>
      <p:sp>
        <p:nvSpPr>
          <p:cNvPr id="26" name="Shape 24"/>
          <p:cNvSpPr/>
          <p:nvPr/>
        </p:nvSpPr>
        <p:spPr>
          <a:xfrm>
            <a:off x="320040" y="3063240"/>
            <a:ext cx="3474720" cy="502920"/>
          </a:xfrm>
          <a:prstGeom prst="rect">
            <a:avLst/>
          </a:prstGeom>
          <a:solidFill>
            <a:srgbClr val="C45C00"/>
          </a:solidFill>
          <a:ln w="12700">
            <a:solidFill>
              <a:srgbClr val="C45C00"/>
            </a:solidFill>
            <a:prstDash val="solid"/>
          </a:ln>
        </p:spPr>
        <p:txBody>
          <a:bodyPr/>
          <a:lstStyle/>
          <a:p>
            <a:endParaRPr lang="zh-TW" altLang="en-US"/>
          </a:p>
        </p:txBody>
      </p:sp>
      <p:sp>
        <p:nvSpPr>
          <p:cNvPr id="27" name="Text 25"/>
          <p:cNvSpPr/>
          <p:nvPr/>
        </p:nvSpPr>
        <p:spPr>
          <a:xfrm>
            <a:off x="457200" y="3099816"/>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GStreamer  /  FFmpeg  /  OpenCV</a:t>
            </a:r>
            <a:endParaRPr lang="en-US" sz="1200" dirty="0"/>
          </a:p>
        </p:txBody>
      </p:sp>
      <p:sp>
        <p:nvSpPr>
          <p:cNvPr id="28" name="Text 26"/>
          <p:cNvSpPr/>
          <p:nvPr/>
        </p:nvSpPr>
        <p:spPr>
          <a:xfrm>
            <a:off x="457200" y="3319272"/>
            <a:ext cx="324612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建立在 V4L2 API 之上的框架</a:t>
            </a:r>
            <a:endParaRPr lang="en-US" sz="900" dirty="0"/>
          </a:p>
          <a:p>
            <a:pPr marL="0" indent="0">
              <a:buNone/>
            </a:pPr>
            <a:r>
              <a:rPr lang="en-US" sz="900" dirty="0">
                <a:solidFill>
                  <a:srgbClr val="D8E8F0"/>
                </a:solidFill>
                <a:latin typeface="Calibri" pitchFamily="34" charset="0"/>
                <a:ea typeface="Calibri" pitchFamily="34" charset="-122"/>
                <a:cs typeface="Calibri" pitchFamily="34" charset="-120"/>
              </a:rPr>
              <a:t>負責 Pipeline 管理、編解碼、串流</a:t>
            </a:r>
            <a:endParaRPr lang="en-US" sz="900" dirty="0"/>
          </a:p>
        </p:txBody>
      </p:sp>
      <p:sp>
        <p:nvSpPr>
          <p:cNvPr id="29" name="Shape 27"/>
          <p:cNvSpPr/>
          <p:nvPr/>
        </p:nvSpPr>
        <p:spPr>
          <a:xfrm>
            <a:off x="320040" y="3611880"/>
            <a:ext cx="3474720" cy="502920"/>
          </a:xfrm>
          <a:prstGeom prst="rect">
            <a:avLst/>
          </a:prstGeom>
          <a:solidFill>
            <a:srgbClr val="2D7D46"/>
          </a:solidFill>
          <a:ln w="12700">
            <a:solidFill>
              <a:srgbClr val="2D7D46"/>
            </a:solidFill>
            <a:prstDash val="solid"/>
          </a:ln>
        </p:spPr>
        <p:txBody>
          <a:bodyPr/>
          <a:lstStyle/>
          <a:p>
            <a:endParaRPr lang="zh-TW" altLang="en-US"/>
          </a:p>
        </p:txBody>
      </p:sp>
      <p:sp>
        <p:nvSpPr>
          <p:cNvPr id="30" name="Text 28"/>
          <p:cNvSpPr/>
          <p:nvPr/>
        </p:nvSpPr>
        <p:spPr>
          <a:xfrm>
            <a:off x="457200" y="3626686"/>
            <a:ext cx="329184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你的應用程式（Python / C++）</a:t>
            </a:r>
            <a:endParaRPr lang="en-US" sz="1200" dirty="0"/>
          </a:p>
        </p:txBody>
      </p:sp>
      <p:sp>
        <p:nvSpPr>
          <p:cNvPr id="31" name="Text 29"/>
          <p:cNvSpPr/>
          <p:nvPr/>
        </p:nvSpPr>
        <p:spPr>
          <a:xfrm>
            <a:off x="457200" y="3846142"/>
            <a:ext cx="324612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呼叫 cv2.VideoCapture('/dev/video0')</a:t>
            </a:r>
            <a:endParaRPr lang="en-US" sz="900" dirty="0"/>
          </a:p>
          <a:p>
            <a:pPr marL="0" indent="0">
              <a:buNone/>
            </a:pPr>
            <a:r>
              <a:rPr lang="en-US" sz="900" dirty="0">
                <a:solidFill>
                  <a:srgbClr val="D8E8F0"/>
                </a:solidFill>
                <a:latin typeface="Calibri" pitchFamily="34" charset="0"/>
                <a:ea typeface="Calibri" pitchFamily="34" charset="-122"/>
                <a:cs typeface="Calibri" pitchFamily="34" charset="-120"/>
              </a:rPr>
              <a:t>或 GStreamer pipeline 字串</a:t>
            </a:r>
            <a:endParaRPr lang="en-US" sz="900" dirty="0"/>
          </a:p>
        </p:txBody>
      </p:sp>
      <p:sp>
        <p:nvSpPr>
          <p:cNvPr id="32" name="Shape 30"/>
          <p:cNvSpPr/>
          <p:nvPr/>
        </p:nvSpPr>
        <p:spPr>
          <a:xfrm>
            <a:off x="3977640" y="1051560"/>
            <a:ext cx="2834640" cy="320040"/>
          </a:xfrm>
          <a:prstGeom prst="rect">
            <a:avLst/>
          </a:prstGeom>
          <a:solidFill>
            <a:srgbClr val="333333"/>
          </a:solidFill>
          <a:ln w="12700">
            <a:solidFill>
              <a:srgbClr val="333333"/>
            </a:solidFill>
            <a:prstDash val="solid"/>
          </a:ln>
        </p:spPr>
        <p:txBody>
          <a:bodyPr/>
          <a:lstStyle/>
          <a:p>
            <a:endParaRPr lang="zh-TW" altLang="en-US"/>
          </a:p>
        </p:txBody>
      </p:sp>
      <p:sp>
        <p:nvSpPr>
          <p:cNvPr id="33" name="Text 31"/>
          <p:cNvSpPr/>
          <p:nvPr/>
        </p:nvSpPr>
        <p:spPr>
          <a:xfrm>
            <a:off x="4114800" y="1051560"/>
            <a:ext cx="2697480"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Windows</a:t>
            </a:r>
            <a:endParaRPr lang="en-US" sz="1100" dirty="0"/>
          </a:p>
        </p:txBody>
      </p:sp>
      <p:sp>
        <p:nvSpPr>
          <p:cNvPr id="34" name="Shape 32"/>
          <p:cNvSpPr/>
          <p:nvPr/>
        </p:nvSpPr>
        <p:spPr>
          <a:xfrm>
            <a:off x="3977640" y="1417320"/>
            <a:ext cx="2834640" cy="502920"/>
          </a:xfrm>
          <a:prstGeom prst="rect">
            <a:avLst/>
          </a:prstGeom>
          <a:solidFill>
            <a:srgbClr val="2C3E50"/>
          </a:solidFill>
          <a:ln w="12700">
            <a:solidFill>
              <a:srgbClr val="2C3E50"/>
            </a:solidFill>
            <a:prstDash val="solid"/>
          </a:ln>
        </p:spPr>
        <p:txBody>
          <a:bodyPr/>
          <a:lstStyle/>
          <a:p>
            <a:endParaRPr lang="zh-TW" altLang="en-US"/>
          </a:p>
        </p:txBody>
      </p:sp>
      <p:sp>
        <p:nvSpPr>
          <p:cNvPr id="35" name="Text 33"/>
          <p:cNvSpPr/>
          <p:nvPr/>
        </p:nvSpPr>
        <p:spPr>
          <a:xfrm>
            <a:off x="4114800" y="1453896"/>
            <a:ext cx="26517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USB Camera（UVC）</a:t>
            </a:r>
            <a:endParaRPr lang="en-US" sz="1200" dirty="0"/>
          </a:p>
        </p:txBody>
      </p:sp>
      <p:sp>
        <p:nvSpPr>
          <p:cNvPr id="36" name="Text 34"/>
          <p:cNvSpPr/>
          <p:nvPr/>
        </p:nvSpPr>
        <p:spPr>
          <a:xfrm>
            <a:off x="4114800" y="1673352"/>
            <a:ext cx="260604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同樣遵循 USB Video Class 標準</a:t>
            </a:r>
            <a:endParaRPr lang="en-US" sz="900" dirty="0"/>
          </a:p>
        </p:txBody>
      </p:sp>
      <p:sp>
        <p:nvSpPr>
          <p:cNvPr id="37" name="Shape 35"/>
          <p:cNvSpPr/>
          <p:nvPr/>
        </p:nvSpPr>
        <p:spPr>
          <a:xfrm>
            <a:off x="3977640" y="1965960"/>
            <a:ext cx="2834640" cy="502920"/>
          </a:xfrm>
          <a:prstGeom prst="rect">
            <a:avLst/>
          </a:prstGeom>
          <a:solidFill>
            <a:srgbClr val="1A5276"/>
          </a:solidFill>
          <a:ln w="12700">
            <a:solidFill>
              <a:srgbClr val="1A5276"/>
            </a:solidFill>
            <a:prstDash val="solid"/>
          </a:ln>
        </p:spPr>
        <p:txBody>
          <a:bodyPr/>
          <a:lstStyle/>
          <a:p>
            <a:endParaRPr lang="zh-TW" altLang="en-US"/>
          </a:p>
        </p:txBody>
      </p:sp>
      <p:sp>
        <p:nvSpPr>
          <p:cNvPr id="38" name="Text 36"/>
          <p:cNvSpPr/>
          <p:nvPr/>
        </p:nvSpPr>
        <p:spPr>
          <a:xfrm>
            <a:off x="4114800" y="2002536"/>
            <a:ext cx="26517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UVC Driver（usbvideo.sys）</a:t>
            </a:r>
            <a:endParaRPr lang="en-US" sz="1200" dirty="0"/>
          </a:p>
        </p:txBody>
      </p:sp>
      <p:sp>
        <p:nvSpPr>
          <p:cNvPr id="39" name="Text 37"/>
          <p:cNvSpPr/>
          <p:nvPr/>
        </p:nvSpPr>
        <p:spPr>
          <a:xfrm>
            <a:off x="4114800" y="2221992"/>
            <a:ext cx="260604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Windows 核心內建的 UVC 驅動</a:t>
            </a:r>
            <a:endParaRPr lang="en-US" sz="900" dirty="0"/>
          </a:p>
        </p:txBody>
      </p:sp>
      <p:sp>
        <p:nvSpPr>
          <p:cNvPr id="40" name="Shape 38"/>
          <p:cNvSpPr/>
          <p:nvPr/>
        </p:nvSpPr>
        <p:spPr>
          <a:xfrm>
            <a:off x="3977640" y="2514600"/>
            <a:ext cx="2834640" cy="502920"/>
          </a:xfrm>
          <a:prstGeom prst="rect">
            <a:avLst/>
          </a:prstGeom>
          <a:solidFill>
            <a:srgbClr val="1E3A5F"/>
          </a:solidFill>
          <a:ln w="12700">
            <a:solidFill>
              <a:srgbClr val="1E3A5F"/>
            </a:solidFill>
            <a:prstDash val="solid"/>
          </a:ln>
        </p:spPr>
        <p:txBody>
          <a:bodyPr/>
          <a:lstStyle/>
          <a:p>
            <a:endParaRPr lang="zh-TW" altLang="en-US"/>
          </a:p>
        </p:txBody>
      </p:sp>
      <p:sp>
        <p:nvSpPr>
          <p:cNvPr id="41" name="Text 39"/>
          <p:cNvSpPr/>
          <p:nvPr/>
        </p:nvSpPr>
        <p:spPr>
          <a:xfrm>
            <a:off x="4114800" y="2525052"/>
            <a:ext cx="26517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DirectShow / Media Foundation</a:t>
            </a:r>
            <a:endParaRPr lang="en-US" sz="1200" dirty="0"/>
          </a:p>
        </p:txBody>
      </p:sp>
      <p:sp>
        <p:nvSpPr>
          <p:cNvPr id="42" name="Text 40"/>
          <p:cNvSpPr/>
          <p:nvPr/>
        </p:nvSpPr>
        <p:spPr>
          <a:xfrm>
            <a:off x="4114800" y="2744508"/>
            <a:ext cx="260604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Windows 原生影像 API</a:t>
            </a:r>
            <a:endParaRPr lang="en-US" sz="900" dirty="0"/>
          </a:p>
          <a:p>
            <a:pPr marL="0" indent="0">
              <a:buNone/>
            </a:pPr>
            <a:r>
              <a:rPr lang="en-US" sz="900" dirty="0">
                <a:solidFill>
                  <a:srgbClr val="D8E8F0"/>
                </a:solidFill>
                <a:latin typeface="Calibri" pitchFamily="34" charset="0"/>
                <a:ea typeface="Calibri" pitchFamily="34" charset="-122"/>
                <a:cs typeface="Calibri" pitchFamily="34" charset="-120"/>
              </a:rPr>
              <a:t>DirectShow（舊）/ MF（新，Win7+）</a:t>
            </a:r>
            <a:endParaRPr lang="en-US" sz="900" dirty="0"/>
          </a:p>
        </p:txBody>
      </p:sp>
      <p:sp>
        <p:nvSpPr>
          <p:cNvPr id="43" name="Shape 41"/>
          <p:cNvSpPr/>
          <p:nvPr/>
        </p:nvSpPr>
        <p:spPr>
          <a:xfrm>
            <a:off x="3977640" y="3063240"/>
            <a:ext cx="2834640" cy="502920"/>
          </a:xfrm>
          <a:prstGeom prst="rect">
            <a:avLst/>
          </a:prstGeom>
          <a:solidFill>
            <a:srgbClr val="C45C00"/>
          </a:solidFill>
          <a:ln w="12700">
            <a:solidFill>
              <a:srgbClr val="C45C00"/>
            </a:solidFill>
            <a:prstDash val="solid"/>
          </a:ln>
        </p:spPr>
        <p:txBody>
          <a:bodyPr/>
          <a:lstStyle/>
          <a:p>
            <a:endParaRPr lang="zh-TW" altLang="en-US"/>
          </a:p>
        </p:txBody>
      </p:sp>
      <p:sp>
        <p:nvSpPr>
          <p:cNvPr id="44" name="Text 42"/>
          <p:cNvSpPr/>
          <p:nvPr/>
        </p:nvSpPr>
        <p:spPr>
          <a:xfrm>
            <a:off x="4114800" y="3073692"/>
            <a:ext cx="26517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FFmpeg  /  GStreamer</a:t>
            </a:r>
            <a:endParaRPr lang="en-US" sz="1200" dirty="0"/>
          </a:p>
        </p:txBody>
      </p:sp>
      <p:sp>
        <p:nvSpPr>
          <p:cNvPr id="45" name="Text 43"/>
          <p:cNvSpPr/>
          <p:nvPr/>
        </p:nvSpPr>
        <p:spPr>
          <a:xfrm>
            <a:off x="4114800" y="3293148"/>
            <a:ext cx="260604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同樣可跑在 Windows</a:t>
            </a:r>
            <a:endParaRPr lang="en-US" sz="900" dirty="0"/>
          </a:p>
          <a:p>
            <a:pPr marL="0" indent="0">
              <a:buNone/>
            </a:pPr>
            <a:r>
              <a:rPr lang="en-US" sz="900" dirty="0">
                <a:solidFill>
                  <a:srgbClr val="D8E8F0"/>
                </a:solidFill>
                <a:latin typeface="Calibri" pitchFamily="34" charset="0"/>
                <a:ea typeface="Calibri" pitchFamily="34" charset="-122"/>
                <a:cs typeface="Calibri" pitchFamily="34" charset="-120"/>
              </a:rPr>
              <a:t>底層呼叫 DirectShow / MF</a:t>
            </a:r>
            <a:endParaRPr lang="en-US" sz="900" dirty="0"/>
          </a:p>
        </p:txBody>
      </p:sp>
      <p:sp>
        <p:nvSpPr>
          <p:cNvPr id="46" name="Shape 44"/>
          <p:cNvSpPr/>
          <p:nvPr/>
        </p:nvSpPr>
        <p:spPr>
          <a:xfrm>
            <a:off x="3977640" y="3611880"/>
            <a:ext cx="2834640" cy="502920"/>
          </a:xfrm>
          <a:prstGeom prst="rect">
            <a:avLst/>
          </a:prstGeom>
          <a:solidFill>
            <a:srgbClr val="2D7D46"/>
          </a:solidFill>
          <a:ln w="12700">
            <a:solidFill>
              <a:srgbClr val="2D7D46"/>
            </a:solidFill>
            <a:prstDash val="solid"/>
          </a:ln>
        </p:spPr>
        <p:txBody>
          <a:bodyPr/>
          <a:lstStyle/>
          <a:p>
            <a:endParaRPr lang="zh-TW" altLang="en-US"/>
          </a:p>
        </p:txBody>
      </p:sp>
      <p:sp>
        <p:nvSpPr>
          <p:cNvPr id="47" name="Text 45"/>
          <p:cNvSpPr/>
          <p:nvPr/>
        </p:nvSpPr>
        <p:spPr>
          <a:xfrm>
            <a:off x="4114800" y="3626686"/>
            <a:ext cx="2651760" cy="256032"/>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應用程式</a:t>
            </a:r>
            <a:endParaRPr lang="en-US" sz="1200" dirty="0"/>
          </a:p>
        </p:txBody>
      </p:sp>
      <p:sp>
        <p:nvSpPr>
          <p:cNvPr id="48" name="Text 46"/>
          <p:cNvSpPr/>
          <p:nvPr/>
        </p:nvSpPr>
        <p:spPr>
          <a:xfrm>
            <a:off x="4114800" y="3846142"/>
            <a:ext cx="2606040" cy="228600"/>
          </a:xfrm>
          <a:prstGeom prst="rect">
            <a:avLst/>
          </a:prstGeom>
          <a:noFill/>
          <a:ln/>
        </p:spPr>
        <p:txBody>
          <a:bodyPr wrap="square" lIns="0" tIns="0" rIns="0" bIns="0" rtlCol="0" anchor="t"/>
          <a:lstStyle/>
          <a:p>
            <a:pPr marL="0" indent="0">
              <a:buNone/>
            </a:pPr>
            <a:r>
              <a:rPr lang="en-US" sz="900" dirty="0">
                <a:solidFill>
                  <a:srgbClr val="D8E8F0"/>
                </a:solidFill>
                <a:latin typeface="Calibri" pitchFamily="34" charset="0"/>
                <a:ea typeface="Calibri" pitchFamily="34" charset="-122"/>
                <a:cs typeface="Calibri" pitchFamily="34" charset="-120"/>
              </a:rPr>
              <a:t>cv2.VideoCapture(0) 在 Windows</a:t>
            </a:r>
            <a:endParaRPr lang="en-US" sz="900" dirty="0"/>
          </a:p>
          <a:p>
            <a:pPr marL="0" indent="0">
              <a:buNone/>
            </a:pPr>
            <a:r>
              <a:rPr lang="en-US" sz="900" dirty="0">
                <a:solidFill>
                  <a:srgbClr val="D8E8F0"/>
                </a:solidFill>
                <a:latin typeface="Calibri" pitchFamily="34" charset="0"/>
                <a:ea typeface="Calibri" pitchFamily="34" charset="-122"/>
                <a:cs typeface="Calibri" pitchFamily="34" charset="-120"/>
              </a:rPr>
              <a:t>自動走 DirectShow 後端</a:t>
            </a:r>
            <a:endParaRPr lang="en-US" sz="900" dirty="0"/>
          </a:p>
        </p:txBody>
      </p:sp>
      <p:sp>
        <p:nvSpPr>
          <p:cNvPr id="49" name="Shape 47"/>
          <p:cNvSpPr/>
          <p:nvPr/>
        </p:nvSpPr>
        <p:spPr>
          <a:xfrm>
            <a:off x="6995160" y="1051560"/>
            <a:ext cx="1828800" cy="320040"/>
          </a:xfrm>
          <a:prstGeom prst="rect">
            <a:avLst/>
          </a:prstGeom>
          <a:solidFill>
            <a:srgbClr val="333333"/>
          </a:solidFill>
          <a:ln w="12700">
            <a:solidFill>
              <a:srgbClr val="333333"/>
            </a:solidFill>
            <a:prstDash val="solid"/>
          </a:ln>
        </p:spPr>
        <p:txBody>
          <a:bodyPr/>
          <a:lstStyle/>
          <a:p>
            <a:endParaRPr lang="zh-TW" altLang="en-US"/>
          </a:p>
        </p:txBody>
      </p:sp>
      <p:sp>
        <p:nvSpPr>
          <p:cNvPr id="50" name="Text 48"/>
          <p:cNvSpPr/>
          <p:nvPr/>
        </p:nvSpPr>
        <p:spPr>
          <a:xfrm>
            <a:off x="7059168" y="1051560"/>
            <a:ext cx="1719072" cy="320040"/>
          </a:xfrm>
          <a:prstGeom prst="rect">
            <a:avLst/>
          </a:prstGeom>
          <a:noFill/>
          <a:ln/>
        </p:spPr>
        <p:txBody>
          <a:bodyPr wrap="square" lIns="0" tIns="0" rIns="0" bIns="0" rtlCol="0" anchor="ctr"/>
          <a:lstStyle/>
          <a:p>
            <a:pPr marL="0" indent="0">
              <a:buNone/>
            </a:pPr>
            <a:r>
              <a:rPr lang="en-US" sz="1100" b="1" dirty="0">
                <a:solidFill>
                  <a:srgbClr val="FFFFFF"/>
                </a:solidFill>
                <a:latin typeface="Calibri" pitchFamily="34" charset="0"/>
                <a:ea typeface="Calibri" pitchFamily="34" charset="-122"/>
                <a:cs typeface="Calibri" pitchFamily="34" charset="-120"/>
              </a:rPr>
              <a:t>🔌  UVC（跨平台）</a:t>
            </a:r>
            <a:endParaRPr lang="en-US" sz="1100" dirty="0"/>
          </a:p>
        </p:txBody>
      </p:sp>
      <p:sp>
        <p:nvSpPr>
          <p:cNvPr id="51" name="Shape 49"/>
          <p:cNvSpPr/>
          <p:nvPr/>
        </p:nvSpPr>
        <p:spPr>
          <a:xfrm>
            <a:off x="6995160" y="1417320"/>
            <a:ext cx="1828800" cy="2331720"/>
          </a:xfrm>
          <a:prstGeom prst="rect">
            <a:avLst/>
          </a:prstGeom>
          <a:solidFill>
            <a:srgbClr val="2C3E50"/>
          </a:solidFill>
          <a:ln w="12700">
            <a:solidFill>
              <a:srgbClr val="2C3E50"/>
            </a:solidFill>
            <a:prstDash val="solid"/>
          </a:ln>
        </p:spPr>
        <p:txBody>
          <a:bodyPr/>
          <a:lstStyle/>
          <a:p>
            <a:endParaRPr lang="zh-TW" altLang="en-US"/>
          </a:p>
        </p:txBody>
      </p:sp>
      <p:sp>
        <p:nvSpPr>
          <p:cNvPr id="52" name="Text 50"/>
          <p:cNvSpPr/>
          <p:nvPr/>
        </p:nvSpPr>
        <p:spPr>
          <a:xfrm>
            <a:off x="7059168" y="1463040"/>
            <a:ext cx="1700784" cy="2240280"/>
          </a:xfrm>
          <a:prstGeom prst="rect">
            <a:avLst/>
          </a:prstGeom>
          <a:noFill/>
          <a:ln/>
        </p:spPr>
        <p:txBody>
          <a:bodyPr wrap="square" lIns="0" tIns="0" rIns="0" bIns="0" rtlCol="0" anchor="t"/>
          <a:lstStyle/>
          <a:p>
            <a:pPr marL="0" indent="0">
              <a:spcAft>
                <a:spcPts val="200"/>
              </a:spcAft>
              <a:buNone/>
            </a:pPr>
            <a:r>
              <a:rPr lang="en-US" sz="1000" b="1" dirty="0">
                <a:solidFill>
                  <a:srgbClr val="FFFFFF"/>
                </a:solidFill>
                <a:latin typeface="Calibri" pitchFamily="34" charset="0"/>
                <a:ea typeface="Calibri" pitchFamily="34" charset="-122"/>
                <a:cs typeface="Calibri" pitchFamily="34" charset="-120"/>
              </a:rPr>
              <a:t>USB Video Class
</a:t>
            </a:r>
            <a:endParaRPr lang="en-US" sz="1000" dirty="0"/>
          </a:p>
          <a:p>
            <a:pPr marL="0" indent="0">
              <a:spcAft>
                <a:spcPts val="200"/>
              </a:spcAft>
              <a:buNone/>
            </a:pPr>
            <a:r>
              <a:rPr lang="en-US" sz="1000" dirty="0">
                <a:solidFill>
                  <a:srgbClr val="D8E8F0"/>
                </a:solidFill>
                <a:latin typeface="Calibri" pitchFamily="34" charset="0"/>
                <a:ea typeface="Calibri" pitchFamily="34" charset="-122"/>
                <a:cs typeface="Calibri" pitchFamily="34" charset="-120"/>
              </a:rPr>
              <a:t>• 硬體層標準
</a:t>
            </a:r>
            <a:endParaRPr lang="en-US" sz="1000" dirty="0"/>
          </a:p>
          <a:p>
            <a:pPr marL="0" indent="0">
              <a:spcAft>
                <a:spcPts val="200"/>
              </a:spcAft>
              <a:buNone/>
            </a:pPr>
            <a:r>
              <a:rPr lang="en-US" sz="1000" dirty="0">
                <a:solidFill>
                  <a:srgbClr val="D8E8F0"/>
                </a:solidFill>
                <a:latin typeface="Calibri" pitchFamily="34" charset="0"/>
                <a:ea typeface="Calibri" pitchFamily="34" charset="-122"/>
                <a:cs typeface="Calibri" pitchFamily="34" charset="-120"/>
              </a:rPr>
              <a:t>• 廠商中立
</a:t>
            </a:r>
            <a:endParaRPr lang="en-US" sz="1000" dirty="0"/>
          </a:p>
          <a:p>
            <a:pPr marL="0" indent="0">
              <a:spcAft>
                <a:spcPts val="200"/>
              </a:spcAft>
              <a:buNone/>
            </a:pPr>
            <a:r>
              <a:rPr lang="en-US" sz="1000" dirty="0">
                <a:solidFill>
                  <a:srgbClr val="D8E8F0"/>
                </a:solidFill>
                <a:latin typeface="Calibri" pitchFamily="34" charset="0"/>
                <a:ea typeface="Calibri" pitchFamily="34" charset="-122"/>
                <a:cs typeface="Calibri" pitchFamily="34" charset="-120"/>
              </a:rPr>
              <a:t>• Linux → V4L2
</a:t>
            </a:r>
            <a:endParaRPr lang="en-US" sz="1000" dirty="0"/>
          </a:p>
          <a:p>
            <a:pPr marL="0" indent="0">
              <a:spcAft>
                <a:spcPts val="200"/>
              </a:spcAft>
              <a:buNone/>
            </a:pPr>
            <a:r>
              <a:rPr lang="en-US" sz="1000" dirty="0">
                <a:solidFill>
                  <a:srgbClr val="D8E8F0"/>
                </a:solidFill>
                <a:latin typeface="Calibri" pitchFamily="34" charset="0"/>
                <a:ea typeface="Calibri" pitchFamily="34" charset="-122"/>
                <a:cs typeface="Calibri" pitchFamily="34" charset="-120"/>
              </a:rPr>
              <a:t>• Windows → UVC.sys
</a:t>
            </a:r>
            <a:endParaRPr lang="en-US" sz="1000" dirty="0"/>
          </a:p>
          <a:p>
            <a:pPr marL="0" indent="0">
              <a:spcAft>
                <a:spcPts val="200"/>
              </a:spcAft>
              <a:buNone/>
            </a:pPr>
            <a:r>
              <a:rPr lang="en-US" sz="1000" dirty="0">
                <a:solidFill>
                  <a:srgbClr val="D8E8F0"/>
                </a:solidFill>
                <a:latin typeface="Calibri" pitchFamily="34" charset="0"/>
                <a:ea typeface="Calibri" pitchFamily="34" charset="-122"/>
                <a:cs typeface="Calibri" pitchFamily="34" charset="-120"/>
              </a:rPr>
              <a:t>• macOS → AVFoundation</a:t>
            </a:r>
            <a:endParaRPr lang="en-US" sz="1000" dirty="0"/>
          </a:p>
        </p:txBody>
      </p:sp>
      <p:sp>
        <p:nvSpPr>
          <p:cNvPr id="53" name="Shape 51"/>
          <p:cNvSpPr/>
          <p:nvPr/>
        </p:nvSpPr>
        <p:spPr>
          <a:xfrm>
            <a:off x="6995160" y="3794760"/>
            <a:ext cx="1828800" cy="320040"/>
          </a:xfrm>
          <a:prstGeom prst="rect">
            <a:avLst/>
          </a:prstGeom>
          <a:solidFill>
            <a:srgbClr val="C45C00"/>
          </a:solidFill>
          <a:ln w="12700">
            <a:solidFill>
              <a:srgbClr val="C45C00"/>
            </a:solidFill>
            <a:prstDash val="solid"/>
          </a:ln>
        </p:spPr>
        <p:txBody>
          <a:bodyPr/>
          <a:lstStyle/>
          <a:p>
            <a:endParaRPr lang="zh-TW" altLang="en-US"/>
          </a:p>
        </p:txBody>
      </p:sp>
      <p:sp>
        <p:nvSpPr>
          <p:cNvPr id="54" name="Text 52"/>
          <p:cNvSpPr/>
          <p:nvPr/>
        </p:nvSpPr>
        <p:spPr>
          <a:xfrm>
            <a:off x="7040880" y="3794760"/>
            <a:ext cx="1737360" cy="320040"/>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跨平台共用框架</a:t>
            </a:r>
            <a:endParaRPr lang="en-US" sz="1000" dirty="0"/>
          </a:p>
        </p:txBody>
      </p:sp>
      <p:sp>
        <p:nvSpPr>
          <p:cNvPr id="55" name="Text 53"/>
          <p:cNvSpPr/>
          <p:nvPr/>
        </p:nvSpPr>
        <p:spPr>
          <a:xfrm>
            <a:off x="7040880" y="4114800"/>
            <a:ext cx="1737360" cy="365760"/>
          </a:xfrm>
          <a:prstGeom prst="rect">
            <a:avLst/>
          </a:prstGeom>
          <a:noFill/>
          <a:ln/>
        </p:spPr>
        <p:txBody>
          <a:bodyPr wrap="square" lIns="0" tIns="0" rIns="0" bIns="0" rtlCol="0" anchor="t"/>
          <a:lstStyle/>
          <a:p>
            <a:pPr marL="0" indent="0" algn="ctr">
              <a:buNone/>
            </a:pPr>
            <a:r>
              <a:rPr lang="en-US" sz="900" dirty="0">
                <a:solidFill>
                  <a:srgbClr val="6B7280"/>
                </a:solidFill>
                <a:latin typeface="Calibri" pitchFamily="34" charset="0"/>
                <a:ea typeface="Calibri" pitchFamily="34" charset="-122"/>
                <a:cs typeface="Calibri" pitchFamily="34" charset="-120"/>
              </a:rPr>
              <a:t>FFmpeg &amp; GStreamer</a:t>
            </a:r>
            <a:endParaRPr lang="en-US" sz="900" dirty="0"/>
          </a:p>
          <a:p>
            <a:pPr marL="0" indent="0" algn="ctr">
              <a:buNone/>
            </a:pPr>
            <a:r>
              <a:rPr lang="en-US" sz="900" dirty="0">
                <a:solidFill>
                  <a:srgbClr val="6B7280"/>
                </a:solidFill>
                <a:latin typeface="Calibri" pitchFamily="34" charset="0"/>
                <a:ea typeface="Calibri" pitchFamily="34" charset="-122"/>
                <a:cs typeface="Calibri" pitchFamily="34" charset="-120"/>
              </a:rPr>
              <a:t>自動偵測底層 API</a:t>
            </a:r>
            <a:endParaRPr lang="en-US" sz="900" dirty="0"/>
          </a:p>
        </p:txBody>
      </p:sp>
      <p:sp>
        <p:nvSpPr>
          <p:cNvPr id="57" name="Text 55"/>
          <p:cNvSpPr/>
          <p:nvPr/>
        </p:nvSpPr>
        <p:spPr>
          <a:xfrm>
            <a:off x="274320" y="4864608"/>
            <a:ext cx="6400800" cy="274320"/>
          </a:xfrm>
          <a:prstGeom prst="rect">
            <a:avLst/>
          </a:prstGeom>
          <a:noFill/>
          <a:ln/>
        </p:spPr>
        <p:txBody>
          <a:bodyPr wrap="square" lIns="0" tIns="0" rIns="0" bIns="0" rtlCol="0" anchor="ctr"/>
          <a:lstStyle/>
          <a:p>
            <a:pPr marL="0" indent="0">
              <a:buNone/>
            </a:pPr>
            <a:r>
              <a:rPr lang="en-US" sz="800" dirty="0">
                <a:solidFill>
                  <a:srgbClr val="FFFFFF"/>
                </a:solidFill>
              </a:rPr>
              <a:t>嵌入式電腦視覺  ·  影像串流架構</a:t>
            </a:r>
            <a:endParaRPr lang="en-US" sz="800" dirty="0"/>
          </a:p>
        </p:txBody>
      </p:sp>
      <p:sp>
        <p:nvSpPr>
          <p:cNvPr id="58" name="Text 56"/>
          <p:cNvSpPr/>
          <p:nvPr/>
        </p:nvSpPr>
        <p:spPr>
          <a:xfrm>
            <a:off x="8503920" y="4864608"/>
            <a:ext cx="548640" cy="274320"/>
          </a:xfrm>
          <a:prstGeom prst="rect">
            <a:avLst/>
          </a:prstGeom>
          <a:noFill/>
          <a:ln/>
        </p:spPr>
        <p:txBody>
          <a:bodyPr wrap="square" lIns="0" tIns="0" rIns="0" bIns="0" rtlCol="0" anchor="ctr"/>
          <a:lstStyle/>
          <a:p>
            <a:pPr marL="0" indent="0" algn="r">
              <a:buNone/>
            </a:pPr>
            <a:r>
              <a:rPr lang="en-US" sz="800" dirty="0">
                <a:solidFill>
                  <a:srgbClr val="FFFFFF"/>
                </a:solidFill>
              </a:rPr>
              <a:t>1</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20040" y="228600"/>
            <a:ext cx="73152" cy="82296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502920" y="201168"/>
            <a:ext cx="8321040" cy="502920"/>
          </a:xfrm>
          <a:prstGeom prst="rect">
            <a:avLst/>
          </a:prstGeom>
          <a:noFill/>
          <a:ln/>
        </p:spPr>
        <p:txBody>
          <a:bodyPr wrap="square" lIns="0" tIns="0" rIns="0" bIns="0" rtlCol="0" anchor="ctr"/>
          <a:lstStyle/>
          <a:p>
            <a:pPr marL="0" indent="0">
              <a:buNone/>
            </a:pPr>
            <a:r>
              <a:rPr lang="en-US" sz="2200" b="1" dirty="0">
                <a:solidFill>
                  <a:srgbClr val="1E3A5F"/>
                </a:solidFill>
                <a:latin typeface="Calibri" pitchFamily="34" charset="0"/>
                <a:ea typeface="Calibri" pitchFamily="34" charset="-122"/>
                <a:cs typeface="Calibri" pitchFamily="34" charset="-120"/>
              </a:rPr>
              <a:t>FFmpeg vs GStreamer：職責比較與嵌入式使用方式</a:t>
            </a:r>
            <a:endParaRPr lang="en-US" sz="2200" dirty="0"/>
          </a:p>
        </p:txBody>
      </p:sp>
      <p:sp>
        <p:nvSpPr>
          <p:cNvPr id="4" name="Text 2"/>
          <p:cNvSpPr/>
          <p:nvPr/>
        </p:nvSpPr>
        <p:spPr>
          <a:xfrm>
            <a:off x="502920" y="713232"/>
            <a:ext cx="7772400" cy="320040"/>
          </a:xfrm>
          <a:prstGeom prst="rect">
            <a:avLst/>
          </a:prstGeom>
          <a:noFill/>
          <a:ln/>
        </p:spPr>
        <p:txBody>
          <a:bodyPr wrap="square" lIns="0" tIns="0" rIns="0" bIns="0" rtlCol="0" anchor="t"/>
          <a:lstStyle/>
          <a:p>
            <a:pPr marL="0" indent="0">
              <a:buNone/>
            </a:pPr>
            <a:r>
              <a:rPr lang="en-US" sz="1300" i="1" dirty="0">
                <a:solidFill>
                  <a:srgbClr val="6B7280"/>
                </a:solidFill>
                <a:latin typeface="Calibri" pitchFamily="34" charset="0"/>
                <a:ea typeface="Calibri" pitchFamily="34" charset="-122"/>
                <a:cs typeface="Calibri" pitchFamily="34" charset="-120"/>
              </a:rPr>
              <a:t>兩者都是跨平台框架，但設計哲學與適用場合不同</a:t>
            </a:r>
            <a:endParaRPr lang="en-US" sz="1300" dirty="0"/>
          </a:p>
        </p:txBody>
      </p:sp>
      <p:graphicFrame>
        <p:nvGraphicFramePr>
          <p:cNvPr id="5" name="Table 0"/>
          <p:cNvGraphicFramePr>
            <a:graphicFrameLocks noGrp="1"/>
          </p:cNvGraphicFramePr>
          <p:nvPr/>
        </p:nvGraphicFramePr>
        <p:xfrm>
          <a:off x="320040" y="1051560"/>
          <a:ext cx="8503920" cy="3039468"/>
        </p:xfrm>
        <a:graphic>
          <a:graphicData uri="http://schemas.openxmlformats.org/drawingml/2006/table">
            <a:tbl>
              <a:tblPr/>
              <a:tblGrid>
                <a:gridCol w="14173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468880">
                  <a:extLst>
                    <a:ext uri="{9D8B030D-6E8A-4147-A177-3AD203B41FA5}">
                      <a16:colId xmlns:a16="http://schemas.microsoft.com/office/drawing/2014/main" val="20002"/>
                    </a:ext>
                  </a:extLst>
                </a:gridCol>
                <a:gridCol w="2331720">
                  <a:extLst>
                    <a:ext uri="{9D8B030D-6E8A-4147-A177-3AD203B41FA5}">
                      <a16:colId xmlns:a16="http://schemas.microsoft.com/office/drawing/2014/main" val="20003"/>
                    </a:ext>
                  </a:extLst>
                </a:gridCol>
              </a:tblGrid>
              <a:tr h="506578">
                <a:tc>
                  <a:txBody>
                    <a:bodyPr/>
                    <a:lstStyle/>
                    <a:p>
                      <a:pPr marL="0" indent="0" algn="l">
                        <a:buNone/>
                      </a:pP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1E3A5F"/>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FFmpeg</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1A4A7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GStreamer</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7A3500"/>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V4L2 / DirectShow / UVC</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1A4A5A"/>
                    </a:solidFill>
                  </a:tcPr>
                </a:tc>
                <a:extLst>
                  <a:ext uri="{0D108BD9-81ED-4DB2-BD59-A6C34878D82A}">
                    <a16:rowId xmlns:a16="http://schemas.microsoft.com/office/drawing/2014/main" val="10000"/>
                  </a:ext>
                </a:extLst>
              </a:tr>
              <a:tr h="506578">
                <a:tc>
                  <a:txBody>
                    <a:bodyPr/>
                    <a:lstStyle/>
                    <a:p>
                      <a:pPr marL="0" indent="0" algn="l">
                        <a:buNone/>
                      </a:pPr>
                      <a:r>
                        <a:rPr lang="en-US" sz="1100" b="1" dirty="0">
                          <a:solidFill>
                            <a:srgbClr val="1E3A5F"/>
                          </a:solidFill>
                          <a:latin typeface="Calibri" pitchFamily="34" charset="0"/>
                          <a:ea typeface="Calibri" pitchFamily="34" charset="-122"/>
                          <a:cs typeface="Calibri" pitchFamily="34" charset="-120"/>
                        </a:rPr>
                        <a:t>層次</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0EFE8"/>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跨平台框架（使用者空間）</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跨平台框架（使用者空間）</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OS API / 驅動層</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6578">
                <a:tc>
                  <a:txBody>
                    <a:bodyPr/>
                    <a:lstStyle/>
                    <a:p>
                      <a:pPr marL="0" indent="0" algn="l">
                        <a:buNone/>
                      </a:pPr>
                      <a:r>
                        <a:rPr lang="en-US" sz="1100" b="1" dirty="0">
                          <a:solidFill>
                            <a:srgbClr val="1E3A5F"/>
                          </a:solidFill>
                          <a:latin typeface="Calibri" pitchFamily="34" charset="0"/>
                          <a:ea typeface="Calibri" pitchFamily="34" charset="-122"/>
                          <a:cs typeface="Calibri" pitchFamily="34" charset="-120"/>
                        </a:rPr>
                        <a:t>定位</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0EFE8"/>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命令列工具 + C 函式庫</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轉檔、串流、編解碼</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Pipeline 引擎</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模組化、可視化資料流</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直接控制相機硬體</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6578">
                <a:tc>
                  <a:txBody>
                    <a:bodyPr/>
                    <a:lstStyle/>
                    <a:p>
                      <a:pPr marL="0" indent="0" algn="l">
                        <a:buNone/>
                      </a:pPr>
                      <a:r>
                        <a:rPr lang="en-US" sz="1100" b="1" dirty="0">
                          <a:solidFill>
                            <a:srgbClr val="1E3A5F"/>
                          </a:solidFill>
                          <a:latin typeface="Calibri" pitchFamily="34" charset="0"/>
                          <a:ea typeface="Calibri" pitchFamily="34" charset="-122"/>
                          <a:cs typeface="Calibri" pitchFamily="34" charset="-120"/>
                        </a:rPr>
                        <a:t>優勢</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0EFE8"/>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格式支援最廣</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批次轉檔、推流首選</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低延遲、硬體加速好整合</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Jetson/RPi GPU 路徑</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最低層存取</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精確控制曝光/增益</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6578">
                <a:tc>
                  <a:txBody>
                    <a:bodyPr/>
                    <a:lstStyle/>
                    <a:p>
                      <a:pPr marL="0" indent="0" algn="l">
                        <a:buNone/>
                      </a:pPr>
                      <a:r>
                        <a:rPr lang="en-US" sz="1100" b="1" dirty="0">
                          <a:solidFill>
                            <a:srgbClr val="1E3A5F"/>
                          </a:solidFill>
                          <a:latin typeface="Calibri" pitchFamily="34" charset="0"/>
                          <a:ea typeface="Calibri" pitchFamily="34" charset="-122"/>
                          <a:cs typeface="Calibri" pitchFamily="34" charset="-120"/>
                        </a:rPr>
                        <a:t>嵌入式</a:t>
                      </a:r>
                      <a:endParaRPr lang="en-US" sz="1100" dirty="0">
                        <a:latin typeface="Calibri" charset="0"/>
                        <a:ea typeface="Calibri" charset="0"/>
                        <a:cs typeface="Calibri" charset="0"/>
                      </a:endParaRPr>
                    </a:p>
                    <a:p>
                      <a:pPr marL="0" indent="0" algn="l">
                        <a:buNone/>
                      </a:pPr>
                      <a:r>
                        <a:rPr lang="en-US" sz="1100" b="1" dirty="0">
                          <a:solidFill>
                            <a:srgbClr val="1E3A5F"/>
                          </a:solidFill>
                          <a:latin typeface="Calibri" pitchFamily="34" charset="0"/>
                          <a:ea typeface="Calibri" pitchFamily="34" charset="-122"/>
                          <a:cs typeface="Calibri" pitchFamily="34" charset="-120"/>
                        </a:rPr>
                        <a:t>典型用法</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0EFE8"/>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ffmpeg -i /dev/video0</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  -c:v h264 output.mp4</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gst-launch-1.0 v4l2src</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  ! nvh264enc ! rtpsink</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cv2.VideoCapture</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  ('/dev/video0')</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6578">
                <a:tc>
                  <a:txBody>
                    <a:bodyPr/>
                    <a:lstStyle/>
                    <a:p>
                      <a:pPr marL="0" indent="0" algn="l">
                        <a:buNone/>
                      </a:pPr>
                      <a:r>
                        <a:rPr lang="en-US" sz="1100" b="1" dirty="0">
                          <a:solidFill>
                            <a:srgbClr val="1E3A5F"/>
                          </a:solidFill>
                          <a:latin typeface="Calibri" pitchFamily="34" charset="0"/>
                          <a:ea typeface="Calibri" pitchFamily="34" charset="-122"/>
                          <a:cs typeface="Calibri" pitchFamily="34" charset="-120"/>
                        </a:rPr>
                        <a:t>OpenCV</a:t>
                      </a:r>
                      <a:endParaRPr lang="en-US" sz="1100" dirty="0">
                        <a:latin typeface="Calibri" charset="0"/>
                        <a:ea typeface="Calibri" charset="0"/>
                        <a:cs typeface="Calibri" charset="0"/>
                      </a:endParaRPr>
                    </a:p>
                    <a:p>
                      <a:pPr marL="0" indent="0" algn="l">
                        <a:buNone/>
                      </a:pPr>
                      <a:r>
                        <a:rPr lang="en-US" sz="1100" b="1" dirty="0">
                          <a:solidFill>
                            <a:srgbClr val="1E3A5F"/>
                          </a:solidFill>
                          <a:latin typeface="Calibri" pitchFamily="34" charset="0"/>
                          <a:ea typeface="Calibri" pitchFamily="34" charset="-122"/>
                          <a:cs typeface="Calibri" pitchFamily="34" charset="-120"/>
                        </a:rPr>
                        <a:t>後端</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0EFE8"/>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CAP_FFMPEG（預設）</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VideoCapture('file.mp4')</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CAP_GSTREAMER</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VideoCapture('v4l2src...')</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A1A1A"/>
                          </a:solidFill>
                          <a:latin typeface="Calibri" pitchFamily="34" charset="0"/>
                          <a:ea typeface="Calibri" pitchFamily="34" charset="-122"/>
                          <a:cs typeface="Calibri" pitchFamily="34" charset="-120"/>
                        </a:rPr>
                        <a:t>CAP_V4L2</a:t>
                      </a:r>
                      <a:endParaRPr lang="en-US" sz="1100" dirty="0">
                        <a:latin typeface="Calibri" charset="0"/>
                        <a:ea typeface="Calibri" charset="0"/>
                        <a:cs typeface="Calibri" charset="0"/>
                      </a:endParaRPr>
                    </a:p>
                    <a:p>
                      <a:pPr marL="0" indent="0" algn="l">
                        <a:buNone/>
                      </a:pPr>
                      <a:r>
                        <a:rPr lang="en-US" sz="1100" dirty="0">
                          <a:solidFill>
                            <a:srgbClr val="1A1A1A"/>
                          </a:solidFill>
                          <a:latin typeface="Calibri" pitchFamily="34" charset="0"/>
                          <a:ea typeface="Calibri" pitchFamily="34" charset="-122"/>
                          <a:cs typeface="Calibri" pitchFamily="34" charset="-120"/>
                        </a:rPr>
                        <a:t>VideoCapture(0)</a:t>
                      </a:r>
                      <a:endParaRPr lang="en-US" sz="1100" dirty="0">
                        <a:latin typeface="Calibri" charset="0"/>
                        <a:ea typeface="Calibri" charset="0"/>
                        <a:cs typeface="Calibri" charset="0"/>
                      </a:endParaRPr>
                    </a:p>
                  </a:txBody>
                  <a:tcPr anchor="ctr">
                    <a:lnL w="6350" cap="flat" cmpd="sng" algn="ctr">
                      <a:solidFill>
                        <a:srgbClr val="E8E8E0"/>
                      </a:solidFill>
                      <a:prstDash val="solid"/>
                      <a:round/>
                      <a:headEnd type="none" w="med" len="med"/>
                      <a:tailEnd type="none" w="med" len="med"/>
                    </a:lnL>
                    <a:lnR w="6350" cap="flat" cmpd="sng" algn="ctr">
                      <a:solidFill>
                        <a:srgbClr val="E8E8E0"/>
                      </a:solidFill>
                      <a:prstDash val="solid"/>
                      <a:round/>
                      <a:headEnd type="none" w="med" len="med"/>
                      <a:tailEnd type="none" w="med" len="med"/>
                    </a:lnR>
                    <a:lnT w="6350" cap="flat" cmpd="sng" algn="ctr">
                      <a:solidFill>
                        <a:srgbClr val="E8E8E0"/>
                      </a:solidFill>
                      <a:prstDash val="solid"/>
                      <a:round/>
                      <a:headEnd type="none" w="med" len="med"/>
                      <a:tailEnd type="none" w="med" len="med"/>
                    </a:lnT>
                    <a:lnB w="6350" cap="flat" cmpd="sng" algn="ctr">
                      <a:solidFill>
                        <a:srgbClr val="E8E8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Shape 3"/>
          <p:cNvSpPr/>
          <p:nvPr/>
        </p:nvSpPr>
        <p:spPr>
          <a:xfrm>
            <a:off x="320040" y="4343400"/>
            <a:ext cx="8503920" cy="502920"/>
          </a:xfrm>
          <a:prstGeom prst="rect">
            <a:avLst/>
          </a:prstGeom>
          <a:solidFill>
            <a:srgbClr val="1E1E1E"/>
          </a:solidFill>
          <a:ln w="12700">
            <a:solidFill>
              <a:srgbClr val="333333"/>
            </a:solidFill>
            <a:prstDash val="solid"/>
          </a:ln>
        </p:spPr>
        <p:txBody>
          <a:bodyPr/>
          <a:lstStyle/>
          <a:p>
            <a:endParaRPr lang="zh-TW" altLang="en-US"/>
          </a:p>
        </p:txBody>
      </p:sp>
      <p:sp>
        <p:nvSpPr>
          <p:cNvPr id="7" name="Text 4"/>
          <p:cNvSpPr/>
          <p:nvPr/>
        </p:nvSpPr>
        <p:spPr>
          <a:xfrm>
            <a:off x="457200" y="4401924"/>
            <a:ext cx="8321040" cy="402336"/>
          </a:xfrm>
          <a:prstGeom prst="rect">
            <a:avLst/>
          </a:prstGeom>
          <a:noFill/>
          <a:ln/>
        </p:spPr>
        <p:txBody>
          <a:bodyPr wrap="square" lIns="0" tIns="0" rIns="0" bIns="0" rtlCol="0" anchor="ctr"/>
          <a:lstStyle/>
          <a:p>
            <a:pPr marL="0" indent="0">
              <a:buNone/>
            </a:pPr>
            <a:r>
              <a:rPr lang="en-US" sz="1000" dirty="0">
                <a:solidFill>
                  <a:srgbClr val="C9D1D9"/>
                </a:solidFill>
                <a:latin typeface="Consolas" pitchFamily="34" charset="0"/>
                <a:ea typeface="Consolas" pitchFamily="34" charset="-122"/>
                <a:cs typeface="Consolas" pitchFamily="34" charset="-120"/>
              </a:rPr>
              <a:t>cv2.VideoCapture(0)                                        # V4L2（只讀相機）</a:t>
            </a:r>
            <a:endParaRPr lang="en-US" sz="1000" dirty="0"/>
          </a:p>
          <a:p>
            <a:pPr marL="0" indent="0">
              <a:buNone/>
            </a:pPr>
            <a:r>
              <a:rPr lang="en-US" sz="1000" dirty="0">
                <a:solidFill>
                  <a:srgbClr val="C9D1D9"/>
                </a:solidFill>
                <a:latin typeface="Consolas" pitchFamily="34" charset="0"/>
                <a:ea typeface="Consolas" pitchFamily="34" charset="-122"/>
                <a:cs typeface="Consolas" pitchFamily="34" charset="-120"/>
              </a:rPr>
              <a:t>cv2.VideoCapture('v4l2src ! nvh264enc ! appsink', cv2.CAP_GSTREAMER)  # GStreamer（GPU）</a:t>
            </a:r>
            <a:endParaRPr lang="en-US" sz="1000" dirty="0"/>
          </a:p>
        </p:txBody>
      </p:sp>
      <p:sp>
        <p:nvSpPr>
          <p:cNvPr id="8" name="Text 5"/>
          <p:cNvSpPr/>
          <p:nvPr/>
        </p:nvSpPr>
        <p:spPr>
          <a:xfrm>
            <a:off x="320040" y="4109316"/>
            <a:ext cx="8503920" cy="274320"/>
          </a:xfrm>
          <a:prstGeom prst="rect">
            <a:avLst/>
          </a:prstGeom>
          <a:noFill/>
          <a:ln/>
        </p:spPr>
        <p:txBody>
          <a:bodyPr wrap="square" lIns="0" tIns="0" rIns="0" bIns="0" rtlCol="0" anchor="ctr"/>
          <a:lstStyle/>
          <a:p>
            <a:pPr marL="0" indent="0">
              <a:buNone/>
            </a:pPr>
            <a:r>
              <a:rPr lang="en-US" sz="1050" b="1" dirty="0">
                <a:solidFill>
                  <a:srgbClr val="1E3A5F"/>
                </a:solidFill>
                <a:latin typeface="Calibri" pitchFamily="34" charset="0"/>
                <a:ea typeface="Calibri" pitchFamily="34" charset="-122"/>
                <a:cs typeface="Calibri" pitchFamily="34" charset="-120"/>
              </a:rPr>
              <a:t>選擇原則：只讀相機用 V4L2 ▸ GPU 加速用 GStreamer ▸ 推流 / 轉檔用 FFmpeg ▸ 精確控制用 V4L2 ioctl</a:t>
            </a:r>
            <a:endParaRPr lang="en-US" sz="1050" dirty="0"/>
          </a:p>
        </p:txBody>
      </p:sp>
      <p:sp>
        <p:nvSpPr>
          <p:cNvPr id="10" name="Text 7"/>
          <p:cNvSpPr/>
          <p:nvPr/>
        </p:nvSpPr>
        <p:spPr>
          <a:xfrm>
            <a:off x="274320" y="4864608"/>
            <a:ext cx="6400800" cy="274320"/>
          </a:xfrm>
          <a:prstGeom prst="rect">
            <a:avLst/>
          </a:prstGeom>
          <a:noFill/>
          <a:ln/>
        </p:spPr>
        <p:txBody>
          <a:bodyPr wrap="square" lIns="0" tIns="0" rIns="0" bIns="0" rtlCol="0" anchor="ctr"/>
          <a:lstStyle/>
          <a:p>
            <a:pPr marL="0" indent="0">
              <a:buNone/>
            </a:pPr>
            <a:r>
              <a:rPr lang="en-US" sz="800" dirty="0">
                <a:solidFill>
                  <a:srgbClr val="FFFFFF"/>
                </a:solidFill>
              </a:rPr>
              <a:t>嵌入式電腦視覺  ·  影像串流架構</a:t>
            </a:r>
            <a:endParaRPr lang="en-US" sz="800" dirty="0"/>
          </a:p>
        </p:txBody>
      </p:sp>
      <p:sp>
        <p:nvSpPr>
          <p:cNvPr id="11" name="Text 8"/>
          <p:cNvSpPr/>
          <p:nvPr/>
        </p:nvSpPr>
        <p:spPr>
          <a:xfrm>
            <a:off x="8503920" y="4864608"/>
            <a:ext cx="548640" cy="274320"/>
          </a:xfrm>
          <a:prstGeom prst="rect">
            <a:avLst/>
          </a:prstGeom>
          <a:noFill/>
          <a:ln/>
        </p:spPr>
        <p:txBody>
          <a:bodyPr wrap="square" lIns="0" tIns="0" rIns="0" bIns="0" rtlCol="0" anchor="ctr"/>
          <a:lstStyle/>
          <a:p>
            <a:pPr marL="0" indent="0" algn="r">
              <a:buNone/>
            </a:pPr>
            <a:r>
              <a:rPr lang="en-US" sz="800" dirty="0">
                <a:solidFill>
                  <a:srgbClr val="FFFFFF"/>
                </a:solidFill>
              </a:rPr>
              <a:t>2</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20040" y="228600"/>
            <a:ext cx="73152" cy="82296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502920" y="201168"/>
            <a:ext cx="8321040" cy="502920"/>
          </a:xfrm>
          <a:prstGeom prst="rect">
            <a:avLst/>
          </a:prstGeom>
          <a:noFill/>
          <a:ln/>
        </p:spPr>
        <p:txBody>
          <a:bodyPr wrap="square" lIns="0" tIns="0" rIns="0" bIns="0" rtlCol="0" anchor="ctr"/>
          <a:lstStyle/>
          <a:p>
            <a:pPr marL="0" indent="0">
              <a:buNone/>
            </a:pPr>
            <a:r>
              <a:rPr lang="en-US" sz="2400" b="1" dirty="0">
                <a:solidFill>
                  <a:srgbClr val="1E3A5F"/>
                </a:solidFill>
                <a:latin typeface="Calibri" pitchFamily="34" charset="0"/>
                <a:ea typeface="Calibri" pitchFamily="34" charset="-122"/>
                <a:cs typeface="Calibri" pitchFamily="34" charset="-120"/>
              </a:rPr>
              <a:t>影像 / 視訊格式：檔頭結構與分類</a:t>
            </a:r>
            <a:endParaRPr lang="en-US" sz="2400" dirty="0"/>
          </a:p>
        </p:txBody>
      </p:sp>
      <p:sp>
        <p:nvSpPr>
          <p:cNvPr id="4" name="Text 2"/>
          <p:cNvSpPr/>
          <p:nvPr/>
        </p:nvSpPr>
        <p:spPr>
          <a:xfrm>
            <a:off x="502920" y="713232"/>
            <a:ext cx="7772400" cy="320040"/>
          </a:xfrm>
          <a:prstGeom prst="rect">
            <a:avLst/>
          </a:prstGeom>
          <a:noFill/>
          <a:ln/>
        </p:spPr>
        <p:txBody>
          <a:bodyPr wrap="square" lIns="0" tIns="0" rIns="0" bIns="0" rtlCol="0" anchor="t"/>
          <a:lstStyle/>
          <a:p>
            <a:pPr marL="0" indent="0">
              <a:buNone/>
            </a:pPr>
            <a:r>
              <a:rPr lang="en-US" sz="1200" i="1" dirty="0">
                <a:solidFill>
                  <a:srgbClr val="6B7280"/>
                </a:solidFill>
                <a:latin typeface="Calibri" pitchFamily="34" charset="0"/>
                <a:ea typeface="Calibri" pitchFamily="34" charset="-122"/>
                <a:cs typeface="Calibri" pitchFamily="34" charset="-120"/>
              </a:rPr>
              <a:t>RAW · BMP · JPEG · PNG · TIFF · MPEG-4 · H.264 — 從位元組看每種格式的設計哲學</a:t>
            </a:r>
            <a:endParaRPr lang="en-US" sz="1200" dirty="0"/>
          </a:p>
        </p:txBody>
      </p:sp>
      <p:sp>
        <p:nvSpPr>
          <p:cNvPr id="5" name="Shape 3"/>
          <p:cNvSpPr/>
          <p:nvPr/>
        </p:nvSpPr>
        <p:spPr>
          <a:xfrm>
            <a:off x="320040" y="1005840"/>
            <a:ext cx="164592" cy="164592"/>
          </a:xfrm>
          <a:prstGeom prst="rect">
            <a:avLst/>
          </a:prstGeom>
          <a:solidFill>
            <a:srgbClr val="5D3A1A"/>
          </a:solidFill>
          <a:ln w="12700">
            <a:solidFill>
              <a:srgbClr val="5D3A1A"/>
            </a:solidFill>
            <a:prstDash val="solid"/>
          </a:ln>
        </p:spPr>
        <p:txBody>
          <a:bodyPr/>
          <a:lstStyle/>
          <a:p>
            <a:endParaRPr lang="zh-TW" altLang="en-US"/>
          </a:p>
        </p:txBody>
      </p:sp>
      <p:sp>
        <p:nvSpPr>
          <p:cNvPr id="6" name="Text 4"/>
          <p:cNvSpPr/>
          <p:nvPr/>
        </p:nvSpPr>
        <p:spPr>
          <a:xfrm>
            <a:off x="521208" y="1005840"/>
            <a:ext cx="1920240" cy="164592"/>
          </a:xfrm>
          <a:prstGeom prst="rect">
            <a:avLst/>
          </a:prstGeom>
          <a:noFill/>
          <a:ln/>
        </p:spPr>
        <p:txBody>
          <a:bodyPr wrap="square" lIns="0" tIns="0" rIns="0" bIns="0" rtlCol="0" anchor="ctr"/>
          <a:lstStyle/>
          <a:p>
            <a:pPr marL="0" indent="0">
              <a:buNone/>
            </a:pPr>
            <a:r>
              <a:rPr lang="en-US" sz="900" dirty="0">
                <a:solidFill>
                  <a:srgbClr val="6B7280"/>
                </a:solidFill>
              </a:rPr>
              <a:t>原始感測器資料</a:t>
            </a:r>
            <a:endParaRPr lang="en-US" sz="900" dirty="0"/>
          </a:p>
        </p:txBody>
      </p:sp>
      <p:sp>
        <p:nvSpPr>
          <p:cNvPr id="7" name="Shape 5"/>
          <p:cNvSpPr/>
          <p:nvPr/>
        </p:nvSpPr>
        <p:spPr>
          <a:xfrm>
            <a:off x="2441448" y="1005840"/>
            <a:ext cx="164592" cy="164592"/>
          </a:xfrm>
          <a:prstGeom prst="rect">
            <a:avLst/>
          </a:prstGeom>
          <a:solidFill>
            <a:srgbClr val="1A3A5D"/>
          </a:solidFill>
          <a:ln w="12700">
            <a:solidFill>
              <a:srgbClr val="1A3A5D"/>
            </a:solidFill>
            <a:prstDash val="solid"/>
          </a:ln>
        </p:spPr>
        <p:txBody>
          <a:bodyPr/>
          <a:lstStyle/>
          <a:p>
            <a:endParaRPr lang="zh-TW" altLang="en-US"/>
          </a:p>
        </p:txBody>
      </p:sp>
      <p:sp>
        <p:nvSpPr>
          <p:cNvPr id="8" name="Text 6"/>
          <p:cNvSpPr/>
          <p:nvPr/>
        </p:nvSpPr>
        <p:spPr>
          <a:xfrm>
            <a:off x="2642616" y="1005840"/>
            <a:ext cx="1920240" cy="164592"/>
          </a:xfrm>
          <a:prstGeom prst="rect">
            <a:avLst/>
          </a:prstGeom>
          <a:noFill/>
          <a:ln/>
        </p:spPr>
        <p:txBody>
          <a:bodyPr wrap="square" lIns="0" tIns="0" rIns="0" bIns="0" rtlCol="0" anchor="ctr"/>
          <a:lstStyle/>
          <a:p>
            <a:pPr marL="0" indent="0">
              <a:buNone/>
            </a:pPr>
            <a:r>
              <a:rPr lang="en-US" sz="900" dirty="0">
                <a:solidFill>
                  <a:srgbClr val="6B7280"/>
                </a:solidFill>
              </a:rPr>
              <a:t>靜態影像格式</a:t>
            </a:r>
            <a:endParaRPr lang="en-US" sz="900" dirty="0"/>
          </a:p>
        </p:txBody>
      </p:sp>
      <p:sp>
        <p:nvSpPr>
          <p:cNvPr id="9" name="Shape 7"/>
          <p:cNvSpPr/>
          <p:nvPr/>
        </p:nvSpPr>
        <p:spPr>
          <a:xfrm>
            <a:off x="4562856" y="1005840"/>
            <a:ext cx="164592" cy="164592"/>
          </a:xfrm>
          <a:prstGeom prst="rect">
            <a:avLst/>
          </a:prstGeom>
          <a:solidFill>
            <a:srgbClr val="1A5D3A"/>
          </a:solidFill>
          <a:ln w="12700">
            <a:solidFill>
              <a:srgbClr val="1A5D3A"/>
            </a:solidFill>
            <a:prstDash val="solid"/>
          </a:ln>
        </p:spPr>
        <p:txBody>
          <a:bodyPr/>
          <a:lstStyle/>
          <a:p>
            <a:endParaRPr lang="zh-TW" altLang="en-US"/>
          </a:p>
        </p:txBody>
      </p:sp>
      <p:sp>
        <p:nvSpPr>
          <p:cNvPr id="10" name="Text 8"/>
          <p:cNvSpPr/>
          <p:nvPr/>
        </p:nvSpPr>
        <p:spPr>
          <a:xfrm>
            <a:off x="4764024" y="1005840"/>
            <a:ext cx="1920240" cy="164592"/>
          </a:xfrm>
          <a:prstGeom prst="rect">
            <a:avLst/>
          </a:prstGeom>
          <a:noFill/>
          <a:ln/>
        </p:spPr>
        <p:txBody>
          <a:bodyPr wrap="square" lIns="0" tIns="0" rIns="0" bIns="0" rtlCol="0" anchor="ctr"/>
          <a:lstStyle/>
          <a:p>
            <a:pPr marL="0" indent="0">
              <a:buNone/>
            </a:pPr>
            <a:r>
              <a:rPr lang="en-US" sz="900" dirty="0">
                <a:solidFill>
                  <a:srgbClr val="6B7280"/>
                </a:solidFill>
              </a:rPr>
              <a:t>視訊 / 編解碼</a:t>
            </a:r>
            <a:endParaRPr lang="en-US" sz="900" dirty="0"/>
          </a:p>
        </p:txBody>
      </p:sp>
      <p:sp>
        <p:nvSpPr>
          <p:cNvPr id="11" name="Shape 9"/>
          <p:cNvSpPr/>
          <p:nvPr/>
        </p:nvSpPr>
        <p:spPr>
          <a:xfrm>
            <a:off x="6684264" y="1005840"/>
            <a:ext cx="164592" cy="164592"/>
          </a:xfrm>
          <a:prstGeom prst="rect">
            <a:avLst/>
          </a:prstGeom>
          <a:solidFill>
            <a:srgbClr val="5D4A1A"/>
          </a:solidFill>
          <a:ln w="12700">
            <a:solidFill>
              <a:srgbClr val="5D4A1A"/>
            </a:solidFill>
            <a:prstDash val="solid"/>
          </a:ln>
        </p:spPr>
        <p:txBody>
          <a:bodyPr/>
          <a:lstStyle/>
          <a:p>
            <a:endParaRPr lang="zh-TW" altLang="en-US"/>
          </a:p>
        </p:txBody>
      </p:sp>
      <p:sp>
        <p:nvSpPr>
          <p:cNvPr id="12" name="Text 10"/>
          <p:cNvSpPr/>
          <p:nvPr/>
        </p:nvSpPr>
        <p:spPr>
          <a:xfrm>
            <a:off x="6885432" y="1005840"/>
            <a:ext cx="1920240" cy="164592"/>
          </a:xfrm>
          <a:prstGeom prst="rect">
            <a:avLst/>
          </a:prstGeom>
          <a:noFill/>
          <a:ln/>
        </p:spPr>
        <p:txBody>
          <a:bodyPr wrap="square" lIns="0" tIns="0" rIns="0" bIns="0" rtlCol="0" anchor="ctr"/>
          <a:lstStyle/>
          <a:p>
            <a:pPr marL="0" indent="0">
              <a:buNone/>
            </a:pPr>
            <a:r>
              <a:rPr lang="en-US" sz="900" dirty="0">
                <a:solidFill>
                  <a:srgbClr val="6B7280"/>
                </a:solidFill>
              </a:rPr>
              <a:t>容器格式</a:t>
            </a:r>
            <a:endParaRPr lang="en-US" sz="900" dirty="0"/>
          </a:p>
        </p:txBody>
      </p:sp>
      <p:sp>
        <p:nvSpPr>
          <p:cNvPr id="13" name="Shape 11"/>
          <p:cNvSpPr/>
          <p:nvPr/>
        </p:nvSpPr>
        <p:spPr>
          <a:xfrm>
            <a:off x="320040" y="1230086"/>
            <a:ext cx="4160520" cy="1207008"/>
          </a:xfrm>
          <a:prstGeom prst="rect">
            <a:avLst/>
          </a:prstGeom>
          <a:solidFill>
            <a:srgbClr val="E8E8E0"/>
          </a:solidFill>
          <a:ln/>
          <a:effectLst>
            <a:outerShdw blurRad="63500" dist="25400" dir="8100000" algn="bl" rotWithShape="0">
              <a:srgbClr val="000000">
                <a:alpha val="12000"/>
              </a:srgbClr>
            </a:outerShdw>
          </a:effectLst>
        </p:spPr>
        <p:txBody>
          <a:bodyPr/>
          <a:lstStyle/>
          <a:p>
            <a:endParaRPr lang="zh-TW" altLang="en-US"/>
          </a:p>
        </p:txBody>
      </p:sp>
      <p:sp>
        <p:nvSpPr>
          <p:cNvPr id="14" name="Shape 12"/>
          <p:cNvSpPr/>
          <p:nvPr/>
        </p:nvSpPr>
        <p:spPr>
          <a:xfrm>
            <a:off x="320040" y="1234440"/>
            <a:ext cx="4160520" cy="292608"/>
          </a:xfrm>
          <a:prstGeom prst="rect">
            <a:avLst/>
          </a:prstGeom>
          <a:solidFill>
            <a:srgbClr val="5D3A1A"/>
          </a:solidFill>
          <a:ln w="12700">
            <a:solidFill>
              <a:srgbClr val="5D3A1A"/>
            </a:solidFill>
            <a:prstDash val="solid"/>
          </a:ln>
        </p:spPr>
        <p:txBody>
          <a:bodyPr/>
          <a:lstStyle/>
          <a:p>
            <a:endParaRPr lang="zh-TW" altLang="en-US"/>
          </a:p>
        </p:txBody>
      </p:sp>
      <p:sp>
        <p:nvSpPr>
          <p:cNvPr id="15" name="Text 13"/>
          <p:cNvSpPr/>
          <p:nvPr/>
        </p:nvSpPr>
        <p:spPr>
          <a:xfrm>
            <a:off x="429768" y="1243584"/>
            <a:ext cx="2286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RAW / DNG</a:t>
            </a:r>
            <a:endParaRPr lang="en-US" sz="1300" dirty="0"/>
          </a:p>
        </p:txBody>
      </p:sp>
      <p:sp>
        <p:nvSpPr>
          <p:cNvPr id="16" name="Text 14"/>
          <p:cNvSpPr/>
          <p:nvPr/>
        </p:nvSpPr>
        <p:spPr>
          <a:xfrm>
            <a:off x="3246120" y="1271016"/>
            <a:ext cx="1170432" cy="201168"/>
          </a:xfrm>
          <a:prstGeom prst="rect">
            <a:avLst/>
          </a:prstGeom>
          <a:noFill/>
          <a:ln/>
        </p:spPr>
        <p:txBody>
          <a:bodyPr wrap="square" lIns="0" tIns="0" rIns="0" bIns="0" rtlCol="0" anchor="ctr"/>
          <a:lstStyle/>
          <a:p>
            <a:pPr marL="0" indent="0" algn="r">
              <a:buNone/>
            </a:pPr>
            <a:r>
              <a:rPr lang="en-US" sz="900" dirty="0">
                <a:solidFill>
                  <a:srgbClr val="FFD090"/>
                </a:solidFill>
                <a:latin typeface="Calibri" pitchFamily="34" charset="0"/>
                <a:ea typeface="Calibri" pitchFamily="34" charset="-122"/>
                <a:cs typeface="Calibri" pitchFamily="34" charset="-120"/>
              </a:rPr>
              <a:t>10–50 MB</a:t>
            </a:r>
            <a:endParaRPr lang="en-US" sz="900" dirty="0"/>
          </a:p>
        </p:txBody>
      </p:sp>
      <p:sp>
        <p:nvSpPr>
          <p:cNvPr id="17" name="Shape 15"/>
          <p:cNvSpPr/>
          <p:nvPr/>
        </p:nvSpPr>
        <p:spPr>
          <a:xfrm>
            <a:off x="411480" y="1563624"/>
            <a:ext cx="3977640" cy="219456"/>
          </a:xfrm>
          <a:prstGeom prst="rect">
            <a:avLst/>
          </a:prstGeom>
          <a:solidFill>
            <a:srgbClr val="1E1E1E"/>
          </a:solidFill>
          <a:ln w="12700">
            <a:solidFill>
              <a:srgbClr val="444444"/>
            </a:solidFill>
            <a:prstDash val="solid"/>
          </a:ln>
        </p:spPr>
        <p:txBody>
          <a:bodyPr/>
          <a:lstStyle/>
          <a:p>
            <a:endParaRPr lang="zh-TW" altLang="en-US"/>
          </a:p>
        </p:txBody>
      </p:sp>
      <p:sp>
        <p:nvSpPr>
          <p:cNvPr id="18" name="Text 16"/>
          <p:cNvSpPr/>
          <p:nvPr/>
        </p:nvSpPr>
        <p:spPr>
          <a:xfrm>
            <a:off x="457200" y="1563624"/>
            <a:ext cx="3931920" cy="219456"/>
          </a:xfrm>
          <a:prstGeom prst="rect">
            <a:avLst/>
          </a:prstGeom>
          <a:noFill/>
          <a:ln/>
        </p:spPr>
        <p:txBody>
          <a:bodyPr wrap="square" lIns="0" tIns="0" rIns="0" bIns="0" rtlCol="0" anchor="ctr"/>
          <a:lstStyle/>
          <a:p>
            <a:pPr marL="0" indent="0">
              <a:buNone/>
            </a:pPr>
            <a:r>
              <a:rPr lang="en-US" sz="850" dirty="0">
                <a:solidFill>
                  <a:srgbClr val="90D0FF"/>
                </a:solidFill>
                <a:latin typeface="Consolas" pitchFamily="34" charset="0"/>
                <a:ea typeface="Consolas" pitchFamily="34" charset="-122"/>
                <a:cs typeface="Consolas" pitchFamily="34" charset="-120"/>
              </a:rPr>
              <a:t>Magic: 無固定 Magic（各廠商不同）</a:t>
            </a:r>
            <a:endParaRPr lang="en-US" sz="850" dirty="0"/>
          </a:p>
          <a:p>
            <a:pPr marL="0" indent="0">
              <a:buNone/>
            </a:pPr>
            <a:r>
              <a:rPr lang="en-US" sz="850" dirty="0">
                <a:solidFill>
                  <a:srgbClr val="90D0FF"/>
                </a:solidFill>
                <a:latin typeface="Consolas" pitchFamily="34" charset="0"/>
                <a:ea typeface="Consolas" pitchFamily="34" charset="-122"/>
                <a:cs typeface="Consolas" pitchFamily="34" charset="-120"/>
              </a:rPr>
              <a:t>DNG: 49 49 2A 00 / 4D 4D 00 2A</a:t>
            </a:r>
            <a:endParaRPr lang="en-US" sz="850" dirty="0"/>
          </a:p>
        </p:txBody>
      </p:sp>
      <p:sp>
        <p:nvSpPr>
          <p:cNvPr id="19" name="Text 17"/>
          <p:cNvSpPr/>
          <p:nvPr/>
        </p:nvSpPr>
        <p:spPr>
          <a:xfrm>
            <a:off x="429768" y="1810512"/>
            <a:ext cx="3959352" cy="201168"/>
          </a:xfrm>
          <a:prstGeom prst="rect">
            <a:avLst/>
          </a:prstGeom>
          <a:noFill/>
          <a:ln/>
        </p:spPr>
        <p:txBody>
          <a:bodyPr wrap="square" lIns="0" tIns="0" rIns="0" bIns="0" rtlCol="0" anchor="ctr"/>
          <a:lstStyle/>
          <a:p>
            <a:pPr marL="0" indent="0">
              <a:buNone/>
            </a:pPr>
            <a:r>
              <a:rPr lang="en-US" sz="800" dirty="0">
                <a:solidFill>
                  <a:srgbClr val="6B7280"/>
                </a:solidFill>
                <a:latin typeface="Consolas" pitchFamily="34" charset="0"/>
                <a:ea typeface="Consolas" pitchFamily="34" charset="-122"/>
                <a:cs typeface="Consolas" pitchFamily="34" charset="-120"/>
              </a:rPr>
              <a:t>[製造商標頭] → [CFA 拜耳陣列像素] → [EXIF/XMP]</a:t>
            </a:r>
            <a:endParaRPr lang="en-US" sz="800" dirty="0"/>
          </a:p>
        </p:txBody>
      </p:sp>
      <p:sp>
        <p:nvSpPr>
          <p:cNvPr id="20" name="Text 18"/>
          <p:cNvSpPr/>
          <p:nvPr/>
        </p:nvSpPr>
        <p:spPr>
          <a:xfrm>
            <a:off x="429768" y="1959868"/>
            <a:ext cx="3959352" cy="475488"/>
          </a:xfrm>
          <a:prstGeom prst="rect">
            <a:avLst/>
          </a:prstGeom>
          <a:noFill/>
          <a:ln/>
        </p:spPr>
        <p:txBody>
          <a:bodyPr wrap="square" lIns="0" tIns="0" rIns="0" bIns="0" rtlCol="0" anchor="t"/>
          <a:lstStyle/>
          <a:p>
            <a:pPr marL="0" indent="0">
              <a:buNone/>
            </a:pPr>
            <a:r>
              <a:rPr lang="en-US" sz="950" dirty="0">
                <a:solidFill>
                  <a:srgbClr val="1A1A1A"/>
                </a:solidFill>
                <a:latin typeface="Calibri" pitchFamily="34" charset="0"/>
                <a:ea typeface="Calibri" pitchFamily="34" charset="-122"/>
                <a:cs typeface="Calibri" pitchFamily="34" charset="-120"/>
              </a:rPr>
              <a:t>• 未經處理的感測器原始數據（12/14 bit）</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保留最大動態範圍，後製彈性最大</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DNG = Adobe 開放標準 RAW 格式</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嵌入式攝影常用於 ISP 前端</a:t>
            </a:r>
            <a:endParaRPr lang="en-US" sz="950" dirty="0"/>
          </a:p>
        </p:txBody>
      </p:sp>
      <p:sp>
        <p:nvSpPr>
          <p:cNvPr id="21" name="Shape 19"/>
          <p:cNvSpPr/>
          <p:nvPr/>
        </p:nvSpPr>
        <p:spPr>
          <a:xfrm>
            <a:off x="4663440" y="1234440"/>
            <a:ext cx="4160520" cy="1207008"/>
          </a:xfrm>
          <a:prstGeom prst="rect">
            <a:avLst/>
          </a:prstGeom>
          <a:solidFill>
            <a:srgbClr val="E8E8E0"/>
          </a:solidFill>
          <a:ln/>
          <a:effectLst>
            <a:outerShdw blurRad="63500" dist="25400" dir="8100000" algn="bl" rotWithShape="0">
              <a:srgbClr val="000000">
                <a:alpha val="12000"/>
              </a:srgbClr>
            </a:outerShdw>
          </a:effectLst>
        </p:spPr>
        <p:txBody>
          <a:bodyPr/>
          <a:lstStyle/>
          <a:p>
            <a:endParaRPr lang="zh-TW" altLang="en-US"/>
          </a:p>
        </p:txBody>
      </p:sp>
      <p:sp>
        <p:nvSpPr>
          <p:cNvPr id="22" name="Shape 20"/>
          <p:cNvSpPr/>
          <p:nvPr/>
        </p:nvSpPr>
        <p:spPr>
          <a:xfrm>
            <a:off x="4663440" y="1234440"/>
            <a:ext cx="4160520" cy="292608"/>
          </a:xfrm>
          <a:prstGeom prst="rect">
            <a:avLst/>
          </a:prstGeom>
          <a:solidFill>
            <a:srgbClr val="1A3A5D"/>
          </a:solidFill>
          <a:ln w="12700">
            <a:solidFill>
              <a:srgbClr val="1A3A5D"/>
            </a:solidFill>
            <a:prstDash val="solid"/>
          </a:ln>
        </p:spPr>
        <p:txBody>
          <a:bodyPr/>
          <a:lstStyle/>
          <a:p>
            <a:endParaRPr lang="zh-TW" altLang="en-US"/>
          </a:p>
        </p:txBody>
      </p:sp>
      <p:sp>
        <p:nvSpPr>
          <p:cNvPr id="23" name="Text 21"/>
          <p:cNvSpPr/>
          <p:nvPr/>
        </p:nvSpPr>
        <p:spPr>
          <a:xfrm>
            <a:off x="4773168" y="1243584"/>
            <a:ext cx="2286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BMP</a:t>
            </a:r>
            <a:endParaRPr lang="en-US" sz="1300" dirty="0"/>
          </a:p>
        </p:txBody>
      </p:sp>
      <p:sp>
        <p:nvSpPr>
          <p:cNvPr id="24" name="Text 22"/>
          <p:cNvSpPr/>
          <p:nvPr/>
        </p:nvSpPr>
        <p:spPr>
          <a:xfrm>
            <a:off x="7589520" y="1271016"/>
            <a:ext cx="1170432" cy="201168"/>
          </a:xfrm>
          <a:prstGeom prst="rect">
            <a:avLst/>
          </a:prstGeom>
          <a:noFill/>
          <a:ln/>
        </p:spPr>
        <p:txBody>
          <a:bodyPr wrap="square" lIns="0" tIns="0" rIns="0" bIns="0" rtlCol="0" anchor="ctr"/>
          <a:lstStyle/>
          <a:p>
            <a:pPr marL="0" indent="0" algn="r">
              <a:buNone/>
            </a:pPr>
            <a:r>
              <a:rPr lang="en-US" sz="900" dirty="0">
                <a:solidFill>
                  <a:srgbClr val="FFD090"/>
                </a:solidFill>
                <a:latin typeface="Calibri" pitchFamily="34" charset="0"/>
                <a:ea typeface="Calibri" pitchFamily="34" charset="-122"/>
                <a:cs typeface="Calibri" pitchFamily="34" charset="-120"/>
              </a:rPr>
              <a:t>約 3×W×H bytes</a:t>
            </a:r>
            <a:endParaRPr lang="en-US" sz="900" dirty="0"/>
          </a:p>
        </p:txBody>
      </p:sp>
      <p:sp>
        <p:nvSpPr>
          <p:cNvPr id="25" name="Shape 23"/>
          <p:cNvSpPr/>
          <p:nvPr/>
        </p:nvSpPr>
        <p:spPr>
          <a:xfrm>
            <a:off x="4754880" y="1555673"/>
            <a:ext cx="3977640" cy="219456"/>
          </a:xfrm>
          <a:prstGeom prst="rect">
            <a:avLst/>
          </a:prstGeom>
          <a:solidFill>
            <a:srgbClr val="1E1E1E"/>
          </a:solidFill>
          <a:ln w="12700">
            <a:solidFill>
              <a:srgbClr val="444444"/>
            </a:solidFill>
            <a:prstDash val="solid"/>
          </a:ln>
        </p:spPr>
        <p:txBody>
          <a:bodyPr/>
          <a:lstStyle/>
          <a:p>
            <a:endParaRPr lang="zh-TW" altLang="en-US"/>
          </a:p>
        </p:txBody>
      </p:sp>
      <p:sp>
        <p:nvSpPr>
          <p:cNvPr id="26" name="Text 24"/>
          <p:cNvSpPr/>
          <p:nvPr/>
        </p:nvSpPr>
        <p:spPr>
          <a:xfrm>
            <a:off x="4800600" y="1563624"/>
            <a:ext cx="3931920" cy="219456"/>
          </a:xfrm>
          <a:prstGeom prst="rect">
            <a:avLst/>
          </a:prstGeom>
          <a:noFill/>
          <a:ln/>
        </p:spPr>
        <p:txBody>
          <a:bodyPr wrap="square" lIns="0" tIns="0" rIns="0" bIns="0" rtlCol="0" anchor="ctr"/>
          <a:lstStyle/>
          <a:p>
            <a:pPr marL="0" indent="0">
              <a:buNone/>
            </a:pPr>
            <a:r>
              <a:rPr lang="en-US" sz="850" dirty="0">
                <a:solidFill>
                  <a:srgbClr val="90D0FF"/>
                </a:solidFill>
                <a:latin typeface="Consolas" pitchFamily="34" charset="0"/>
                <a:ea typeface="Consolas" pitchFamily="34" charset="-122"/>
                <a:cs typeface="Consolas" pitchFamily="34" charset="-120"/>
              </a:rPr>
              <a:t>Magic: 42 4D  （'BM'）</a:t>
            </a:r>
            <a:endParaRPr lang="en-US" sz="850" dirty="0"/>
          </a:p>
        </p:txBody>
      </p:sp>
      <p:sp>
        <p:nvSpPr>
          <p:cNvPr id="27" name="Text 25"/>
          <p:cNvSpPr/>
          <p:nvPr/>
        </p:nvSpPr>
        <p:spPr>
          <a:xfrm>
            <a:off x="4773168" y="1778708"/>
            <a:ext cx="3959352" cy="201168"/>
          </a:xfrm>
          <a:prstGeom prst="rect">
            <a:avLst/>
          </a:prstGeom>
          <a:noFill/>
          <a:ln/>
        </p:spPr>
        <p:txBody>
          <a:bodyPr wrap="square" lIns="0" tIns="0" rIns="0" bIns="0" rtlCol="0" anchor="ctr"/>
          <a:lstStyle/>
          <a:p>
            <a:pPr marL="0" indent="0">
              <a:buNone/>
            </a:pPr>
            <a:r>
              <a:rPr lang="en-US" sz="800" dirty="0">
                <a:solidFill>
                  <a:srgbClr val="6B7280"/>
                </a:solidFill>
                <a:latin typeface="Consolas" pitchFamily="34" charset="0"/>
                <a:ea typeface="Consolas" pitchFamily="34" charset="-122"/>
                <a:cs typeface="Consolas" pitchFamily="34" charset="-120"/>
              </a:rPr>
              <a:t>[14B 檔案標頭] → [40B 資訊標頭] → [調色盤?] → [像素陣列]</a:t>
            </a:r>
            <a:endParaRPr lang="en-US" sz="800" dirty="0"/>
          </a:p>
        </p:txBody>
      </p:sp>
      <p:sp>
        <p:nvSpPr>
          <p:cNvPr id="28" name="Text 26"/>
          <p:cNvSpPr/>
          <p:nvPr/>
        </p:nvSpPr>
        <p:spPr>
          <a:xfrm>
            <a:off x="4773168" y="1965167"/>
            <a:ext cx="3959352" cy="475488"/>
          </a:xfrm>
          <a:prstGeom prst="rect">
            <a:avLst/>
          </a:prstGeom>
          <a:noFill/>
          <a:ln/>
        </p:spPr>
        <p:txBody>
          <a:bodyPr wrap="square" lIns="0" tIns="0" rIns="0" bIns="0" rtlCol="0" anchor="t"/>
          <a:lstStyle/>
          <a:p>
            <a:pPr marL="0" indent="0">
              <a:buNone/>
            </a:pPr>
            <a:r>
              <a:rPr lang="en-US" sz="950" dirty="0">
                <a:solidFill>
                  <a:srgbClr val="1A1A1A"/>
                </a:solidFill>
                <a:latin typeface="Calibri" pitchFamily="34" charset="0"/>
                <a:ea typeface="Calibri" pitchFamily="34" charset="-122"/>
                <a:cs typeface="Calibri" pitchFamily="34" charset="-120"/>
              </a:rPr>
              <a:t>• 無壓縮，像素逐一儲存（RGB 或 RGBA）</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格式最簡單，無損，適合中間格式</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像素由左下→右上（倒置！）</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幾乎不用於嵌入式（體積太大）</a:t>
            </a:r>
            <a:endParaRPr lang="en-US" sz="950" dirty="0"/>
          </a:p>
        </p:txBody>
      </p:sp>
      <p:sp>
        <p:nvSpPr>
          <p:cNvPr id="29" name="Shape 27"/>
          <p:cNvSpPr/>
          <p:nvPr/>
        </p:nvSpPr>
        <p:spPr>
          <a:xfrm>
            <a:off x="320040" y="2514600"/>
            <a:ext cx="4160520" cy="1207008"/>
          </a:xfrm>
          <a:prstGeom prst="rect">
            <a:avLst/>
          </a:prstGeom>
          <a:solidFill>
            <a:srgbClr val="E8E8E0"/>
          </a:solidFill>
          <a:ln/>
          <a:effectLst>
            <a:outerShdw blurRad="63500" dist="25400" dir="8100000" algn="bl" rotWithShape="0">
              <a:srgbClr val="000000">
                <a:alpha val="12000"/>
              </a:srgbClr>
            </a:outerShdw>
          </a:effectLst>
        </p:spPr>
        <p:txBody>
          <a:bodyPr/>
          <a:lstStyle/>
          <a:p>
            <a:endParaRPr lang="zh-TW" altLang="en-US"/>
          </a:p>
        </p:txBody>
      </p:sp>
      <p:sp>
        <p:nvSpPr>
          <p:cNvPr id="30" name="Shape 28"/>
          <p:cNvSpPr/>
          <p:nvPr/>
        </p:nvSpPr>
        <p:spPr>
          <a:xfrm>
            <a:off x="320040" y="2514600"/>
            <a:ext cx="4160520" cy="292608"/>
          </a:xfrm>
          <a:prstGeom prst="rect">
            <a:avLst/>
          </a:prstGeom>
          <a:solidFill>
            <a:srgbClr val="1A3A5D"/>
          </a:solidFill>
          <a:ln w="12700">
            <a:solidFill>
              <a:srgbClr val="1A3A5D"/>
            </a:solidFill>
            <a:prstDash val="solid"/>
          </a:ln>
        </p:spPr>
        <p:txBody>
          <a:bodyPr/>
          <a:lstStyle/>
          <a:p>
            <a:endParaRPr lang="zh-TW" altLang="en-US"/>
          </a:p>
        </p:txBody>
      </p:sp>
      <p:sp>
        <p:nvSpPr>
          <p:cNvPr id="31" name="Text 29"/>
          <p:cNvSpPr/>
          <p:nvPr/>
        </p:nvSpPr>
        <p:spPr>
          <a:xfrm>
            <a:off x="429768" y="2523744"/>
            <a:ext cx="2286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JPEG / JFIF</a:t>
            </a:r>
            <a:endParaRPr lang="en-US" sz="1300" dirty="0"/>
          </a:p>
        </p:txBody>
      </p:sp>
      <p:sp>
        <p:nvSpPr>
          <p:cNvPr id="32" name="Text 30"/>
          <p:cNvSpPr/>
          <p:nvPr/>
        </p:nvSpPr>
        <p:spPr>
          <a:xfrm>
            <a:off x="3246120" y="2551176"/>
            <a:ext cx="1170432" cy="201168"/>
          </a:xfrm>
          <a:prstGeom prst="rect">
            <a:avLst/>
          </a:prstGeom>
          <a:noFill/>
          <a:ln/>
        </p:spPr>
        <p:txBody>
          <a:bodyPr wrap="square" lIns="0" tIns="0" rIns="0" bIns="0" rtlCol="0" anchor="ctr"/>
          <a:lstStyle/>
          <a:p>
            <a:pPr marL="0" indent="0" algn="r">
              <a:buNone/>
            </a:pPr>
            <a:r>
              <a:rPr lang="en-US" sz="900" dirty="0">
                <a:solidFill>
                  <a:srgbClr val="FFD090"/>
                </a:solidFill>
                <a:latin typeface="Calibri" pitchFamily="34" charset="0"/>
                <a:ea typeface="Calibri" pitchFamily="34" charset="-122"/>
                <a:cs typeface="Calibri" pitchFamily="34" charset="-120"/>
              </a:rPr>
              <a:t>50–500 KB</a:t>
            </a:r>
            <a:endParaRPr lang="en-US" sz="900" dirty="0"/>
          </a:p>
        </p:txBody>
      </p:sp>
      <p:sp>
        <p:nvSpPr>
          <p:cNvPr id="33" name="Shape 31"/>
          <p:cNvSpPr/>
          <p:nvPr/>
        </p:nvSpPr>
        <p:spPr>
          <a:xfrm>
            <a:off x="411480" y="2843784"/>
            <a:ext cx="3977640" cy="219456"/>
          </a:xfrm>
          <a:prstGeom prst="rect">
            <a:avLst/>
          </a:prstGeom>
          <a:solidFill>
            <a:srgbClr val="1E1E1E"/>
          </a:solidFill>
          <a:ln w="12700">
            <a:solidFill>
              <a:srgbClr val="444444"/>
            </a:solidFill>
            <a:prstDash val="solid"/>
          </a:ln>
        </p:spPr>
        <p:txBody>
          <a:bodyPr/>
          <a:lstStyle/>
          <a:p>
            <a:endParaRPr lang="zh-TW" altLang="en-US"/>
          </a:p>
        </p:txBody>
      </p:sp>
      <p:sp>
        <p:nvSpPr>
          <p:cNvPr id="34" name="Text 32"/>
          <p:cNvSpPr/>
          <p:nvPr/>
        </p:nvSpPr>
        <p:spPr>
          <a:xfrm>
            <a:off x="457200" y="2843784"/>
            <a:ext cx="3931920" cy="219456"/>
          </a:xfrm>
          <a:prstGeom prst="rect">
            <a:avLst/>
          </a:prstGeom>
          <a:noFill/>
          <a:ln/>
        </p:spPr>
        <p:txBody>
          <a:bodyPr wrap="square" lIns="0" tIns="0" rIns="0" bIns="0" rtlCol="0" anchor="ctr"/>
          <a:lstStyle/>
          <a:p>
            <a:pPr marL="0" indent="0">
              <a:buNone/>
            </a:pPr>
            <a:r>
              <a:rPr lang="en-US" sz="850" dirty="0">
                <a:solidFill>
                  <a:srgbClr val="90D0FF"/>
                </a:solidFill>
                <a:latin typeface="Consolas" pitchFamily="34" charset="0"/>
                <a:ea typeface="Consolas" pitchFamily="34" charset="-122"/>
                <a:cs typeface="Consolas" pitchFamily="34" charset="-120"/>
              </a:rPr>
              <a:t>Magic: FF D8 FF  （SOI + APP0/APP1）</a:t>
            </a:r>
            <a:endParaRPr lang="en-US" sz="850" dirty="0"/>
          </a:p>
        </p:txBody>
      </p:sp>
      <p:sp>
        <p:nvSpPr>
          <p:cNvPr id="35" name="Text 33"/>
          <p:cNvSpPr/>
          <p:nvPr/>
        </p:nvSpPr>
        <p:spPr>
          <a:xfrm>
            <a:off x="429768" y="3090672"/>
            <a:ext cx="3959352" cy="201168"/>
          </a:xfrm>
          <a:prstGeom prst="rect">
            <a:avLst/>
          </a:prstGeom>
          <a:noFill/>
          <a:ln/>
        </p:spPr>
        <p:txBody>
          <a:bodyPr wrap="square" lIns="0" tIns="0" rIns="0" bIns="0" rtlCol="0" anchor="ctr"/>
          <a:lstStyle/>
          <a:p>
            <a:pPr marL="0" indent="0">
              <a:buNone/>
            </a:pPr>
            <a:r>
              <a:rPr lang="en-US" sz="800" dirty="0">
                <a:solidFill>
                  <a:srgbClr val="6B7280"/>
                </a:solidFill>
                <a:latin typeface="Consolas" pitchFamily="34" charset="0"/>
                <a:ea typeface="Consolas" pitchFamily="34" charset="-122"/>
                <a:cs typeface="Consolas" pitchFamily="34" charset="-120"/>
              </a:rPr>
              <a:t>[SOI FF D8] → [APPn 標記區段] → [DQT量化表] → [SOF幀標頭] → [DHT霍夫曼] → [SOS掃描資料] → [EOI FF D9]</a:t>
            </a:r>
            <a:endParaRPr lang="en-US" sz="800" dirty="0"/>
          </a:p>
        </p:txBody>
      </p:sp>
      <p:sp>
        <p:nvSpPr>
          <p:cNvPr id="36" name="Text 34"/>
          <p:cNvSpPr/>
          <p:nvPr/>
        </p:nvSpPr>
        <p:spPr>
          <a:xfrm>
            <a:off x="429768" y="3300984"/>
            <a:ext cx="3959352" cy="475488"/>
          </a:xfrm>
          <a:prstGeom prst="rect">
            <a:avLst/>
          </a:prstGeom>
          <a:noFill/>
          <a:ln/>
        </p:spPr>
        <p:txBody>
          <a:bodyPr wrap="square" lIns="0" tIns="0" rIns="0" bIns="0" rtlCol="0" anchor="t"/>
          <a:lstStyle/>
          <a:p>
            <a:pPr marL="0" indent="0">
              <a:buNone/>
            </a:pPr>
            <a:r>
              <a:rPr lang="en-US" sz="950" dirty="0">
                <a:solidFill>
                  <a:srgbClr val="1A1A1A"/>
                </a:solidFill>
                <a:latin typeface="Calibri" pitchFamily="34" charset="0"/>
                <a:ea typeface="Calibri" pitchFamily="34" charset="-122"/>
                <a:cs typeface="Calibri" pitchFamily="34" charset="-120"/>
              </a:rPr>
              <a:t>• DCT 有損壓縮，色彩空間 YCbCr</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Quality 值 0–100 控制壓縮比（約 10:1）</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APP1 區段內嵌 EXIF/XMP metadata</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最廣泛的靜態影像格式</a:t>
            </a:r>
            <a:endParaRPr lang="en-US" sz="950" dirty="0"/>
          </a:p>
        </p:txBody>
      </p:sp>
      <p:sp>
        <p:nvSpPr>
          <p:cNvPr id="37" name="Shape 35"/>
          <p:cNvSpPr/>
          <p:nvPr/>
        </p:nvSpPr>
        <p:spPr>
          <a:xfrm>
            <a:off x="4663440" y="2514600"/>
            <a:ext cx="4160520" cy="1207008"/>
          </a:xfrm>
          <a:prstGeom prst="rect">
            <a:avLst/>
          </a:prstGeom>
          <a:solidFill>
            <a:srgbClr val="E8E8E0"/>
          </a:solidFill>
          <a:ln/>
          <a:effectLst>
            <a:outerShdw blurRad="63500" dist="25400" dir="8100000" algn="bl" rotWithShape="0">
              <a:srgbClr val="000000">
                <a:alpha val="12000"/>
              </a:srgbClr>
            </a:outerShdw>
          </a:effectLst>
        </p:spPr>
        <p:txBody>
          <a:bodyPr/>
          <a:lstStyle/>
          <a:p>
            <a:endParaRPr lang="zh-TW" altLang="en-US"/>
          </a:p>
        </p:txBody>
      </p:sp>
      <p:sp>
        <p:nvSpPr>
          <p:cNvPr id="38" name="Shape 36"/>
          <p:cNvSpPr/>
          <p:nvPr/>
        </p:nvSpPr>
        <p:spPr>
          <a:xfrm>
            <a:off x="4663440" y="2514600"/>
            <a:ext cx="4160520" cy="292608"/>
          </a:xfrm>
          <a:prstGeom prst="rect">
            <a:avLst/>
          </a:prstGeom>
          <a:solidFill>
            <a:srgbClr val="1A3A5D"/>
          </a:solidFill>
          <a:ln w="12700">
            <a:solidFill>
              <a:srgbClr val="1A3A5D"/>
            </a:solidFill>
            <a:prstDash val="solid"/>
          </a:ln>
        </p:spPr>
        <p:txBody>
          <a:bodyPr/>
          <a:lstStyle/>
          <a:p>
            <a:endParaRPr lang="zh-TW" altLang="en-US"/>
          </a:p>
        </p:txBody>
      </p:sp>
      <p:sp>
        <p:nvSpPr>
          <p:cNvPr id="39" name="Text 37"/>
          <p:cNvSpPr/>
          <p:nvPr/>
        </p:nvSpPr>
        <p:spPr>
          <a:xfrm>
            <a:off x="4773168" y="2523744"/>
            <a:ext cx="2286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PNG</a:t>
            </a:r>
            <a:endParaRPr lang="en-US" sz="1300" dirty="0"/>
          </a:p>
        </p:txBody>
      </p:sp>
      <p:sp>
        <p:nvSpPr>
          <p:cNvPr id="40" name="Text 38"/>
          <p:cNvSpPr/>
          <p:nvPr/>
        </p:nvSpPr>
        <p:spPr>
          <a:xfrm>
            <a:off x="7589520" y="2551176"/>
            <a:ext cx="1170432" cy="201168"/>
          </a:xfrm>
          <a:prstGeom prst="rect">
            <a:avLst/>
          </a:prstGeom>
          <a:noFill/>
          <a:ln/>
        </p:spPr>
        <p:txBody>
          <a:bodyPr wrap="square" lIns="0" tIns="0" rIns="0" bIns="0" rtlCol="0" anchor="ctr"/>
          <a:lstStyle/>
          <a:p>
            <a:pPr marL="0" indent="0" algn="r">
              <a:buNone/>
            </a:pPr>
            <a:r>
              <a:rPr lang="en-US" sz="900" dirty="0">
                <a:solidFill>
                  <a:srgbClr val="FFD090"/>
                </a:solidFill>
                <a:latin typeface="Calibri" pitchFamily="34" charset="0"/>
                <a:ea typeface="Calibri" pitchFamily="34" charset="-122"/>
                <a:cs typeface="Calibri" pitchFamily="34" charset="-120"/>
              </a:rPr>
              <a:t>約 JPEG 的 2–5 倍</a:t>
            </a:r>
            <a:endParaRPr lang="en-US" sz="900" dirty="0"/>
          </a:p>
        </p:txBody>
      </p:sp>
      <p:sp>
        <p:nvSpPr>
          <p:cNvPr id="41" name="Shape 39"/>
          <p:cNvSpPr/>
          <p:nvPr/>
        </p:nvSpPr>
        <p:spPr>
          <a:xfrm>
            <a:off x="4754880" y="2843784"/>
            <a:ext cx="3977640" cy="219456"/>
          </a:xfrm>
          <a:prstGeom prst="rect">
            <a:avLst/>
          </a:prstGeom>
          <a:solidFill>
            <a:srgbClr val="1E1E1E"/>
          </a:solidFill>
          <a:ln w="12700">
            <a:solidFill>
              <a:srgbClr val="444444"/>
            </a:solidFill>
            <a:prstDash val="solid"/>
          </a:ln>
        </p:spPr>
        <p:txBody>
          <a:bodyPr/>
          <a:lstStyle/>
          <a:p>
            <a:endParaRPr lang="zh-TW" altLang="en-US"/>
          </a:p>
        </p:txBody>
      </p:sp>
      <p:sp>
        <p:nvSpPr>
          <p:cNvPr id="42" name="Text 40"/>
          <p:cNvSpPr/>
          <p:nvPr/>
        </p:nvSpPr>
        <p:spPr>
          <a:xfrm>
            <a:off x="4800600" y="2843784"/>
            <a:ext cx="3931920" cy="219456"/>
          </a:xfrm>
          <a:prstGeom prst="rect">
            <a:avLst/>
          </a:prstGeom>
          <a:noFill/>
          <a:ln/>
        </p:spPr>
        <p:txBody>
          <a:bodyPr wrap="square" lIns="0" tIns="0" rIns="0" bIns="0" rtlCol="0" anchor="ctr"/>
          <a:lstStyle/>
          <a:p>
            <a:pPr marL="0" indent="0">
              <a:buNone/>
            </a:pPr>
            <a:r>
              <a:rPr lang="en-US" sz="850" dirty="0">
                <a:solidFill>
                  <a:srgbClr val="90D0FF"/>
                </a:solidFill>
                <a:latin typeface="Consolas" pitchFamily="34" charset="0"/>
                <a:ea typeface="Consolas" pitchFamily="34" charset="-122"/>
                <a:cs typeface="Consolas" pitchFamily="34" charset="-120"/>
              </a:rPr>
              <a:t>Magic: 89 50 4E 47 0D 0A 1A 0A  （\x89PNG\r\n）</a:t>
            </a:r>
            <a:endParaRPr lang="en-US" sz="850" dirty="0"/>
          </a:p>
        </p:txBody>
      </p:sp>
      <p:sp>
        <p:nvSpPr>
          <p:cNvPr id="43" name="Text 41"/>
          <p:cNvSpPr/>
          <p:nvPr/>
        </p:nvSpPr>
        <p:spPr>
          <a:xfrm>
            <a:off x="4773168" y="3090672"/>
            <a:ext cx="3959352" cy="201168"/>
          </a:xfrm>
          <a:prstGeom prst="rect">
            <a:avLst/>
          </a:prstGeom>
          <a:noFill/>
          <a:ln/>
        </p:spPr>
        <p:txBody>
          <a:bodyPr wrap="square" lIns="0" tIns="0" rIns="0" bIns="0" rtlCol="0" anchor="ctr"/>
          <a:lstStyle/>
          <a:p>
            <a:pPr marL="0" indent="0">
              <a:buNone/>
            </a:pPr>
            <a:r>
              <a:rPr lang="en-US" sz="800" dirty="0">
                <a:solidFill>
                  <a:srgbClr val="6B7280"/>
                </a:solidFill>
                <a:latin typeface="Consolas" pitchFamily="34" charset="0"/>
                <a:ea typeface="Consolas" pitchFamily="34" charset="-122"/>
                <a:cs typeface="Consolas" pitchFamily="34" charset="-120"/>
              </a:rPr>
              <a:t>[8B 簽章] → [IHDR chunk] → [PLTE?] → [IDAT chunk(s)] → [tEXt/iTXt metadata] → [IEND]</a:t>
            </a:r>
            <a:endParaRPr lang="en-US" sz="800" dirty="0"/>
          </a:p>
        </p:txBody>
      </p:sp>
      <p:sp>
        <p:nvSpPr>
          <p:cNvPr id="44" name="Text 42"/>
          <p:cNvSpPr/>
          <p:nvPr/>
        </p:nvSpPr>
        <p:spPr>
          <a:xfrm>
            <a:off x="4773168" y="3300984"/>
            <a:ext cx="3959352" cy="475488"/>
          </a:xfrm>
          <a:prstGeom prst="rect">
            <a:avLst/>
          </a:prstGeom>
          <a:noFill/>
          <a:ln/>
        </p:spPr>
        <p:txBody>
          <a:bodyPr wrap="square" lIns="0" tIns="0" rIns="0" bIns="0" rtlCol="0" anchor="t"/>
          <a:lstStyle/>
          <a:p>
            <a:pPr marL="0" indent="0">
              <a:buNone/>
            </a:pPr>
            <a:r>
              <a:rPr lang="en-US" sz="950" dirty="0">
                <a:solidFill>
                  <a:srgbClr val="1A1A1A"/>
                </a:solidFill>
                <a:latin typeface="Calibri" pitchFamily="34" charset="0"/>
                <a:ea typeface="Calibri" pitchFamily="34" charset="-122"/>
                <a:cs typeface="Calibri" pitchFamily="34" charset="-120"/>
              </a:rPr>
              <a:t>• Deflate 無損壓縮，支援 Alpha 透明</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Chunk 架構可擴充（tEXt 存文字 metadata）</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不支援 CMYK，不適合印刷</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適合：UI 素材、遮罩、科學影像</a:t>
            </a:r>
            <a:endParaRPr lang="en-US" sz="950" dirty="0"/>
          </a:p>
        </p:txBody>
      </p:sp>
      <p:sp>
        <p:nvSpPr>
          <p:cNvPr id="45" name="Shape 43"/>
          <p:cNvSpPr/>
          <p:nvPr/>
        </p:nvSpPr>
        <p:spPr>
          <a:xfrm>
            <a:off x="320040" y="3703320"/>
            <a:ext cx="4160520" cy="1207008"/>
          </a:xfrm>
          <a:prstGeom prst="rect">
            <a:avLst/>
          </a:prstGeom>
          <a:solidFill>
            <a:srgbClr val="E8E8E0"/>
          </a:solidFill>
          <a:ln/>
          <a:effectLst>
            <a:outerShdw blurRad="63500" dist="25400" dir="8100000" algn="bl" rotWithShape="0">
              <a:srgbClr val="000000">
                <a:alpha val="12000"/>
              </a:srgbClr>
            </a:outerShdw>
          </a:effectLst>
        </p:spPr>
        <p:txBody>
          <a:bodyPr/>
          <a:lstStyle/>
          <a:p>
            <a:endParaRPr lang="zh-TW" altLang="en-US"/>
          </a:p>
        </p:txBody>
      </p:sp>
      <p:sp>
        <p:nvSpPr>
          <p:cNvPr id="46" name="Shape 44"/>
          <p:cNvSpPr/>
          <p:nvPr/>
        </p:nvSpPr>
        <p:spPr>
          <a:xfrm>
            <a:off x="320040" y="3703320"/>
            <a:ext cx="4160520" cy="292608"/>
          </a:xfrm>
          <a:prstGeom prst="rect">
            <a:avLst/>
          </a:prstGeom>
          <a:solidFill>
            <a:srgbClr val="1A3A5D"/>
          </a:solidFill>
          <a:ln w="12700">
            <a:solidFill>
              <a:srgbClr val="1A3A5D"/>
            </a:solidFill>
            <a:prstDash val="solid"/>
          </a:ln>
        </p:spPr>
        <p:txBody>
          <a:bodyPr/>
          <a:lstStyle/>
          <a:p>
            <a:endParaRPr lang="zh-TW" altLang="en-US"/>
          </a:p>
        </p:txBody>
      </p:sp>
      <p:sp>
        <p:nvSpPr>
          <p:cNvPr id="47" name="Text 45"/>
          <p:cNvSpPr/>
          <p:nvPr/>
        </p:nvSpPr>
        <p:spPr>
          <a:xfrm>
            <a:off x="429768" y="3712464"/>
            <a:ext cx="2286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TIFF</a:t>
            </a:r>
            <a:endParaRPr lang="en-US" sz="1300" dirty="0"/>
          </a:p>
        </p:txBody>
      </p:sp>
      <p:sp>
        <p:nvSpPr>
          <p:cNvPr id="48" name="Text 46"/>
          <p:cNvSpPr/>
          <p:nvPr/>
        </p:nvSpPr>
        <p:spPr>
          <a:xfrm>
            <a:off x="3246120" y="3739896"/>
            <a:ext cx="1170432" cy="201168"/>
          </a:xfrm>
          <a:prstGeom prst="rect">
            <a:avLst/>
          </a:prstGeom>
          <a:noFill/>
          <a:ln/>
        </p:spPr>
        <p:txBody>
          <a:bodyPr wrap="square" lIns="0" tIns="0" rIns="0" bIns="0" rtlCol="0" anchor="ctr"/>
          <a:lstStyle/>
          <a:p>
            <a:pPr marL="0" indent="0" algn="r">
              <a:buNone/>
            </a:pPr>
            <a:r>
              <a:rPr lang="en-US" sz="900" dirty="0">
                <a:solidFill>
                  <a:srgbClr val="FFD090"/>
                </a:solidFill>
                <a:latin typeface="Calibri" pitchFamily="34" charset="0"/>
                <a:ea typeface="Calibri" pitchFamily="34" charset="-122"/>
                <a:cs typeface="Calibri" pitchFamily="34" charset="-120"/>
              </a:rPr>
              <a:t>數 MB 至數百 MB</a:t>
            </a:r>
            <a:endParaRPr lang="en-US" sz="900" dirty="0"/>
          </a:p>
        </p:txBody>
      </p:sp>
      <p:sp>
        <p:nvSpPr>
          <p:cNvPr id="49" name="Shape 47"/>
          <p:cNvSpPr/>
          <p:nvPr/>
        </p:nvSpPr>
        <p:spPr>
          <a:xfrm>
            <a:off x="411480" y="4032504"/>
            <a:ext cx="3977640" cy="219456"/>
          </a:xfrm>
          <a:prstGeom prst="rect">
            <a:avLst/>
          </a:prstGeom>
          <a:solidFill>
            <a:srgbClr val="1E1E1E"/>
          </a:solidFill>
          <a:ln w="12700">
            <a:solidFill>
              <a:srgbClr val="444444"/>
            </a:solidFill>
            <a:prstDash val="solid"/>
          </a:ln>
        </p:spPr>
        <p:txBody>
          <a:bodyPr/>
          <a:lstStyle/>
          <a:p>
            <a:endParaRPr lang="zh-TW" altLang="en-US"/>
          </a:p>
        </p:txBody>
      </p:sp>
      <p:sp>
        <p:nvSpPr>
          <p:cNvPr id="50" name="Text 48"/>
          <p:cNvSpPr/>
          <p:nvPr/>
        </p:nvSpPr>
        <p:spPr>
          <a:xfrm>
            <a:off x="457200" y="4032504"/>
            <a:ext cx="3931920" cy="219456"/>
          </a:xfrm>
          <a:prstGeom prst="rect">
            <a:avLst/>
          </a:prstGeom>
          <a:noFill/>
          <a:ln/>
        </p:spPr>
        <p:txBody>
          <a:bodyPr wrap="square" lIns="0" tIns="0" rIns="0" bIns="0" rtlCol="0" anchor="ctr"/>
          <a:lstStyle/>
          <a:p>
            <a:pPr marL="0" indent="0">
              <a:buNone/>
            </a:pPr>
            <a:r>
              <a:rPr lang="en-US" sz="850" dirty="0">
                <a:solidFill>
                  <a:srgbClr val="90D0FF"/>
                </a:solidFill>
                <a:latin typeface="Consolas" pitchFamily="34" charset="0"/>
                <a:ea typeface="Consolas" pitchFamily="34" charset="-122"/>
                <a:cs typeface="Consolas" pitchFamily="34" charset="-120"/>
              </a:rPr>
              <a:t>Magic: 49 49 2A 00 （小端）/ 4D 4D 00 2A （大端）</a:t>
            </a:r>
            <a:endParaRPr lang="en-US" sz="850" dirty="0"/>
          </a:p>
        </p:txBody>
      </p:sp>
      <p:sp>
        <p:nvSpPr>
          <p:cNvPr id="51" name="Text 49"/>
          <p:cNvSpPr/>
          <p:nvPr/>
        </p:nvSpPr>
        <p:spPr>
          <a:xfrm>
            <a:off x="429768" y="4279392"/>
            <a:ext cx="3959352" cy="201168"/>
          </a:xfrm>
          <a:prstGeom prst="rect">
            <a:avLst/>
          </a:prstGeom>
          <a:noFill/>
          <a:ln/>
        </p:spPr>
        <p:txBody>
          <a:bodyPr wrap="square" lIns="0" tIns="0" rIns="0" bIns="0" rtlCol="0" anchor="ctr"/>
          <a:lstStyle/>
          <a:p>
            <a:pPr marL="0" indent="0">
              <a:buNone/>
            </a:pPr>
            <a:r>
              <a:rPr lang="en-US" sz="800" dirty="0">
                <a:solidFill>
                  <a:srgbClr val="6B7280"/>
                </a:solidFill>
                <a:latin typeface="Consolas" pitchFamily="34" charset="0"/>
                <a:ea typeface="Consolas" pitchFamily="34" charset="-122"/>
                <a:cs typeface="Consolas" pitchFamily="34" charset="-120"/>
              </a:rPr>
              <a:t>[8B IFH] → [IFD 0（標籤目錄）] → [像素資料] → [IFD 1（縮圖）…]</a:t>
            </a:r>
            <a:endParaRPr lang="en-US" sz="800" dirty="0"/>
          </a:p>
        </p:txBody>
      </p:sp>
      <p:sp>
        <p:nvSpPr>
          <p:cNvPr id="52" name="Text 50"/>
          <p:cNvSpPr/>
          <p:nvPr/>
        </p:nvSpPr>
        <p:spPr>
          <a:xfrm>
            <a:off x="429768" y="4489704"/>
            <a:ext cx="3959352" cy="475488"/>
          </a:xfrm>
          <a:prstGeom prst="rect">
            <a:avLst/>
          </a:prstGeom>
          <a:noFill/>
          <a:ln/>
        </p:spPr>
        <p:txBody>
          <a:bodyPr wrap="square" lIns="0" tIns="0" rIns="0" bIns="0" rtlCol="0" anchor="t"/>
          <a:lstStyle/>
          <a:p>
            <a:pPr marL="0" indent="0">
              <a:buNone/>
            </a:pPr>
            <a:r>
              <a:rPr lang="en-US" sz="950" dirty="0">
                <a:solidFill>
                  <a:srgbClr val="1A1A1A"/>
                </a:solidFill>
                <a:latin typeface="Calibri" pitchFamily="34" charset="0"/>
                <a:ea typeface="Calibri" pitchFamily="34" charset="-122"/>
                <a:cs typeface="Calibri" pitchFamily="34" charset="-120"/>
              </a:rPr>
              <a:t>• 標籤式架構，支援多頁、多層、HDR</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可無損（LZW）或無壓縮</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醫學 / 衛星影像標準格式</a:t>
            </a:r>
            <a:endParaRPr lang="en-US" sz="950" dirty="0"/>
          </a:p>
        </p:txBody>
      </p:sp>
      <p:sp>
        <p:nvSpPr>
          <p:cNvPr id="53" name="Shape 51"/>
          <p:cNvSpPr/>
          <p:nvPr/>
        </p:nvSpPr>
        <p:spPr>
          <a:xfrm>
            <a:off x="4663440" y="3703320"/>
            <a:ext cx="4160520" cy="1207008"/>
          </a:xfrm>
          <a:prstGeom prst="rect">
            <a:avLst/>
          </a:prstGeom>
          <a:solidFill>
            <a:srgbClr val="E8E8E0"/>
          </a:solidFill>
          <a:ln/>
          <a:effectLst>
            <a:outerShdw blurRad="63500" dist="25400" dir="8100000" algn="bl" rotWithShape="0">
              <a:srgbClr val="000000">
                <a:alpha val="12000"/>
              </a:srgbClr>
            </a:outerShdw>
          </a:effectLst>
        </p:spPr>
        <p:txBody>
          <a:bodyPr/>
          <a:lstStyle/>
          <a:p>
            <a:endParaRPr lang="zh-TW" altLang="en-US"/>
          </a:p>
        </p:txBody>
      </p:sp>
      <p:sp>
        <p:nvSpPr>
          <p:cNvPr id="54" name="Shape 52"/>
          <p:cNvSpPr/>
          <p:nvPr/>
        </p:nvSpPr>
        <p:spPr>
          <a:xfrm>
            <a:off x="4663440" y="3703320"/>
            <a:ext cx="4160520" cy="292608"/>
          </a:xfrm>
          <a:prstGeom prst="rect">
            <a:avLst/>
          </a:prstGeom>
          <a:solidFill>
            <a:srgbClr val="1A5D3A"/>
          </a:solidFill>
          <a:ln w="12700">
            <a:solidFill>
              <a:srgbClr val="1A5D3A"/>
            </a:solidFill>
            <a:prstDash val="solid"/>
          </a:ln>
        </p:spPr>
        <p:txBody>
          <a:bodyPr/>
          <a:lstStyle/>
          <a:p>
            <a:endParaRPr lang="zh-TW" altLang="en-US"/>
          </a:p>
        </p:txBody>
      </p:sp>
      <p:sp>
        <p:nvSpPr>
          <p:cNvPr id="55" name="Text 53"/>
          <p:cNvSpPr/>
          <p:nvPr/>
        </p:nvSpPr>
        <p:spPr>
          <a:xfrm>
            <a:off x="4773168" y="3712464"/>
            <a:ext cx="2286000" cy="274320"/>
          </a:xfrm>
          <a:prstGeom prst="rect">
            <a:avLst/>
          </a:prstGeom>
          <a:noFill/>
          <a:ln/>
        </p:spPr>
        <p:txBody>
          <a:bodyPr wrap="square" lIns="0" tIns="0" rIns="0" bIns="0" rtlCol="0" anchor="ctr"/>
          <a:lstStyle/>
          <a:p>
            <a:pPr marL="0" indent="0">
              <a:buNone/>
            </a:pPr>
            <a:r>
              <a:rPr lang="en-US" sz="1300" b="1" dirty="0">
                <a:solidFill>
                  <a:srgbClr val="FFFFFF"/>
                </a:solidFill>
                <a:latin typeface="Calibri" pitchFamily="34" charset="0"/>
                <a:ea typeface="Calibri" pitchFamily="34" charset="-122"/>
                <a:cs typeface="Calibri" pitchFamily="34" charset="-120"/>
              </a:rPr>
              <a:t>MPEG-4 / H.264 (.mp4)</a:t>
            </a:r>
            <a:endParaRPr lang="en-US" sz="1300" dirty="0"/>
          </a:p>
        </p:txBody>
      </p:sp>
      <p:sp>
        <p:nvSpPr>
          <p:cNvPr id="56" name="Text 54"/>
          <p:cNvSpPr/>
          <p:nvPr/>
        </p:nvSpPr>
        <p:spPr>
          <a:xfrm>
            <a:off x="7589520" y="3739896"/>
            <a:ext cx="1170432" cy="201168"/>
          </a:xfrm>
          <a:prstGeom prst="rect">
            <a:avLst/>
          </a:prstGeom>
          <a:noFill/>
          <a:ln/>
        </p:spPr>
        <p:txBody>
          <a:bodyPr wrap="square" lIns="0" tIns="0" rIns="0" bIns="0" rtlCol="0" anchor="ctr"/>
          <a:lstStyle/>
          <a:p>
            <a:pPr marL="0" indent="0" algn="r">
              <a:buNone/>
            </a:pPr>
            <a:r>
              <a:rPr lang="en-US" sz="900" dirty="0">
                <a:solidFill>
                  <a:srgbClr val="FFD090"/>
                </a:solidFill>
                <a:latin typeface="Calibri" pitchFamily="34" charset="0"/>
                <a:ea typeface="Calibri" pitchFamily="34" charset="-122"/>
                <a:cs typeface="Calibri" pitchFamily="34" charset="-120"/>
              </a:rPr>
              <a:t>每分鐘 50–500 MB</a:t>
            </a:r>
            <a:endParaRPr lang="en-US" sz="900" dirty="0"/>
          </a:p>
        </p:txBody>
      </p:sp>
      <p:sp>
        <p:nvSpPr>
          <p:cNvPr id="57" name="Shape 55"/>
          <p:cNvSpPr/>
          <p:nvPr/>
        </p:nvSpPr>
        <p:spPr>
          <a:xfrm>
            <a:off x="4754880" y="4032504"/>
            <a:ext cx="3977640" cy="219456"/>
          </a:xfrm>
          <a:prstGeom prst="rect">
            <a:avLst/>
          </a:prstGeom>
          <a:solidFill>
            <a:srgbClr val="1E1E1E"/>
          </a:solidFill>
          <a:ln w="12700">
            <a:solidFill>
              <a:srgbClr val="444444"/>
            </a:solidFill>
            <a:prstDash val="solid"/>
          </a:ln>
        </p:spPr>
        <p:txBody>
          <a:bodyPr/>
          <a:lstStyle/>
          <a:p>
            <a:endParaRPr lang="zh-TW" altLang="en-US"/>
          </a:p>
        </p:txBody>
      </p:sp>
      <p:sp>
        <p:nvSpPr>
          <p:cNvPr id="58" name="Text 56"/>
          <p:cNvSpPr/>
          <p:nvPr/>
        </p:nvSpPr>
        <p:spPr>
          <a:xfrm>
            <a:off x="4800600" y="4032504"/>
            <a:ext cx="3931920" cy="219456"/>
          </a:xfrm>
          <a:prstGeom prst="rect">
            <a:avLst/>
          </a:prstGeom>
          <a:noFill/>
          <a:ln/>
        </p:spPr>
        <p:txBody>
          <a:bodyPr wrap="square" lIns="0" tIns="0" rIns="0" bIns="0" rtlCol="0" anchor="ctr"/>
          <a:lstStyle/>
          <a:p>
            <a:pPr marL="0" indent="0">
              <a:buNone/>
            </a:pPr>
            <a:r>
              <a:rPr lang="en-US" sz="850" dirty="0">
                <a:solidFill>
                  <a:srgbClr val="90D0FF"/>
                </a:solidFill>
                <a:latin typeface="Consolas" pitchFamily="34" charset="0"/>
                <a:ea typeface="Consolas" pitchFamily="34" charset="-122"/>
                <a:cs typeface="Consolas" pitchFamily="34" charset="-120"/>
              </a:rPr>
              <a:t>Magic: 00 00 00 18 66 74 79 70  （'....ftyp'）</a:t>
            </a:r>
            <a:endParaRPr lang="en-US" sz="850" dirty="0"/>
          </a:p>
        </p:txBody>
      </p:sp>
      <p:sp>
        <p:nvSpPr>
          <p:cNvPr id="59" name="Text 57"/>
          <p:cNvSpPr/>
          <p:nvPr/>
        </p:nvSpPr>
        <p:spPr>
          <a:xfrm>
            <a:off x="4773168" y="4279392"/>
            <a:ext cx="3959352" cy="201168"/>
          </a:xfrm>
          <a:prstGeom prst="rect">
            <a:avLst/>
          </a:prstGeom>
          <a:noFill/>
          <a:ln/>
        </p:spPr>
        <p:txBody>
          <a:bodyPr wrap="square" lIns="0" tIns="0" rIns="0" bIns="0" rtlCol="0" anchor="ctr"/>
          <a:lstStyle/>
          <a:p>
            <a:pPr marL="0" indent="0">
              <a:buNone/>
            </a:pPr>
            <a:r>
              <a:rPr lang="en-US" sz="800" dirty="0">
                <a:solidFill>
                  <a:srgbClr val="6B7280"/>
                </a:solidFill>
                <a:latin typeface="Consolas" pitchFamily="34" charset="0"/>
                <a:ea typeface="Consolas" pitchFamily="34" charset="-122"/>
                <a:cs typeface="Consolas" pitchFamily="34" charset="-120"/>
              </a:rPr>
              <a:t>[ftyp box] → [mdat box（視訊/音訊資料）] → [moov box（索引/metadata）] → [udta/XMP]</a:t>
            </a:r>
            <a:endParaRPr lang="en-US" sz="800" dirty="0"/>
          </a:p>
        </p:txBody>
      </p:sp>
      <p:sp>
        <p:nvSpPr>
          <p:cNvPr id="60" name="Text 58"/>
          <p:cNvSpPr/>
          <p:nvPr/>
        </p:nvSpPr>
        <p:spPr>
          <a:xfrm>
            <a:off x="4773168" y="4489704"/>
            <a:ext cx="3959352" cy="475488"/>
          </a:xfrm>
          <a:prstGeom prst="rect">
            <a:avLst/>
          </a:prstGeom>
          <a:noFill/>
          <a:ln/>
        </p:spPr>
        <p:txBody>
          <a:bodyPr wrap="square" lIns="0" tIns="0" rIns="0" bIns="0" rtlCol="0" anchor="t"/>
          <a:lstStyle/>
          <a:p>
            <a:pPr marL="0" indent="0">
              <a:buNone/>
            </a:pPr>
            <a:r>
              <a:rPr lang="en-US" sz="950" dirty="0">
                <a:solidFill>
                  <a:srgbClr val="1A1A1A"/>
                </a:solidFill>
                <a:latin typeface="Calibri" pitchFamily="34" charset="0"/>
                <a:ea typeface="Calibri" pitchFamily="34" charset="-122"/>
                <a:cs typeface="Calibri" pitchFamily="34" charset="-120"/>
              </a:rPr>
              <a:t>• 容器（MP4）+ 編解碼（H.264）分離</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H.264 = NAL unit，I/P/B 幀結構</a:t>
            </a:r>
            <a:endParaRPr lang="en-US" sz="950" dirty="0"/>
          </a:p>
          <a:p>
            <a:pPr marL="0" indent="0">
              <a:buNone/>
            </a:pPr>
            <a:r>
              <a:rPr lang="en-US" sz="950" dirty="0">
                <a:solidFill>
                  <a:srgbClr val="1A1A1A"/>
                </a:solidFill>
                <a:latin typeface="Calibri" pitchFamily="34" charset="0"/>
                <a:ea typeface="Calibri" pitchFamily="34" charset="-122"/>
                <a:cs typeface="Calibri" pitchFamily="34" charset="-120"/>
              </a:rPr>
              <a:t>• moov box 含時間軸、GPS 等 metadata</a:t>
            </a:r>
            <a:endParaRPr lang="en-US" sz="950" dirty="0"/>
          </a:p>
        </p:txBody>
      </p:sp>
      <p:sp>
        <p:nvSpPr>
          <p:cNvPr id="62" name="Text 60"/>
          <p:cNvSpPr/>
          <p:nvPr/>
        </p:nvSpPr>
        <p:spPr>
          <a:xfrm>
            <a:off x="274320" y="4864608"/>
            <a:ext cx="6400800" cy="274320"/>
          </a:xfrm>
          <a:prstGeom prst="rect">
            <a:avLst/>
          </a:prstGeom>
          <a:noFill/>
          <a:ln/>
        </p:spPr>
        <p:txBody>
          <a:bodyPr wrap="square" lIns="0" tIns="0" rIns="0" bIns="0" rtlCol="0" anchor="ctr"/>
          <a:lstStyle/>
          <a:p>
            <a:pPr marL="0" indent="0">
              <a:buNone/>
            </a:pPr>
            <a:r>
              <a:rPr lang="en-US" sz="800" dirty="0" err="1">
                <a:solidFill>
                  <a:srgbClr val="FFFFFF"/>
                </a:solidFill>
              </a:rPr>
              <a:t>嵌式電腦視覺</a:t>
            </a:r>
            <a:r>
              <a:rPr lang="en-US" sz="800" dirty="0">
                <a:solidFill>
                  <a:srgbClr val="FFFFFF"/>
                </a:solidFill>
              </a:rPr>
              <a:t>  ·  影像格式與 Metadata</a:t>
            </a:r>
            <a:endParaRPr lang="en-US" sz="800" dirty="0"/>
          </a:p>
        </p:txBody>
      </p:sp>
      <p:sp>
        <p:nvSpPr>
          <p:cNvPr id="63" name="Text 61"/>
          <p:cNvSpPr/>
          <p:nvPr/>
        </p:nvSpPr>
        <p:spPr>
          <a:xfrm>
            <a:off x="8503920" y="4864608"/>
            <a:ext cx="548640" cy="274320"/>
          </a:xfrm>
          <a:prstGeom prst="rect">
            <a:avLst/>
          </a:prstGeom>
          <a:noFill/>
          <a:ln/>
        </p:spPr>
        <p:txBody>
          <a:bodyPr wrap="square" lIns="0" tIns="0" rIns="0" bIns="0" rtlCol="0" anchor="ctr"/>
          <a:lstStyle/>
          <a:p>
            <a:pPr marL="0" indent="0" algn="r">
              <a:buNone/>
            </a:pPr>
            <a:r>
              <a:rPr lang="en-US" sz="800" dirty="0">
                <a:solidFill>
                  <a:srgbClr val="FFFFFF"/>
                </a:solidFill>
              </a:rPr>
              <a:t>1</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20040" y="228600"/>
            <a:ext cx="73152" cy="82296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502920" y="201168"/>
            <a:ext cx="8321040" cy="502920"/>
          </a:xfrm>
          <a:prstGeom prst="rect">
            <a:avLst/>
          </a:prstGeom>
          <a:noFill/>
          <a:ln/>
        </p:spPr>
        <p:txBody>
          <a:bodyPr wrap="square" lIns="0" tIns="0" rIns="0" bIns="0" rtlCol="0" anchor="ctr"/>
          <a:lstStyle/>
          <a:p>
            <a:pPr marL="0" indent="0">
              <a:buNone/>
            </a:pPr>
            <a:r>
              <a:rPr lang="en-US" sz="2400" b="1" dirty="0">
                <a:solidFill>
                  <a:srgbClr val="1E3A5F"/>
                </a:solidFill>
                <a:latin typeface="Calibri" pitchFamily="34" charset="0"/>
                <a:ea typeface="Calibri" pitchFamily="34" charset="-122"/>
                <a:cs typeface="Calibri" pitchFamily="34" charset="-120"/>
              </a:rPr>
              <a:t>影像 Metadata 標準：EXIF · IPTC · XMP · ICC · GeoTIFF</a:t>
            </a:r>
            <a:endParaRPr lang="en-US" sz="2400" dirty="0"/>
          </a:p>
        </p:txBody>
      </p:sp>
      <p:sp>
        <p:nvSpPr>
          <p:cNvPr id="4" name="Text 2"/>
          <p:cNvSpPr/>
          <p:nvPr/>
        </p:nvSpPr>
        <p:spPr>
          <a:xfrm>
            <a:off x="502920" y="713232"/>
            <a:ext cx="7772400" cy="320040"/>
          </a:xfrm>
          <a:prstGeom prst="rect">
            <a:avLst/>
          </a:prstGeom>
          <a:noFill/>
          <a:ln/>
        </p:spPr>
        <p:txBody>
          <a:bodyPr wrap="square" lIns="0" tIns="0" rIns="0" bIns="0" rtlCol="0" anchor="t"/>
          <a:lstStyle/>
          <a:p>
            <a:pPr marL="0" indent="0">
              <a:buNone/>
            </a:pPr>
            <a:r>
              <a:rPr lang="en-US" sz="1200" i="1" dirty="0">
                <a:solidFill>
                  <a:srgbClr val="6B7280"/>
                </a:solidFill>
                <a:latin typeface="Calibri" pitchFamily="34" charset="0"/>
                <a:ea typeface="Calibri" pitchFamily="34" charset="-122"/>
                <a:cs typeface="Calibri" pitchFamily="34" charset="-120"/>
              </a:rPr>
              <a:t>同一張照片可以同時攜帶多種 metadata——它們分別存在哪裡？記錄什麼？</a:t>
            </a:r>
            <a:endParaRPr lang="en-US" sz="1200" dirty="0"/>
          </a:p>
        </p:txBody>
      </p:sp>
      <p:sp>
        <p:nvSpPr>
          <p:cNvPr id="5" name="Shape 3"/>
          <p:cNvSpPr/>
          <p:nvPr/>
        </p:nvSpPr>
        <p:spPr>
          <a:xfrm>
            <a:off x="320040" y="1024128"/>
            <a:ext cx="2084832" cy="3767328"/>
          </a:xfrm>
          <a:prstGeom prst="rect">
            <a:avLst/>
          </a:prstGeom>
          <a:solidFill>
            <a:srgbClr val="FFFFFF"/>
          </a:solidFill>
          <a:ln w="12700">
            <a:solidFill>
              <a:srgbClr val="E8E8E0"/>
            </a:solidFill>
            <a:prstDash val="solid"/>
          </a:ln>
          <a:effectLst>
            <a:outerShdw blurRad="63500" dist="25400" dir="8100000" algn="bl" rotWithShape="0">
              <a:srgbClr val="000000">
                <a:alpha val="12000"/>
              </a:srgbClr>
            </a:outerShdw>
          </a:effectLst>
        </p:spPr>
        <p:txBody>
          <a:bodyPr/>
          <a:lstStyle/>
          <a:p>
            <a:endParaRPr lang="zh-TW" altLang="en-US"/>
          </a:p>
        </p:txBody>
      </p:sp>
      <p:sp>
        <p:nvSpPr>
          <p:cNvPr id="6" name="Shape 4"/>
          <p:cNvSpPr/>
          <p:nvPr/>
        </p:nvSpPr>
        <p:spPr>
          <a:xfrm>
            <a:off x="320040" y="1024128"/>
            <a:ext cx="2084832" cy="457200"/>
          </a:xfrm>
          <a:prstGeom prst="rect">
            <a:avLst/>
          </a:prstGeom>
          <a:solidFill>
            <a:srgbClr val="1A3A7A"/>
          </a:solidFill>
          <a:ln w="12700">
            <a:solidFill>
              <a:srgbClr val="1A3A7A"/>
            </a:solidFill>
            <a:prstDash val="solid"/>
          </a:ln>
        </p:spPr>
        <p:txBody>
          <a:bodyPr/>
          <a:lstStyle/>
          <a:p>
            <a:endParaRPr lang="zh-TW" altLang="en-US"/>
          </a:p>
        </p:txBody>
      </p:sp>
      <p:sp>
        <p:nvSpPr>
          <p:cNvPr id="7" name="Text 5"/>
          <p:cNvSpPr/>
          <p:nvPr/>
        </p:nvSpPr>
        <p:spPr>
          <a:xfrm>
            <a:off x="411480" y="1024128"/>
            <a:ext cx="19202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EXIF</a:t>
            </a:r>
            <a:endParaRPr lang="en-US" sz="1600" dirty="0"/>
          </a:p>
        </p:txBody>
      </p:sp>
      <p:sp>
        <p:nvSpPr>
          <p:cNvPr id="8" name="Text 6"/>
          <p:cNvSpPr/>
          <p:nvPr/>
        </p:nvSpPr>
        <p:spPr>
          <a:xfrm>
            <a:off x="411480" y="1298448"/>
            <a:ext cx="1920240" cy="201168"/>
          </a:xfrm>
          <a:prstGeom prst="rect">
            <a:avLst/>
          </a:prstGeom>
          <a:noFill/>
          <a:ln/>
        </p:spPr>
        <p:txBody>
          <a:bodyPr wrap="square" lIns="0" tIns="0" rIns="0" bIns="0" rtlCol="0" anchor="ctr"/>
          <a:lstStyle/>
          <a:p>
            <a:pPr marL="0" indent="0">
              <a:buNone/>
            </a:pPr>
            <a:r>
              <a:rPr lang="en-US" sz="800" i="1" dirty="0">
                <a:solidFill>
                  <a:srgbClr val="CCE0FF"/>
                </a:solidFill>
                <a:latin typeface="Calibri" pitchFamily="34" charset="0"/>
                <a:ea typeface="Calibri" pitchFamily="34" charset="-122"/>
                <a:cs typeface="Calibri" pitchFamily="34" charset="-120"/>
              </a:rPr>
              <a:t>Exchangeable Image File Format</a:t>
            </a:r>
            <a:endParaRPr lang="en-US" sz="800" dirty="0"/>
          </a:p>
        </p:txBody>
      </p:sp>
      <p:sp>
        <p:nvSpPr>
          <p:cNvPr id="9" name="Shape 7"/>
          <p:cNvSpPr/>
          <p:nvPr/>
        </p:nvSpPr>
        <p:spPr>
          <a:xfrm>
            <a:off x="393192" y="1536192"/>
            <a:ext cx="1938528" cy="256032"/>
          </a:xfrm>
          <a:prstGeom prst="rect">
            <a:avLst/>
          </a:prstGeom>
          <a:solidFill>
            <a:srgbClr val="F0EFE8"/>
          </a:solidFill>
          <a:ln w="12700">
            <a:solidFill>
              <a:srgbClr val="E8E8E0"/>
            </a:solidFill>
            <a:prstDash val="solid"/>
          </a:ln>
        </p:spPr>
        <p:txBody>
          <a:bodyPr/>
          <a:lstStyle/>
          <a:p>
            <a:endParaRPr lang="zh-TW" altLang="en-US"/>
          </a:p>
        </p:txBody>
      </p:sp>
      <p:sp>
        <p:nvSpPr>
          <p:cNvPr id="10" name="Text 8"/>
          <p:cNvSpPr/>
          <p:nvPr/>
        </p:nvSpPr>
        <p:spPr>
          <a:xfrm>
            <a:off x="411480" y="1536192"/>
            <a:ext cx="1920240" cy="256032"/>
          </a:xfrm>
          <a:prstGeom prst="rect">
            <a:avLst/>
          </a:prstGeom>
          <a:noFill/>
          <a:ln/>
        </p:spPr>
        <p:txBody>
          <a:bodyPr wrap="square" lIns="0" tIns="0" rIns="0" bIns="0" rtlCol="0" anchor="ctr"/>
          <a:lstStyle/>
          <a:p>
            <a:pPr marL="0" indent="0">
              <a:buNone/>
            </a:pPr>
            <a:r>
              <a:rPr lang="en-US" sz="850" dirty="0">
                <a:solidFill>
                  <a:srgbClr val="1E3A5F"/>
                </a:solidFill>
                <a:latin typeface="Calibri" pitchFamily="34" charset="0"/>
                <a:ea typeface="Calibri" pitchFamily="34" charset="-122"/>
                <a:cs typeface="Calibri" pitchFamily="34" charset="-120"/>
              </a:rPr>
              <a:t>📍 JPEG APP1 / TIFF IFD / HEIC box</a:t>
            </a:r>
            <a:endParaRPr lang="en-US" sz="850" dirty="0"/>
          </a:p>
        </p:txBody>
      </p:sp>
      <p:sp>
        <p:nvSpPr>
          <p:cNvPr id="11" name="Text 9"/>
          <p:cNvSpPr/>
          <p:nvPr/>
        </p:nvSpPr>
        <p:spPr>
          <a:xfrm>
            <a:off x="411480" y="1810512"/>
            <a:ext cx="1920240" cy="201168"/>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 1995 JEIDA（相機廠商主導）</a:t>
            </a:r>
            <a:endParaRPr lang="en-US" sz="800" dirty="0"/>
          </a:p>
        </p:txBody>
      </p:sp>
      <p:sp>
        <p:nvSpPr>
          <p:cNvPr id="12" name="Shape 10"/>
          <p:cNvSpPr/>
          <p:nvPr/>
        </p:nvSpPr>
        <p:spPr>
          <a:xfrm>
            <a:off x="411480" y="2103120"/>
            <a:ext cx="54864" cy="128016"/>
          </a:xfrm>
          <a:prstGeom prst="rect">
            <a:avLst/>
          </a:prstGeom>
          <a:solidFill>
            <a:srgbClr val="1A3A7A"/>
          </a:solidFill>
          <a:ln w="12700">
            <a:solidFill>
              <a:srgbClr val="1A3A7A"/>
            </a:solidFill>
            <a:prstDash val="solid"/>
          </a:ln>
        </p:spPr>
        <p:txBody>
          <a:bodyPr/>
          <a:lstStyle/>
          <a:p>
            <a:endParaRPr lang="zh-TW" altLang="en-US"/>
          </a:p>
        </p:txBody>
      </p:sp>
      <p:sp>
        <p:nvSpPr>
          <p:cNvPr id="13" name="Text 11"/>
          <p:cNvSpPr/>
          <p:nvPr/>
        </p:nvSpPr>
        <p:spPr>
          <a:xfrm>
            <a:off x="502920" y="204825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拍攝參數：快門 / 光圈 / ISO / 焦距</a:t>
            </a:r>
            <a:endParaRPr lang="en-US" sz="950" dirty="0"/>
          </a:p>
        </p:txBody>
      </p:sp>
      <p:sp>
        <p:nvSpPr>
          <p:cNvPr id="14" name="Shape 12"/>
          <p:cNvSpPr/>
          <p:nvPr/>
        </p:nvSpPr>
        <p:spPr>
          <a:xfrm>
            <a:off x="411480" y="2404872"/>
            <a:ext cx="54864" cy="128016"/>
          </a:xfrm>
          <a:prstGeom prst="rect">
            <a:avLst/>
          </a:prstGeom>
          <a:solidFill>
            <a:srgbClr val="1A3A7A"/>
          </a:solidFill>
          <a:ln w="12700">
            <a:solidFill>
              <a:srgbClr val="1A3A7A"/>
            </a:solidFill>
            <a:prstDash val="solid"/>
          </a:ln>
        </p:spPr>
        <p:txBody>
          <a:bodyPr/>
          <a:lstStyle/>
          <a:p>
            <a:endParaRPr lang="zh-TW" altLang="en-US"/>
          </a:p>
        </p:txBody>
      </p:sp>
      <p:sp>
        <p:nvSpPr>
          <p:cNvPr id="15" name="Text 13"/>
          <p:cNvSpPr/>
          <p:nvPr/>
        </p:nvSpPr>
        <p:spPr>
          <a:xfrm>
            <a:off x="502920" y="2350008"/>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時間戳：拍攝日期時間（DateTimeOriginal）</a:t>
            </a:r>
            <a:endParaRPr lang="en-US" sz="950" dirty="0"/>
          </a:p>
        </p:txBody>
      </p:sp>
      <p:sp>
        <p:nvSpPr>
          <p:cNvPr id="16" name="Shape 14"/>
          <p:cNvSpPr/>
          <p:nvPr/>
        </p:nvSpPr>
        <p:spPr>
          <a:xfrm>
            <a:off x="411480" y="2706624"/>
            <a:ext cx="54864" cy="128016"/>
          </a:xfrm>
          <a:prstGeom prst="rect">
            <a:avLst/>
          </a:prstGeom>
          <a:solidFill>
            <a:srgbClr val="1A3A7A"/>
          </a:solidFill>
          <a:ln w="12700">
            <a:solidFill>
              <a:srgbClr val="1A3A7A"/>
            </a:solidFill>
            <a:prstDash val="solid"/>
          </a:ln>
        </p:spPr>
        <p:txBody>
          <a:bodyPr/>
          <a:lstStyle/>
          <a:p>
            <a:endParaRPr lang="zh-TW" altLang="en-US"/>
          </a:p>
        </p:txBody>
      </p:sp>
      <p:sp>
        <p:nvSpPr>
          <p:cNvPr id="17" name="Text 15"/>
          <p:cNvSpPr/>
          <p:nvPr/>
        </p:nvSpPr>
        <p:spPr>
          <a:xfrm>
            <a:off x="502920" y="2651760"/>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GPS 位置：GPSLatitude / GPSLongitude</a:t>
            </a:r>
            <a:endParaRPr lang="en-US" sz="950" dirty="0"/>
          </a:p>
        </p:txBody>
      </p:sp>
      <p:sp>
        <p:nvSpPr>
          <p:cNvPr id="18" name="Shape 16"/>
          <p:cNvSpPr/>
          <p:nvPr/>
        </p:nvSpPr>
        <p:spPr>
          <a:xfrm>
            <a:off x="411480" y="3008376"/>
            <a:ext cx="54864" cy="128016"/>
          </a:xfrm>
          <a:prstGeom prst="rect">
            <a:avLst/>
          </a:prstGeom>
          <a:solidFill>
            <a:srgbClr val="1A3A7A"/>
          </a:solidFill>
          <a:ln w="12700">
            <a:solidFill>
              <a:srgbClr val="1A3A7A"/>
            </a:solidFill>
            <a:prstDash val="solid"/>
          </a:ln>
        </p:spPr>
        <p:txBody>
          <a:bodyPr/>
          <a:lstStyle/>
          <a:p>
            <a:endParaRPr lang="zh-TW" altLang="en-US"/>
          </a:p>
        </p:txBody>
      </p:sp>
      <p:sp>
        <p:nvSpPr>
          <p:cNvPr id="19" name="Text 17"/>
          <p:cNvSpPr/>
          <p:nvPr/>
        </p:nvSpPr>
        <p:spPr>
          <a:xfrm>
            <a:off x="502920" y="2953512"/>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相機型號 / 鏡頭型號 / 固件版本</a:t>
            </a:r>
            <a:endParaRPr lang="en-US" sz="950" dirty="0"/>
          </a:p>
        </p:txBody>
      </p:sp>
      <p:sp>
        <p:nvSpPr>
          <p:cNvPr id="20" name="Shape 18"/>
          <p:cNvSpPr/>
          <p:nvPr/>
        </p:nvSpPr>
        <p:spPr>
          <a:xfrm>
            <a:off x="411480" y="3310128"/>
            <a:ext cx="54864" cy="128016"/>
          </a:xfrm>
          <a:prstGeom prst="rect">
            <a:avLst/>
          </a:prstGeom>
          <a:solidFill>
            <a:srgbClr val="1A3A7A"/>
          </a:solidFill>
          <a:ln w="12700">
            <a:solidFill>
              <a:srgbClr val="1A3A7A"/>
            </a:solidFill>
            <a:prstDash val="solid"/>
          </a:ln>
        </p:spPr>
        <p:txBody>
          <a:bodyPr/>
          <a:lstStyle/>
          <a:p>
            <a:endParaRPr lang="zh-TW" altLang="en-US"/>
          </a:p>
        </p:txBody>
      </p:sp>
      <p:sp>
        <p:nvSpPr>
          <p:cNvPr id="21" name="Text 19"/>
          <p:cNvSpPr/>
          <p:nvPr/>
        </p:nvSpPr>
        <p:spPr>
          <a:xfrm>
            <a:off x="502920" y="3255264"/>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縮圖（Thumbnail）內嵌</a:t>
            </a:r>
            <a:endParaRPr lang="en-US" sz="950" dirty="0"/>
          </a:p>
        </p:txBody>
      </p:sp>
      <p:sp>
        <p:nvSpPr>
          <p:cNvPr id="22" name="Shape 20"/>
          <p:cNvSpPr/>
          <p:nvPr/>
        </p:nvSpPr>
        <p:spPr>
          <a:xfrm>
            <a:off x="411480" y="3611880"/>
            <a:ext cx="54864" cy="128016"/>
          </a:xfrm>
          <a:prstGeom prst="rect">
            <a:avLst/>
          </a:prstGeom>
          <a:solidFill>
            <a:srgbClr val="1A3A7A"/>
          </a:solidFill>
          <a:ln w="12700">
            <a:solidFill>
              <a:srgbClr val="1A3A7A"/>
            </a:solidFill>
            <a:prstDash val="solid"/>
          </a:ln>
        </p:spPr>
        <p:txBody>
          <a:bodyPr/>
          <a:lstStyle/>
          <a:p>
            <a:endParaRPr lang="zh-TW" altLang="en-US"/>
          </a:p>
        </p:txBody>
      </p:sp>
      <p:sp>
        <p:nvSpPr>
          <p:cNvPr id="23" name="Text 21"/>
          <p:cNvSpPr/>
          <p:nvPr/>
        </p:nvSpPr>
        <p:spPr>
          <a:xfrm>
            <a:off x="502920" y="355701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方向（Orientation）：0/90/180/270°</a:t>
            </a:r>
            <a:endParaRPr lang="en-US" sz="950" dirty="0"/>
          </a:p>
        </p:txBody>
      </p:sp>
      <p:sp>
        <p:nvSpPr>
          <p:cNvPr id="24" name="Shape 22"/>
          <p:cNvSpPr/>
          <p:nvPr/>
        </p:nvSpPr>
        <p:spPr>
          <a:xfrm>
            <a:off x="393192" y="3877056"/>
            <a:ext cx="1938528" cy="841248"/>
          </a:xfrm>
          <a:prstGeom prst="rect">
            <a:avLst/>
          </a:prstGeom>
          <a:solidFill>
            <a:srgbClr val="F0EFF8"/>
          </a:solidFill>
          <a:ln w="12700">
            <a:solidFill>
              <a:srgbClr val="1A3A7A"/>
            </a:solidFill>
            <a:prstDash val="solid"/>
          </a:ln>
        </p:spPr>
        <p:txBody>
          <a:bodyPr/>
          <a:lstStyle/>
          <a:p>
            <a:endParaRPr lang="zh-TW" altLang="en-US"/>
          </a:p>
        </p:txBody>
      </p:sp>
      <p:sp>
        <p:nvSpPr>
          <p:cNvPr id="25" name="Shape 23"/>
          <p:cNvSpPr/>
          <p:nvPr/>
        </p:nvSpPr>
        <p:spPr>
          <a:xfrm>
            <a:off x="393192" y="3877056"/>
            <a:ext cx="54864" cy="841248"/>
          </a:xfrm>
          <a:prstGeom prst="rect">
            <a:avLst/>
          </a:prstGeom>
          <a:solidFill>
            <a:srgbClr val="1A3A7A"/>
          </a:solidFill>
          <a:ln w="12700">
            <a:solidFill>
              <a:srgbClr val="1A3A7A"/>
            </a:solidFill>
            <a:prstDash val="solid"/>
          </a:ln>
        </p:spPr>
        <p:txBody>
          <a:bodyPr/>
          <a:lstStyle/>
          <a:p>
            <a:endParaRPr lang="zh-TW" altLang="en-US"/>
          </a:p>
        </p:txBody>
      </p:sp>
      <p:sp>
        <p:nvSpPr>
          <p:cNvPr id="26" name="Text 24"/>
          <p:cNvSpPr/>
          <p:nvPr/>
        </p:nvSpPr>
        <p:spPr>
          <a:xfrm>
            <a:off x="484632" y="3913632"/>
            <a:ext cx="1783080" cy="768096"/>
          </a:xfrm>
          <a:prstGeom prst="rect">
            <a:avLst/>
          </a:prstGeom>
          <a:noFill/>
          <a:ln/>
        </p:spPr>
        <p:txBody>
          <a:bodyPr wrap="square" lIns="0" tIns="0" rIns="0" bIns="0" rtlCol="0" anchor="t"/>
          <a:lstStyle/>
          <a:p>
            <a:pPr marL="0" indent="0">
              <a:buNone/>
            </a:pPr>
            <a:r>
              <a:rPr lang="en-US" sz="900" i="1" dirty="0">
                <a:solidFill>
                  <a:srgbClr val="1E3A5F"/>
                </a:solidFill>
                <a:latin typeface="Calibri" pitchFamily="34" charset="0"/>
                <a:ea typeface="Calibri" pitchFamily="34" charset="-122"/>
                <a:cs typeface="Calibri" pitchFamily="34" charset="-120"/>
              </a:rPr>
              <a:t>二進位 IFD 結構，Tag-Value 對，固定欄位</a:t>
            </a:r>
            <a:endParaRPr lang="en-US" sz="900" dirty="0"/>
          </a:p>
        </p:txBody>
      </p:sp>
      <p:sp>
        <p:nvSpPr>
          <p:cNvPr id="27" name="Shape 25"/>
          <p:cNvSpPr/>
          <p:nvPr/>
        </p:nvSpPr>
        <p:spPr>
          <a:xfrm>
            <a:off x="2514600" y="1024128"/>
            <a:ext cx="2084832" cy="3767328"/>
          </a:xfrm>
          <a:prstGeom prst="rect">
            <a:avLst/>
          </a:prstGeom>
          <a:solidFill>
            <a:srgbClr val="FFFFFF"/>
          </a:solidFill>
          <a:ln w="12700">
            <a:solidFill>
              <a:srgbClr val="E8E8E0"/>
            </a:solidFill>
            <a:prstDash val="solid"/>
          </a:ln>
          <a:effectLst>
            <a:outerShdw blurRad="63500" dist="25400" dir="8100000" algn="bl" rotWithShape="0">
              <a:srgbClr val="000000">
                <a:alpha val="12000"/>
              </a:srgbClr>
            </a:outerShdw>
          </a:effectLst>
        </p:spPr>
        <p:txBody>
          <a:bodyPr/>
          <a:lstStyle/>
          <a:p>
            <a:endParaRPr lang="zh-TW" altLang="en-US"/>
          </a:p>
        </p:txBody>
      </p:sp>
      <p:sp>
        <p:nvSpPr>
          <p:cNvPr id="28" name="Shape 26"/>
          <p:cNvSpPr/>
          <p:nvPr/>
        </p:nvSpPr>
        <p:spPr>
          <a:xfrm>
            <a:off x="2514600" y="1024128"/>
            <a:ext cx="2084832" cy="457200"/>
          </a:xfrm>
          <a:prstGeom prst="rect">
            <a:avLst/>
          </a:prstGeom>
          <a:solidFill>
            <a:srgbClr val="3A1A7A"/>
          </a:solidFill>
          <a:ln w="12700">
            <a:solidFill>
              <a:srgbClr val="3A1A7A"/>
            </a:solidFill>
            <a:prstDash val="solid"/>
          </a:ln>
        </p:spPr>
        <p:txBody>
          <a:bodyPr/>
          <a:lstStyle/>
          <a:p>
            <a:endParaRPr lang="zh-TW" altLang="en-US"/>
          </a:p>
        </p:txBody>
      </p:sp>
      <p:sp>
        <p:nvSpPr>
          <p:cNvPr id="29" name="Text 27"/>
          <p:cNvSpPr/>
          <p:nvPr/>
        </p:nvSpPr>
        <p:spPr>
          <a:xfrm>
            <a:off x="2606040" y="1024128"/>
            <a:ext cx="19202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IPTC</a:t>
            </a:r>
            <a:endParaRPr lang="en-US" sz="1600" dirty="0"/>
          </a:p>
        </p:txBody>
      </p:sp>
      <p:sp>
        <p:nvSpPr>
          <p:cNvPr id="30" name="Text 28"/>
          <p:cNvSpPr/>
          <p:nvPr/>
        </p:nvSpPr>
        <p:spPr>
          <a:xfrm>
            <a:off x="2606040" y="1298448"/>
            <a:ext cx="1920240" cy="201168"/>
          </a:xfrm>
          <a:prstGeom prst="rect">
            <a:avLst/>
          </a:prstGeom>
          <a:noFill/>
          <a:ln/>
        </p:spPr>
        <p:txBody>
          <a:bodyPr wrap="square" lIns="0" tIns="0" rIns="0" bIns="0" rtlCol="0" anchor="ctr"/>
          <a:lstStyle/>
          <a:p>
            <a:pPr marL="0" indent="0">
              <a:buNone/>
            </a:pPr>
            <a:r>
              <a:rPr lang="en-US" sz="800" i="1" dirty="0">
                <a:solidFill>
                  <a:srgbClr val="CCE0FF"/>
                </a:solidFill>
                <a:latin typeface="Calibri" pitchFamily="34" charset="0"/>
                <a:ea typeface="Calibri" pitchFamily="34" charset="-122"/>
                <a:cs typeface="Calibri" pitchFamily="34" charset="-120"/>
              </a:rPr>
              <a:t>International Press Telecom. Council</a:t>
            </a:r>
            <a:endParaRPr lang="en-US" sz="800" dirty="0"/>
          </a:p>
        </p:txBody>
      </p:sp>
      <p:sp>
        <p:nvSpPr>
          <p:cNvPr id="31" name="Shape 29"/>
          <p:cNvSpPr/>
          <p:nvPr/>
        </p:nvSpPr>
        <p:spPr>
          <a:xfrm>
            <a:off x="2587752" y="1536192"/>
            <a:ext cx="1938528" cy="256032"/>
          </a:xfrm>
          <a:prstGeom prst="rect">
            <a:avLst/>
          </a:prstGeom>
          <a:solidFill>
            <a:srgbClr val="F0EFE8"/>
          </a:solidFill>
          <a:ln w="12700">
            <a:solidFill>
              <a:srgbClr val="E8E8E0"/>
            </a:solidFill>
            <a:prstDash val="solid"/>
          </a:ln>
        </p:spPr>
        <p:txBody>
          <a:bodyPr/>
          <a:lstStyle/>
          <a:p>
            <a:endParaRPr lang="zh-TW" altLang="en-US"/>
          </a:p>
        </p:txBody>
      </p:sp>
      <p:sp>
        <p:nvSpPr>
          <p:cNvPr id="32" name="Text 30"/>
          <p:cNvSpPr/>
          <p:nvPr/>
        </p:nvSpPr>
        <p:spPr>
          <a:xfrm>
            <a:off x="2606040" y="1536192"/>
            <a:ext cx="1920240" cy="256032"/>
          </a:xfrm>
          <a:prstGeom prst="rect">
            <a:avLst/>
          </a:prstGeom>
          <a:noFill/>
          <a:ln/>
        </p:spPr>
        <p:txBody>
          <a:bodyPr wrap="square" lIns="0" tIns="0" rIns="0" bIns="0" rtlCol="0" anchor="ctr"/>
          <a:lstStyle/>
          <a:p>
            <a:pPr marL="0" indent="0">
              <a:buNone/>
            </a:pPr>
            <a:r>
              <a:rPr lang="en-US" sz="850" dirty="0">
                <a:solidFill>
                  <a:srgbClr val="1E3A5F"/>
                </a:solidFill>
                <a:latin typeface="Calibri" pitchFamily="34" charset="0"/>
                <a:ea typeface="Calibri" pitchFamily="34" charset="-122"/>
                <a:cs typeface="Calibri" pitchFamily="34" charset="-120"/>
              </a:rPr>
              <a:t>📍 JPEG APP13 / TIFF tag 33723</a:t>
            </a:r>
            <a:endParaRPr lang="en-US" sz="850" dirty="0"/>
          </a:p>
        </p:txBody>
      </p:sp>
      <p:sp>
        <p:nvSpPr>
          <p:cNvPr id="33" name="Text 31"/>
          <p:cNvSpPr/>
          <p:nvPr/>
        </p:nvSpPr>
        <p:spPr>
          <a:xfrm>
            <a:off x="2606040" y="1810512"/>
            <a:ext cx="1920240" cy="201168"/>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 1990s 新聞媒體行業標準</a:t>
            </a:r>
            <a:endParaRPr lang="en-US" sz="800" dirty="0"/>
          </a:p>
        </p:txBody>
      </p:sp>
      <p:sp>
        <p:nvSpPr>
          <p:cNvPr id="34" name="Shape 32"/>
          <p:cNvSpPr/>
          <p:nvPr/>
        </p:nvSpPr>
        <p:spPr>
          <a:xfrm>
            <a:off x="2606040" y="2103120"/>
            <a:ext cx="54864" cy="128016"/>
          </a:xfrm>
          <a:prstGeom prst="rect">
            <a:avLst/>
          </a:prstGeom>
          <a:solidFill>
            <a:srgbClr val="3A1A7A"/>
          </a:solidFill>
          <a:ln w="12700">
            <a:solidFill>
              <a:srgbClr val="3A1A7A"/>
            </a:solidFill>
            <a:prstDash val="solid"/>
          </a:ln>
        </p:spPr>
        <p:txBody>
          <a:bodyPr/>
          <a:lstStyle/>
          <a:p>
            <a:endParaRPr lang="zh-TW" altLang="en-US"/>
          </a:p>
        </p:txBody>
      </p:sp>
      <p:sp>
        <p:nvSpPr>
          <p:cNvPr id="35" name="Text 33"/>
          <p:cNvSpPr/>
          <p:nvPr/>
        </p:nvSpPr>
        <p:spPr>
          <a:xfrm>
            <a:off x="2697480" y="204825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標題 / 說明文字（Caption / Headline）</a:t>
            </a:r>
            <a:endParaRPr lang="en-US" sz="950" dirty="0"/>
          </a:p>
        </p:txBody>
      </p:sp>
      <p:sp>
        <p:nvSpPr>
          <p:cNvPr id="36" name="Shape 34"/>
          <p:cNvSpPr/>
          <p:nvPr/>
        </p:nvSpPr>
        <p:spPr>
          <a:xfrm>
            <a:off x="2606040" y="2404872"/>
            <a:ext cx="54864" cy="128016"/>
          </a:xfrm>
          <a:prstGeom prst="rect">
            <a:avLst/>
          </a:prstGeom>
          <a:solidFill>
            <a:srgbClr val="3A1A7A"/>
          </a:solidFill>
          <a:ln w="12700">
            <a:solidFill>
              <a:srgbClr val="3A1A7A"/>
            </a:solidFill>
            <a:prstDash val="solid"/>
          </a:ln>
        </p:spPr>
        <p:txBody>
          <a:bodyPr/>
          <a:lstStyle/>
          <a:p>
            <a:endParaRPr lang="zh-TW" altLang="en-US"/>
          </a:p>
        </p:txBody>
      </p:sp>
      <p:sp>
        <p:nvSpPr>
          <p:cNvPr id="37" name="Text 35"/>
          <p:cNvSpPr/>
          <p:nvPr/>
        </p:nvSpPr>
        <p:spPr>
          <a:xfrm>
            <a:off x="2697480" y="2350008"/>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版權聲明（Copyright Notice）</a:t>
            </a:r>
            <a:endParaRPr lang="en-US" sz="950" dirty="0"/>
          </a:p>
        </p:txBody>
      </p:sp>
      <p:sp>
        <p:nvSpPr>
          <p:cNvPr id="38" name="Shape 36"/>
          <p:cNvSpPr/>
          <p:nvPr/>
        </p:nvSpPr>
        <p:spPr>
          <a:xfrm>
            <a:off x="2606040" y="2706624"/>
            <a:ext cx="54864" cy="128016"/>
          </a:xfrm>
          <a:prstGeom prst="rect">
            <a:avLst/>
          </a:prstGeom>
          <a:solidFill>
            <a:srgbClr val="3A1A7A"/>
          </a:solidFill>
          <a:ln w="12700">
            <a:solidFill>
              <a:srgbClr val="3A1A7A"/>
            </a:solidFill>
            <a:prstDash val="solid"/>
          </a:ln>
        </p:spPr>
        <p:txBody>
          <a:bodyPr/>
          <a:lstStyle/>
          <a:p>
            <a:endParaRPr lang="zh-TW" altLang="en-US"/>
          </a:p>
        </p:txBody>
      </p:sp>
      <p:sp>
        <p:nvSpPr>
          <p:cNvPr id="39" name="Text 37"/>
          <p:cNvSpPr/>
          <p:nvPr/>
        </p:nvSpPr>
        <p:spPr>
          <a:xfrm>
            <a:off x="2697480" y="2651760"/>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作者 / 攝影師（By-line）</a:t>
            </a:r>
            <a:endParaRPr lang="en-US" sz="950" dirty="0"/>
          </a:p>
        </p:txBody>
      </p:sp>
      <p:sp>
        <p:nvSpPr>
          <p:cNvPr id="40" name="Shape 38"/>
          <p:cNvSpPr/>
          <p:nvPr/>
        </p:nvSpPr>
        <p:spPr>
          <a:xfrm>
            <a:off x="2606040" y="3008376"/>
            <a:ext cx="54864" cy="128016"/>
          </a:xfrm>
          <a:prstGeom prst="rect">
            <a:avLst/>
          </a:prstGeom>
          <a:solidFill>
            <a:srgbClr val="3A1A7A"/>
          </a:solidFill>
          <a:ln w="12700">
            <a:solidFill>
              <a:srgbClr val="3A1A7A"/>
            </a:solidFill>
            <a:prstDash val="solid"/>
          </a:ln>
        </p:spPr>
        <p:txBody>
          <a:bodyPr/>
          <a:lstStyle/>
          <a:p>
            <a:endParaRPr lang="zh-TW" altLang="en-US"/>
          </a:p>
        </p:txBody>
      </p:sp>
      <p:sp>
        <p:nvSpPr>
          <p:cNvPr id="41" name="Text 39"/>
          <p:cNvSpPr/>
          <p:nvPr/>
        </p:nvSpPr>
        <p:spPr>
          <a:xfrm>
            <a:off x="2697480" y="2953512"/>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關鍵字（Keywords）</a:t>
            </a:r>
            <a:endParaRPr lang="en-US" sz="950" dirty="0"/>
          </a:p>
        </p:txBody>
      </p:sp>
      <p:sp>
        <p:nvSpPr>
          <p:cNvPr id="42" name="Shape 40"/>
          <p:cNvSpPr/>
          <p:nvPr/>
        </p:nvSpPr>
        <p:spPr>
          <a:xfrm>
            <a:off x="2606040" y="3310128"/>
            <a:ext cx="54864" cy="128016"/>
          </a:xfrm>
          <a:prstGeom prst="rect">
            <a:avLst/>
          </a:prstGeom>
          <a:solidFill>
            <a:srgbClr val="3A1A7A"/>
          </a:solidFill>
          <a:ln w="12700">
            <a:solidFill>
              <a:srgbClr val="3A1A7A"/>
            </a:solidFill>
            <a:prstDash val="solid"/>
          </a:ln>
        </p:spPr>
        <p:txBody>
          <a:bodyPr/>
          <a:lstStyle/>
          <a:p>
            <a:endParaRPr lang="zh-TW" altLang="en-US"/>
          </a:p>
        </p:txBody>
      </p:sp>
      <p:sp>
        <p:nvSpPr>
          <p:cNvPr id="43" name="Text 41"/>
          <p:cNvSpPr/>
          <p:nvPr/>
        </p:nvSpPr>
        <p:spPr>
          <a:xfrm>
            <a:off x="2697480" y="3255264"/>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城市 / 國家 / 地點（Location）</a:t>
            </a:r>
            <a:endParaRPr lang="en-US" sz="950" dirty="0"/>
          </a:p>
        </p:txBody>
      </p:sp>
      <p:sp>
        <p:nvSpPr>
          <p:cNvPr id="44" name="Shape 42"/>
          <p:cNvSpPr/>
          <p:nvPr/>
        </p:nvSpPr>
        <p:spPr>
          <a:xfrm>
            <a:off x="2606040" y="3611880"/>
            <a:ext cx="54864" cy="128016"/>
          </a:xfrm>
          <a:prstGeom prst="rect">
            <a:avLst/>
          </a:prstGeom>
          <a:solidFill>
            <a:srgbClr val="3A1A7A"/>
          </a:solidFill>
          <a:ln w="12700">
            <a:solidFill>
              <a:srgbClr val="3A1A7A"/>
            </a:solidFill>
            <a:prstDash val="solid"/>
          </a:ln>
        </p:spPr>
        <p:txBody>
          <a:bodyPr/>
          <a:lstStyle/>
          <a:p>
            <a:endParaRPr lang="zh-TW" altLang="en-US"/>
          </a:p>
        </p:txBody>
      </p:sp>
      <p:sp>
        <p:nvSpPr>
          <p:cNvPr id="45" name="Text 43"/>
          <p:cNvSpPr/>
          <p:nvPr/>
        </p:nvSpPr>
        <p:spPr>
          <a:xfrm>
            <a:off x="2697480" y="355701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緊急程度 / 類別（Urgency / Category）</a:t>
            </a:r>
            <a:endParaRPr lang="en-US" sz="950" dirty="0"/>
          </a:p>
        </p:txBody>
      </p:sp>
      <p:sp>
        <p:nvSpPr>
          <p:cNvPr id="46" name="Shape 44"/>
          <p:cNvSpPr/>
          <p:nvPr/>
        </p:nvSpPr>
        <p:spPr>
          <a:xfrm>
            <a:off x="2587752" y="3877056"/>
            <a:ext cx="1938528" cy="841248"/>
          </a:xfrm>
          <a:prstGeom prst="rect">
            <a:avLst/>
          </a:prstGeom>
          <a:solidFill>
            <a:srgbClr val="F0EFF8"/>
          </a:solidFill>
          <a:ln w="12700">
            <a:solidFill>
              <a:srgbClr val="3A1A7A"/>
            </a:solidFill>
            <a:prstDash val="solid"/>
          </a:ln>
        </p:spPr>
        <p:txBody>
          <a:bodyPr/>
          <a:lstStyle/>
          <a:p>
            <a:endParaRPr lang="zh-TW" altLang="en-US"/>
          </a:p>
        </p:txBody>
      </p:sp>
      <p:sp>
        <p:nvSpPr>
          <p:cNvPr id="47" name="Shape 45"/>
          <p:cNvSpPr/>
          <p:nvPr/>
        </p:nvSpPr>
        <p:spPr>
          <a:xfrm>
            <a:off x="2587752" y="3877056"/>
            <a:ext cx="54864" cy="841248"/>
          </a:xfrm>
          <a:prstGeom prst="rect">
            <a:avLst/>
          </a:prstGeom>
          <a:solidFill>
            <a:srgbClr val="3A1A7A"/>
          </a:solidFill>
          <a:ln w="12700">
            <a:solidFill>
              <a:srgbClr val="3A1A7A"/>
            </a:solidFill>
            <a:prstDash val="solid"/>
          </a:ln>
        </p:spPr>
        <p:txBody>
          <a:bodyPr/>
          <a:lstStyle/>
          <a:p>
            <a:endParaRPr lang="zh-TW" altLang="en-US"/>
          </a:p>
        </p:txBody>
      </p:sp>
      <p:sp>
        <p:nvSpPr>
          <p:cNvPr id="48" name="Text 46"/>
          <p:cNvSpPr/>
          <p:nvPr/>
        </p:nvSpPr>
        <p:spPr>
          <a:xfrm>
            <a:off x="2679192" y="3913632"/>
            <a:ext cx="1783080" cy="768096"/>
          </a:xfrm>
          <a:prstGeom prst="rect">
            <a:avLst/>
          </a:prstGeom>
          <a:noFill/>
          <a:ln/>
        </p:spPr>
        <p:txBody>
          <a:bodyPr wrap="square" lIns="0" tIns="0" rIns="0" bIns="0" rtlCol="0" anchor="t"/>
          <a:lstStyle/>
          <a:p>
            <a:pPr marL="0" indent="0">
              <a:buNone/>
            </a:pPr>
            <a:r>
              <a:rPr lang="en-US" sz="900" i="1" dirty="0">
                <a:solidFill>
                  <a:srgbClr val="1E3A5F"/>
                </a:solidFill>
                <a:latin typeface="Calibri" pitchFamily="34" charset="0"/>
                <a:ea typeface="Calibri" pitchFamily="34" charset="-122"/>
                <a:cs typeface="Calibri" pitchFamily="34" charset="-120"/>
              </a:rPr>
              <a:t>適合新聞圖庫管理，欄位偏向編輯內容</a:t>
            </a:r>
            <a:endParaRPr lang="en-US" sz="900" dirty="0"/>
          </a:p>
        </p:txBody>
      </p:sp>
      <p:sp>
        <p:nvSpPr>
          <p:cNvPr id="49" name="Shape 47"/>
          <p:cNvSpPr/>
          <p:nvPr/>
        </p:nvSpPr>
        <p:spPr>
          <a:xfrm>
            <a:off x="4709160" y="1024128"/>
            <a:ext cx="2084832" cy="3767328"/>
          </a:xfrm>
          <a:prstGeom prst="rect">
            <a:avLst/>
          </a:prstGeom>
          <a:solidFill>
            <a:srgbClr val="FFFFFF"/>
          </a:solidFill>
          <a:ln w="12700">
            <a:solidFill>
              <a:srgbClr val="E8E8E0"/>
            </a:solidFill>
            <a:prstDash val="solid"/>
          </a:ln>
          <a:effectLst>
            <a:outerShdw blurRad="63500" dist="25400" dir="8100000" algn="bl" rotWithShape="0">
              <a:srgbClr val="000000">
                <a:alpha val="12000"/>
              </a:srgbClr>
            </a:outerShdw>
          </a:effectLst>
        </p:spPr>
        <p:txBody>
          <a:bodyPr/>
          <a:lstStyle/>
          <a:p>
            <a:endParaRPr lang="zh-TW" altLang="en-US"/>
          </a:p>
        </p:txBody>
      </p:sp>
      <p:sp>
        <p:nvSpPr>
          <p:cNvPr id="50" name="Shape 48"/>
          <p:cNvSpPr/>
          <p:nvPr/>
        </p:nvSpPr>
        <p:spPr>
          <a:xfrm>
            <a:off x="4709160" y="1024128"/>
            <a:ext cx="2084832" cy="457200"/>
          </a:xfrm>
          <a:prstGeom prst="rect">
            <a:avLst/>
          </a:prstGeom>
          <a:solidFill>
            <a:srgbClr val="7A1A1A"/>
          </a:solidFill>
          <a:ln w="12700">
            <a:solidFill>
              <a:srgbClr val="7A1A1A"/>
            </a:solidFill>
            <a:prstDash val="solid"/>
          </a:ln>
        </p:spPr>
        <p:txBody>
          <a:bodyPr/>
          <a:lstStyle/>
          <a:p>
            <a:endParaRPr lang="zh-TW" altLang="en-US"/>
          </a:p>
        </p:txBody>
      </p:sp>
      <p:sp>
        <p:nvSpPr>
          <p:cNvPr id="51" name="Text 49"/>
          <p:cNvSpPr/>
          <p:nvPr/>
        </p:nvSpPr>
        <p:spPr>
          <a:xfrm>
            <a:off x="4800600" y="1024128"/>
            <a:ext cx="19202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XMP</a:t>
            </a:r>
            <a:endParaRPr lang="en-US" sz="1600" dirty="0"/>
          </a:p>
        </p:txBody>
      </p:sp>
      <p:sp>
        <p:nvSpPr>
          <p:cNvPr id="52" name="Text 50"/>
          <p:cNvSpPr/>
          <p:nvPr/>
        </p:nvSpPr>
        <p:spPr>
          <a:xfrm>
            <a:off x="4800600" y="1298448"/>
            <a:ext cx="1920240" cy="201168"/>
          </a:xfrm>
          <a:prstGeom prst="rect">
            <a:avLst/>
          </a:prstGeom>
          <a:noFill/>
          <a:ln/>
        </p:spPr>
        <p:txBody>
          <a:bodyPr wrap="square" lIns="0" tIns="0" rIns="0" bIns="0" rtlCol="0" anchor="ctr"/>
          <a:lstStyle/>
          <a:p>
            <a:pPr marL="0" indent="0">
              <a:buNone/>
            </a:pPr>
            <a:r>
              <a:rPr lang="en-US" sz="800" i="1" dirty="0">
                <a:solidFill>
                  <a:srgbClr val="CCE0FF"/>
                </a:solidFill>
                <a:latin typeface="Calibri" pitchFamily="34" charset="0"/>
                <a:ea typeface="Calibri" pitchFamily="34" charset="-122"/>
                <a:cs typeface="Calibri" pitchFamily="34" charset="-120"/>
              </a:rPr>
              <a:t>Extensible Metadata Platform</a:t>
            </a:r>
            <a:endParaRPr lang="en-US" sz="800" dirty="0"/>
          </a:p>
        </p:txBody>
      </p:sp>
      <p:sp>
        <p:nvSpPr>
          <p:cNvPr id="53" name="Shape 51"/>
          <p:cNvSpPr/>
          <p:nvPr/>
        </p:nvSpPr>
        <p:spPr>
          <a:xfrm>
            <a:off x="4782312" y="1536192"/>
            <a:ext cx="1938528" cy="256032"/>
          </a:xfrm>
          <a:prstGeom prst="rect">
            <a:avLst/>
          </a:prstGeom>
          <a:solidFill>
            <a:srgbClr val="F0EFE8"/>
          </a:solidFill>
          <a:ln w="12700">
            <a:solidFill>
              <a:srgbClr val="E8E8E0"/>
            </a:solidFill>
            <a:prstDash val="solid"/>
          </a:ln>
        </p:spPr>
        <p:txBody>
          <a:bodyPr/>
          <a:lstStyle/>
          <a:p>
            <a:endParaRPr lang="zh-TW" altLang="en-US"/>
          </a:p>
        </p:txBody>
      </p:sp>
      <p:sp>
        <p:nvSpPr>
          <p:cNvPr id="54" name="Text 52"/>
          <p:cNvSpPr/>
          <p:nvPr/>
        </p:nvSpPr>
        <p:spPr>
          <a:xfrm>
            <a:off x="4800600" y="1536192"/>
            <a:ext cx="1920240" cy="256032"/>
          </a:xfrm>
          <a:prstGeom prst="rect">
            <a:avLst/>
          </a:prstGeom>
          <a:noFill/>
          <a:ln/>
        </p:spPr>
        <p:txBody>
          <a:bodyPr wrap="square" lIns="0" tIns="0" rIns="0" bIns="0" rtlCol="0" anchor="ctr"/>
          <a:lstStyle/>
          <a:p>
            <a:pPr marL="0" indent="0">
              <a:buNone/>
            </a:pPr>
            <a:r>
              <a:rPr lang="en-US" sz="850" dirty="0">
                <a:solidFill>
                  <a:srgbClr val="1E3A5F"/>
                </a:solidFill>
                <a:latin typeface="Calibri" pitchFamily="34" charset="0"/>
                <a:ea typeface="Calibri" pitchFamily="34" charset="-122"/>
                <a:cs typeface="Calibri" pitchFamily="34" charset="-120"/>
              </a:rPr>
              <a:t>📍 JPEG APP1 / 獨立 .xmp sidecar / PDF / MP4 udta</a:t>
            </a:r>
            <a:endParaRPr lang="en-US" sz="850" dirty="0"/>
          </a:p>
        </p:txBody>
      </p:sp>
      <p:sp>
        <p:nvSpPr>
          <p:cNvPr id="55" name="Text 53"/>
          <p:cNvSpPr/>
          <p:nvPr/>
        </p:nvSpPr>
        <p:spPr>
          <a:xfrm>
            <a:off x="4800600" y="1810512"/>
            <a:ext cx="1920240" cy="201168"/>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 2001 Adobe 開放標準（基於 RDF/XML）</a:t>
            </a:r>
            <a:endParaRPr lang="en-US" sz="800" dirty="0"/>
          </a:p>
        </p:txBody>
      </p:sp>
      <p:sp>
        <p:nvSpPr>
          <p:cNvPr id="56" name="Shape 54"/>
          <p:cNvSpPr/>
          <p:nvPr/>
        </p:nvSpPr>
        <p:spPr>
          <a:xfrm>
            <a:off x="4800600" y="2103120"/>
            <a:ext cx="54864" cy="128016"/>
          </a:xfrm>
          <a:prstGeom prst="rect">
            <a:avLst/>
          </a:prstGeom>
          <a:solidFill>
            <a:srgbClr val="7A1A1A"/>
          </a:solidFill>
          <a:ln w="12700">
            <a:solidFill>
              <a:srgbClr val="7A1A1A"/>
            </a:solidFill>
            <a:prstDash val="solid"/>
          </a:ln>
        </p:spPr>
        <p:txBody>
          <a:bodyPr/>
          <a:lstStyle/>
          <a:p>
            <a:endParaRPr lang="zh-TW" altLang="en-US"/>
          </a:p>
        </p:txBody>
      </p:sp>
      <p:sp>
        <p:nvSpPr>
          <p:cNvPr id="57" name="Text 55"/>
          <p:cNvSpPr/>
          <p:nvPr/>
        </p:nvSpPr>
        <p:spPr>
          <a:xfrm>
            <a:off x="4892040" y="204825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完整 XML 結構，可任意擴充命名空間</a:t>
            </a:r>
            <a:endParaRPr lang="en-US" sz="950" dirty="0"/>
          </a:p>
        </p:txBody>
      </p:sp>
      <p:sp>
        <p:nvSpPr>
          <p:cNvPr id="58" name="Shape 56"/>
          <p:cNvSpPr/>
          <p:nvPr/>
        </p:nvSpPr>
        <p:spPr>
          <a:xfrm>
            <a:off x="4800600" y="2404872"/>
            <a:ext cx="54864" cy="128016"/>
          </a:xfrm>
          <a:prstGeom prst="rect">
            <a:avLst/>
          </a:prstGeom>
          <a:solidFill>
            <a:srgbClr val="7A1A1A"/>
          </a:solidFill>
          <a:ln w="12700">
            <a:solidFill>
              <a:srgbClr val="7A1A1A"/>
            </a:solidFill>
            <a:prstDash val="solid"/>
          </a:ln>
        </p:spPr>
        <p:txBody>
          <a:bodyPr/>
          <a:lstStyle/>
          <a:p>
            <a:endParaRPr lang="zh-TW" altLang="en-US"/>
          </a:p>
        </p:txBody>
      </p:sp>
      <p:sp>
        <p:nvSpPr>
          <p:cNvPr id="59" name="Text 57"/>
          <p:cNvSpPr/>
          <p:nvPr/>
        </p:nvSpPr>
        <p:spPr>
          <a:xfrm>
            <a:off x="4892040" y="2350008"/>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dc: Dublin Core（title, description, rights）</a:t>
            </a:r>
            <a:endParaRPr lang="en-US" sz="950" dirty="0"/>
          </a:p>
        </p:txBody>
      </p:sp>
      <p:sp>
        <p:nvSpPr>
          <p:cNvPr id="60" name="Shape 58"/>
          <p:cNvSpPr/>
          <p:nvPr/>
        </p:nvSpPr>
        <p:spPr>
          <a:xfrm>
            <a:off x="4800600" y="2706624"/>
            <a:ext cx="54864" cy="128016"/>
          </a:xfrm>
          <a:prstGeom prst="rect">
            <a:avLst/>
          </a:prstGeom>
          <a:solidFill>
            <a:srgbClr val="7A1A1A"/>
          </a:solidFill>
          <a:ln w="12700">
            <a:solidFill>
              <a:srgbClr val="7A1A1A"/>
            </a:solidFill>
            <a:prstDash val="solid"/>
          </a:ln>
        </p:spPr>
        <p:txBody>
          <a:bodyPr/>
          <a:lstStyle/>
          <a:p>
            <a:endParaRPr lang="zh-TW" altLang="en-US"/>
          </a:p>
        </p:txBody>
      </p:sp>
      <p:sp>
        <p:nvSpPr>
          <p:cNvPr id="61" name="Text 59"/>
          <p:cNvSpPr/>
          <p:nvPr/>
        </p:nvSpPr>
        <p:spPr>
          <a:xfrm>
            <a:off x="4892040" y="2651760"/>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xmp: 基本（CreateDate, ModifyDate, CreatorTool）</a:t>
            </a:r>
            <a:endParaRPr lang="en-US" sz="950" dirty="0"/>
          </a:p>
        </p:txBody>
      </p:sp>
      <p:sp>
        <p:nvSpPr>
          <p:cNvPr id="62" name="Shape 60"/>
          <p:cNvSpPr/>
          <p:nvPr/>
        </p:nvSpPr>
        <p:spPr>
          <a:xfrm>
            <a:off x="4800600" y="3008376"/>
            <a:ext cx="54864" cy="128016"/>
          </a:xfrm>
          <a:prstGeom prst="rect">
            <a:avLst/>
          </a:prstGeom>
          <a:solidFill>
            <a:srgbClr val="7A1A1A"/>
          </a:solidFill>
          <a:ln w="12700">
            <a:solidFill>
              <a:srgbClr val="7A1A1A"/>
            </a:solidFill>
            <a:prstDash val="solid"/>
          </a:ln>
        </p:spPr>
        <p:txBody>
          <a:bodyPr/>
          <a:lstStyle/>
          <a:p>
            <a:endParaRPr lang="zh-TW" altLang="en-US"/>
          </a:p>
        </p:txBody>
      </p:sp>
      <p:sp>
        <p:nvSpPr>
          <p:cNvPr id="63" name="Text 61"/>
          <p:cNvSpPr/>
          <p:nvPr/>
        </p:nvSpPr>
        <p:spPr>
          <a:xfrm>
            <a:off x="4892040" y="2953512"/>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photoshop: 後製資訊（ColorMode, ICCProfile）</a:t>
            </a:r>
            <a:endParaRPr lang="en-US" sz="950" dirty="0"/>
          </a:p>
        </p:txBody>
      </p:sp>
      <p:sp>
        <p:nvSpPr>
          <p:cNvPr id="64" name="Shape 62"/>
          <p:cNvSpPr/>
          <p:nvPr/>
        </p:nvSpPr>
        <p:spPr>
          <a:xfrm>
            <a:off x="4800600" y="3310128"/>
            <a:ext cx="54864" cy="128016"/>
          </a:xfrm>
          <a:prstGeom prst="rect">
            <a:avLst/>
          </a:prstGeom>
          <a:solidFill>
            <a:srgbClr val="7A1A1A"/>
          </a:solidFill>
          <a:ln w="12700">
            <a:solidFill>
              <a:srgbClr val="7A1A1A"/>
            </a:solidFill>
            <a:prstDash val="solid"/>
          </a:ln>
        </p:spPr>
        <p:txBody>
          <a:bodyPr/>
          <a:lstStyle/>
          <a:p>
            <a:endParaRPr lang="zh-TW" altLang="en-US"/>
          </a:p>
        </p:txBody>
      </p:sp>
      <p:sp>
        <p:nvSpPr>
          <p:cNvPr id="65" name="Text 63"/>
          <p:cNvSpPr/>
          <p:nvPr/>
        </p:nvSpPr>
        <p:spPr>
          <a:xfrm>
            <a:off x="4892040" y="3255264"/>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xmpMM: 修改歷程（OriginalDocumentID）</a:t>
            </a:r>
            <a:endParaRPr lang="en-US" sz="950" dirty="0"/>
          </a:p>
        </p:txBody>
      </p:sp>
      <p:sp>
        <p:nvSpPr>
          <p:cNvPr id="66" name="Shape 64"/>
          <p:cNvSpPr/>
          <p:nvPr/>
        </p:nvSpPr>
        <p:spPr>
          <a:xfrm>
            <a:off x="4800600" y="3611880"/>
            <a:ext cx="54864" cy="128016"/>
          </a:xfrm>
          <a:prstGeom prst="rect">
            <a:avLst/>
          </a:prstGeom>
          <a:solidFill>
            <a:srgbClr val="7A1A1A"/>
          </a:solidFill>
          <a:ln w="12700">
            <a:solidFill>
              <a:srgbClr val="7A1A1A"/>
            </a:solidFill>
            <a:prstDash val="solid"/>
          </a:ln>
        </p:spPr>
        <p:txBody>
          <a:bodyPr/>
          <a:lstStyle/>
          <a:p>
            <a:endParaRPr lang="zh-TW" altLang="en-US"/>
          </a:p>
        </p:txBody>
      </p:sp>
      <p:sp>
        <p:nvSpPr>
          <p:cNvPr id="67" name="Text 65"/>
          <p:cNvSpPr/>
          <p:nvPr/>
        </p:nvSpPr>
        <p:spPr>
          <a:xfrm>
            <a:off x="4892040" y="355701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可內嵌 EXIF / IPTC 的完整副本</a:t>
            </a:r>
            <a:endParaRPr lang="en-US" sz="950" dirty="0"/>
          </a:p>
        </p:txBody>
      </p:sp>
      <p:sp>
        <p:nvSpPr>
          <p:cNvPr id="68" name="Shape 66"/>
          <p:cNvSpPr/>
          <p:nvPr/>
        </p:nvSpPr>
        <p:spPr>
          <a:xfrm>
            <a:off x="4782312" y="3877056"/>
            <a:ext cx="1938528" cy="841248"/>
          </a:xfrm>
          <a:prstGeom prst="rect">
            <a:avLst/>
          </a:prstGeom>
          <a:solidFill>
            <a:srgbClr val="F0EFF8"/>
          </a:solidFill>
          <a:ln w="12700">
            <a:solidFill>
              <a:srgbClr val="7A1A1A"/>
            </a:solidFill>
            <a:prstDash val="solid"/>
          </a:ln>
        </p:spPr>
        <p:txBody>
          <a:bodyPr/>
          <a:lstStyle/>
          <a:p>
            <a:endParaRPr lang="zh-TW" altLang="en-US"/>
          </a:p>
        </p:txBody>
      </p:sp>
      <p:sp>
        <p:nvSpPr>
          <p:cNvPr id="69" name="Shape 67"/>
          <p:cNvSpPr/>
          <p:nvPr/>
        </p:nvSpPr>
        <p:spPr>
          <a:xfrm>
            <a:off x="4782312" y="3877056"/>
            <a:ext cx="54864" cy="841248"/>
          </a:xfrm>
          <a:prstGeom prst="rect">
            <a:avLst/>
          </a:prstGeom>
          <a:solidFill>
            <a:srgbClr val="7A1A1A"/>
          </a:solidFill>
          <a:ln w="12700">
            <a:solidFill>
              <a:srgbClr val="7A1A1A"/>
            </a:solidFill>
            <a:prstDash val="solid"/>
          </a:ln>
        </p:spPr>
        <p:txBody>
          <a:bodyPr/>
          <a:lstStyle/>
          <a:p>
            <a:endParaRPr lang="zh-TW" altLang="en-US"/>
          </a:p>
        </p:txBody>
      </p:sp>
      <p:sp>
        <p:nvSpPr>
          <p:cNvPr id="70" name="Text 68"/>
          <p:cNvSpPr/>
          <p:nvPr/>
        </p:nvSpPr>
        <p:spPr>
          <a:xfrm>
            <a:off x="4873752" y="3913632"/>
            <a:ext cx="1783080" cy="768096"/>
          </a:xfrm>
          <a:prstGeom prst="rect">
            <a:avLst/>
          </a:prstGeom>
          <a:noFill/>
          <a:ln/>
        </p:spPr>
        <p:txBody>
          <a:bodyPr wrap="square" lIns="0" tIns="0" rIns="0" bIns="0" rtlCol="0" anchor="t"/>
          <a:lstStyle/>
          <a:p>
            <a:pPr marL="0" indent="0">
              <a:buNone/>
            </a:pPr>
            <a:r>
              <a:rPr lang="en-US" sz="900" i="1" dirty="0">
                <a:solidFill>
                  <a:srgbClr val="1E3A5F"/>
                </a:solidFill>
                <a:latin typeface="Calibri" pitchFamily="34" charset="0"/>
                <a:ea typeface="Calibri" pitchFamily="34" charset="-122"/>
                <a:cs typeface="Calibri" pitchFamily="34" charset="-120"/>
              </a:rPr>
              <a:t>唯一支援 Unicode 全語系、可自訂欄位的標準</a:t>
            </a:r>
            <a:endParaRPr lang="en-US" sz="900" dirty="0"/>
          </a:p>
        </p:txBody>
      </p:sp>
      <p:sp>
        <p:nvSpPr>
          <p:cNvPr id="71" name="Shape 69"/>
          <p:cNvSpPr/>
          <p:nvPr/>
        </p:nvSpPr>
        <p:spPr>
          <a:xfrm>
            <a:off x="6903720" y="1024128"/>
            <a:ext cx="2084832" cy="3767328"/>
          </a:xfrm>
          <a:prstGeom prst="rect">
            <a:avLst/>
          </a:prstGeom>
          <a:solidFill>
            <a:srgbClr val="FFFFFF"/>
          </a:solidFill>
          <a:ln w="12700">
            <a:solidFill>
              <a:srgbClr val="E8E8E0"/>
            </a:solidFill>
            <a:prstDash val="solid"/>
          </a:ln>
          <a:effectLst>
            <a:outerShdw blurRad="63500" dist="25400" dir="8100000" algn="bl" rotWithShape="0">
              <a:srgbClr val="000000">
                <a:alpha val="12000"/>
              </a:srgbClr>
            </a:outerShdw>
          </a:effectLst>
        </p:spPr>
        <p:txBody>
          <a:bodyPr/>
          <a:lstStyle/>
          <a:p>
            <a:endParaRPr lang="zh-TW" altLang="en-US"/>
          </a:p>
        </p:txBody>
      </p:sp>
      <p:sp>
        <p:nvSpPr>
          <p:cNvPr id="72" name="Shape 70"/>
          <p:cNvSpPr/>
          <p:nvPr/>
        </p:nvSpPr>
        <p:spPr>
          <a:xfrm>
            <a:off x="6903720" y="1024128"/>
            <a:ext cx="2084832" cy="457200"/>
          </a:xfrm>
          <a:prstGeom prst="rect">
            <a:avLst/>
          </a:prstGeom>
          <a:solidFill>
            <a:srgbClr val="1A6A3A"/>
          </a:solidFill>
          <a:ln w="12700">
            <a:solidFill>
              <a:srgbClr val="1A6A3A"/>
            </a:solidFill>
            <a:prstDash val="solid"/>
          </a:ln>
        </p:spPr>
        <p:txBody>
          <a:bodyPr/>
          <a:lstStyle/>
          <a:p>
            <a:endParaRPr lang="zh-TW" altLang="en-US"/>
          </a:p>
        </p:txBody>
      </p:sp>
      <p:sp>
        <p:nvSpPr>
          <p:cNvPr id="73" name="Text 71"/>
          <p:cNvSpPr/>
          <p:nvPr/>
        </p:nvSpPr>
        <p:spPr>
          <a:xfrm>
            <a:off x="6995160" y="1093797"/>
            <a:ext cx="1920240" cy="274320"/>
          </a:xfrm>
          <a:prstGeom prst="rect">
            <a:avLst/>
          </a:prstGeom>
          <a:noFill/>
          <a:ln/>
        </p:spPr>
        <p:txBody>
          <a:bodyPr wrap="square" lIns="0" tIns="0" rIns="0" bIns="0" rtlCol="0" anchor="ctr"/>
          <a:lstStyle/>
          <a:p>
            <a:pPr marL="0" indent="0">
              <a:buNone/>
            </a:pPr>
            <a:r>
              <a:rPr lang="en-US" sz="1600" b="1" dirty="0">
                <a:solidFill>
                  <a:srgbClr val="FFFFFF"/>
                </a:solidFill>
                <a:latin typeface="Calibri" pitchFamily="34" charset="0"/>
                <a:ea typeface="Calibri" pitchFamily="34" charset="-122"/>
                <a:cs typeface="Calibri" pitchFamily="34" charset="-120"/>
              </a:rPr>
              <a:t>ICC Profile</a:t>
            </a:r>
            <a:endParaRPr lang="en-US" sz="1600" dirty="0"/>
          </a:p>
          <a:p>
            <a:pPr marL="0" indent="0">
              <a:buNone/>
            </a:pPr>
            <a:r>
              <a:rPr lang="en-US" sz="1600" b="1" dirty="0">
                <a:solidFill>
                  <a:srgbClr val="FFFFFF"/>
                </a:solidFill>
                <a:latin typeface="Calibri" pitchFamily="34" charset="0"/>
                <a:ea typeface="Calibri" pitchFamily="34" charset="-122"/>
                <a:cs typeface="Calibri" pitchFamily="34" charset="-120"/>
              </a:rPr>
              <a:t>+ GeoTIFF</a:t>
            </a:r>
            <a:endParaRPr lang="en-US" sz="1600" dirty="0"/>
          </a:p>
        </p:txBody>
      </p:sp>
      <p:sp>
        <p:nvSpPr>
          <p:cNvPr id="74" name="Text 72"/>
          <p:cNvSpPr/>
          <p:nvPr/>
        </p:nvSpPr>
        <p:spPr>
          <a:xfrm>
            <a:off x="7891272" y="1316736"/>
            <a:ext cx="1920240" cy="201168"/>
          </a:xfrm>
          <a:prstGeom prst="rect">
            <a:avLst/>
          </a:prstGeom>
          <a:noFill/>
          <a:ln/>
        </p:spPr>
        <p:txBody>
          <a:bodyPr wrap="square" lIns="0" tIns="0" rIns="0" bIns="0" rtlCol="0" anchor="ctr"/>
          <a:lstStyle/>
          <a:p>
            <a:pPr marL="0" indent="0">
              <a:buNone/>
            </a:pPr>
            <a:r>
              <a:rPr lang="en-US" sz="800" i="1" dirty="0">
                <a:solidFill>
                  <a:srgbClr val="CCE0FF"/>
                </a:solidFill>
                <a:latin typeface="Calibri" pitchFamily="34" charset="0"/>
                <a:ea typeface="Calibri" pitchFamily="34" charset="-122"/>
                <a:cs typeface="Calibri" pitchFamily="34" charset="-120"/>
              </a:rPr>
              <a:t>色彩描述 + 地理座標</a:t>
            </a:r>
            <a:endParaRPr lang="en-US" sz="800" dirty="0"/>
          </a:p>
        </p:txBody>
      </p:sp>
      <p:sp>
        <p:nvSpPr>
          <p:cNvPr id="75" name="Shape 73"/>
          <p:cNvSpPr/>
          <p:nvPr/>
        </p:nvSpPr>
        <p:spPr>
          <a:xfrm>
            <a:off x="6976872" y="1536192"/>
            <a:ext cx="1938528" cy="256032"/>
          </a:xfrm>
          <a:prstGeom prst="rect">
            <a:avLst/>
          </a:prstGeom>
          <a:solidFill>
            <a:srgbClr val="F0EFE8"/>
          </a:solidFill>
          <a:ln w="12700">
            <a:solidFill>
              <a:srgbClr val="E8E8E0"/>
            </a:solidFill>
            <a:prstDash val="solid"/>
          </a:ln>
        </p:spPr>
        <p:txBody>
          <a:bodyPr/>
          <a:lstStyle/>
          <a:p>
            <a:endParaRPr lang="zh-TW" altLang="en-US"/>
          </a:p>
        </p:txBody>
      </p:sp>
      <p:sp>
        <p:nvSpPr>
          <p:cNvPr id="76" name="Text 74"/>
          <p:cNvSpPr/>
          <p:nvPr/>
        </p:nvSpPr>
        <p:spPr>
          <a:xfrm>
            <a:off x="6995160" y="1536192"/>
            <a:ext cx="1920240" cy="256032"/>
          </a:xfrm>
          <a:prstGeom prst="rect">
            <a:avLst/>
          </a:prstGeom>
          <a:noFill/>
          <a:ln/>
        </p:spPr>
        <p:txBody>
          <a:bodyPr wrap="square" lIns="0" tIns="0" rIns="0" bIns="0" rtlCol="0" anchor="ctr"/>
          <a:lstStyle/>
          <a:p>
            <a:pPr marL="0" indent="0">
              <a:buNone/>
            </a:pPr>
            <a:r>
              <a:rPr lang="en-US" sz="850" dirty="0">
                <a:solidFill>
                  <a:srgbClr val="1E3A5F"/>
                </a:solidFill>
                <a:latin typeface="Calibri" pitchFamily="34" charset="0"/>
                <a:ea typeface="Calibri" pitchFamily="34" charset="-122"/>
                <a:cs typeface="Calibri" pitchFamily="34" charset="-120"/>
              </a:rPr>
              <a:t>📍 PNG iCCP chunk / JPEG APP2 / TIFF tag 34675</a:t>
            </a:r>
            <a:endParaRPr lang="en-US" sz="850" dirty="0"/>
          </a:p>
        </p:txBody>
      </p:sp>
      <p:sp>
        <p:nvSpPr>
          <p:cNvPr id="77" name="Text 75"/>
          <p:cNvSpPr/>
          <p:nvPr/>
        </p:nvSpPr>
        <p:spPr>
          <a:xfrm>
            <a:off x="6995160" y="1810512"/>
            <a:ext cx="1920240" cy="201168"/>
          </a:xfrm>
          <a:prstGeom prst="rect">
            <a:avLst/>
          </a:prstGeom>
          <a:noFill/>
          <a:ln/>
        </p:spPr>
        <p:txBody>
          <a:bodyPr wrap="square" lIns="0" tIns="0" rIns="0" bIns="0" rtlCol="0" anchor="ctr"/>
          <a:lstStyle/>
          <a:p>
            <a:pPr marL="0" indent="0">
              <a:buNone/>
            </a:pPr>
            <a:r>
              <a:rPr lang="en-US" sz="800" i="1" dirty="0">
                <a:solidFill>
                  <a:srgbClr val="6B7280"/>
                </a:solidFill>
                <a:latin typeface="Calibri" pitchFamily="34" charset="0"/>
                <a:ea typeface="Calibri" pitchFamily="34" charset="-122"/>
                <a:cs typeface="Calibri" pitchFamily="34" charset="-120"/>
              </a:rPr>
              <a:t>🗓 ICC 1993；GeoTIFF 1995</a:t>
            </a:r>
            <a:endParaRPr lang="en-US" sz="800" dirty="0"/>
          </a:p>
        </p:txBody>
      </p:sp>
      <p:sp>
        <p:nvSpPr>
          <p:cNvPr id="78" name="Shape 76"/>
          <p:cNvSpPr/>
          <p:nvPr/>
        </p:nvSpPr>
        <p:spPr>
          <a:xfrm>
            <a:off x="6995160" y="2103120"/>
            <a:ext cx="54864" cy="128016"/>
          </a:xfrm>
          <a:prstGeom prst="rect">
            <a:avLst/>
          </a:prstGeom>
          <a:solidFill>
            <a:srgbClr val="1A6A3A"/>
          </a:solidFill>
          <a:ln w="12700">
            <a:solidFill>
              <a:srgbClr val="1A6A3A"/>
            </a:solidFill>
            <a:prstDash val="solid"/>
          </a:ln>
        </p:spPr>
        <p:txBody>
          <a:bodyPr/>
          <a:lstStyle/>
          <a:p>
            <a:endParaRPr lang="zh-TW" altLang="en-US"/>
          </a:p>
        </p:txBody>
      </p:sp>
      <p:sp>
        <p:nvSpPr>
          <p:cNvPr id="79" name="Text 77"/>
          <p:cNvSpPr/>
          <p:nvPr/>
        </p:nvSpPr>
        <p:spPr>
          <a:xfrm>
            <a:off x="7086600" y="204825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ICC Profile：描述色彩空間（sRGB / AdobeRGB…）</a:t>
            </a:r>
            <a:endParaRPr lang="en-US" sz="950" dirty="0"/>
          </a:p>
        </p:txBody>
      </p:sp>
      <p:sp>
        <p:nvSpPr>
          <p:cNvPr id="80" name="Shape 78"/>
          <p:cNvSpPr/>
          <p:nvPr/>
        </p:nvSpPr>
        <p:spPr>
          <a:xfrm>
            <a:off x="6995160" y="2404872"/>
            <a:ext cx="54864" cy="128016"/>
          </a:xfrm>
          <a:prstGeom prst="rect">
            <a:avLst/>
          </a:prstGeom>
          <a:solidFill>
            <a:srgbClr val="1A6A3A"/>
          </a:solidFill>
          <a:ln w="12700">
            <a:solidFill>
              <a:srgbClr val="1A6A3A"/>
            </a:solidFill>
            <a:prstDash val="solid"/>
          </a:ln>
        </p:spPr>
        <p:txBody>
          <a:bodyPr/>
          <a:lstStyle/>
          <a:p>
            <a:endParaRPr lang="zh-TW" altLang="en-US"/>
          </a:p>
        </p:txBody>
      </p:sp>
      <p:sp>
        <p:nvSpPr>
          <p:cNvPr id="81" name="Text 79"/>
          <p:cNvSpPr/>
          <p:nvPr/>
        </p:nvSpPr>
        <p:spPr>
          <a:xfrm>
            <a:off x="7086600" y="2350008"/>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含色彩轉換矩陣，確保跨裝置色彩一致</a:t>
            </a:r>
            <a:endParaRPr lang="en-US" sz="950" dirty="0"/>
          </a:p>
        </p:txBody>
      </p:sp>
      <p:sp>
        <p:nvSpPr>
          <p:cNvPr id="82" name="Shape 80"/>
          <p:cNvSpPr/>
          <p:nvPr/>
        </p:nvSpPr>
        <p:spPr>
          <a:xfrm>
            <a:off x="6995160" y="2706624"/>
            <a:ext cx="54864" cy="128016"/>
          </a:xfrm>
          <a:prstGeom prst="rect">
            <a:avLst/>
          </a:prstGeom>
          <a:solidFill>
            <a:srgbClr val="1A6A3A"/>
          </a:solidFill>
          <a:ln w="12700">
            <a:solidFill>
              <a:srgbClr val="1A6A3A"/>
            </a:solidFill>
            <a:prstDash val="solid"/>
          </a:ln>
        </p:spPr>
        <p:txBody>
          <a:bodyPr/>
          <a:lstStyle/>
          <a:p>
            <a:endParaRPr lang="zh-TW" altLang="en-US"/>
          </a:p>
        </p:txBody>
      </p:sp>
      <p:sp>
        <p:nvSpPr>
          <p:cNvPr id="83" name="Text 81"/>
          <p:cNvSpPr/>
          <p:nvPr/>
        </p:nvSpPr>
        <p:spPr>
          <a:xfrm>
            <a:off x="7086600" y="2651760"/>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GeoTIFF Tag 33922：像素→地理座標變換</a:t>
            </a:r>
            <a:endParaRPr lang="en-US" sz="950" dirty="0"/>
          </a:p>
        </p:txBody>
      </p:sp>
      <p:sp>
        <p:nvSpPr>
          <p:cNvPr id="84" name="Shape 82"/>
          <p:cNvSpPr/>
          <p:nvPr/>
        </p:nvSpPr>
        <p:spPr>
          <a:xfrm>
            <a:off x="6995160" y="3008376"/>
            <a:ext cx="54864" cy="128016"/>
          </a:xfrm>
          <a:prstGeom prst="rect">
            <a:avLst/>
          </a:prstGeom>
          <a:solidFill>
            <a:srgbClr val="1A6A3A"/>
          </a:solidFill>
          <a:ln w="12700">
            <a:solidFill>
              <a:srgbClr val="1A6A3A"/>
            </a:solidFill>
            <a:prstDash val="solid"/>
          </a:ln>
        </p:spPr>
        <p:txBody>
          <a:bodyPr/>
          <a:lstStyle/>
          <a:p>
            <a:endParaRPr lang="zh-TW" altLang="en-US"/>
          </a:p>
        </p:txBody>
      </p:sp>
      <p:sp>
        <p:nvSpPr>
          <p:cNvPr id="85" name="Text 83"/>
          <p:cNvSpPr/>
          <p:nvPr/>
        </p:nvSpPr>
        <p:spPr>
          <a:xfrm>
            <a:off x="7086600" y="2953512"/>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Tag 34264：ModelTransformation（仿射矩陣）</a:t>
            </a:r>
            <a:endParaRPr lang="en-US" sz="950" dirty="0"/>
          </a:p>
        </p:txBody>
      </p:sp>
      <p:sp>
        <p:nvSpPr>
          <p:cNvPr id="86" name="Shape 84"/>
          <p:cNvSpPr/>
          <p:nvPr/>
        </p:nvSpPr>
        <p:spPr>
          <a:xfrm>
            <a:off x="6995160" y="3310128"/>
            <a:ext cx="54864" cy="128016"/>
          </a:xfrm>
          <a:prstGeom prst="rect">
            <a:avLst/>
          </a:prstGeom>
          <a:solidFill>
            <a:srgbClr val="1A6A3A"/>
          </a:solidFill>
          <a:ln w="12700">
            <a:solidFill>
              <a:srgbClr val="1A6A3A"/>
            </a:solidFill>
            <a:prstDash val="solid"/>
          </a:ln>
        </p:spPr>
        <p:txBody>
          <a:bodyPr/>
          <a:lstStyle/>
          <a:p>
            <a:endParaRPr lang="zh-TW" altLang="en-US"/>
          </a:p>
        </p:txBody>
      </p:sp>
      <p:sp>
        <p:nvSpPr>
          <p:cNvPr id="87" name="Text 85"/>
          <p:cNvSpPr/>
          <p:nvPr/>
        </p:nvSpPr>
        <p:spPr>
          <a:xfrm>
            <a:off x="7086600" y="3255264"/>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Tag 34736：GeoKeyDirectory（投影參數）</a:t>
            </a:r>
            <a:endParaRPr lang="en-US" sz="950" dirty="0"/>
          </a:p>
        </p:txBody>
      </p:sp>
      <p:sp>
        <p:nvSpPr>
          <p:cNvPr id="88" name="Shape 86"/>
          <p:cNvSpPr/>
          <p:nvPr/>
        </p:nvSpPr>
        <p:spPr>
          <a:xfrm>
            <a:off x="6995160" y="3611880"/>
            <a:ext cx="54864" cy="128016"/>
          </a:xfrm>
          <a:prstGeom prst="rect">
            <a:avLst/>
          </a:prstGeom>
          <a:solidFill>
            <a:srgbClr val="1A6A3A"/>
          </a:solidFill>
          <a:ln w="12700">
            <a:solidFill>
              <a:srgbClr val="1A6A3A"/>
            </a:solidFill>
            <a:prstDash val="solid"/>
          </a:ln>
        </p:spPr>
        <p:txBody>
          <a:bodyPr/>
          <a:lstStyle/>
          <a:p>
            <a:endParaRPr lang="zh-TW" altLang="en-US"/>
          </a:p>
        </p:txBody>
      </p:sp>
      <p:sp>
        <p:nvSpPr>
          <p:cNvPr id="89" name="Text 87"/>
          <p:cNvSpPr/>
          <p:nvPr/>
        </p:nvSpPr>
        <p:spPr>
          <a:xfrm>
            <a:off x="7086600" y="3557016"/>
            <a:ext cx="1828800" cy="274320"/>
          </a:xfrm>
          <a:prstGeom prst="rect">
            <a:avLst/>
          </a:prstGeom>
          <a:noFill/>
          <a:ln/>
        </p:spPr>
        <p:txBody>
          <a:bodyPr wrap="square" lIns="0" tIns="0" rIns="0" bIns="0" rtlCol="0" anchor="ctr"/>
          <a:lstStyle/>
          <a:p>
            <a:pPr marL="0" indent="0">
              <a:buNone/>
            </a:pPr>
            <a:r>
              <a:rPr lang="en-US" sz="950" dirty="0">
                <a:solidFill>
                  <a:srgbClr val="1A1A1A"/>
                </a:solidFill>
                <a:latin typeface="Calibri" pitchFamily="34" charset="0"/>
                <a:ea typeface="Calibri" pitchFamily="34" charset="-122"/>
                <a:cs typeface="Calibri" pitchFamily="34" charset="-120"/>
              </a:rPr>
              <a:t>GeoTIFF 是 GIS / 衛星影像的必備標準</a:t>
            </a:r>
            <a:endParaRPr lang="en-US" sz="950" dirty="0"/>
          </a:p>
        </p:txBody>
      </p:sp>
      <p:sp>
        <p:nvSpPr>
          <p:cNvPr id="90" name="Shape 88"/>
          <p:cNvSpPr/>
          <p:nvPr/>
        </p:nvSpPr>
        <p:spPr>
          <a:xfrm>
            <a:off x="6976872" y="3877056"/>
            <a:ext cx="1938528" cy="841248"/>
          </a:xfrm>
          <a:prstGeom prst="rect">
            <a:avLst/>
          </a:prstGeom>
          <a:solidFill>
            <a:srgbClr val="F0EFF8"/>
          </a:solidFill>
          <a:ln w="12700">
            <a:solidFill>
              <a:srgbClr val="1A6A3A"/>
            </a:solidFill>
            <a:prstDash val="solid"/>
          </a:ln>
        </p:spPr>
        <p:txBody>
          <a:bodyPr/>
          <a:lstStyle/>
          <a:p>
            <a:endParaRPr lang="zh-TW" altLang="en-US"/>
          </a:p>
        </p:txBody>
      </p:sp>
      <p:sp>
        <p:nvSpPr>
          <p:cNvPr id="91" name="Shape 89"/>
          <p:cNvSpPr/>
          <p:nvPr/>
        </p:nvSpPr>
        <p:spPr>
          <a:xfrm>
            <a:off x="6976872" y="3877056"/>
            <a:ext cx="54864" cy="841248"/>
          </a:xfrm>
          <a:prstGeom prst="rect">
            <a:avLst/>
          </a:prstGeom>
          <a:solidFill>
            <a:srgbClr val="1A6A3A"/>
          </a:solidFill>
          <a:ln w="12700">
            <a:solidFill>
              <a:srgbClr val="1A6A3A"/>
            </a:solidFill>
            <a:prstDash val="solid"/>
          </a:ln>
        </p:spPr>
        <p:txBody>
          <a:bodyPr/>
          <a:lstStyle/>
          <a:p>
            <a:endParaRPr lang="zh-TW" altLang="en-US"/>
          </a:p>
        </p:txBody>
      </p:sp>
      <p:sp>
        <p:nvSpPr>
          <p:cNvPr id="92" name="Text 90"/>
          <p:cNvSpPr/>
          <p:nvPr/>
        </p:nvSpPr>
        <p:spPr>
          <a:xfrm>
            <a:off x="7068312" y="3913632"/>
            <a:ext cx="1783080" cy="768096"/>
          </a:xfrm>
          <a:prstGeom prst="rect">
            <a:avLst/>
          </a:prstGeom>
          <a:noFill/>
          <a:ln/>
        </p:spPr>
        <p:txBody>
          <a:bodyPr wrap="square" lIns="0" tIns="0" rIns="0" bIns="0" rtlCol="0" anchor="t"/>
          <a:lstStyle/>
          <a:p>
            <a:pPr marL="0" indent="0">
              <a:buNone/>
            </a:pPr>
            <a:r>
              <a:rPr lang="en-US" sz="900" i="1" dirty="0">
                <a:solidFill>
                  <a:srgbClr val="1E3A5F"/>
                </a:solidFill>
                <a:latin typeface="Calibri" pitchFamily="34" charset="0"/>
                <a:ea typeface="Calibri" pitchFamily="34" charset="-122"/>
                <a:cs typeface="Calibri" pitchFamily="34" charset="-120"/>
              </a:rPr>
              <a:t>ICC 管色彩，GeoTIFF 管地圖座標</a:t>
            </a:r>
            <a:endParaRPr lang="en-US" sz="900" dirty="0"/>
          </a:p>
        </p:txBody>
      </p:sp>
      <p:sp>
        <p:nvSpPr>
          <p:cNvPr id="94" name="Text 92"/>
          <p:cNvSpPr/>
          <p:nvPr/>
        </p:nvSpPr>
        <p:spPr>
          <a:xfrm>
            <a:off x="274320" y="4864608"/>
            <a:ext cx="6400800" cy="274320"/>
          </a:xfrm>
          <a:prstGeom prst="rect">
            <a:avLst/>
          </a:prstGeom>
          <a:noFill/>
          <a:ln/>
        </p:spPr>
        <p:txBody>
          <a:bodyPr wrap="square" lIns="0" tIns="0" rIns="0" bIns="0" rtlCol="0" anchor="ctr"/>
          <a:lstStyle/>
          <a:p>
            <a:pPr marL="0" indent="0">
              <a:buNone/>
            </a:pPr>
            <a:r>
              <a:rPr lang="en-US" sz="800" dirty="0">
                <a:solidFill>
                  <a:srgbClr val="FFFFFF"/>
                </a:solidFill>
              </a:rPr>
              <a:t>嵌入式電腦視覺  ·  影像格式與 Metadata</a:t>
            </a:r>
            <a:endParaRPr lang="en-US" sz="800" dirty="0"/>
          </a:p>
        </p:txBody>
      </p:sp>
      <p:sp>
        <p:nvSpPr>
          <p:cNvPr id="95" name="Text 93"/>
          <p:cNvSpPr/>
          <p:nvPr/>
        </p:nvSpPr>
        <p:spPr>
          <a:xfrm>
            <a:off x="8503920" y="4864608"/>
            <a:ext cx="548640" cy="274320"/>
          </a:xfrm>
          <a:prstGeom prst="rect">
            <a:avLst/>
          </a:prstGeom>
          <a:noFill/>
          <a:ln/>
        </p:spPr>
        <p:txBody>
          <a:bodyPr wrap="square" lIns="0" tIns="0" rIns="0" bIns="0" rtlCol="0" anchor="ctr"/>
          <a:lstStyle/>
          <a:p>
            <a:pPr marL="0" indent="0" algn="r">
              <a:buNone/>
            </a:pPr>
            <a:r>
              <a:rPr lang="en-US" sz="800" dirty="0">
                <a:solidFill>
                  <a:srgbClr val="FFFFFF"/>
                </a:solidFill>
              </a:rPr>
              <a:t>2</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320040" y="228600"/>
            <a:ext cx="73152" cy="82296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502920" y="201168"/>
            <a:ext cx="8321040" cy="502920"/>
          </a:xfrm>
          <a:prstGeom prst="rect">
            <a:avLst/>
          </a:prstGeom>
          <a:noFill/>
          <a:ln/>
        </p:spPr>
        <p:txBody>
          <a:bodyPr wrap="square" lIns="0" tIns="0" rIns="0" bIns="0" rtlCol="0" anchor="ctr"/>
          <a:lstStyle/>
          <a:p>
            <a:pPr marL="0" indent="0">
              <a:buNone/>
            </a:pPr>
            <a:r>
              <a:rPr lang="en-US" sz="2400" b="1" dirty="0">
                <a:solidFill>
                  <a:srgbClr val="1E3A5F"/>
                </a:solidFill>
                <a:latin typeface="Calibri" pitchFamily="34" charset="0"/>
                <a:ea typeface="Calibri" pitchFamily="34" charset="-122"/>
                <a:cs typeface="Calibri" pitchFamily="34" charset="-120"/>
              </a:rPr>
              <a:t>實務：Python 讀取影像檔頭與 Metadata</a:t>
            </a:r>
            <a:endParaRPr lang="en-US" sz="2400" dirty="0"/>
          </a:p>
        </p:txBody>
      </p:sp>
      <p:sp>
        <p:nvSpPr>
          <p:cNvPr id="4" name="Text 2"/>
          <p:cNvSpPr/>
          <p:nvPr/>
        </p:nvSpPr>
        <p:spPr>
          <a:xfrm>
            <a:off x="502920" y="713232"/>
            <a:ext cx="7772400" cy="320040"/>
          </a:xfrm>
          <a:prstGeom prst="rect">
            <a:avLst/>
          </a:prstGeom>
          <a:noFill/>
          <a:ln/>
        </p:spPr>
        <p:txBody>
          <a:bodyPr wrap="square" lIns="0" tIns="0" rIns="0" bIns="0" rtlCol="0" anchor="t"/>
          <a:lstStyle/>
          <a:p>
            <a:pPr marL="0" indent="0">
              <a:buNone/>
            </a:pPr>
            <a:r>
              <a:rPr lang="en-US" sz="1200" i="1" dirty="0">
                <a:solidFill>
                  <a:srgbClr val="6B7280"/>
                </a:solidFill>
                <a:latin typeface="Calibri" pitchFamily="34" charset="0"/>
                <a:ea typeface="Calibri" pitchFamily="34" charset="-122"/>
                <a:cs typeface="Calibri" pitchFamily="34" charset="-120"/>
              </a:rPr>
              <a:t>hexdump 看 Magic Bytes · Pillow 讀 EXIF · exiftool 一次看全部</a:t>
            </a:r>
            <a:endParaRPr lang="en-US" sz="1200" dirty="0"/>
          </a:p>
        </p:txBody>
      </p:sp>
      <p:sp>
        <p:nvSpPr>
          <p:cNvPr id="5" name="Shape 3"/>
          <p:cNvSpPr/>
          <p:nvPr/>
        </p:nvSpPr>
        <p:spPr>
          <a:xfrm>
            <a:off x="320040" y="1024128"/>
            <a:ext cx="4160520" cy="1746504"/>
          </a:xfrm>
          <a:prstGeom prst="rect">
            <a:avLst/>
          </a:prstGeom>
          <a:solidFill>
            <a:srgbClr val="1E1E1E"/>
          </a:solidFill>
          <a:ln w="12700">
            <a:solidFill>
              <a:srgbClr val="444444"/>
            </a:solidFill>
            <a:prstDash val="solid"/>
          </a:ln>
        </p:spPr>
        <p:txBody>
          <a:bodyPr/>
          <a:lstStyle/>
          <a:p>
            <a:endParaRPr lang="zh-TW" altLang="en-US"/>
          </a:p>
        </p:txBody>
      </p:sp>
      <p:sp>
        <p:nvSpPr>
          <p:cNvPr id="6" name="Text 4"/>
          <p:cNvSpPr/>
          <p:nvPr/>
        </p:nvSpPr>
        <p:spPr>
          <a:xfrm>
            <a:off x="457200" y="1060704"/>
            <a:ext cx="3931920" cy="228600"/>
          </a:xfrm>
          <a:prstGeom prst="rect">
            <a:avLst/>
          </a:prstGeom>
          <a:noFill/>
          <a:ln/>
        </p:spPr>
        <p:txBody>
          <a:bodyPr wrap="square" lIns="0" tIns="0" rIns="0" bIns="0" rtlCol="0" anchor="ctr"/>
          <a:lstStyle/>
          <a:p>
            <a:pPr marL="0" indent="0">
              <a:buNone/>
            </a:pPr>
            <a:r>
              <a:rPr lang="en-US" sz="1000" dirty="0">
                <a:solidFill>
                  <a:srgbClr val="6A9955"/>
                </a:solidFill>
                <a:latin typeface="Consolas" pitchFamily="34" charset="0"/>
                <a:ea typeface="Consolas" pitchFamily="34" charset="-122"/>
                <a:cs typeface="Consolas" pitchFamily="34" charset="-120"/>
              </a:rPr>
              <a:t># ① 直接看 Magic Bytes（檔頭）</a:t>
            </a:r>
            <a:endParaRPr lang="en-US" sz="1000" dirty="0"/>
          </a:p>
        </p:txBody>
      </p:sp>
      <p:sp>
        <p:nvSpPr>
          <p:cNvPr id="7" name="Text 5"/>
          <p:cNvSpPr/>
          <p:nvPr/>
        </p:nvSpPr>
        <p:spPr>
          <a:xfrm>
            <a:off x="457200" y="1298448"/>
            <a:ext cx="3931920" cy="1353312"/>
          </a:xfrm>
          <a:prstGeom prst="rect">
            <a:avLst/>
          </a:prstGeom>
          <a:noFill/>
          <a:ln/>
        </p:spPr>
        <p:txBody>
          <a:bodyPr wrap="square" lIns="0" tIns="0" rIns="0" bIns="0" rtlCol="0" anchor="t"/>
          <a:lstStyle/>
          <a:p>
            <a:pPr marL="0" indent="0">
              <a:buNone/>
            </a:pPr>
            <a:r>
              <a:rPr lang="en-US" sz="950" dirty="0">
                <a:solidFill>
                  <a:srgbClr val="C9D1D9"/>
                </a:solidFill>
                <a:latin typeface="Consolas" pitchFamily="34" charset="0"/>
                <a:ea typeface="Consolas" pitchFamily="34" charset="-122"/>
                <a:cs typeface="Consolas" pitchFamily="34" charset="-120"/>
              </a:rPr>
              <a:t>with open("photo.jpg","rb") as f:</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header = f.read(16)</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print(header.hex(' '))</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 ff d8 ff e1 xx xx 45 78 69 66 00 00</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SOI  APP1    size  'E' 'x' 'i' 'f'</a:t>
            </a:r>
            <a:endParaRPr lang="en-US" sz="950" dirty="0"/>
          </a:p>
          <a:p>
            <a:pPr marL="0" indent="0">
              <a:buNone/>
            </a:pP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with open("video.mp4","rb") as f:</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f.seek(4)          # 跳過 size field</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box = f.read(8)</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print(box)         # → b'ftypisom'</a:t>
            </a:r>
            <a:endParaRPr lang="en-US" sz="950" dirty="0"/>
          </a:p>
        </p:txBody>
      </p:sp>
      <p:sp>
        <p:nvSpPr>
          <p:cNvPr id="8" name="Shape 6"/>
          <p:cNvSpPr/>
          <p:nvPr/>
        </p:nvSpPr>
        <p:spPr>
          <a:xfrm>
            <a:off x="320040" y="2743200"/>
            <a:ext cx="4160520" cy="2359152"/>
          </a:xfrm>
          <a:prstGeom prst="rect">
            <a:avLst/>
          </a:prstGeom>
          <a:solidFill>
            <a:srgbClr val="1E1E1E"/>
          </a:solidFill>
          <a:ln w="12700">
            <a:solidFill>
              <a:srgbClr val="444444"/>
            </a:solidFill>
            <a:prstDash val="solid"/>
          </a:ln>
        </p:spPr>
        <p:txBody>
          <a:bodyPr/>
          <a:lstStyle/>
          <a:p>
            <a:endParaRPr lang="zh-TW" altLang="en-US"/>
          </a:p>
        </p:txBody>
      </p:sp>
      <p:sp>
        <p:nvSpPr>
          <p:cNvPr id="9" name="Text 7"/>
          <p:cNvSpPr/>
          <p:nvPr/>
        </p:nvSpPr>
        <p:spPr>
          <a:xfrm>
            <a:off x="457200" y="2779776"/>
            <a:ext cx="3931920" cy="228600"/>
          </a:xfrm>
          <a:prstGeom prst="rect">
            <a:avLst/>
          </a:prstGeom>
          <a:noFill/>
          <a:ln/>
        </p:spPr>
        <p:txBody>
          <a:bodyPr wrap="square" lIns="0" tIns="0" rIns="0" bIns="0" rtlCol="0" anchor="ctr"/>
          <a:lstStyle/>
          <a:p>
            <a:pPr marL="0" indent="0">
              <a:buNone/>
            </a:pPr>
            <a:r>
              <a:rPr lang="en-US" sz="1000" dirty="0">
                <a:solidFill>
                  <a:srgbClr val="6A9955"/>
                </a:solidFill>
                <a:latin typeface="Consolas" pitchFamily="34" charset="0"/>
                <a:ea typeface="Consolas" pitchFamily="34" charset="-122"/>
                <a:cs typeface="Consolas" pitchFamily="34" charset="-120"/>
              </a:rPr>
              <a:t># ② Pillow 讀取 JPEG EXIF</a:t>
            </a:r>
            <a:endParaRPr lang="en-US" sz="1000" dirty="0"/>
          </a:p>
        </p:txBody>
      </p:sp>
      <p:sp>
        <p:nvSpPr>
          <p:cNvPr id="10" name="Text 8"/>
          <p:cNvSpPr/>
          <p:nvPr/>
        </p:nvSpPr>
        <p:spPr>
          <a:xfrm>
            <a:off x="457200" y="3017520"/>
            <a:ext cx="3931920" cy="1755648"/>
          </a:xfrm>
          <a:prstGeom prst="rect">
            <a:avLst/>
          </a:prstGeom>
          <a:noFill/>
          <a:ln/>
        </p:spPr>
        <p:txBody>
          <a:bodyPr wrap="square" lIns="0" tIns="0" rIns="0" bIns="0" rtlCol="0" anchor="t"/>
          <a:lstStyle/>
          <a:p>
            <a:pPr marL="0" indent="0">
              <a:buNone/>
            </a:pPr>
            <a:r>
              <a:rPr lang="en-US" sz="950" dirty="0">
                <a:solidFill>
                  <a:srgbClr val="C9D1D9"/>
                </a:solidFill>
                <a:latin typeface="Consolas" pitchFamily="34" charset="0"/>
                <a:ea typeface="Consolas" pitchFamily="34" charset="-122"/>
                <a:cs typeface="Consolas" pitchFamily="34" charset="-120"/>
              </a:rPr>
              <a:t>from PIL import Image</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from PIL.ExifTags import TAGS, GPSTAGS</a:t>
            </a:r>
            <a:endParaRPr lang="en-US" sz="950" dirty="0"/>
          </a:p>
          <a:p>
            <a:pPr marL="0" indent="0">
              <a:buNone/>
            </a:pP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img = Image.open("photo.jpg")</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exif = img._getexif()   # dict: tag_id → value</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if exif:</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for tag_id, val in exif.items():</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tag = TAGS.get(tag_id, tag_id)</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print(f"{tag:25s}: {val}")</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 Make                    : Apple</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 Model                   : iPhone 15 Pro</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 DateTime                : 2024:03:05 14:22:31</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 FocalLength             : (24, 1)</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 GPSInfo                 : {1:'N', 2:((25,1)...)}</a:t>
            </a:r>
            <a:endParaRPr lang="en-US" sz="950" dirty="0"/>
          </a:p>
        </p:txBody>
      </p:sp>
      <p:sp>
        <p:nvSpPr>
          <p:cNvPr id="11" name="Shape 9"/>
          <p:cNvSpPr/>
          <p:nvPr/>
        </p:nvSpPr>
        <p:spPr>
          <a:xfrm>
            <a:off x="4663440" y="1024128"/>
            <a:ext cx="4160520" cy="1664208"/>
          </a:xfrm>
          <a:prstGeom prst="rect">
            <a:avLst/>
          </a:prstGeom>
          <a:solidFill>
            <a:srgbClr val="1E1E1E"/>
          </a:solidFill>
          <a:ln w="12700">
            <a:solidFill>
              <a:srgbClr val="444444"/>
            </a:solidFill>
            <a:prstDash val="solid"/>
          </a:ln>
        </p:spPr>
        <p:txBody>
          <a:bodyPr/>
          <a:lstStyle/>
          <a:p>
            <a:endParaRPr lang="zh-TW" altLang="en-US"/>
          </a:p>
        </p:txBody>
      </p:sp>
      <p:sp>
        <p:nvSpPr>
          <p:cNvPr id="12" name="Text 10"/>
          <p:cNvSpPr/>
          <p:nvPr/>
        </p:nvSpPr>
        <p:spPr>
          <a:xfrm>
            <a:off x="4800600" y="1060704"/>
            <a:ext cx="3931920" cy="228600"/>
          </a:xfrm>
          <a:prstGeom prst="rect">
            <a:avLst/>
          </a:prstGeom>
          <a:noFill/>
          <a:ln/>
        </p:spPr>
        <p:txBody>
          <a:bodyPr wrap="square" lIns="0" tIns="0" rIns="0" bIns="0" rtlCol="0" anchor="ctr"/>
          <a:lstStyle/>
          <a:p>
            <a:pPr marL="0" indent="0">
              <a:buNone/>
            </a:pPr>
            <a:r>
              <a:rPr lang="en-US" sz="1000" dirty="0">
                <a:solidFill>
                  <a:srgbClr val="6A9955"/>
                </a:solidFill>
                <a:latin typeface="Consolas" pitchFamily="34" charset="0"/>
                <a:ea typeface="Consolas" pitchFamily="34" charset="-122"/>
                <a:cs typeface="Consolas" pitchFamily="34" charset="-120"/>
              </a:rPr>
              <a:t># ③ 讀取 XMP（XML 結構）</a:t>
            </a:r>
            <a:endParaRPr lang="en-US" sz="1000" dirty="0"/>
          </a:p>
        </p:txBody>
      </p:sp>
      <p:sp>
        <p:nvSpPr>
          <p:cNvPr id="13" name="Text 11"/>
          <p:cNvSpPr/>
          <p:nvPr/>
        </p:nvSpPr>
        <p:spPr>
          <a:xfrm>
            <a:off x="4800600" y="1298448"/>
            <a:ext cx="3931920" cy="1353312"/>
          </a:xfrm>
          <a:prstGeom prst="rect">
            <a:avLst/>
          </a:prstGeom>
          <a:noFill/>
          <a:ln/>
        </p:spPr>
        <p:txBody>
          <a:bodyPr wrap="square" lIns="0" tIns="0" rIns="0" bIns="0" rtlCol="0" anchor="t"/>
          <a:lstStyle/>
          <a:p>
            <a:pPr marL="0" indent="0">
              <a:buNone/>
            </a:pPr>
            <a:r>
              <a:rPr lang="en-US" sz="950" dirty="0">
                <a:solidFill>
                  <a:srgbClr val="C9D1D9"/>
                </a:solidFill>
                <a:latin typeface="Consolas" pitchFamily="34" charset="0"/>
                <a:ea typeface="Consolas" pitchFamily="34" charset="-122"/>
                <a:cs typeface="Consolas" pitchFamily="34" charset="-120"/>
              </a:rPr>
              <a:t>import libxmp   # pip install python-xmp-toolkit</a:t>
            </a:r>
            <a:endParaRPr lang="en-US" sz="950" dirty="0"/>
          </a:p>
          <a:p>
            <a:pPr marL="0" indent="0">
              <a:buNone/>
            </a:pP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xmp = libxmp.XMPFiles(file_path="photo.jpg")</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meta = xmp.get_xmp()</a:t>
            </a:r>
            <a:endParaRPr lang="en-US" sz="950" dirty="0"/>
          </a:p>
          <a:p>
            <a:pPr marL="0" indent="0">
              <a:buNone/>
            </a:pP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讀取 Dublin Core namespace</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dc_ns = libxmp.consts.XMP_NS_DC</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title = meta.get_property(dc_ns, "title[1]")</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rights = meta.get_property(dc_ns, "rights[1]")</a:t>
            </a:r>
            <a:endParaRPr lang="en-US" sz="950" dirty="0"/>
          </a:p>
          <a:p>
            <a:pPr marL="0" indent="0">
              <a:buNone/>
            </a:pP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 讀取相機 namespace</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xmpNS = libxmp.consts.XMP_NS_XMP</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create_date = meta.get_property(xmpNS,"CreateDate")</a:t>
            </a:r>
            <a:endParaRPr lang="en-US" sz="950" dirty="0"/>
          </a:p>
          <a:p>
            <a:pPr marL="0" indent="0">
              <a:buNone/>
            </a:pPr>
            <a:r>
              <a:rPr lang="en-US" sz="950" dirty="0">
                <a:solidFill>
                  <a:srgbClr val="C9D1D9"/>
                </a:solidFill>
                <a:latin typeface="Consolas" pitchFamily="34" charset="0"/>
                <a:ea typeface="Consolas" pitchFamily="34" charset="-122"/>
                <a:cs typeface="Consolas" pitchFamily="34" charset="-120"/>
              </a:rPr>
              <a:t>print(create_date)   # → 2024-03-05T14:22:31+08:00</a:t>
            </a:r>
            <a:endParaRPr lang="en-US" sz="950" dirty="0"/>
          </a:p>
        </p:txBody>
      </p:sp>
      <p:sp>
        <p:nvSpPr>
          <p:cNvPr id="14" name="Shape 12"/>
          <p:cNvSpPr/>
          <p:nvPr/>
        </p:nvSpPr>
        <p:spPr>
          <a:xfrm>
            <a:off x="4663440" y="2743200"/>
            <a:ext cx="4160520" cy="1371600"/>
          </a:xfrm>
          <a:prstGeom prst="rect">
            <a:avLst/>
          </a:prstGeom>
          <a:solidFill>
            <a:srgbClr val="1E1E1E"/>
          </a:solidFill>
          <a:ln w="12700">
            <a:solidFill>
              <a:srgbClr val="444444"/>
            </a:solidFill>
            <a:prstDash val="solid"/>
          </a:ln>
        </p:spPr>
        <p:txBody>
          <a:bodyPr/>
          <a:lstStyle/>
          <a:p>
            <a:endParaRPr lang="zh-TW" altLang="en-US"/>
          </a:p>
        </p:txBody>
      </p:sp>
      <p:sp>
        <p:nvSpPr>
          <p:cNvPr id="15" name="Text 13"/>
          <p:cNvSpPr/>
          <p:nvPr/>
        </p:nvSpPr>
        <p:spPr>
          <a:xfrm>
            <a:off x="4800600" y="2779776"/>
            <a:ext cx="3931920" cy="228600"/>
          </a:xfrm>
          <a:prstGeom prst="rect">
            <a:avLst/>
          </a:prstGeom>
          <a:noFill/>
          <a:ln/>
        </p:spPr>
        <p:txBody>
          <a:bodyPr wrap="square" lIns="0" tIns="0" rIns="0" bIns="0" rtlCol="0" anchor="ctr"/>
          <a:lstStyle/>
          <a:p>
            <a:pPr marL="0" indent="0">
              <a:buNone/>
            </a:pPr>
            <a:r>
              <a:rPr lang="en-US" sz="1000" dirty="0">
                <a:solidFill>
                  <a:srgbClr val="6A9955"/>
                </a:solidFill>
                <a:latin typeface="Consolas" pitchFamily="34" charset="0"/>
                <a:ea typeface="Consolas" pitchFamily="34" charset="-122"/>
                <a:cs typeface="Consolas" pitchFamily="34" charset="-120"/>
              </a:rPr>
              <a:t># ④ exiftool：一行看全部 metadata</a:t>
            </a:r>
            <a:endParaRPr lang="en-US" sz="1000" dirty="0"/>
          </a:p>
        </p:txBody>
      </p:sp>
      <p:sp>
        <p:nvSpPr>
          <p:cNvPr id="16" name="Text 14"/>
          <p:cNvSpPr/>
          <p:nvPr/>
        </p:nvSpPr>
        <p:spPr>
          <a:xfrm>
            <a:off x="4800600" y="3017520"/>
            <a:ext cx="3931920" cy="1069848"/>
          </a:xfrm>
          <a:prstGeom prst="rect">
            <a:avLst/>
          </a:prstGeom>
          <a:noFill/>
          <a:ln/>
        </p:spPr>
        <p:txBody>
          <a:bodyPr wrap="square" lIns="0" tIns="0" rIns="0" bIns="0" rtlCol="0" anchor="t"/>
          <a:lstStyle/>
          <a:p>
            <a:pPr marL="0" indent="0">
              <a:buNone/>
            </a:pPr>
            <a:r>
              <a:rPr lang="en-US" sz="900" dirty="0">
                <a:solidFill>
                  <a:srgbClr val="C9D1D9"/>
                </a:solidFill>
                <a:latin typeface="Consolas" pitchFamily="34" charset="0"/>
                <a:ea typeface="Consolas" pitchFamily="34" charset="-122"/>
                <a:cs typeface="Consolas" pitchFamily="34" charset="-120"/>
              </a:rPr>
              <a:t>$ exiftool photo.jpg</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File Type         : JPEG</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MIME Type         : image/jpeg</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Image Size        : 4032x3024</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Camera Model Name : iPhone 15 Pro</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Shutter Speed     : 1/120</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F Number          : 1.8</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ISO               : 200</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GPS Latitude      : 25°2'30.12" N</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GPS Longitude     : 121°32'15.88" E</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Color Space       : sRGB  (ICC Profile 內嵌)</a:t>
            </a:r>
            <a:endParaRPr lang="en-US" sz="900" dirty="0"/>
          </a:p>
          <a:p>
            <a:pPr marL="0" indent="0">
              <a:buNone/>
            </a:pPr>
            <a:r>
              <a:rPr lang="en-US" sz="900" dirty="0">
                <a:solidFill>
                  <a:srgbClr val="C9D1D9"/>
                </a:solidFill>
                <a:latin typeface="Consolas" pitchFamily="34" charset="0"/>
                <a:ea typeface="Consolas" pitchFamily="34" charset="-122"/>
                <a:cs typeface="Consolas" pitchFamily="34" charset="-120"/>
              </a:rPr>
              <a:t>XMP Toolkit       : XMP Core 6.0</a:t>
            </a:r>
            <a:endParaRPr lang="en-US" sz="900" dirty="0"/>
          </a:p>
        </p:txBody>
      </p:sp>
      <p:sp>
        <p:nvSpPr>
          <p:cNvPr id="17" name="Shape 15"/>
          <p:cNvSpPr/>
          <p:nvPr/>
        </p:nvSpPr>
        <p:spPr>
          <a:xfrm>
            <a:off x="4663440" y="4096512"/>
            <a:ext cx="4160520" cy="731520"/>
          </a:xfrm>
          <a:prstGeom prst="rect">
            <a:avLst/>
          </a:prstGeom>
          <a:solidFill>
            <a:srgbClr val="F0EFE8"/>
          </a:solidFill>
          <a:ln w="12700">
            <a:solidFill>
              <a:srgbClr val="E8E8E0"/>
            </a:solidFill>
            <a:prstDash val="solid"/>
          </a:ln>
        </p:spPr>
        <p:txBody>
          <a:bodyPr/>
          <a:lstStyle/>
          <a:p>
            <a:endParaRPr lang="zh-TW" altLang="en-US"/>
          </a:p>
        </p:txBody>
      </p:sp>
      <p:sp>
        <p:nvSpPr>
          <p:cNvPr id="18" name="Text 16"/>
          <p:cNvSpPr/>
          <p:nvPr/>
        </p:nvSpPr>
        <p:spPr>
          <a:xfrm>
            <a:off x="4773168" y="4114800"/>
            <a:ext cx="1371600" cy="228600"/>
          </a:xfrm>
          <a:prstGeom prst="rect">
            <a:avLst/>
          </a:prstGeom>
          <a:noFill/>
          <a:ln/>
        </p:spPr>
        <p:txBody>
          <a:bodyPr wrap="square" lIns="0" tIns="0" rIns="0" bIns="0" rtlCol="0" anchor="ctr"/>
          <a:lstStyle/>
          <a:p>
            <a:pPr marL="0" indent="0">
              <a:buNone/>
            </a:pPr>
            <a:r>
              <a:rPr lang="en-US" sz="1000" b="1" dirty="0">
                <a:solidFill>
                  <a:srgbClr val="1E3A5F"/>
                </a:solidFill>
                <a:latin typeface="Calibri" pitchFamily="34" charset="0"/>
                <a:ea typeface="Calibri" pitchFamily="34" charset="-122"/>
                <a:cs typeface="Calibri" pitchFamily="34" charset="-120"/>
              </a:rPr>
              <a:t>常用函式庫</a:t>
            </a:r>
            <a:endParaRPr lang="en-US" sz="1000" dirty="0"/>
          </a:p>
        </p:txBody>
      </p:sp>
      <p:sp>
        <p:nvSpPr>
          <p:cNvPr id="19" name="Shape 17"/>
          <p:cNvSpPr/>
          <p:nvPr/>
        </p:nvSpPr>
        <p:spPr>
          <a:xfrm>
            <a:off x="4773168" y="4370832"/>
            <a:ext cx="1298448" cy="182880"/>
          </a:xfrm>
          <a:prstGeom prst="rect">
            <a:avLst/>
          </a:prstGeom>
          <a:solidFill>
            <a:srgbClr val="1E3A5F"/>
          </a:solidFill>
          <a:ln w="12700">
            <a:solidFill>
              <a:srgbClr val="1E3A5F"/>
            </a:solidFill>
            <a:prstDash val="solid"/>
          </a:ln>
        </p:spPr>
        <p:txBody>
          <a:bodyPr/>
          <a:lstStyle/>
          <a:p>
            <a:endParaRPr lang="zh-TW" altLang="en-US"/>
          </a:p>
        </p:txBody>
      </p:sp>
      <p:sp>
        <p:nvSpPr>
          <p:cNvPr id="20" name="Text 18"/>
          <p:cNvSpPr/>
          <p:nvPr/>
        </p:nvSpPr>
        <p:spPr>
          <a:xfrm>
            <a:off x="4773168" y="4370832"/>
            <a:ext cx="1298448" cy="18288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Pillow  EXIF / 縮圖</a:t>
            </a:r>
            <a:endParaRPr lang="en-US" sz="850" dirty="0"/>
          </a:p>
        </p:txBody>
      </p:sp>
      <p:sp>
        <p:nvSpPr>
          <p:cNvPr id="21" name="Shape 19"/>
          <p:cNvSpPr/>
          <p:nvPr/>
        </p:nvSpPr>
        <p:spPr>
          <a:xfrm>
            <a:off x="6144768" y="4370832"/>
            <a:ext cx="1298448" cy="182880"/>
          </a:xfrm>
          <a:prstGeom prst="rect">
            <a:avLst/>
          </a:prstGeom>
          <a:solidFill>
            <a:srgbClr val="1E3A5F"/>
          </a:solidFill>
          <a:ln w="12700">
            <a:solidFill>
              <a:srgbClr val="1E3A5F"/>
            </a:solidFill>
            <a:prstDash val="solid"/>
          </a:ln>
        </p:spPr>
        <p:txBody>
          <a:bodyPr/>
          <a:lstStyle/>
          <a:p>
            <a:endParaRPr lang="zh-TW" altLang="en-US"/>
          </a:p>
        </p:txBody>
      </p:sp>
      <p:sp>
        <p:nvSpPr>
          <p:cNvPr id="22" name="Text 20"/>
          <p:cNvSpPr/>
          <p:nvPr/>
        </p:nvSpPr>
        <p:spPr>
          <a:xfrm>
            <a:off x="6144768" y="4370832"/>
            <a:ext cx="1298448" cy="18288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piexif  寫入 EXIF</a:t>
            </a:r>
            <a:endParaRPr lang="en-US" sz="850" dirty="0"/>
          </a:p>
        </p:txBody>
      </p:sp>
      <p:sp>
        <p:nvSpPr>
          <p:cNvPr id="23" name="Shape 21"/>
          <p:cNvSpPr/>
          <p:nvPr/>
        </p:nvSpPr>
        <p:spPr>
          <a:xfrm>
            <a:off x="7516368" y="4370832"/>
            <a:ext cx="1298448" cy="182880"/>
          </a:xfrm>
          <a:prstGeom prst="rect">
            <a:avLst/>
          </a:prstGeom>
          <a:solidFill>
            <a:srgbClr val="1E3A5F"/>
          </a:solidFill>
          <a:ln w="12700">
            <a:solidFill>
              <a:srgbClr val="1E3A5F"/>
            </a:solidFill>
            <a:prstDash val="solid"/>
          </a:ln>
        </p:spPr>
        <p:txBody>
          <a:bodyPr/>
          <a:lstStyle/>
          <a:p>
            <a:endParaRPr lang="zh-TW" altLang="en-US"/>
          </a:p>
        </p:txBody>
      </p:sp>
      <p:sp>
        <p:nvSpPr>
          <p:cNvPr id="24" name="Text 22"/>
          <p:cNvSpPr/>
          <p:nvPr/>
        </p:nvSpPr>
        <p:spPr>
          <a:xfrm>
            <a:off x="7516368" y="4401310"/>
            <a:ext cx="1298448" cy="18288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python-xmp-toolkit  XMP 讀寫</a:t>
            </a:r>
            <a:endParaRPr lang="en-US" sz="850" dirty="0"/>
          </a:p>
        </p:txBody>
      </p:sp>
      <p:sp>
        <p:nvSpPr>
          <p:cNvPr id="25" name="Shape 23"/>
          <p:cNvSpPr/>
          <p:nvPr/>
        </p:nvSpPr>
        <p:spPr>
          <a:xfrm>
            <a:off x="4773168" y="4572000"/>
            <a:ext cx="1298448" cy="182880"/>
          </a:xfrm>
          <a:prstGeom prst="rect">
            <a:avLst/>
          </a:prstGeom>
          <a:solidFill>
            <a:srgbClr val="1E3A5F"/>
          </a:solidFill>
          <a:ln w="12700">
            <a:solidFill>
              <a:srgbClr val="1E3A5F"/>
            </a:solidFill>
            <a:prstDash val="solid"/>
          </a:ln>
        </p:spPr>
        <p:txBody>
          <a:bodyPr/>
          <a:lstStyle/>
          <a:p>
            <a:endParaRPr lang="zh-TW" altLang="en-US"/>
          </a:p>
        </p:txBody>
      </p:sp>
      <p:sp>
        <p:nvSpPr>
          <p:cNvPr id="26" name="Text 24"/>
          <p:cNvSpPr/>
          <p:nvPr/>
        </p:nvSpPr>
        <p:spPr>
          <a:xfrm>
            <a:off x="4773168" y="4572000"/>
            <a:ext cx="1298448" cy="18288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exifread  快速 EXIF</a:t>
            </a:r>
            <a:endParaRPr lang="en-US" sz="850" dirty="0"/>
          </a:p>
        </p:txBody>
      </p:sp>
      <p:sp>
        <p:nvSpPr>
          <p:cNvPr id="27" name="Shape 25"/>
          <p:cNvSpPr/>
          <p:nvPr/>
        </p:nvSpPr>
        <p:spPr>
          <a:xfrm>
            <a:off x="6144768" y="4572000"/>
            <a:ext cx="1298448" cy="182880"/>
          </a:xfrm>
          <a:prstGeom prst="rect">
            <a:avLst/>
          </a:prstGeom>
          <a:solidFill>
            <a:srgbClr val="1E3A5F"/>
          </a:solidFill>
          <a:ln w="12700">
            <a:solidFill>
              <a:srgbClr val="1E3A5F"/>
            </a:solidFill>
            <a:prstDash val="solid"/>
          </a:ln>
        </p:spPr>
        <p:txBody>
          <a:bodyPr/>
          <a:lstStyle/>
          <a:p>
            <a:endParaRPr lang="zh-TW" altLang="en-US"/>
          </a:p>
        </p:txBody>
      </p:sp>
      <p:sp>
        <p:nvSpPr>
          <p:cNvPr id="28" name="Text 26"/>
          <p:cNvSpPr/>
          <p:nvPr/>
        </p:nvSpPr>
        <p:spPr>
          <a:xfrm>
            <a:off x="6144768" y="4572000"/>
            <a:ext cx="1298448" cy="18288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imageio  多格式 I/O</a:t>
            </a:r>
            <a:endParaRPr lang="en-US" sz="850" dirty="0"/>
          </a:p>
        </p:txBody>
      </p:sp>
      <p:sp>
        <p:nvSpPr>
          <p:cNvPr id="29" name="Shape 27"/>
          <p:cNvSpPr/>
          <p:nvPr/>
        </p:nvSpPr>
        <p:spPr>
          <a:xfrm>
            <a:off x="7516368" y="4572000"/>
            <a:ext cx="1298448" cy="182880"/>
          </a:xfrm>
          <a:prstGeom prst="rect">
            <a:avLst/>
          </a:prstGeom>
          <a:solidFill>
            <a:srgbClr val="1E3A5F"/>
          </a:solidFill>
          <a:ln w="12700">
            <a:solidFill>
              <a:srgbClr val="1E3A5F"/>
            </a:solidFill>
            <a:prstDash val="solid"/>
          </a:ln>
        </p:spPr>
        <p:txBody>
          <a:bodyPr/>
          <a:lstStyle/>
          <a:p>
            <a:endParaRPr lang="zh-TW" altLang="en-US"/>
          </a:p>
        </p:txBody>
      </p:sp>
      <p:sp>
        <p:nvSpPr>
          <p:cNvPr id="30" name="Text 28"/>
          <p:cNvSpPr/>
          <p:nvPr/>
        </p:nvSpPr>
        <p:spPr>
          <a:xfrm>
            <a:off x="7516368" y="4572000"/>
            <a:ext cx="1298448" cy="182880"/>
          </a:xfrm>
          <a:prstGeom prst="rect">
            <a:avLst/>
          </a:prstGeom>
          <a:noFill/>
          <a:ln/>
        </p:spPr>
        <p:txBody>
          <a:bodyPr wrap="square" lIns="0" tIns="0" rIns="0" bIns="0" rtlCol="0" anchor="ctr"/>
          <a:lstStyle/>
          <a:p>
            <a:pPr marL="0" indent="0" algn="ctr">
              <a:buNone/>
            </a:pPr>
            <a:r>
              <a:rPr lang="en-US" sz="850" dirty="0">
                <a:solidFill>
                  <a:srgbClr val="FFFFFF"/>
                </a:solidFill>
                <a:latin typeface="Calibri" pitchFamily="34" charset="0"/>
                <a:ea typeface="Calibri" pitchFamily="34" charset="-122"/>
                <a:cs typeface="Calibri" pitchFamily="34" charset="-120"/>
              </a:rPr>
              <a:t>rawpy  RAW 解碼</a:t>
            </a:r>
            <a:endParaRPr lang="en-US" sz="850" dirty="0"/>
          </a:p>
        </p:txBody>
      </p:sp>
      <p:sp>
        <p:nvSpPr>
          <p:cNvPr id="32" name="Text 30"/>
          <p:cNvSpPr/>
          <p:nvPr/>
        </p:nvSpPr>
        <p:spPr>
          <a:xfrm>
            <a:off x="274320" y="4864608"/>
            <a:ext cx="6400800" cy="274320"/>
          </a:xfrm>
          <a:prstGeom prst="rect">
            <a:avLst/>
          </a:prstGeom>
          <a:noFill/>
          <a:ln/>
        </p:spPr>
        <p:txBody>
          <a:bodyPr wrap="square" lIns="0" tIns="0" rIns="0" bIns="0" rtlCol="0" anchor="ctr"/>
          <a:lstStyle/>
          <a:p>
            <a:pPr marL="0" indent="0">
              <a:buNone/>
            </a:pPr>
            <a:r>
              <a:rPr lang="en-US" sz="800" dirty="0">
                <a:solidFill>
                  <a:srgbClr val="FFFFFF"/>
                </a:solidFill>
              </a:rPr>
              <a:t>嵌入式電腦視覺  ·  影像格式與 Metadata</a:t>
            </a:r>
            <a:endParaRPr lang="en-US" sz="800" dirty="0"/>
          </a:p>
        </p:txBody>
      </p:sp>
      <p:sp>
        <p:nvSpPr>
          <p:cNvPr id="33" name="Text 31"/>
          <p:cNvSpPr/>
          <p:nvPr/>
        </p:nvSpPr>
        <p:spPr>
          <a:xfrm>
            <a:off x="8503920" y="4864608"/>
            <a:ext cx="548640" cy="274320"/>
          </a:xfrm>
          <a:prstGeom prst="rect">
            <a:avLst/>
          </a:prstGeom>
          <a:noFill/>
          <a:ln/>
        </p:spPr>
        <p:txBody>
          <a:bodyPr wrap="square" lIns="0" tIns="0" rIns="0" bIns="0" rtlCol="0" anchor="ctr"/>
          <a:lstStyle/>
          <a:p>
            <a:pPr marL="0" indent="0" algn="r">
              <a:buNone/>
            </a:pPr>
            <a:r>
              <a:rPr lang="en-US" sz="800" dirty="0">
                <a:solidFill>
                  <a:srgbClr val="FFFFFF"/>
                </a:solidFill>
              </a:rPr>
              <a:t>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5">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02</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影像作為函數與單點運算</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Images as Functions &amp; Point Operations</a:t>
            </a:r>
            <a:endParaRPr lang="en-US" sz="1300" dirty="0"/>
          </a:p>
        </p:txBody>
      </p:sp>
      <p:sp>
        <p:nvSpPr>
          <p:cNvPr id="6" name="Shape 4"/>
          <p:cNvSpPr/>
          <p:nvPr/>
        </p:nvSpPr>
        <p:spPr>
          <a:xfrm>
            <a:off x="685800" y="2788920"/>
            <a:ext cx="7406640" cy="822960"/>
          </a:xfrm>
          <a:prstGeom prst="rect">
            <a:avLst/>
          </a:prstGeom>
          <a:solidFill>
            <a:srgbClr val="162E4A"/>
          </a:solidFill>
          <a:ln w="19050">
            <a:solidFill>
              <a:srgbClr val="C45C00"/>
            </a:solidFill>
            <a:prstDash val="solid"/>
          </a:ln>
        </p:spPr>
        <p:txBody>
          <a:bodyPr/>
          <a:lstStyle/>
          <a:p>
            <a:endParaRPr lang="zh-TW" altLang="en-US"/>
          </a:p>
        </p:txBody>
      </p:sp>
      <p:sp>
        <p:nvSpPr>
          <p:cNvPr id="7" name="Text 5"/>
          <p:cNvSpPr/>
          <p:nvPr/>
        </p:nvSpPr>
        <p:spPr>
          <a:xfrm>
            <a:off x="822960" y="2788920"/>
            <a:ext cx="7132320" cy="822960"/>
          </a:xfrm>
          <a:prstGeom prst="rect">
            <a:avLst/>
          </a:prstGeom>
          <a:noFill/>
          <a:ln/>
        </p:spPr>
        <p:txBody>
          <a:bodyPr wrap="square" lIns="0" tIns="0" rIns="0" bIns="0" rtlCol="0" anchor="ctr"/>
          <a:lstStyle/>
          <a:p>
            <a:pPr marL="0" indent="0" algn="l">
              <a:buNone/>
            </a:pPr>
            <a:r>
              <a:rPr lang="en-US" sz="1100" i="1" dirty="0">
                <a:solidFill>
                  <a:srgbClr val="F5E6D3"/>
                </a:solidFill>
                <a:latin typeface="Calibri" pitchFamily="34" charset="0"/>
                <a:ea typeface="Calibri" pitchFamily="34" charset="-122"/>
                <a:cs typeface="Calibri" pitchFamily="34" charset="-120"/>
              </a:rPr>
              <a:t>💡 將矩陣讀進記憶體後，我們能像操作數學函數一樣改變它嗎？</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影像就是一個離散二維函數</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f [ n, m ]   →   強度值  ∈  { 0, 1, …, 255 }</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輸入：空間座標 [row, col]；輸出：該位置的像素強度（代表光線強弱）</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定義域 Domain：</a:t>
            </a:r>
            <a:r>
              <a:rPr lang="en-US" sz="1250" dirty="0">
                <a:solidFill>
                  <a:srgbClr val="1A1A1A"/>
                </a:solidFill>
                <a:latin typeface="Calibri" pitchFamily="34" charset="0"/>
                <a:ea typeface="Calibri" pitchFamily="34" charset="-122"/>
                <a:cs typeface="Calibri" pitchFamily="34" charset="-120"/>
              </a:rPr>
              <a:t>[0, H-1] × [0, W-1]  ─  所有合法的行列座標</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值域 Range：</a:t>
            </a:r>
            <a:r>
              <a:rPr lang="en-US" sz="1250" dirty="0">
                <a:solidFill>
                  <a:srgbClr val="1A1A1A"/>
                </a:solidFill>
                <a:latin typeface="Calibri" pitchFamily="34" charset="0"/>
                <a:ea typeface="Calibri" pitchFamily="34" charset="-122"/>
                <a:cs typeface="Calibri" pitchFamily="34" charset="-120"/>
              </a:rPr>
              <a:t>[0, 255]  對 8-bit 灰階，或各通道 [0,255] 對 RGB</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離散 vs 連續：</a:t>
            </a:r>
            <a:r>
              <a:rPr lang="en-US" sz="1250" dirty="0">
                <a:solidFill>
                  <a:srgbClr val="1A1A1A"/>
                </a:solidFill>
                <a:latin typeface="Calibri" pitchFamily="34" charset="0"/>
                <a:ea typeface="Calibri" pitchFamily="34" charset="-122"/>
                <a:cs typeface="Calibri" pitchFamily="34" charset="-120"/>
              </a:rPr>
              <a:t>實際世界是連續光場，影像是離散取樣的近似（Week 02 ADC）</a:t>
            </a:r>
            <a:endParaRPr lang="en-US" sz="1250" dirty="0"/>
          </a:p>
        </p:txBody>
      </p:sp>
      <p:pic>
        <p:nvPicPr>
          <p:cNvPr id="15" name="圖片 14">
            <a:extLst>
              <a:ext uri="{FF2B5EF4-FFF2-40B4-BE49-F238E27FC236}">
                <a16:creationId xmlns:a16="http://schemas.microsoft.com/office/drawing/2014/main" id="{558C9B67-FB3F-387D-9031-586C15595059}"/>
              </a:ext>
            </a:extLst>
          </p:cNvPr>
          <p:cNvPicPr>
            <a:picLocks noChangeAspect="1"/>
          </p:cNvPicPr>
          <p:nvPr/>
        </p:nvPicPr>
        <p:blipFill>
          <a:blip r:embed="rId3"/>
          <a:stretch>
            <a:fillRect/>
          </a:stretch>
        </p:blipFill>
        <p:spPr>
          <a:xfrm>
            <a:off x="2927251" y="3457028"/>
            <a:ext cx="5099149" cy="1686472"/>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定義域與值域的具體意義</a:t>
            </a:r>
            <a:endParaRPr lang="en-US" sz="2000" dirty="0"/>
          </a:p>
        </p:txBody>
      </p:sp>
      <p:sp>
        <p:nvSpPr>
          <p:cNvPr id="7" name="Text 5"/>
          <p:cNvSpPr/>
          <p:nvPr/>
        </p:nvSpPr>
        <p:spPr>
          <a:xfrm>
            <a:off x="320040" y="1115568"/>
            <a:ext cx="512064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定義域（Domain）：空間座標
</a:t>
            </a:r>
            <a:r>
              <a:rPr lang="en-US" sz="1300" dirty="0">
                <a:solidFill>
                  <a:srgbClr val="1A1A1A"/>
                </a:solidFill>
                <a:latin typeface="Calibri" pitchFamily="34" charset="0"/>
                <a:ea typeface="Calibri" pitchFamily="34" charset="-122"/>
                <a:cs typeface="Calibri" pitchFamily="34" charset="-120"/>
              </a:rPr>
              <a:t>  對一張 1920×1080 的影像：
  行 row ∈ [0, 1079]，列 col ∈ [0, 1919]
  共 1080 × 1920 = 2,073,600 個合法座標點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值域（Range）：像素強度值
</a:t>
            </a:r>
            <a:r>
              <a:rPr lang="en-US" sz="1300" dirty="0">
                <a:solidFill>
                  <a:srgbClr val="1A1A1A"/>
                </a:solidFill>
                <a:latin typeface="Calibri" pitchFamily="34" charset="0"/>
                <a:ea typeface="Calibri" pitchFamily="34" charset="-122"/>
                <a:cs typeface="Calibri" pitchFamily="34" charset="-120"/>
              </a:rPr>
              <a:t>  8-bit 灰階：{0, 1, 2, …, 255}，共 256 個可能值
  0 = 純黑，128 = 中灰，255 = 純白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NumPy 的表示方式：
</a:t>
            </a:r>
            <a:r>
              <a:rPr lang="en-US" sz="1300" dirty="0">
                <a:solidFill>
                  <a:srgbClr val="1A1A1A"/>
                </a:solidFill>
                <a:latin typeface="Calibri" pitchFamily="34" charset="0"/>
                <a:ea typeface="Calibri" pitchFamily="34" charset="-122"/>
                <a:cs typeface="Calibri" pitchFamily="34" charset="-120"/>
              </a:rPr>
              <a:t>  gray = cv2.imread('img.jpg', cv2.IMREAD_GRAYSCALE)</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print(gray.shape)     # (1080, 1920)</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print(gray.dtype)     # uint8  ← 即代表值域 [0,255]</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print(gray[100, 200]) # 例：值為 157</a:t>
            </a:r>
            <a:endParaRPr lang="en-US" sz="1400" dirty="0"/>
          </a:p>
        </p:txBody>
      </p:sp>
      <p:sp>
        <p:nvSpPr>
          <p:cNvPr id="8" name="Shape 6"/>
          <p:cNvSpPr/>
          <p:nvPr/>
        </p:nvSpPr>
        <p:spPr>
          <a:xfrm>
            <a:off x="5577840" y="1115568"/>
            <a:ext cx="3246120" cy="3520440"/>
          </a:xfrm>
          <a:prstGeom prst="rect">
            <a:avLst/>
          </a:prstGeom>
          <a:solidFill>
            <a:srgbClr val="D6E4F0"/>
          </a:solidFill>
          <a:ln w="10160">
            <a:solidFill>
              <a:srgbClr val="1E3A5F"/>
            </a:solidFill>
            <a:prstDash val="solid"/>
          </a:ln>
        </p:spPr>
        <p:txBody>
          <a:bodyPr/>
          <a:lstStyle/>
          <a:p>
            <a:endParaRPr lang="zh-TW" altLang="en-US"/>
          </a:p>
        </p:txBody>
      </p:sp>
      <p:sp>
        <p:nvSpPr>
          <p:cNvPr id="9" name="Shape 7"/>
          <p:cNvSpPr/>
          <p:nvPr/>
        </p:nvSpPr>
        <p:spPr>
          <a:xfrm>
            <a:off x="5577840" y="1115568"/>
            <a:ext cx="3246120" cy="329184"/>
          </a:xfrm>
          <a:prstGeom prst="rect">
            <a:avLst/>
          </a:prstGeom>
          <a:solidFill>
            <a:srgbClr val="1E3A5F"/>
          </a:solidFill>
          <a:ln w="12700">
            <a:solidFill>
              <a:srgbClr val="1E3A5F"/>
            </a:solidFill>
            <a:prstDash val="solid"/>
          </a:ln>
        </p:spPr>
        <p:txBody>
          <a:bodyPr/>
          <a:lstStyle/>
          <a:p>
            <a:endParaRPr lang="zh-TW" altLang="en-US"/>
          </a:p>
        </p:txBody>
      </p:sp>
      <p:sp>
        <p:nvSpPr>
          <p:cNvPr id="10" name="Text 8"/>
          <p:cNvSpPr/>
          <p:nvPr/>
        </p:nvSpPr>
        <p:spPr>
          <a:xfrm>
            <a:off x="5623560" y="1115568"/>
            <a:ext cx="315468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為何用 uint8？</a:t>
            </a:r>
            <a:endParaRPr lang="en-US" sz="1000" dirty="0"/>
          </a:p>
        </p:txBody>
      </p:sp>
      <p:sp>
        <p:nvSpPr>
          <p:cNvPr id="11" name="Text 9"/>
          <p:cNvSpPr/>
          <p:nvPr/>
        </p:nvSpPr>
        <p:spPr>
          <a:xfrm>
            <a:off x="5623560" y="1490472"/>
            <a:ext cx="31089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uint8 = Unsigned 8-bit integer</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範圍 0 ～ 255</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符合人眼視覺的 256 灰階</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佔用最少記憶體</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注意：超出 255 會「環繞溢位」</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這是後面 Clipping 的根源！</a:t>
            </a:r>
            <a:endParaRPr lang="en-US" sz="11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8">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320040" y="91440"/>
            <a:ext cx="2560320" cy="292608"/>
          </a:xfrm>
          <a:prstGeom prst="roundRect">
            <a:avLst>
              <a:gd name="adj" fmla="val 25000"/>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91440"/>
            <a:ext cx="2560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  單點運算 / 邊界問題</a:t>
            </a:r>
            <a:endParaRPr lang="en-US" sz="900" dirty="0"/>
          </a:p>
        </p:txBody>
      </p:sp>
      <p:sp>
        <p:nvSpPr>
          <p:cNvPr id="4" name="Text 2"/>
          <p:cNvSpPr/>
          <p:nvPr/>
        </p:nvSpPr>
        <p:spPr>
          <a:xfrm>
            <a:off x="457200" y="502920"/>
            <a:ext cx="8229600" cy="347472"/>
          </a:xfrm>
          <a:prstGeom prst="rect">
            <a:avLst/>
          </a:prstGeom>
          <a:noFill/>
          <a:ln/>
        </p:spPr>
        <p:txBody>
          <a:bodyPr wrap="square" rtlCol="0" anchor="ctr"/>
          <a:lstStyle/>
          <a:p>
            <a:pPr marL="0" indent="0" algn="l">
              <a:buNone/>
            </a:pPr>
            <a:r>
              <a:rPr lang="en-US" sz="1100" b="1" kern="0" spc="300" dirty="0">
                <a:solidFill>
                  <a:srgbClr val="C45C00"/>
                </a:solidFill>
                <a:latin typeface="Calibri" pitchFamily="34" charset="0"/>
                <a:ea typeface="Calibri" pitchFamily="34" charset="-122"/>
                <a:cs typeface="Calibri" pitchFamily="34" charset="-120"/>
              </a:rPr>
              <a:t>核心提問</a:t>
            </a:r>
            <a:endParaRPr lang="en-US" sz="1100" dirty="0"/>
          </a:p>
        </p:txBody>
      </p:sp>
      <p:sp>
        <p:nvSpPr>
          <p:cNvPr id="5" name="Shape 3"/>
          <p:cNvSpPr/>
          <p:nvPr/>
        </p:nvSpPr>
        <p:spPr>
          <a:xfrm>
            <a:off x="457200" y="914400"/>
            <a:ext cx="8229600" cy="2743200"/>
          </a:xfrm>
          <a:prstGeom prst="rect">
            <a:avLst/>
          </a:prstGeom>
          <a:solidFill>
            <a:srgbClr val="162E4A"/>
          </a:solidFill>
          <a:ln w="25400">
            <a:solidFill>
              <a:srgbClr val="C45C00"/>
            </a:solidFill>
            <a:prstDash val="solid"/>
          </a:ln>
        </p:spPr>
        <p:txBody>
          <a:bodyPr/>
          <a:lstStyle/>
          <a:p>
            <a:endParaRPr lang="zh-TW" altLang="en-US"/>
          </a:p>
        </p:txBody>
      </p:sp>
      <p:sp>
        <p:nvSpPr>
          <p:cNvPr id="6" name="Text 4"/>
          <p:cNvSpPr/>
          <p:nvPr/>
        </p:nvSpPr>
        <p:spPr>
          <a:xfrm>
            <a:off x="640080" y="1051560"/>
            <a:ext cx="7863840" cy="2377440"/>
          </a:xfrm>
          <a:prstGeom prst="rect">
            <a:avLst/>
          </a:prstGeom>
          <a:noFill/>
          <a:ln/>
        </p:spPr>
        <p:txBody>
          <a:bodyPr wrap="square" rtlCol="0" anchor="ctr"/>
          <a:lstStyle/>
          <a:p>
            <a:pPr marL="0" indent="0" algn="l">
              <a:buNone/>
            </a:pPr>
            <a:r>
              <a:rPr lang="en-US" sz="2400" dirty="0">
                <a:solidFill>
                  <a:srgbClr val="C45C00"/>
                </a:solidFill>
                <a:latin typeface="Calibri" pitchFamily="34" charset="0"/>
                <a:ea typeface="Calibri" pitchFamily="34" charset="-122"/>
                <a:cs typeface="Calibri" pitchFamily="34" charset="-120"/>
              </a:rPr>
              <a:t>❓  </a:t>
            </a:r>
            <a:r>
              <a:rPr lang="en-US" sz="1700" b="1" dirty="0">
                <a:solidFill>
                  <a:srgbClr val="FFFFFF"/>
                </a:solidFill>
                <a:latin typeface="Calibri" pitchFamily="34" charset="0"/>
                <a:ea typeface="Calibri" pitchFamily="34" charset="-122"/>
                <a:cs typeface="Calibri" pitchFamily="34" charset="-120"/>
              </a:rPr>
              <a:t>如果我請你計算 f[-1, -1]，電腦會給你什麼答案？這是合法的座標嗎？</a:t>
            </a:r>
            <a:endParaRPr lang="en-US" sz="2400" dirty="0"/>
          </a:p>
        </p:txBody>
      </p:sp>
      <p:sp>
        <p:nvSpPr>
          <p:cNvPr id="7" name="Text 5"/>
          <p:cNvSpPr/>
          <p:nvPr/>
        </p:nvSpPr>
        <p:spPr>
          <a:xfrm>
            <a:off x="457200" y="3794760"/>
            <a:ext cx="8229600" cy="685800"/>
          </a:xfrm>
          <a:prstGeom prst="rect">
            <a:avLst/>
          </a:prstGeom>
          <a:noFill/>
          <a:ln/>
        </p:spPr>
        <p:txBody>
          <a:bodyPr wrap="square" rtlCol="0" anchor="ctr"/>
          <a:lstStyle/>
          <a:p>
            <a:pPr marL="0" indent="0" algn="l">
              <a:buNone/>
            </a:pPr>
            <a:r>
              <a:rPr lang="en-US" sz="1100" i="1" dirty="0">
                <a:solidFill>
                  <a:srgbClr val="D6E4F0"/>
                </a:solidFill>
                <a:latin typeface="Calibri" pitchFamily="34" charset="0"/>
                <a:ea typeface="Calibri" pitchFamily="34" charset="-122"/>
                <a:cs typeface="Calibri" pitchFamily="34" charset="-120"/>
              </a:rPr>
              <a:t>提示：Python 的負數索引與數學定義不同，這個問題是後面「卷積 Padding」的根本原因！</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超出邊界：f[-1, -1] 的三種回答</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問題的本質：
</a:t>
            </a:r>
            <a:r>
              <a:rPr lang="en-US" sz="1300" dirty="0">
                <a:solidFill>
                  <a:srgbClr val="1A1A1A"/>
                </a:solidFill>
                <a:latin typeface="Calibri" pitchFamily="34" charset="0"/>
                <a:ea typeface="Calibri" pitchFamily="34" charset="-122"/>
                <a:cs typeface="Calibri" pitchFamily="34" charset="-120"/>
              </a:rPr>
              <a:t>座標 (-1, -1) 不在影像的定義域內，但不同環境給出不同答案：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Python NumPy：</a:t>
            </a:r>
            <a:r>
              <a:rPr lang="en-US" sz="1300" dirty="0">
                <a:solidFill>
                  <a:srgbClr val="1A1A1A"/>
                </a:solidFill>
                <a:latin typeface="Calibri" pitchFamily="34" charset="0"/>
                <a:ea typeface="Calibri" pitchFamily="34" charset="-122"/>
                <a:cs typeface="Calibri" pitchFamily="34" charset="-120"/>
              </a:rPr>
              <a:t>  回傳右下角像素（Python 負數索引環繞）
</a:t>
            </a:r>
            <a:r>
              <a:rPr lang="en-US" sz="1300" b="1" dirty="0">
                <a:solidFill>
                  <a:srgbClr val="C45C00"/>
                </a:solidFill>
                <a:latin typeface="Calibri" pitchFamily="34" charset="0"/>
                <a:ea typeface="Calibri" pitchFamily="34" charset="-122"/>
                <a:cs typeface="Calibri" pitchFamily="34" charset="-120"/>
              </a:rPr>
              <a:t>C 語言陣列：  </a:t>
            </a:r>
            <a:r>
              <a:rPr lang="en-US" sz="1300" dirty="0">
                <a:solidFill>
                  <a:srgbClr val="1A1A1A"/>
                </a:solidFill>
                <a:latin typeface="Calibri" pitchFamily="34" charset="0"/>
                <a:ea typeface="Calibri" pitchFamily="34" charset="-122"/>
                <a:cs typeface="Calibri" pitchFamily="34" charset="-120"/>
              </a:rPr>
              <a:t>  未定義行為（Undefined Behavior）—可能崩潰！
</a:t>
            </a:r>
            <a:r>
              <a:rPr lang="en-US" sz="1300" b="1" dirty="0">
                <a:solidFill>
                  <a:srgbClr val="C45C00"/>
                </a:solidFill>
                <a:latin typeface="Calibri" pitchFamily="34" charset="0"/>
                <a:ea typeface="Calibri" pitchFamily="34" charset="-122"/>
                <a:cs typeface="Calibri" pitchFamily="34" charset="-120"/>
              </a:rPr>
              <a:t>數學定義：    </a:t>
            </a:r>
            <a:r>
              <a:rPr lang="en-US" sz="1300" dirty="0">
                <a:solidFill>
                  <a:srgbClr val="1A1A1A"/>
                </a:solidFill>
                <a:latin typeface="Calibri" pitchFamily="34" charset="0"/>
                <a:ea typeface="Calibri" pitchFamily="34" charset="-122"/>
                <a:cs typeface="Calibri" pitchFamily="34" charset="-120"/>
              </a:rPr>
              <a:t>  不存在，需要「邊界填充（Padding）」策略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嚴重後果（若不處理）：
</a:t>
            </a:r>
            <a:r>
              <a:rPr lang="en-US" sz="1300" dirty="0">
                <a:solidFill>
                  <a:srgbClr val="1A1A1A"/>
                </a:solidFill>
                <a:latin typeface="Calibri" pitchFamily="34" charset="0"/>
                <a:ea typeface="Calibri" pitchFamily="34" charset="-122"/>
                <a:cs typeface="Calibri" pitchFamily="34" charset="-120"/>
              </a:rPr>
              <a:t>  • 當 3×3 濾波核放在影像左上角時，有一圈像素在邊界外
  • 卷積必須存取 f[-1,-1]、f[-1,0]、f[0,-1]…
  • 不同的填充策略會產生不同的邊緣效果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 這就是 §5 卷積基礎中 Padding 的根本原因！</a:t>
            </a:r>
            <a:endParaRPr lang="en-US" sz="1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E338ED2-43E1-2976-2439-5FF2DA6C7CE2}"/>
              </a:ext>
            </a:extLst>
          </p:cNvPr>
          <p:cNvPicPr>
            <a:picLocks noChangeAspect="1"/>
          </p:cNvPicPr>
          <p:nvPr/>
        </p:nvPicPr>
        <p:blipFill>
          <a:blip r:embed="rId2"/>
          <a:stretch>
            <a:fillRect/>
          </a:stretch>
        </p:blipFill>
        <p:spPr>
          <a:xfrm>
            <a:off x="390310" y="438040"/>
            <a:ext cx="8363380" cy="4267419"/>
          </a:xfrm>
          <a:prstGeom prst="rect">
            <a:avLst/>
          </a:prstGeom>
        </p:spPr>
      </p:pic>
    </p:spTree>
    <p:extLst>
      <p:ext uri="{BB962C8B-B14F-4D97-AF65-F5344CB8AC3E}">
        <p14:creationId xmlns:p14="http://schemas.microsoft.com/office/powerpoint/2010/main" val="176990318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單點運算（Point Operations）定義</a:t>
            </a:r>
            <a:endParaRPr lang="en-US" sz="2000" dirty="0"/>
          </a:p>
        </p:txBody>
      </p:sp>
      <p:sp>
        <p:nvSpPr>
          <p:cNvPr id="7" name="Text 5"/>
          <p:cNvSpPr/>
          <p:nvPr/>
        </p:nvSpPr>
        <p:spPr>
          <a:xfrm>
            <a:off x="320040" y="1115568"/>
            <a:ext cx="4160520" cy="3520440"/>
          </a:xfrm>
          <a:prstGeom prst="rect">
            <a:avLst/>
          </a:prstGeom>
          <a:noFill/>
          <a:ln/>
        </p:spPr>
        <p:txBody>
          <a:bodyPr wrap="square" rtlCol="0" anchor="t"/>
          <a:lstStyle/>
          <a:p>
            <a:pPr marL="0" indent="0">
              <a:buNone/>
            </a:pPr>
            <a:r>
              <a:rPr lang="en-US" sz="1300" b="1" dirty="0">
                <a:solidFill>
                  <a:srgbClr val="C45C00"/>
                </a:solidFill>
                <a:latin typeface="Calibri" pitchFamily="34" charset="0"/>
                <a:ea typeface="Calibri" pitchFamily="34" charset="-122"/>
                <a:cs typeface="Calibri" pitchFamily="34" charset="-120"/>
              </a:rPr>
              <a:t>定義：
</a:t>
            </a:r>
            <a:r>
              <a:rPr lang="en-US" sz="1200" dirty="0">
                <a:solidFill>
                  <a:srgbClr val="1A1A1A"/>
                </a:solidFill>
                <a:latin typeface="Calibri" pitchFamily="34" charset="0"/>
                <a:ea typeface="Calibri" pitchFamily="34" charset="-122"/>
                <a:cs typeface="Calibri" pitchFamily="34" charset="-120"/>
              </a:rPr>
              <a:t>新像素值 g(x,y) 只取決於原像素值 f(x,y)，完全不需要鄰近像素的資訊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數學形式：
</a:t>
            </a:r>
            <a:r>
              <a:rPr lang="en-US" sz="1200" dirty="0">
                <a:solidFill>
                  <a:srgbClr val="1A1A1A"/>
                </a:solidFill>
                <a:latin typeface="Calibri" pitchFamily="34" charset="0"/>
                <a:ea typeface="Calibri" pitchFamily="34" charset="-122"/>
                <a:cs typeface="Calibri" pitchFamily="34" charset="-120"/>
              </a:rPr>
              <a:t>g(x,y) = T { f(x,y) }
T 稱為強度轉換函數（Intensity Transformation Function）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優點：
</a:t>
            </a:r>
            <a:r>
              <a:rPr lang="en-US" sz="1200" dirty="0">
                <a:solidFill>
                  <a:srgbClr val="1A1A1A"/>
                </a:solidFill>
                <a:latin typeface="Calibri" pitchFamily="34" charset="0"/>
                <a:ea typeface="Calibri" pitchFamily="34" charset="-122"/>
                <a:cs typeface="Calibri" pitchFamily="34" charset="-120"/>
              </a:rPr>
              <a:t>計算量極低，O(H×W)，每個像素獨立，可完全平行化 → 適合嵌入式 GPU/SIMD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限制：
</a:t>
            </a:r>
            <a:r>
              <a:rPr lang="en-US" sz="1200" dirty="0">
                <a:solidFill>
                  <a:srgbClr val="1A1A1A"/>
                </a:solidFill>
                <a:latin typeface="Calibri" pitchFamily="34" charset="0"/>
                <a:ea typeface="Calibri" pitchFamily="34" charset="-122"/>
                <a:cs typeface="Calibri" pitchFamily="34" charset="-120"/>
              </a:rPr>
              <a:t>無法利用空間鄰域資訊（無法去雜訊、無法做邊緣偵測）
</a:t>
            </a:r>
            <a:endParaRPr lang="en-US" sz="1300" dirty="0"/>
          </a:p>
        </p:txBody>
      </p:sp>
      <p:sp>
        <p:nvSpPr>
          <p:cNvPr id="8" name="Shape 6"/>
          <p:cNvSpPr/>
          <p:nvPr/>
        </p:nvSpPr>
        <p:spPr>
          <a:xfrm>
            <a:off x="4663440" y="1115568"/>
            <a:ext cx="4160520" cy="3520440"/>
          </a:xfrm>
          <a:prstGeom prst="rect">
            <a:avLst/>
          </a:prstGeom>
          <a:solidFill>
            <a:srgbClr val="F5E6D3"/>
          </a:solidFill>
          <a:ln w="10160">
            <a:solidFill>
              <a:srgbClr val="D1C9BC"/>
            </a:solidFill>
            <a:prstDash val="solid"/>
          </a:ln>
        </p:spPr>
        <p:txBody>
          <a:bodyPr/>
          <a:lstStyle/>
          <a:p>
            <a:endParaRPr lang="zh-TW" altLang="en-US"/>
          </a:p>
        </p:txBody>
      </p:sp>
      <p:sp>
        <p:nvSpPr>
          <p:cNvPr id="9" name="Shape 7"/>
          <p:cNvSpPr/>
          <p:nvPr/>
        </p:nvSpPr>
        <p:spPr>
          <a:xfrm>
            <a:off x="4663440" y="1115568"/>
            <a:ext cx="4160520" cy="329184"/>
          </a:xfrm>
          <a:prstGeom prst="rect">
            <a:avLst/>
          </a:prstGeom>
          <a:solidFill>
            <a:srgbClr val="C45C00"/>
          </a:solidFill>
          <a:ln w="12700">
            <a:solidFill>
              <a:srgbClr val="C45C00"/>
            </a:solidFill>
            <a:prstDash val="solid"/>
          </a:ln>
        </p:spPr>
        <p:txBody>
          <a:bodyPr/>
          <a:lstStyle/>
          <a:p>
            <a:endParaRPr lang="zh-TW" altLang="en-US"/>
          </a:p>
        </p:txBody>
      </p:sp>
      <p:sp>
        <p:nvSpPr>
          <p:cNvPr id="10" name="Text 8"/>
          <p:cNvSpPr/>
          <p:nvPr/>
        </p:nvSpPr>
        <p:spPr>
          <a:xfrm>
            <a:off x="4709160" y="1115568"/>
            <a:ext cx="406908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點運算的主要種類</a:t>
            </a:r>
            <a:endParaRPr lang="en-US" sz="1050" dirty="0"/>
          </a:p>
        </p:txBody>
      </p:sp>
      <p:sp>
        <p:nvSpPr>
          <p:cNvPr id="11" name="Text 9"/>
          <p:cNvSpPr/>
          <p:nvPr/>
        </p:nvSpPr>
        <p:spPr>
          <a:xfrm>
            <a:off x="4709160" y="1490472"/>
            <a:ext cx="40233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線性點運算</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負片（Negative）</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亮度調整（Brightness）</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對比度調整（Contrast）</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線性拉伸（Linear Stretch）</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非線性點運算</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Gamma 矯正</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對數轉換（Log Transform）</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閾值化（Thresholding）</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色調映射（Tone Mapping）</a:t>
            </a:r>
            <a:endParaRPr lang="en-US" sz="11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強度轉換（Intensity Transformation）通用公式</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 y)  =  T { f(x, y) }</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T：轉換函數，決定輸入像素值如何映射到輸出像素值</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T 為線性：</a:t>
            </a:r>
            <a:r>
              <a:rPr lang="en-US" sz="1250" dirty="0">
                <a:solidFill>
                  <a:srgbClr val="1A1A1A"/>
                </a:solidFill>
                <a:latin typeface="Calibri" pitchFamily="34" charset="0"/>
                <a:ea typeface="Calibri" pitchFamily="34" charset="-122"/>
                <a:cs typeface="Calibri" pitchFamily="34" charset="-120"/>
              </a:rPr>
              <a:t>g = a·f + b  （對比度 a，亮度偏移 b）</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T 為次方函數：</a:t>
            </a:r>
            <a:r>
              <a:rPr lang="en-US" sz="1250" dirty="0">
                <a:solidFill>
                  <a:srgbClr val="1A1A1A"/>
                </a:solidFill>
                <a:latin typeface="Calibri" pitchFamily="34" charset="0"/>
                <a:ea typeface="Calibri" pitchFamily="34" charset="-122"/>
                <a:cs typeface="Calibri" pitchFamily="34" charset="-120"/>
              </a:rPr>
              <a:t>g = c·f^γ  （Gamma 矯正）</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T 為對數函數：</a:t>
            </a:r>
            <a:r>
              <a:rPr lang="en-US" sz="1250" dirty="0">
                <a:solidFill>
                  <a:srgbClr val="1A1A1A"/>
                </a:solidFill>
                <a:latin typeface="Calibri" pitchFamily="34" charset="0"/>
                <a:ea typeface="Calibri" pitchFamily="34" charset="-122"/>
                <a:cs typeface="Calibri" pitchFamily="34" charset="-120"/>
              </a:rPr>
              <a:t>g = c·log(1+f)  （壓縮高動態範圍）</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T 為階梯函數：</a:t>
            </a:r>
            <a:r>
              <a:rPr lang="en-US" sz="1250" dirty="0">
                <a:solidFill>
                  <a:srgbClr val="1A1A1A"/>
                </a:solidFill>
                <a:latin typeface="Calibri" pitchFamily="34" charset="0"/>
                <a:ea typeface="Calibri" pitchFamily="34" charset="-122"/>
                <a:cs typeface="Calibri" pitchFamily="34" charset="-120"/>
              </a:rPr>
              <a:t>g = 0 or 255  （閾值化 / Thresholding）</a:t>
            </a:r>
            <a:endParaRPr lang="en-US" sz="12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來源：2025-02-26 pdf p.31</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負片效果（Negative Image）</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 y)  =  255  −  f(x, y)</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將所有像素值「翻轉」，亮變暗，暗變亮。T 是一條斜率 -1、截距 255 的直線</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輸入 0（純黑）：</a:t>
            </a:r>
            <a:r>
              <a:rPr lang="en-US" sz="1250" dirty="0">
                <a:solidFill>
                  <a:srgbClr val="1A1A1A"/>
                </a:solidFill>
                <a:latin typeface="Calibri" pitchFamily="34" charset="0"/>
                <a:ea typeface="Calibri" pitchFamily="34" charset="-122"/>
                <a:cs typeface="Calibri" pitchFamily="34" charset="-120"/>
              </a:rPr>
              <a:t>255 − 0 = 255 → 輸出純白</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輸入 128（中灰）：</a:t>
            </a:r>
            <a:r>
              <a:rPr lang="en-US" sz="1250" dirty="0">
                <a:solidFill>
                  <a:srgbClr val="1A1A1A"/>
                </a:solidFill>
                <a:latin typeface="Calibri" pitchFamily="34" charset="0"/>
                <a:ea typeface="Calibri" pitchFamily="34" charset="-122"/>
                <a:cs typeface="Calibri" pitchFamily="34" charset="-120"/>
              </a:rPr>
              <a:t>255 − 128 = 127 → 仍為中灰（中點對稱）</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輸入 255（純白）：</a:t>
            </a:r>
            <a:r>
              <a:rPr lang="en-US" sz="1250" dirty="0">
                <a:solidFill>
                  <a:srgbClr val="1A1A1A"/>
                </a:solidFill>
                <a:latin typeface="Calibri" pitchFamily="34" charset="0"/>
                <a:ea typeface="Calibri" pitchFamily="34" charset="-122"/>
                <a:cs typeface="Calibri" pitchFamily="34" charset="-120"/>
              </a:rPr>
              <a:t>255 − 255 = 0 → 輸出純黑</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醫療應用：</a:t>
            </a:r>
            <a:r>
              <a:rPr lang="en-US" sz="1250" dirty="0">
                <a:solidFill>
                  <a:srgbClr val="1A1A1A"/>
                </a:solidFill>
                <a:latin typeface="Calibri" pitchFamily="34" charset="0"/>
                <a:ea typeface="Calibri" pitchFamily="34" charset="-122"/>
                <a:cs typeface="Calibri" pitchFamily="34" charset="-120"/>
              </a:rPr>
              <a:t>X 光負片讓骨骼結構（亮）更易辨識，暗部細節也更清晰</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負片視覺效果（Negative）示範說明</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標準示範影像（Gonzalez 教科書）：
</a:t>
            </a:r>
            <a:r>
              <a:rPr lang="en-US" sz="1300" dirty="0">
                <a:solidFill>
                  <a:srgbClr val="1A1A1A"/>
                </a:solidFill>
                <a:latin typeface="Calibri" pitchFamily="34" charset="0"/>
                <a:ea typeface="Calibri" pitchFamily="34" charset="-122"/>
                <a:cs typeface="Calibri" pitchFamily="34" charset="-120"/>
              </a:rPr>
              <a:t>  • 狒狒（Baboon）臉部特寫：色彩鮮豔，高對比
  • 轉負片後：藍鼻→橘鼻，紅毛→青毛，整體亮暗對調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 </a:t>
            </a:r>
            <a:r>
              <a:rPr lang="en-US" altLang="zh-TW" sz="1300" dirty="0" err="1">
                <a:solidFill>
                  <a:srgbClr val="1A1A1A"/>
                </a:solidFill>
                <a:latin typeface="Calibri" pitchFamily="34" charset="0"/>
                <a:ea typeface="Calibri" pitchFamily="34" charset="-122"/>
                <a:cs typeface="Calibri" pitchFamily="34" charset="-120"/>
              </a:rPr>
              <a:t>Leana</a:t>
            </a:r>
            <a:r>
              <a:rPr lang="en-US" sz="1300" dirty="0" err="1">
                <a:solidFill>
                  <a:srgbClr val="1A1A1A"/>
                </a:solidFill>
                <a:latin typeface="Calibri" pitchFamily="34" charset="0"/>
                <a:ea typeface="Calibri" pitchFamily="34" charset="-122"/>
                <a:cs typeface="Calibri" pitchFamily="34" charset="-120"/>
              </a:rPr>
              <a:t>（Woman</a:t>
            </a:r>
            <a:r>
              <a:rPr lang="en-US" sz="1300" dirty="0">
                <a:solidFill>
                  <a:srgbClr val="1A1A1A"/>
                </a:solidFill>
                <a:latin typeface="Calibri" pitchFamily="34" charset="0"/>
                <a:ea typeface="Calibri" pitchFamily="34" charset="-122"/>
                <a:cs typeface="Calibri" pitchFamily="34" charset="-120"/>
              </a:rPr>
              <a:t> with hat）：柔和自然光
  • 轉負片後：膚色→偏藍紫，陰影→高光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OpenCV 實作（兩種等價寫法）：
</a:t>
            </a:r>
            <a:r>
              <a:rPr lang="en-US" sz="1300" dirty="0">
                <a:solidFill>
                  <a:srgbClr val="1A1A1A"/>
                </a:solidFill>
                <a:latin typeface="Calibri" pitchFamily="34" charset="0"/>
                <a:ea typeface="Calibri" pitchFamily="34" charset="-122"/>
                <a:cs typeface="Calibri" pitchFamily="34" charset="-120"/>
              </a:rPr>
              <a:t>  neg = 255 - img                          # NumPy 廣播
  neg = cv2.bitwise_not(img)               # OpenCV 位元反轉（uint8 自動截斷）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注意：兩種方法結果完全相同，因為 255 − x = ~x 對 uint8 成立</a:t>
            </a:r>
            <a:endParaRPr lang="en-US" sz="1400" dirty="0"/>
          </a:p>
        </p:txBody>
      </p:sp>
      <p:pic>
        <p:nvPicPr>
          <p:cNvPr id="8" name="Picture 15">
            <a:extLst>
              <a:ext uri="{FF2B5EF4-FFF2-40B4-BE49-F238E27FC236}">
                <a16:creationId xmlns:a16="http://schemas.microsoft.com/office/drawing/2014/main" id="{17F6177F-0FA1-4E39-B2E7-95B265BB3AFF}"/>
              </a:ext>
            </a:extLst>
          </p:cNvPr>
          <p:cNvPicPr>
            <a:picLocks noChangeAspect="1" noChangeArrowheads="1"/>
          </p:cNvPicPr>
          <p:nvPr/>
        </p:nvPicPr>
        <p:blipFill>
          <a:blip r:embed="rId3" cstate="print"/>
          <a:srcRect r="-676" b="3728"/>
          <a:stretch/>
        </p:blipFill>
        <p:spPr bwMode="auto">
          <a:xfrm>
            <a:off x="5685600" y="1156828"/>
            <a:ext cx="3138360" cy="3058900"/>
          </a:xfrm>
          <a:prstGeom prst="rect">
            <a:avLst/>
          </a:prstGeom>
          <a:noFill/>
          <a:ln w="9525">
            <a:noFill/>
            <a:miter lim="800000"/>
            <a:headEnd/>
            <a:tailEnd/>
          </a:ln>
        </p:spPr>
      </p:pic>
      <p:sp>
        <p:nvSpPr>
          <p:cNvPr id="10" name="文字方塊 9">
            <a:extLst>
              <a:ext uri="{FF2B5EF4-FFF2-40B4-BE49-F238E27FC236}">
                <a16:creationId xmlns:a16="http://schemas.microsoft.com/office/drawing/2014/main" id="{BAE461CF-B22D-5D47-5F42-1AD93C7F02DD}"/>
              </a:ext>
            </a:extLst>
          </p:cNvPr>
          <p:cNvSpPr txBox="1"/>
          <p:nvPr/>
        </p:nvSpPr>
        <p:spPr>
          <a:xfrm>
            <a:off x="320040" y="3892562"/>
            <a:ext cx="4572000" cy="369332"/>
          </a:xfrm>
          <a:prstGeom prst="rect">
            <a:avLst/>
          </a:prstGeom>
          <a:noFill/>
        </p:spPr>
        <p:txBody>
          <a:bodyPr wrap="square">
            <a:spAutoFit/>
          </a:bodyPr>
          <a:lstStyle/>
          <a:p>
            <a:r>
              <a:rPr lang="zh-TW" altLang="en-US" dirty="0">
                <a:hlinkClick r:id="rId4"/>
              </a:rPr>
              <a:t>萊娜圖 </a:t>
            </a:r>
            <a:r>
              <a:rPr lang="en-US" altLang="zh-TW" dirty="0">
                <a:hlinkClick r:id="rId4"/>
              </a:rPr>
              <a:t>- </a:t>
            </a:r>
            <a:r>
              <a:rPr lang="zh-TW" altLang="en-US" dirty="0">
                <a:hlinkClick r:id="rId4"/>
              </a:rPr>
              <a:t>維基百科，自由的百科全書</a:t>
            </a:r>
            <a:endParaRPr lang="zh-TW" alt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亮度調整（Brightness Adjustment）</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 y)  =  f(x, y)  +  c</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加上常數 c，使整體亮度均勻提升（c &gt; 0）或降低（c &lt; 0）。T 是斜率=1 的平移直線</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c = +50：</a:t>
            </a:r>
            <a:r>
              <a:rPr lang="en-US" sz="1250" dirty="0">
                <a:solidFill>
                  <a:srgbClr val="1A1A1A"/>
                </a:solidFill>
                <a:latin typeface="Calibri" pitchFamily="34" charset="0"/>
                <a:ea typeface="Calibri" pitchFamily="34" charset="-122"/>
                <a:cs typeface="Calibri" pitchFamily="34" charset="-120"/>
              </a:rPr>
              <a:t>整體提亮。原值 200 + 50 = 250（接近純白）</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c = −50：</a:t>
            </a:r>
            <a:r>
              <a:rPr lang="en-US" sz="1250" dirty="0">
                <a:solidFill>
                  <a:srgbClr val="1A1A1A"/>
                </a:solidFill>
                <a:latin typeface="Calibri" pitchFamily="34" charset="0"/>
                <a:ea typeface="Calibri" pitchFamily="34" charset="-122"/>
                <a:cs typeface="Calibri" pitchFamily="34" charset="-120"/>
              </a:rPr>
              <a:t>整體壓暗。原值 50 − 50 = 0（純黑，細節消失）</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c = 0：</a:t>
            </a:r>
            <a:r>
              <a:rPr lang="en-US" sz="1250" dirty="0">
                <a:solidFill>
                  <a:srgbClr val="1A1A1A"/>
                </a:solidFill>
                <a:latin typeface="Calibri" pitchFamily="34" charset="0"/>
                <a:ea typeface="Calibri" pitchFamily="34" charset="-122"/>
                <a:cs typeface="Calibri" pitchFamily="34" charset="-120"/>
              </a:rPr>
              <a:t>不變（Identity）</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 危機：</a:t>
            </a:r>
            <a:r>
              <a:rPr lang="en-US" sz="1250" dirty="0">
                <a:solidFill>
                  <a:srgbClr val="1A1A1A"/>
                </a:solidFill>
                <a:latin typeface="Calibri" pitchFamily="34" charset="0"/>
                <a:ea typeface="Calibri" pitchFamily="34" charset="-122"/>
                <a:cs typeface="Calibri" pitchFamily="34" charset="-120"/>
              </a:rPr>
              <a:t>原值 220 + 50 = 270，超過 255！NumPy uint8 會環繞溢位變 14！</a:t>
            </a:r>
            <a:endParaRPr lang="en-US" sz="12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參考：NumPy dtype 文件 / OpenCV convertScaleAbs</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截斷效應（Clipping）：嵌入式最常見的陷阱</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uint8 溢位問題：
</a:t>
            </a:r>
            <a:r>
              <a:rPr lang="en-US" sz="1300" dirty="0">
                <a:solidFill>
                  <a:srgbClr val="1A1A1A"/>
                </a:solidFill>
                <a:latin typeface="Calibri" pitchFamily="34" charset="0"/>
                <a:ea typeface="Calibri" pitchFamily="34" charset="-122"/>
                <a:cs typeface="Calibri" pitchFamily="34" charset="-120"/>
              </a:rPr>
              <a:t>NumPy 的 uint8 型別範圍嚴格限制在 0 ～ 255
若直接以 uint8 相加，超出範圍會環繞（Wraparound）：
</a:t>
            </a:r>
            <a:r>
              <a:rPr lang="en-US" sz="2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np.uint8(220) + np.uint8(50)  →  14   ← 環繞溢位！不是 270！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err="1">
                <a:solidFill>
                  <a:srgbClr val="1E3A5F"/>
                </a:solidFill>
                <a:latin typeface="Calibri" pitchFamily="34" charset="0"/>
                <a:ea typeface="Calibri" pitchFamily="34" charset="-122"/>
                <a:cs typeface="Calibri" pitchFamily="34" charset="-120"/>
              </a:rPr>
              <a:t>正確的實作方式</a:t>
            </a:r>
            <a:r>
              <a:rPr lang="en-US" sz="1400" b="1" dirty="0">
                <a:solidFill>
                  <a:srgbClr val="1E3A5F"/>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img_f = img.astype(np.float32)           # 先轉浮點
result = np.clip(img_f + c, 0, 255)      # 截斷到 [0,255]
output = result.astype(np.uint8)          # 轉回 uint8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或使用 OpenCV </a:t>
            </a:r>
            <a:r>
              <a:rPr lang="en-US" sz="1400" b="1" dirty="0" err="1">
                <a:solidFill>
                  <a:srgbClr val="C45C00"/>
                </a:solidFill>
                <a:latin typeface="Calibri" pitchFamily="34" charset="0"/>
                <a:ea typeface="Calibri" pitchFamily="34" charset="-122"/>
                <a:cs typeface="Calibri" pitchFamily="34" charset="-120"/>
              </a:rPr>
              <a:t>安全函式</a:t>
            </a:r>
            <a:r>
              <a:rPr lang="en-US" sz="1400" b="1" dirty="0">
                <a:solidFill>
                  <a:srgbClr val="C45C00"/>
                </a:solidFill>
                <a:latin typeface="Calibri" pitchFamily="34" charset="0"/>
                <a:ea typeface="Calibri" pitchFamily="34" charset="-122"/>
                <a:cs typeface="Calibri" pitchFamily="34" charset="-120"/>
              </a:rPr>
              <a:t>：
cv2.convertScaleAbs(img, alpha=1, beta=c) # 自動截斷，不會溢位</a:t>
            </a:r>
            <a:endParaRPr lang="en-US" sz="14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對比度（Contrast）：什麼是高對比、低對比？</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直觀定義：
</a:t>
            </a:r>
            <a:r>
              <a:rPr lang="en-US" sz="1300" dirty="0">
                <a:solidFill>
                  <a:srgbClr val="1A1A1A"/>
                </a:solidFill>
                <a:latin typeface="Calibri" pitchFamily="34" charset="0"/>
                <a:ea typeface="Calibri" pitchFamily="34" charset="-122"/>
                <a:cs typeface="Calibri" pitchFamily="34" charset="-120"/>
              </a:rPr>
              <a:t>  高對比度影像：亮的地方非常亮（接近 255），暗的地方非常暗（接近 0），差異大
  低對比度影像：所有像素擠在中間的灰色區域（如 80～180），看起來灰濛濛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數學定義（簡化版）：
</a:t>
            </a:r>
            <a:r>
              <a:rPr lang="en-US" sz="1300" dirty="0">
                <a:solidFill>
                  <a:srgbClr val="1A1A1A"/>
                </a:solidFill>
                <a:latin typeface="Calibri" pitchFamily="34" charset="0"/>
                <a:ea typeface="Calibri" pitchFamily="34" charset="-122"/>
                <a:cs typeface="Calibri" pitchFamily="34" charset="-120"/>
              </a:rPr>
              <a:t>  Contrast ≈ (max pixel) − (min pixel)  → 動態範圍越寬，對比越高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常見的低對比原因：
</a:t>
            </a:r>
            <a:r>
              <a:rPr lang="en-US" sz="1300" dirty="0">
                <a:solidFill>
                  <a:srgbClr val="1A1A1A"/>
                </a:solidFill>
                <a:latin typeface="Calibri" pitchFamily="34" charset="0"/>
                <a:ea typeface="Calibri" pitchFamily="34" charset="-122"/>
                <a:cs typeface="Calibri" pitchFamily="34" charset="-120"/>
              </a:rPr>
              <a:t>  • 場景本身光線太均勻（陰天拍攝）
  • 感測器動態範圍不足（廉價攝影機）
  • JPEG 多次重複壓縮讓灰階範圍收縮
  • 曝光嚴重不足（直方圖全部偏左）
</a:t>
            </a:r>
            <a:endParaRPr lang="en-US" sz="14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線性對比度調整（Linear Contrast Adjustment）</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 y)  =  a · f(x, y)  +  b</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a 控制對比度（斜率）；b 控制亮度偏移（截距）。這是最基礎的線性點運算</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a = 1.5, b = 0：</a:t>
            </a:r>
            <a:r>
              <a:rPr lang="en-US" sz="1250" dirty="0">
                <a:solidFill>
                  <a:srgbClr val="1A1A1A"/>
                </a:solidFill>
                <a:latin typeface="Calibri" pitchFamily="34" charset="0"/>
                <a:ea typeface="Calibri" pitchFamily="34" charset="-122"/>
                <a:cs typeface="Calibri" pitchFamily="34" charset="-120"/>
              </a:rPr>
              <a:t>對比增強：亮者更亮、暗者更暗（注意兩端 Clipping！）</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a = 0.5, b = 0：</a:t>
            </a:r>
            <a:r>
              <a:rPr lang="en-US" sz="1250" dirty="0">
                <a:solidFill>
                  <a:srgbClr val="1A1A1A"/>
                </a:solidFill>
                <a:latin typeface="Calibri" pitchFamily="34" charset="0"/>
                <a:ea typeface="Calibri" pitchFamily="34" charset="-122"/>
                <a:cs typeface="Calibri" pitchFamily="34" charset="-120"/>
              </a:rPr>
              <a:t>對比降低：整體偏灰，像素縮到中間範圍</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a = 1, b = 50：</a:t>
            </a:r>
            <a:r>
              <a:rPr lang="en-US" sz="1250" dirty="0">
                <a:solidFill>
                  <a:srgbClr val="1A1A1A"/>
                </a:solidFill>
                <a:latin typeface="Calibri" pitchFamily="34" charset="0"/>
                <a:ea typeface="Calibri" pitchFamily="34" charset="-122"/>
                <a:cs typeface="Calibri" pitchFamily="34" charset="-120"/>
              </a:rPr>
              <a:t>純亮度提升，對比度不變（平移）</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a = 1.5, b = −30：</a:t>
            </a:r>
            <a:r>
              <a:rPr lang="en-US" sz="1250" dirty="0">
                <a:solidFill>
                  <a:srgbClr val="1A1A1A"/>
                </a:solidFill>
                <a:latin typeface="Calibri" pitchFamily="34" charset="0"/>
                <a:ea typeface="Calibri" pitchFamily="34" charset="-122"/>
                <a:cs typeface="Calibri" pitchFamily="34" charset="-120"/>
              </a:rPr>
              <a:t>增強對比同時稍微壓暗，常用於戶外高亮場景</a:t>
            </a:r>
            <a:endParaRPr lang="en-US" sz="1250" dirty="0"/>
          </a:p>
        </p:txBody>
      </p:sp>
      <p:pic>
        <p:nvPicPr>
          <p:cNvPr id="12" name="Picture 15">
            <a:extLst>
              <a:ext uri="{FF2B5EF4-FFF2-40B4-BE49-F238E27FC236}">
                <a16:creationId xmlns:a16="http://schemas.microsoft.com/office/drawing/2014/main" id="{A8B402B4-5293-61BC-1B47-E32A5CE2C687}"/>
              </a:ext>
            </a:extLst>
          </p:cNvPr>
          <p:cNvPicPr>
            <a:picLocks noChangeAspect="1" noChangeArrowheads="1"/>
          </p:cNvPicPr>
          <p:nvPr/>
        </p:nvPicPr>
        <p:blipFill>
          <a:blip r:embed="rId3" cstate="print"/>
          <a:srcRect r="-3854" b="6361"/>
          <a:stretch/>
        </p:blipFill>
        <p:spPr bwMode="auto">
          <a:xfrm>
            <a:off x="5407604" y="2571750"/>
            <a:ext cx="3299516" cy="2378535"/>
          </a:xfrm>
          <a:prstGeom prst="rect">
            <a:avLst/>
          </a:prstGeom>
          <a:noFill/>
          <a:ln w="9525">
            <a:noFill/>
            <a:miter lim="800000"/>
            <a:headEnd/>
            <a:tailEnd/>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對比度轉換曲線圖（Intensity Transformation Curves）</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轉換曲線的意義：
</a:t>
            </a:r>
            <a:r>
              <a:rPr lang="en-US" sz="1300" dirty="0">
                <a:solidFill>
                  <a:srgbClr val="1A1A1A"/>
                </a:solidFill>
                <a:latin typeface="Calibri" pitchFamily="34" charset="0"/>
                <a:ea typeface="Calibri" pitchFamily="34" charset="-122"/>
                <a:cs typeface="Calibri" pitchFamily="34" charset="-120"/>
              </a:rPr>
              <a:t>X 軸：輸入像素值（0～255），Y 軸：輸出像素值（0～255）
曲線形狀決定了整張影像所有像素的變化方式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三種典型曲線：
</a:t>
            </a:r>
            <a:r>
              <a:rPr lang="en-US" sz="1300" dirty="0">
                <a:solidFill>
                  <a:srgbClr val="1A1A1A"/>
                </a:solidFill>
                <a:latin typeface="Calibri" pitchFamily="34" charset="0"/>
                <a:ea typeface="Calibri" pitchFamily="34" charset="-122"/>
                <a:cs typeface="Calibri" pitchFamily="34" charset="-120"/>
              </a:rPr>
              <a:t>  • 斜率 &gt; 1（如 a=2）：曲線陡峭，對比增強，兩端截斷面積大
  • 斜率 = 1（a=1）：45度對角線，不做任何改變（Identity）
  • 斜率 &lt; 1（如 a=0.5）：曲線平緩，對比降低，所有像素被壓縮到中間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重要觀察：
</a:t>
            </a:r>
            <a:r>
              <a:rPr lang="en-US" sz="1300" dirty="0">
                <a:solidFill>
                  <a:srgbClr val="1A1A1A"/>
                </a:solidFill>
                <a:latin typeface="Calibri" pitchFamily="34" charset="0"/>
                <a:ea typeface="Calibri" pitchFamily="34" charset="-122"/>
                <a:cs typeface="Calibri" pitchFamily="34" charset="-120"/>
              </a:rPr>
              <a:t>  線性曲線 a &gt; 1 時，輸入在高端（如 180-255）會全部截斷到 255，失去細節
</a:t>
            </a:r>
            <a:r>
              <a:rPr lang="en-US" sz="1300" b="1" dirty="0">
                <a:solidFill>
                  <a:srgbClr val="1E3A5F"/>
                </a:solidFill>
                <a:latin typeface="Calibri" pitchFamily="34" charset="0"/>
                <a:ea typeface="Calibri" pitchFamily="34" charset="-122"/>
                <a:cs typeface="Calibri" pitchFamily="34" charset="-120"/>
              </a:rPr>
              <a:t>  → 這就是為什麼需要非線性的 Gamma 矯正！（下一節）</a:t>
            </a:r>
            <a:endParaRPr lang="en-US" sz="1400" dirty="0"/>
          </a:p>
        </p:txBody>
      </p:sp>
      <p:pic>
        <p:nvPicPr>
          <p:cNvPr id="8" name="Picture 1">
            <a:extLst>
              <a:ext uri="{FF2B5EF4-FFF2-40B4-BE49-F238E27FC236}">
                <a16:creationId xmlns:a16="http://schemas.microsoft.com/office/drawing/2014/main" id="{0D5392DE-6994-B7D9-8671-543BD55E8921}"/>
              </a:ext>
            </a:extLst>
          </p:cNvPr>
          <p:cNvPicPr>
            <a:picLocks noChangeAspect="1" noChangeArrowheads="1"/>
          </p:cNvPicPr>
          <p:nvPr/>
        </p:nvPicPr>
        <p:blipFill>
          <a:blip r:embed="rId3" cstate="print"/>
          <a:srcRect r="-2052" b="7162"/>
          <a:stretch/>
        </p:blipFill>
        <p:spPr bwMode="auto">
          <a:xfrm>
            <a:off x="5049520" y="3203046"/>
            <a:ext cx="3987800" cy="1874196"/>
          </a:xfrm>
          <a:prstGeom prst="rect">
            <a:avLst/>
          </a:prstGeom>
          <a:noFill/>
          <a:ln w="9525">
            <a:noFill/>
            <a:miter lim="800000"/>
            <a:headEnd/>
            <a:tailEnd/>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單點運算</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實際影像的對比度變化示範</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示範影像：城市大樓外牆（灰階，整體偏暗）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參數 a=0.5, b=0：
</a:t>
            </a:r>
            <a:r>
              <a:rPr lang="en-US" sz="1300" dirty="0">
                <a:solidFill>
                  <a:srgbClr val="1A1A1A"/>
                </a:solidFill>
                <a:latin typeface="Calibri" pitchFamily="34" charset="0"/>
                <a:ea typeface="Calibri" pitchFamily="34" charset="-122"/>
                <a:cs typeface="Calibri" pitchFamily="34" charset="-120"/>
              </a:rPr>
              <a:t>  整體變暗且偏灰，建築紋理變得難以辨識，低對比
</a:t>
            </a:r>
            <a:r>
              <a:rPr lang="en-US" sz="1300" b="1" dirty="0">
                <a:solidFill>
                  <a:srgbClr val="C45C00"/>
                </a:solidFill>
                <a:latin typeface="Calibri" pitchFamily="34" charset="0"/>
                <a:ea typeface="Calibri" pitchFamily="34" charset="-122"/>
                <a:cs typeface="Calibri" pitchFamily="34" charset="-120"/>
              </a:rPr>
              <a:t>參數 a=1.0, b=0：
</a:t>
            </a:r>
            <a:r>
              <a:rPr lang="en-US" sz="1300" dirty="0">
                <a:solidFill>
                  <a:srgbClr val="1A1A1A"/>
                </a:solidFill>
                <a:latin typeface="Calibri" pitchFamily="34" charset="0"/>
                <a:ea typeface="Calibri" pitchFamily="34" charset="-122"/>
                <a:cs typeface="Calibri" pitchFamily="34" charset="-120"/>
              </a:rPr>
              <a:t>  原圖，無變化
</a:t>
            </a:r>
            <a:r>
              <a:rPr lang="en-US" sz="1300" b="1" dirty="0">
                <a:solidFill>
                  <a:srgbClr val="C45C00"/>
                </a:solidFill>
                <a:latin typeface="Calibri" pitchFamily="34" charset="0"/>
                <a:ea typeface="Calibri" pitchFamily="34" charset="-122"/>
                <a:cs typeface="Calibri" pitchFamily="34" charset="-120"/>
              </a:rPr>
              <a:t>參數 a=1.5, b=−30：
</a:t>
            </a:r>
            <a:r>
              <a:rPr lang="en-US" sz="1300" dirty="0">
                <a:solidFill>
                  <a:srgbClr val="1A1A1A"/>
                </a:solidFill>
                <a:latin typeface="Calibri" pitchFamily="34" charset="0"/>
                <a:ea typeface="Calibri" pitchFamily="34" charset="-122"/>
                <a:cs typeface="Calibri" pitchFamily="34" charset="-120"/>
              </a:rPr>
              <a:t>  對比增強，牆面磚縫清晰可見，但天空局部過曝（截斷白色）
</a:t>
            </a:r>
            <a:r>
              <a:rPr lang="en-US" sz="1300" b="1" dirty="0">
                <a:solidFill>
                  <a:srgbClr val="C45C00"/>
                </a:solidFill>
                <a:latin typeface="Calibri" pitchFamily="34" charset="0"/>
                <a:ea typeface="Calibri" pitchFamily="34" charset="-122"/>
                <a:cs typeface="Calibri" pitchFamily="34" charset="-120"/>
              </a:rPr>
              <a:t>參數 a=2.0, b=−60：
</a:t>
            </a:r>
            <a:r>
              <a:rPr lang="en-US" sz="1300" dirty="0">
                <a:solidFill>
                  <a:srgbClr val="1A1A1A"/>
                </a:solidFill>
                <a:latin typeface="Calibri" pitchFamily="34" charset="0"/>
                <a:ea typeface="Calibri" pitchFamily="34" charset="-122"/>
                <a:cs typeface="Calibri" pitchFamily="34" charset="-120"/>
              </a:rPr>
              <a:t>  高度對比，幾乎成為黑白影像，磚縫極清晰但亮部大面積截斷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結論：線性調整是一把雙面刃，增強對比的同時必然截斷兩端細節</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補充 A  ┃  通道操作</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彩色影像的通道結構</a:t>
            </a:r>
            <a:endParaRPr lang="en-US" sz="2000" dirty="0"/>
          </a:p>
        </p:txBody>
      </p:sp>
      <p:sp>
        <p:nvSpPr>
          <p:cNvPr id="7" name="Text 5"/>
          <p:cNvSpPr/>
          <p:nvPr/>
        </p:nvSpPr>
        <p:spPr>
          <a:xfrm>
            <a:off x="320040" y="1115568"/>
            <a:ext cx="512064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RGB 影像 = 三個獨立灰階矩陣的疊加
</a:t>
            </a:r>
            <a:r>
              <a:rPr lang="en-US" sz="1300" dirty="0">
                <a:solidFill>
                  <a:srgbClr val="1A1A1A"/>
                </a:solidFill>
                <a:latin typeface="Calibri" pitchFamily="34" charset="0"/>
                <a:ea typeface="Calibri" pitchFamily="34" charset="-122"/>
                <a:cs typeface="Calibri" pitchFamily="34" charset="-120"/>
              </a:rPr>
              <a:t>NumPy shape：(H, W, 3)
  img[row, col, 0]  →  Blue 分量
  img[row, col, 1]  →  Green 分量
  img[row, col, 2]  →  Red 分量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  OpenCV 的通道順序是 BGR，不是 RGB！
</a:t>
            </a:r>
            <a:r>
              <a:rPr lang="en-US" sz="1300" dirty="0">
                <a:solidFill>
                  <a:srgbClr val="1A1A1A"/>
                </a:solidFill>
                <a:latin typeface="Calibri" pitchFamily="34" charset="0"/>
                <a:ea typeface="Calibri" pitchFamily="34" charset="-122"/>
                <a:cs typeface="Calibri" pitchFamily="34" charset="-120"/>
              </a:rPr>
              <a:t>這與 Matplotlib、PIL/Pillow、TensorFlow 的 RGB 順序相反！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正確顯示方式：
</a:t>
            </a:r>
            <a:r>
              <a:rPr lang="en-US" sz="1300" dirty="0">
                <a:solidFill>
                  <a:srgbClr val="1A1A1A"/>
                </a:solidFill>
                <a:latin typeface="Calibri" pitchFamily="34" charset="0"/>
                <a:ea typeface="Calibri" pitchFamily="34" charset="-122"/>
                <a:cs typeface="Calibri" pitchFamily="34" charset="-120"/>
              </a:rPr>
              <a:t>  plt.imshow(cv2.cvtColor(img, cv2.COLOR_BGR2RGB))  # 顯示時先轉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每個通道可視為獨立灰階影像，可以分開分析或操作：
</a:t>
            </a:r>
            <a:r>
              <a:rPr lang="en-US" sz="1300" dirty="0">
                <a:solidFill>
                  <a:srgbClr val="1A1A1A"/>
                </a:solidFill>
                <a:latin typeface="Calibri" pitchFamily="34" charset="0"/>
                <a:ea typeface="Calibri" pitchFamily="34" charset="-122"/>
                <a:cs typeface="Calibri" pitchFamily="34" charset="-120"/>
              </a:rPr>
              <a:t>  b, g, r = cv2.split(img)    # 分成三個 (H,W) 矩陣</a:t>
            </a:r>
            <a:endParaRPr lang="en-US" sz="1400" dirty="0"/>
          </a:p>
        </p:txBody>
      </p:sp>
      <p:sp>
        <p:nvSpPr>
          <p:cNvPr id="8" name="Shape 6"/>
          <p:cNvSpPr/>
          <p:nvPr/>
        </p:nvSpPr>
        <p:spPr>
          <a:xfrm>
            <a:off x="5577840" y="1115568"/>
            <a:ext cx="3246120" cy="3520440"/>
          </a:xfrm>
          <a:prstGeom prst="rect">
            <a:avLst/>
          </a:prstGeom>
          <a:solidFill>
            <a:srgbClr val="D6E4F0"/>
          </a:solidFill>
          <a:ln w="10160">
            <a:solidFill>
              <a:srgbClr val="1E3A5F"/>
            </a:solidFill>
            <a:prstDash val="solid"/>
          </a:ln>
        </p:spPr>
        <p:txBody>
          <a:bodyPr/>
          <a:lstStyle/>
          <a:p>
            <a:endParaRPr lang="zh-TW" altLang="en-US"/>
          </a:p>
        </p:txBody>
      </p:sp>
      <p:sp>
        <p:nvSpPr>
          <p:cNvPr id="9" name="Shape 7"/>
          <p:cNvSpPr/>
          <p:nvPr/>
        </p:nvSpPr>
        <p:spPr>
          <a:xfrm>
            <a:off x="5577840" y="1115568"/>
            <a:ext cx="3246120" cy="329184"/>
          </a:xfrm>
          <a:prstGeom prst="rect">
            <a:avLst/>
          </a:prstGeom>
          <a:solidFill>
            <a:srgbClr val="1E3A5F"/>
          </a:solidFill>
          <a:ln w="12700">
            <a:solidFill>
              <a:srgbClr val="1E3A5F"/>
            </a:solidFill>
            <a:prstDash val="solid"/>
          </a:ln>
        </p:spPr>
        <p:txBody>
          <a:bodyPr/>
          <a:lstStyle/>
          <a:p>
            <a:endParaRPr lang="zh-TW" altLang="en-US"/>
          </a:p>
        </p:txBody>
      </p:sp>
      <p:sp>
        <p:nvSpPr>
          <p:cNvPr id="10" name="Text 8"/>
          <p:cNvSpPr/>
          <p:nvPr/>
        </p:nvSpPr>
        <p:spPr>
          <a:xfrm>
            <a:off x="5623560" y="1115568"/>
            <a:ext cx="315468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通道操作常見用途</a:t>
            </a:r>
            <a:endParaRPr lang="en-US" sz="1000" dirty="0"/>
          </a:p>
        </p:txBody>
      </p:sp>
      <p:sp>
        <p:nvSpPr>
          <p:cNvPr id="11" name="Text 9"/>
          <p:cNvSpPr/>
          <p:nvPr/>
        </p:nvSpPr>
        <p:spPr>
          <a:xfrm>
            <a:off x="5623560" y="1490472"/>
            <a:ext cx="31089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cv2.split(img)</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分離 B/G/R 三通道</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cv2.merge([b,g,r])</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合回 (H,W,3)</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對 R 通道做直方圖</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診斷色偏問題</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只對 B 通道調亮度</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校正白平衡</a:t>
            </a:r>
            <a:endParaRPr lang="en-US" sz="11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補充 A  ┃  通道操作</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Docs — cv2.split(), cv2.merge()</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cv2.split() 與 cv2.merge() 實作</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通道分離（cv2.split）：
</a:t>
            </a:r>
            <a:r>
              <a:rPr lang="en-US" sz="1300" dirty="0">
                <a:solidFill>
                  <a:srgbClr val="1A1A1A"/>
                </a:solidFill>
                <a:latin typeface="Calibri" pitchFamily="34" charset="0"/>
                <a:ea typeface="Calibri" pitchFamily="34" charset="-122"/>
                <a:cs typeface="Calibri" pitchFamily="34" charset="-120"/>
              </a:rPr>
              <a:t>  b, g, r = cv2.split(img)             # 各為 (H,W) 的 uint8 陣列
  cv2.imshow('B channel', b)            # 藍色通道的灰階圖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分通道繪製直方圖：
</a:t>
            </a:r>
            <a:r>
              <a:rPr lang="en-US" sz="1300" dirty="0">
                <a:solidFill>
                  <a:srgbClr val="1A1A1A"/>
                </a:solidFill>
                <a:latin typeface="Calibri" pitchFamily="34" charset="0"/>
                <a:ea typeface="Calibri" pitchFamily="34" charset="-122"/>
                <a:cs typeface="Calibri" pitchFamily="34" charset="-120"/>
              </a:rPr>
              <a:t>  for ch, color in zip([b,g,r], ['b','g','r']):
      hist = cv2.calcHist([ch],[0],None,[256],[0,256])
      plt.plot(hist, color=color)        # 三通道直方圖疊加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通道合併（cv2.merge）：
</a:t>
            </a:r>
            <a:r>
              <a:rPr lang="en-US" sz="1300" dirty="0">
                <a:solidFill>
                  <a:srgbClr val="1A1A1A"/>
                </a:solidFill>
                <a:latin typeface="Calibri" pitchFamily="34" charset="0"/>
                <a:ea typeface="Calibri" pitchFamily="34" charset="-122"/>
                <a:cs typeface="Calibri" pitchFamily="34" charset="-120"/>
              </a:rPr>
              <a:t>  r_boosted = np.clip(r.astype(np.int16)+30, 0, 255).astype(np.uint8)
  warm = cv2.merge([b, g, r_boosted])   # 增加紅色通道→暖色調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注意：merge 的通道順序必須與 OpenCV 的 BGR 一致，否則色彩會錯誤</a:t>
            </a:r>
            <a:endParaRPr lang="en-US" sz="1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§2  補充 A  ┃  通道操作</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參考：NumPy dtype 文件</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彩色影像 Gamma 矯正：為何需要分通道處理？</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常見錯誤（色偏）：
</a:t>
            </a:r>
            <a:r>
              <a:rPr lang="en-US" sz="1200" dirty="0">
                <a:solidFill>
                  <a:srgbClr val="6B7280"/>
                </a:solidFill>
                <a:latin typeface="Calibri" pitchFamily="34" charset="0"/>
                <a:ea typeface="Calibri" pitchFamily="34" charset="-122"/>
                <a:cs typeface="Calibri" pitchFamily="34" charset="-120"/>
              </a:rPr>
              <a:t>  # ❌ 直接對整個 BGR 陣列做 Gamma，各通道溢位行為不一致
</a:t>
            </a:r>
            <a:r>
              <a:rPr lang="en-US" sz="1300" dirty="0">
                <a:solidFill>
                  <a:srgbClr val="1A1A1A"/>
                </a:solidFill>
                <a:latin typeface="Calibri" pitchFamily="34" charset="0"/>
                <a:ea typeface="Calibri" pitchFamily="34" charset="-122"/>
                <a:cs typeface="Calibri" pitchFamily="34" charset="-120"/>
              </a:rPr>
              <a:t>  result = np.power(img/255.0, 0.5) * 255  # 色偏風險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正確作法：分通道計算
</a:t>
            </a:r>
            <a:r>
              <a:rPr lang="en-US" sz="1300" dirty="0">
                <a:solidFill>
                  <a:srgbClr val="1A1A1A"/>
                </a:solidFill>
                <a:latin typeface="Calibri" pitchFamily="34" charset="0"/>
                <a:ea typeface="Calibri" pitchFamily="34" charset="-122"/>
                <a:cs typeface="Calibri" pitchFamily="34" charset="-120"/>
              </a:rPr>
              <a:t>  b, g, r = cv2.split(img.astype(np.float32))
  gc = lambda ch: np.power(ch/255.0, gamma) * 255
  result = cv2.merge([gc(b), gc(g), gc(r)])
  result = np.clip(result, 0, 255).astype(np.uint8)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或更高效的方式：建立 LUT 後套用（下一節介紹）
</a:t>
            </a:r>
            <a:r>
              <a:rPr lang="en-US" sz="1300" dirty="0">
                <a:solidFill>
                  <a:srgbClr val="1A1A1A"/>
                </a:solidFill>
                <a:latin typeface="Calibri" pitchFamily="34" charset="0"/>
                <a:ea typeface="Calibri" pitchFamily="34" charset="-122"/>
                <a:cs typeface="Calibri" pitchFamily="34" charset="-120"/>
              </a:rPr>
              <a:t>  lut = np.array([(i/255.0)**gamma*255 for i in range(256)], dtype=np.uint8)
  result = cv2.LUT(img, lut)  # 自動套用到每個通道！</a:t>
            </a:r>
            <a:endParaRPr lang="en-US" sz="14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3">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320040" y="91440"/>
            <a:ext cx="2560320" cy="292608"/>
          </a:xfrm>
          <a:prstGeom prst="roundRect">
            <a:avLst>
              <a:gd name="adj" fmla="val 25000"/>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91440"/>
            <a:ext cx="2560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  補充 A  ┃  引導提問</a:t>
            </a:r>
            <a:endParaRPr lang="en-US" sz="900" dirty="0"/>
          </a:p>
        </p:txBody>
      </p:sp>
      <p:sp>
        <p:nvSpPr>
          <p:cNvPr id="4" name="Text 2"/>
          <p:cNvSpPr/>
          <p:nvPr/>
        </p:nvSpPr>
        <p:spPr>
          <a:xfrm>
            <a:off x="457200" y="502920"/>
            <a:ext cx="8229600" cy="347472"/>
          </a:xfrm>
          <a:prstGeom prst="rect">
            <a:avLst/>
          </a:prstGeom>
          <a:noFill/>
          <a:ln/>
        </p:spPr>
        <p:txBody>
          <a:bodyPr wrap="square" rtlCol="0" anchor="ctr"/>
          <a:lstStyle/>
          <a:p>
            <a:pPr marL="0" indent="0" algn="l">
              <a:buNone/>
            </a:pPr>
            <a:r>
              <a:rPr lang="en-US" sz="1100" b="1" kern="0" spc="300" dirty="0">
                <a:solidFill>
                  <a:srgbClr val="C45C00"/>
                </a:solidFill>
                <a:latin typeface="Calibri" pitchFamily="34" charset="0"/>
                <a:ea typeface="Calibri" pitchFamily="34" charset="-122"/>
                <a:cs typeface="Calibri" pitchFamily="34" charset="-120"/>
              </a:rPr>
              <a:t>核心提問</a:t>
            </a:r>
            <a:endParaRPr lang="en-US" sz="1100" dirty="0"/>
          </a:p>
        </p:txBody>
      </p:sp>
      <p:sp>
        <p:nvSpPr>
          <p:cNvPr id="5" name="Shape 3"/>
          <p:cNvSpPr/>
          <p:nvPr/>
        </p:nvSpPr>
        <p:spPr>
          <a:xfrm>
            <a:off x="457200" y="914400"/>
            <a:ext cx="8229600" cy="2743200"/>
          </a:xfrm>
          <a:prstGeom prst="rect">
            <a:avLst/>
          </a:prstGeom>
          <a:solidFill>
            <a:srgbClr val="162E4A"/>
          </a:solidFill>
          <a:ln w="25400">
            <a:solidFill>
              <a:srgbClr val="C45C00"/>
            </a:solidFill>
            <a:prstDash val="solid"/>
          </a:ln>
        </p:spPr>
        <p:txBody>
          <a:bodyPr/>
          <a:lstStyle/>
          <a:p>
            <a:endParaRPr lang="zh-TW" altLang="en-US"/>
          </a:p>
        </p:txBody>
      </p:sp>
      <p:sp>
        <p:nvSpPr>
          <p:cNvPr id="6" name="Text 4"/>
          <p:cNvSpPr/>
          <p:nvPr/>
        </p:nvSpPr>
        <p:spPr>
          <a:xfrm>
            <a:off x="640080" y="1051560"/>
            <a:ext cx="7863840" cy="2377440"/>
          </a:xfrm>
          <a:prstGeom prst="rect">
            <a:avLst/>
          </a:prstGeom>
          <a:noFill/>
          <a:ln/>
        </p:spPr>
        <p:txBody>
          <a:bodyPr wrap="square" rtlCol="0" anchor="ctr"/>
          <a:lstStyle/>
          <a:p>
            <a:pPr marL="0" indent="0" algn="l">
              <a:buNone/>
            </a:pPr>
            <a:r>
              <a:rPr lang="en-US" sz="2400" dirty="0">
                <a:solidFill>
                  <a:srgbClr val="C45C00"/>
                </a:solidFill>
                <a:latin typeface="Calibri" pitchFamily="34" charset="0"/>
                <a:ea typeface="Calibri" pitchFamily="34" charset="-122"/>
                <a:cs typeface="Calibri" pitchFamily="34" charset="-120"/>
              </a:rPr>
              <a:t>❓  </a:t>
            </a:r>
            <a:r>
              <a:rPr lang="en-US" sz="1700" b="1" dirty="0">
                <a:solidFill>
                  <a:srgbClr val="FFFFFF"/>
                </a:solidFill>
                <a:latin typeface="Calibri" pitchFamily="34" charset="0"/>
                <a:ea typeface="Calibri" pitchFamily="34" charset="-122"/>
                <a:cs typeface="Calibri" pitchFamily="34" charset="-120"/>
              </a:rPr>
              <a:t>Gamma 矯正對每個像素都要做一次 np.power() 浮點指數運算。對嵌入式裝置每秒 30 幀、每幀 200 萬像素，這樣夠快嗎？</a:t>
            </a:r>
            <a:endParaRPr lang="en-US" sz="2400" dirty="0"/>
          </a:p>
        </p:txBody>
      </p:sp>
      <p:sp>
        <p:nvSpPr>
          <p:cNvPr id="7" name="Text 5"/>
          <p:cNvSpPr/>
          <p:nvPr/>
        </p:nvSpPr>
        <p:spPr>
          <a:xfrm>
            <a:off x="457200" y="3794760"/>
            <a:ext cx="8229600" cy="685800"/>
          </a:xfrm>
          <a:prstGeom prst="rect">
            <a:avLst/>
          </a:prstGeom>
          <a:noFill/>
          <a:ln/>
        </p:spPr>
        <p:txBody>
          <a:bodyPr wrap="square" rtlCol="0" anchor="ctr"/>
          <a:lstStyle/>
          <a:p>
            <a:pPr marL="0" indent="0" algn="l">
              <a:buNone/>
            </a:pPr>
            <a:r>
              <a:rPr lang="en-US" sz="1100" i="1" dirty="0">
                <a:solidFill>
                  <a:srgbClr val="D6E4F0"/>
                </a:solidFill>
                <a:latin typeface="Calibri" pitchFamily="34" charset="0"/>
                <a:ea typeface="Calibri" pitchFamily="34" charset="-122"/>
                <a:cs typeface="Calibri" pitchFamily="34" charset="-120"/>
              </a:rPr>
              <a:t>提示：Gamma 函式的輸入只有 256 種可能值（0～255），有沒有辦法「預先算好」答案，執行時只查表？</a:t>
            </a:r>
            <a:endParaRPr lang="en-US" sz="11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4">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03</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非線性響應與 Gamma 矯正</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Non-linear Response &amp; Gamma Correction</a:t>
            </a:r>
            <a:endParaRPr lang="en-US" sz="1300" dirty="0"/>
          </a:p>
        </p:txBody>
      </p:sp>
      <p:sp>
        <p:nvSpPr>
          <p:cNvPr id="6" name="Shape 4"/>
          <p:cNvSpPr/>
          <p:nvPr/>
        </p:nvSpPr>
        <p:spPr>
          <a:xfrm>
            <a:off x="685800" y="2788920"/>
            <a:ext cx="7406640" cy="822960"/>
          </a:xfrm>
          <a:prstGeom prst="rect">
            <a:avLst/>
          </a:prstGeom>
          <a:solidFill>
            <a:srgbClr val="162E4A"/>
          </a:solidFill>
          <a:ln w="19050">
            <a:solidFill>
              <a:srgbClr val="C45C00"/>
            </a:solidFill>
            <a:prstDash val="solid"/>
          </a:ln>
        </p:spPr>
        <p:txBody>
          <a:bodyPr/>
          <a:lstStyle/>
          <a:p>
            <a:endParaRPr lang="zh-TW" altLang="en-US"/>
          </a:p>
        </p:txBody>
      </p:sp>
      <p:sp>
        <p:nvSpPr>
          <p:cNvPr id="7" name="Text 5"/>
          <p:cNvSpPr/>
          <p:nvPr/>
        </p:nvSpPr>
        <p:spPr>
          <a:xfrm>
            <a:off x="822960" y="2788920"/>
            <a:ext cx="7132320" cy="822960"/>
          </a:xfrm>
          <a:prstGeom prst="rect">
            <a:avLst/>
          </a:prstGeom>
          <a:noFill/>
          <a:ln/>
        </p:spPr>
        <p:txBody>
          <a:bodyPr wrap="square" lIns="0" tIns="0" rIns="0" bIns="0" rtlCol="0" anchor="ctr"/>
          <a:lstStyle/>
          <a:p>
            <a:pPr marL="0" indent="0" algn="l">
              <a:buNone/>
            </a:pPr>
            <a:r>
              <a:rPr lang="en-US" sz="1100" i="1" dirty="0">
                <a:solidFill>
                  <a:srgbClr val="F5E6D3"/>
                </a:solidFill>
                <a:latin typeface="Calibri" pitchFamily="34" charset="0"/>
                <a:ea typeface="Calibri" pitchFamily="34" charset="-122"/>
                <a:cs typeface="Calibri" pitchFamily="34" charset="-120"/>
              </a:rPr>
              <a:t>💡 為什麼相機拍出的照片，暗部黑成一團，跟肉眼看到的不一樣？</a:t>
            </a:r>
            <a:endParaRPr lang="en-US" sz="11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人眼感光 vs 相機感測器：兩種截然不同的響應曲線</a:t>
            </a:r>
            <a:endParaRPr lang="en-US" sz="2000" dirty="0"/>
          </a:p>
        </p:txBody>
      </p:sp>
      <p:sp>
        <p:nvSpPr>
          <p:cNvPr id="7" name="Shape 5"/>
          <p:cNvSpPr/>
          <p:nvPr/>
        </p:nvSpPr>
        <p:spPr>
          <a:xfrm>
            <a:off x="32004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8" name="Shape 6"/>
          <p:cNvSpPr/>
          <p:nvPr/>
        </p:nvSpPr>
        <p:spPr>
          <a:xfrm>
            <a:off x="320040" y="1115568"/>
            <a:ext cx="4206240" cy="329184"/>
          </a:xfrm>
          <a:prstGeom prst="rect">
            <a:avLst/>
          </a:prstGeom>
          <a:solidFill>
            <a:srgbClr val="1E3A5F"/>
          </a:solidFill>
          <a:ln w="12700">
            <a:solidFill>
              <a:srgbClr val="1E3A5F"/>
            </a:solidFill>
            <a:prstDash val="solid"/>
          </a:ln>
        </p:spPr>
        <p:txBody>
          <a:bodyPr/>
          <a:lstStyle/>
          <a:p>
            <a:endParaRPr lang="zh-TW" altLang="en-US"/>
          </a:p>
        </p:txBody>
      </p:sp>
      <p:sp>
        <p:nvSpPr>
          <p:cNvPr id="9" name="Text 7"/>
          <p:cNvSpPr/>
          <p:nvPr/>
        </p:nvSpPr>
        <p:spPr>
          <a:xfrm>
            <a:off x="39319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相機感測器（線性響應）</a:t>
            </a:r>
            <a:endParaRPr lang="en-US" sz="1150" dirty="0"/>
          </a:p>
        </p:txBody>
      </p:sp>
      <p:sp>
        <p:nvSpPr>
          <p:cNvPr id="10" name="Text 8"/>
          <p:cNvSpPr/>
          <p:nvPr/>
        </p:nvSpPr>
        <p:spPr>
          <a:xfrm>
            <a:off x="42976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光子數量翻倍 → 輸出數值翻倍</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這是一種線性（Linear）響應</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問題：大多數位元花在人眼感知不到的亮部細節，暗部的位元數不足，量化雜訊明顯</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例：從 0 到 1 photon 是人眼能感知的最大變化，但線性編碼分配的數值範圍卻極小</a:t>
            </a:r>
            <a:endParaRPr lang="en-US" sz="1150" dirty="0"/>
          </a:p>
        </p:txBody>
      </p:sp>
      <p:sp>
        <p:nvSpPr>
          <p:cNvPr id="11" name="Shape 9"/>
          <p:cNvSpPr/>
          <p:nvPr/>
        </p:nvSpPr>
        <p:spPr>
          <a:xfrm>
            <a:off x="470916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2" name="Shape 10"/>
          <p:cNvSpPr/>
          <p:nvPr/>
        </p:nvSpPr>
        <p:spPr>
          <a:xfrm>
            <a:off x="4709160" y="1115568"/>
            <a:ext cx="4206240" cy="329184"/>
          </a:xfrm>
          <a:prstGeom prst="rect">
            <a:avLst/>
          </a:prstGeom>
          <a:solidFill>
            <a:srgbClr val="C45C00"/>
          </a:solidFill>
          <a:ln w="12700">
            <a:solidFill>
              <a:srgbClr val="C45C00"/>
            </a:solidFill>
            <a:prstDash val="solid"/>
          </a:ln>
        </p:spPr>
        <p:txBody>
          <a:bodyPr/>
          <a:lstStyle/>
          <a:p>
            <a:endParaRPr lang="zh-TW" altLang="en-US"/>
          </a:p>
        </p:txBody>
      </p:sp>
      <p:sp>
        <p:nvSpPr>
          <p:cNvPr id="13" name="Text 11"/>
          <p:cNvSpPr/>
          <p:nvPr/>
        </p:nvSpPr>
        <p:spPr>
          <a:xfrm>
            <a:off x="478231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人眼（對數 / 非線性感知）</a:t>
            </a:r>
            <a:endParaRPr lang="en-US" sz="1150" dirty="0"/>
          </a:p>
        </p:txBody>
      </p:sp>
      <p:sp>
        <p:nvSpPr>
          <p:cNvPr id="14" name="Text 12"/>
          <p:cNvSpPr/>
          <p:nvPr/>
        </p:nvSpPr>
        <p:spPr>
          <a:xfrm>
            <a:off x="481888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韋伯-費希納定律：感知強度與刺激強度的對數成正比</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對暗部微小變化極度敏感，對亮部大幅變化感知鈍化</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結果：用線性整數值表示影像，浪費了人眼感知最敏感的暗部編碼空間</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sRGB 標準：現代相機/螢幕的 JPEG 已內建約 γ=2.2 的非線性編碼修正此問題</a:t>
            </a:r>
            <a:endParaRPr lang="en-US" sz="1150" dirty="0"/>
          </a:p>
        </p:txBody>
      </p:sp>
      <p:pic>
        <p:nvPicPr>
          <p:cNvPr id="16" name="圖片 15">
            <a:extLst>
              <a:ext uri="{FF2B5EF4-FFF2-40B4-BE49-F238E27FC236}">
                <a16:creationId xmlns:a16="http://schemas.microsoft.com/office/drawing/2014/main" id="{1F3BB6A9-A8C5-1575-AC16-555D274DA7A5}"/>
              </a:ext>
            </a:extLst>
          </p:cNvPr>
          <p:cNvPicPr>
            <a:picLocks noChangeAspect="1"/>
          </p:cNvPicPr>
          <p:nvPr/>
        </p:nvPicPr>
        <p:blipFill>
          <a:blip r:embed="rId3"/>
          <a:stretch>
            <a:fillRect/>
          </a:stretch>
        </p:blipFill>
        <p:spPr>
          <a:xfrm>
            <a:off x="1738432" y="3176420"/>
            <a:ext cx="4972469" cy="1961997"/>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sRGB 與非線性編碼：你的相機早就做了 Gamma</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sRGB 標準（IEC 61966-2-1）：
</a:t>
            </a:r>
            <a:r>
              <a:rPr lang="en-US" sz="1300" dirty="0">
                <a:solidFill>
                  <a:srgbClr val="1A1A1A"/>
                </a:solidFill>
                <a:latin typeface="Calibri" pitchFamily="34" charset="0"/>
                <a:ea typeface="Calibri" pitchFamily="34" charset="-122"/>
                <a:cs typeface="Calibri" pitchFamily="34" charset="-120"/>
              </a:rPr>
              <a:t>幾乎所有現代相機、手機、螢幕都遵循 sRGB 標準
相機在存 JPEG 前，已對線性感測器數值套用 γ ≈ 2.2 的編碼曲線
螢幕顯示時，又套用 γ ≈ 1/2.2 解碼，還原成線性光強度發光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對電腦視覺開發者的意義：
</a:t>
            </a:r>
            <a:r>
              <a:rPr lang="en-US" sz="1300" dirty="0">
                <a:solidFill>
                  <a:srgbClr val="1A1A1A"/>
                </a:solidFill>
                <a:latin typeface="Calibri" pitchFamily="34" charset="0"/>
                <a:ea typeface="Calibri" pitchFamily="34" charset="-122"/>
                <a:cs typeface="Calibri" pitchFamily="34" charset="-120"/>
              </a:rPr>
              <a:t>  • 你讀進來的 JPEG/PNG 像素值（uint8）是 sRGB 非線性編碼後的值
  • 若直接做數學運算（如混合兩張圖），結果在線性空間中是錯誤的！
  • 需要先做 Gamma 解碼（sRGB→線性），運算後再 Gamma </a:t>
            </a:r>
            <a:r>
              <a:rPr lang="en-US" sz="1300" dirty="0" err="1">
                <a:solidFill>
                  <a:srgbClr val="1A1A1A"/>
                </a:solidFill>
                <a:latin typeface="Calibri" pitchFamily="34" charset="0"/>
                <a:ea typeface="Calibri" pitchFamily="34" charset="-122"/>
                <a:cs typeface="Calibri" pitchFamily="34" charset="-120"/>
              </a:rPr>
              <a:t>編碼（線性→sRGB</a:t>
            </a:r>
            <a:r>
              <a:rPr lang="en-US" sz="1300" dirty="0">
                <a:solidFill>
                  <a:srgbClr val="1A1A1A"/>
                </a:solidFill>
                <a:latin typeface="Calibri" pitchFamily="34" charset="0"/>
                <a:ea typeface="Calibri" pitchFamily="34" charset="-122"/>
                <a:cs typeface="Calibri" pitchFamily="34" charset="-120"/>
              </a:rPr>
              <a:t>）</a:t>
            </a:r>
            <a:endParaRPr lang="en-US" sz="1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Gamma 矯正的實際應用場景</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何時需要 Gamma 矯正？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情境 1：夜間監控影像太暗
</a:t>
            </a:r>
            <a:r>
              <a:rPr lang="en-US" sz="1300" dirty="0">
                <a:solidFill>
                  <a:srgbClr val="1A1A1A"/>
                </a:solidFill>
                <a:latin typeface="Calibri" pitchFamily="34" charset="0"/>
                <a:ea typeface="Calibri" pitchFamily="34" charset="-122"/>
                <a:cs typeface="Calibri" pitchFamily="34" charset="-120"/>
              </a:rPr>
              <a:t>  相機欠曝，整體偏暗，暗部細節無法辨識 → 套用 γ &lt; 1 非線性提亮
</a:t>
            </a:r>
            <a:r>
              <a:rPr lang="en-US" sz="1300" b="1" dirty="0">
                <a:solidFill>
                  <a:srgbClr val="1E3A5F"/>
                </a:solidFill>
                <a:latin typeface="Calibri" pitchFamily="34" charset="0"/>
                <a:ea typeface="Calibri" pitchFamily="34" charset="-122"/>
                <a:cs typeface="Calibri" pitchFamily="34" charset="-120"/>
              </a:rPr>
              <a:t>情境 2：戶外強光拍攝過曝
</a:t>
            </a:r>
            <a:r>
              <a:rPr lang="en-US" sz="1300" dirty="0">
                <a:solidFill>
                  <a:srgbClr val="1A1A1A"/>
                </a:solidFill>
                <a:latin typeface="Calibri" pitchFamily="34" charset="0"/>
                <a:ea typeface="Calibri" pitchFamily="34" charset="-122"/>
                <a:cs typeface="Calibri" pitchFamily="34" charset="-120"/>
              </a:rPr>
              <a:t>  陽光直射造成大面積過曝泛白 → 套用 γ &gt; 1 壓暗
</a:t>
            </a:r>
            <a:r>
              <a:rPr lang="en-US" sz="1300" b="1" dirty="0">
                <a:solidFill>
                  <a:srgbClr val="1E3A5F"/>
                </a:solidFill>
                <a:latin typeface="Calibri" pitchFamily="34" charset="0"/>
                <a:ea typeface="Calibri" pitchFamily="34" charset="-122"/>
                <a:cs typeface="Calibri" pitchFamily="34" charset="-120"/>
              </a:rPr>
              <a:t>情境 3：不同感測器的色彩一致性校正
</a:t>
            </a:r>
            <a:r>
              <a:rPr lang="en-US" sz="1300" dirty="0">
                <a:solidFill>
                  <a:srgbClr val="1A1A1A"/>
                </a:solidFill>
                <a:latin typeface="Calibri" pitchFamily="34" charset="0"/>
                <a:ea typeface="Calibri" pitchFamily="34" charset="-122"/>
                <a:cs typeface="Calibri" pitchFamily="34" charset="-120"/>
              </a:rPr>
              <a:t>  兩個不同廠牌的攝影機，響應曲線不同 → Gamma 矯正統一
</a:t>
            </a:r>
            <a:r>
              <a:rPr lang="en-US" sz="1300" b="1" dirty="0">
                <a:solidFill>
                  <a:srgbClr val="1E3A5F"/>
                </a:solidFill>
                <a:latin typeface="Calibri" pitchFamily="34" charset="0"/>
                <a:ea typeface="Calibri" pitchFamily="34" charset="-122"/>
                <a:cs typeface="Calibri" pitchFamily="34" charset="-120"/>
              </a:rPr>
              <a:t>情境 4：HDR 內容在 SDR 螢幕上顯示
</a:t>
            </a:r>
            <a:r>
              <a:rPr lang="en-US" sz="1300" dirty="0">
                <a:solidFill>
                  <a:srgbClr val="1A1A1A"/>
                </a:solidFill>
                <a:latin typeface="Calibri" pitchFamily="34" charset="0"/>
                <a:ea typeface="Calibri" pitchFamily="34" charset="-122"/>
                <a:cs typeface="Calibri" pitchFamily="34" charset="-120"/>
              </a:rPr>
              <a:t>  高動態範圍影像需要色調映射（Tone Mapping），Gamma 是最簡單的映射
</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來源：2025-02-26 pdf p.31</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Gamma 矯正公式</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  =  c · r ^ γ          ( r, s ∈ [0, 1] )</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r：正規化輸入（r = f/255），s：矯正後輸出；c：縮放常數（通常 = 1）；γ：Gamma 值</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γ &lt; 1（如 0.4）：</a:t>
            </a:r>
            <a:r>
              <a:rPr lang="en-US" sz="1250" dirty="0">
                <a:solidFill>
                  <a:srgbClr val="1A1A1A"/>
                </a:solidFill>
                <a:latin typeface="Calibri" pitchFamily="34" charset="0"/>
                <a:ea typeface="Calibri" pitchFamily="34" charset="-122"/>
                <a:cs typeface="Calibri" pitchFamily="34" charset="-120"/>
              </a:rPr>
              <a:t>凸曲線：暗部被大幅拉亮，亮部變化小 → 提亮欠曝 / 夜視影像</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γ = 1：</a:t>
            </a:r>
            <a:r>
              <a:rPr lang="en-US" sz="1250" dirty="0">
                <a:solidFill>
                  <a:srgbClr val="1A1A1A"/>
                </a:solidFill>
                <a:latin typeface="Calibri" pitchFamily="34" charset="0"/>
                <a:ea typeface="Calibri" pitchFamily="34" charset="-122"/>
                <a:cs typeface="Calibri" pitchFamily="34" charset="-120"/>
              </a:rPr>
              <a:t>直線：輸入等於輸出，無任何改變（Identity）</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γ &gt; 1（如 2.2）：</a:t>
            </a:r>
            <a:r>
              <a:rPr lang="en-US" sz="1250" dirty="0">
                <a:solidFill>
                  <a:srgbClr val="1A1A1A"/>
                </a:solidFill>
                <a:latin typeface="Calibri" pitchFamily="34" charset="0"/>
                <a:ea typeface="Calibri" pitchFamily="34" charset="-122"/>
                <a:cs typeface="Calibri" pitchFamily="34" charset="-120"/>
              </a:rPr>
              <a:t>凹曲線：壓暗整體，提高高光對比 → 修正過曝影像</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sRGB 標準 γ：</a:t>
            </a:r>
            <a:r>
              <a:rPr lang="en-US" sz="1250" dirty="0">
                <a:solidFill>
                  <a:srgbClr val="1A1A1A"/>
                </a:solidFill>
                <a:latin typeface="Calibri" pitchFamily="34" charset="0"/>
                <a:ea typeface="Calibri" pitchFamily="34" charset="-122"/>
                <a:cs typeface="Calibri" pitchFamily="34" charset="-120"/>
              </a:rPr>
              <a:t>約 2.2（編碼）；顯示器解碼時套用 1/2.2 ≈ 0.45</a:t>
            </a:r>
            <a:endParaRPr lang="en-US" sz="12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Gamma 轉換曲線的幾何意義</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γ &lt; 1（凸曲線，如 γ=0.4）：
</a:t>
            </a:r>
            <a:r>
              <a:rPr lang="en-US" sz="1300" dirty="0">
                <a:solidFill>
                  <a:srgbClr val="1A1A1A"/>
                </a:solidFill>
                <a:latin typeface="Calibri" pitchFamily="34" charset="0"/>
                <a:ea typeface="Calibri" pitchFamily="34" charset="-122"/>
                <a:cs typeface="Calibri" pitchFamily="34" charset="-120"/>
              </a:rPr>
              <a:t>  曲線在低輸入區（暗部）斜率很大 → 暗部微小差異被大幅放大
  曲線在高輸入區（亮部）斜率趨近 0 → 亮部細節壓縮，不失去主要資訊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γ &gt; 1（凹曲線，如 γ=2.2）：
</a:t>
            </a:r>
            <a:r>
              <a:rPr lang="en-US" sz="1300" dirty="0">
                <a:solidFill>
                  <a:srgbClr val="1A1A1A"/>
                </a:solidFill>
                <a:latin typeface="Calibri" pitchFamily="34" charset="0"/>
                <a:ea typeface="Calibri" pitchFamily="34" charset="-122"/>
                <a:cs typeface="Calibri" pitchFamily="34" charset="-120"/>
              </a:rPr>
              <a:t>  曲線在低輸入區斜率趨近 0 → 暗部被壓縮到極暗
  曲線在高輸入區斜率較大 → 高亮度細節被展開，降低過曝感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與線性調整（a·f + b）的根本差異：
</a:t>
            </a:r>
            <a:r>
              <a:rPr lang="en-US" sz="1300" dirty="0">
                <a:solidFill>
                  <a:srgbClr val="1A1A1A"/>
                </a:solidFill>
                <a:latin typeface="Calibri" pitchFamily="34" charset="0"/>
                <a:ea typeface="Calibri" pitchFamily="34" charset="-122"/>
                <a:cs typeface="Calibri" pitchFamily="34" charset="-120"/>
              </a:rPr>
              <a:t>  線性調整對所有亮度等級施加相同的放大比率（斜率固定 = a）
  Gamma 對暗部和亮部施加不同的放大比率（斜率隨輸入值變化）
</a:t>
            </a:r>
            <a:r>
              <a:rPr lang="en-US" sz="1300" b="1" dirty="0">
                <a:solidFill>
                  <a:srgbClr val="1E3A5F"/>
                </a:solidFill>
                <a:latin typeface="Calibri" pitchFamily="34" charset="0"/>
                <a:ea typeface="Calibri" pitchFamily="34" charset="-122"/>
                <a:cs typeface="Calibri" pitchFamily="34" charset="-120"/>
              </a:rPr>
              <a:t>  → Gamma 是「不均勻的放大」，更接近人眼的感知曲線</a:t>
            </a:r>
            <a:endParaRPr lang="en-US" sz="1400" dirty="0"/>
          </a:p>
        </p:txBody>
      </p:sp>
      <p:pic>
        <p:nvPicPr>
          <p:cNvPr id="8" name="Picture 2" descr="D:\03多媒體\66429多媒體製作\圖\CH5\圖5-2.jpg">
            <a:extLst>
              <a:ext uri="{FF2B5EF4-FFF2-40B4-BE49-F238E27FC236}">
                <a16:creationId xmlns:a16="http://schemas.microsoft.com/office/drawing/2014/main" id="{5E6F32C2-1CC2-243C-FF80-8A0B3D0D8D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63700" y="1741335"/>
            <a:ext cx="3980300" cy="267958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Gamma 矯正實作（完整可執行代碼）</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標準實作：
</a:t>
            </a:r>
            <a:r>
              <a:rPr lang="en-US" sz="1300" dirty="0">
                <a:solidFill>
                  <a:srgbClr val="1A1A1A"/>
                </a:solidFill>
                <a:latin typeface="Calibri" pitchFamily="34" charset="0"/>
                <a:ea typeface="Calibri" pitchFamily="34" charset="-122"/>
                <a:cs typeface="Calibri" pitchFamily="34" charset="-120"/>
              </a:rPr>
              <a:t>def gamma_correct(img, gamma):
    img_f = img.astype(np.float32) / 255.0  # 正規化到 [0,1]
    corrected = np.power(img_f, gamma)       # 套用 Gamma
    return np.clip(corrected*255, 0, 255).astype(np.uint8)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試驗不同 γ 值：
</a:t>
            </a:r>
            <a:r>
              <a:rPr lang="en-US" sz="1300" dirty="0">
                <a:solidFill>
                  <a:srgbClr val="1A1A1A"/>
                </a:solidFill>
                <a:latin typeface="Calibri" pitchFamily="34" charset="0"/>
                <a:ea typeface="Calibri" pitchFamily="34" charset="-122"/>
                <a:cs typeface="Calibri" pitchFamily="34" charset="-120"/>
              </a:rPr>
              <a:t>  γ = 0.1   # 極度提亮，幾乎所有暗部都變亮
  γ = 0.4   # 明顯提亮，常用於夜視修復
  γ = 1.0   # 不變
  γ = 2.0   # 壓暗
  γ = 5.0   # 強烈壓暗，高對比黑白效果
</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視覺示範 A：提亮夜間影像（γ &lt; 1）</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示範影像：機場夜間停機坪（整體欠曝，幾乎全黑）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6B7280"/>
                </a:solidFill>
                <a:latin typeface="Calibri" pitchFamily="34" charset="0"/>
                <a:ea typeface="Calibri" pitchFamily="34" charset="-122"/>
                <a:cs typeface="Calibri" pitchFamily="34" charset="-120"/>
              </a:rPr>
              <a:t>γ = 1.0（原圖）：
</a:t>
            </a:r>
            <a:r>
              <a:rPr lang="en-US" sz="1300" dirty="0">
                <a:solidFill>
                  <a:srgbClr val="1A1A1A"/>
                </a:solidFill>
                <a:latin typeface="Calibri" pitchFamily="34" charset="0"/>
                <a:ea typeface="Calibri" pitchFamily="34" charset="-122"/>
                <a:cs typeface="Calibri" pitchFamily="34" charset="-120"/>
              </a:rPr>
              <a:t>  幾乎全黑，只有停機坪燈光可見，飛機輪廓消失於暗部
</a:t>
            </a:r>
            <a:r>
              <a:rPr lang="en-US" sz="1300" b="1" dirty="0">
                <a:solidFill>
                  <a:srgbClr val="C45C00"/>
                </a:solidFill>
                <a:latin typeface="Calibri" pitchFamily="34" charset="0"/>
                <a:ea typeface="Calibri" pitchFamily="34" charset="-122"/>
                <a:cs typeface="Calibri" pitchFamily="34" charset="-120"/>
              </a:rPr>
              <a:t>γ = 0.5：
</a:t>
            </a:r>
            <a:r>
              <a:rPr lang="en-US" sz="1300" dirty="0">
                <a:solidFill>
                  <a:srgbClr val="1A1A1A"/>
                </a:solidFill>
                <a:latin typeface="Calibri" pitchFamily="34" charset="0"/>
                <a:ea typeface="Calibri" pitchFamily="34" charset="-122"/>
                <a:cs typeface="Calibri" pitchFamily="34" charset="-120"/>
              </a:rPr>
              <a:t>  飛機輪廓開始浮現，跑道標線可見，整體亮度提升但不自然
</a:t>
            </a:r>
            <a:r>
              <a:rPr lang="en-US" sz="1300" b="1" dirty="0">
                <a:solidFill>
                  <a:srgbClr val="C45C00"/>
                </a:solidFill>
                <a:latin typeface="Calibri" pitchFamily="34" charset="0"/>
                <a:ea typeface="Calibri" pitchFamily="34" charset="-122"/>
                <a:cs typeface="Calibri" pitchFamily="34" charset="-120"/>
              </a:rPr>
              <a:t>γ = 0.2：
</a:t>
            </a:r>
            <a:r>
              <a:rPr lang="en-US" sz="1300" dirty="0">
                <a:solidFill>
                  <a:srgbClr val="1A1A1A"/>
                </a:solidFill>
                <a:latin typeface="Calibri" pitchFamily="34" charset="0"/>
                <a:ea typeface="Calibri" pitchFamily="34" charset="-122"/>
                <a:cs typeface="Calibri" pitchFamily="34" charset="-120"/>
              </a:rPr>
              <a:t>  細節大幅浮現，停機人員清晰可見，感覺像夜視鏡效果
</a:t>
            </a:r>
            <a:r>
              <a:rPr lang="en-US" sz="1300" b="1" dirty="0">
                <a:solidFill>
                  <a:srgbClr val="C45C00"/>
                </a:solidFill>
                <a:latin typeface="Calibri" pitchFamily="34" charset="0"/>
                <a:ea typeface="Calibri" pitchFamily="34" charset="-122"/>
                <a:cs typeface="Calibri" pitchFamily="34" charset="-120"/>
              </a:rPr>
              <a:t>γ = 0.1：
</a:t>
            </a:r>
            <a:r>
              <a:rPr lang="en-US" sz="1300" dirty="0">
                <a:solidFill>
                  <a:srgbClr val="1A1A1A"/>
                </a:solidFill>
                <a:latin typeface="Calibri" pitchFamily="34" charset="0"/>
                <a:ea typeface="Calibri" pitchFamily="34" charset="-122"/>
                <a:cs typeface="Calibri" pitchFamily="34" charset="-120"/>
              </a:rPr>
              <a:t>  幾乎所有暗部細節都完全顯現，但亮部（燈光）嚴重過曝泛白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觀察：γ 值越小，暗部放大越激烈，但亮部犧牲越大
</a:t>
            </a:r>
            <a:r>
              <a:rPr lang="en-US" sz="1300" b="1" dirty="0">
                <a:solidFill>
                  <a:srgbClr val="C45C00"/>
                </a:solidFill>
                <a:latin typeface="Calibri" pitchFamily="34" charset="0"/>
                <a:ea typeface="Calibri" pitchFamily="34" charset="-122"/>
                <a:cs typeface="Calibri" pitchFamily="34" charset="-120"/>
              </a:rPr>
              <a:t>最佳值需根據場景的直方圖分佈決定（下一節直方圖分析！）</a:t>
            </a:r>
            <a:endParaRPr lang="en-US" sz="1400" dirty="0"/>
          </a:p>
        </p:txBody>
      </p:sp>
      <p:pic>
        <p:nvPicPr>
          <p:cNvPr id="9" name="Picture 1">
            <a:extLst>
              <a:ext uri="{FF2B5EF4-FFF2-40B4-BE49-F238E27FC236}">
                <a16:creationId xmlns:a16="http://schemas.microsoft.com/office/drawing/2014/main" id="{4920A506-7124-564D-2FF9-F543C1BFB092}"/>
              </a:ext>
            </a:extLst>
          </p:cNvPr>
          <p:cNvPicPr>
            <a:picLocks noChangeAspect="1" noChangeArrowheads="1"/>
          </p:cNvPicPr>
          <p:nvPr/>
        </p:nvPicPr>
        <p:blipFill>
          <a:blip r:embed="rId3" cstate="print"/>
          <a:srcRect r="-1555" b="6604"/>
          <a:stretch/>
        </p:blipFill>
        <p:spPr bwMode="auto">
          <a:xfrm>
            <a:off x="4985468" y="621793"/>
            <a:ext cx="4276205" cy="2876183"/>
          </a:xfrm>
          <a:prstGeom prst="rect">
            <a:avLst/>
          </a:prstGeom>
          <a:noFill/>
          <a:ln w="9525">
            <a:noFill/>
            <a:miter lim="800000"/>
            <a:headEnd/>
            <a:tailEnd/>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Gamma 矯正</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視覺示範 B：壓暗過曝影像（γ &gt; 1）</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示範影像：強光下的鬆餅（食物攝影過曝，整體泛白）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6B7280"/>
                </a:solidFill>
                <a:latin typeface="Calibri" pitchFamily="34" charset="0"/>
                <a:ea typeface="Calibri" pitchFamily="34" charset="-122"/>
                <a:cs typeface="Calibri" pitchFamily="34" charset="-120"/>
              </a:rPr>
              <a:t>γ = 1.0（原圖）：
</a:t>
            </a:r>
            <a:r>
              <a:rPr lang="en-US" sz="1300" dirty="0">
                <a:solidFill>
                  <a:srgbClr val="1A1A1A"/>
                </a:solidFill>
                <a:latin typeface="Calibri" pitchFamily="34" charset="0"/>
                <a:ea typeface="Calibri" pitchFamily="34" charset="-122"/>
                <a:cs typeface="Calibri" pitchFamily="34" charset="-120"/>
              </a:rPr>
              <a:t>  鬆餅表面大面積泛白，糖漿與鬆餅質感無法辨識
</a:t>
            </a:r>
            <a:r>
              <a:rPr lang="en-US" sz="1300" b="1" dirty="0">
                <a:solidFill>
                  <a:srgbClr val="C45C00"/>
                </a:solidFill>
                <a:latin typeface="Calibri" pitchFamily="34" charset="0"/>
                <a:ea typeface="Calibri" pitchFamily="34" charset="-122"/>
                <a:cs typeface="Calibri" pitchFamily="34" charset="-120"/>
              </a:rPr>
              <a:t>γ = 2.0：
</a:t>
            </a:r>
            <a:r>
              <a:rPr lang="en-US" sz="1300" dirty="0">
                <a:solidFill>
                  <a:srgbClr val="1A1A1A"/>
                </a:solidFill>
                <a:latin typeface="Calibri" pitchFamily="34" charset="0"/>
                <a:ea typeface="Calibri" pitchFamily="34" charset="-122"/>
                <a:cs typeface="Calibri" pitchFamily="34" charset="-120"/>
              </a:rPr>
              <a:t>  泛白區域開始恢復，可以看到鬆餅的孔洞紋理
</a:t>
            </a:r>
            <a:r>
              <a:rPr lang="en-US" sz="1300" b="1" dirty="0">
                <a:solidFill>
                  <a:srgbClr val="C45C00"/>
                </a:solidFill>
                <a:latin typeface="Calibri" pitchFamily="34" charset="0"/>
                <a:ea typeface="Calibri" pitchFamily="34" charset="-122"/>
                <a:cs typeface="Calibri" pitchFamily="34" charset="-120"/>
              </a:rPr>
              <a:t>γ = 5.0：
</a:t>
            </a:r>
            <a:r>
              <a:rPr lang="en-US" sz="1300" dirty="0">
                <a:solidFill>
                  <a:srgbClr val="1A1A1A"/>
                </a:solidFill>
                <a:latin typeface="Calibri" pitchFamily="34" charset="0"/>
                <a:ea typeface="Calibri" pitchFamily="34" charset="-122"/>
                <a:cs typeface="Calibri" pitchFamily="34" charset="-120"/>
              </a:rPr>
              <a:t>  食材色彩完全恢復，糖漿、奶油、草莓清晰可見
</a:t>
            </a:r>
            <a:r>
              <a:rPr lang="en-US" sz="1300" b="1" dirty="0">
                <a:solidFill>
                  <a:srgbClr val="C45C00"/>
                </a:solidFill>
                <a:latin typeface="Calibri" pitchFamily="34" charset="0"/>
                <a:ea typeface="Calibri" pitchFamily="34" charset="-122"/>
                <a:cs typeface="Calibri" pitchFamily="34" charset="-120"/>
              </a:rPr>
              <a:t>γ = 10.0：
</a:t>
            </a:r>
            <a:r>
              <a:rPr lang="en-US" sz="1300" dirty="0">
                <a:solidFill>
                  <a:srgbClr val="1A1A1A"/>
                </a:solidFill>
                <a:latin typeface="Calibri" pitchFamily="34" charset="0"/>
                <a:ea typeface="Calibri" pitchFamily="34" charset="-122"/>
                <a:cs typeface="Calibri" pitchFamily="34" charset="-120"/>
              </a:rPr>
              <a:t>  整體偏暗，但亮部細節已完全顯現，略顯對比過重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結論：Gamma 矯正能「拯救」欠曝或過曝的影像，但無法恢復已截斷的細節
</a:t>
            </a:r>
            <a:r>
              <a:rPr lang="en-US" sz="1300" b="1" dirty="0">
                <a:solidFill>
                  <a:srgbClr val="C45C00"/>
                </a:solidFill>
                <a:latin typeface="Calibri" pitchFamily="34" charset="0"/>
                <a:ea typeface="Calibri" pitchFamily="34" charset="-122"/>
                <a:cs typeface="Calibri" pitchFamily="34" charset="-120"/>
              </a:rPr>
              <a:t>（如果原始像素已是 255，γ &gt; 1 無法恢復被截斷的細節）</a:t>
            </a:r>
            <a:endParaRPr lang="en-US" sz="1400" dirty="0"/>
          </a:p>
        </p:txBody>
      </p:sp>
      <p:pic>
        <p:nvPicPr>
          <p:cNvPr id="8" name="Picture 15">
            <a:extLst>
              <a:ext uri="{FF2B5EF4-FFF2-40B4-BE49-F238E27FC236}">
                <a16:creationId xmlns:a16="http://schemas.microsoft.com/office/drawing/2014/main" id="{58BA4249-A10B-FFFA-B51C-F9DC793DE458}"/>
              </a:ext>
            </a:extLst>
          </p:cNvPr>
          <p:cNvPicPr>
            <a:picLocks noChangeAspect="1" noChangeArrowheads="1"/>
          </p:cNvPicPr>
          <p:nvPr/>
        </p:nvPicPr>
        <p:blipFill>
          <a:blip r:embed="rId3" cstate="print"/>
          <a:srcRect r="-1582" b="8553"/>
          <a:stretch/>
        </p:blipFill>
        <p:spPr bwMode="auto">
          <a:xfrm>
            <a:off x="5072688" y="502921"/>
            <a:ext cx="4071312" cy="2645367"/>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補充 B  ┃  LUT 加速</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Docs — cv2.LUT()</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查找表 LUT（Look-Up Table）：點運算的終極加速</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核心思想：
</a:t>
            </a:r>
            <a:r>
              <a:rPr lang="en-US" sz="1300" dirty="0">
                <a:solidFill>
                  <a:srgbClr val="1A1A1A"/>
                </a:solidFill>
                <a:latin typeface="Calibri" pitchFamily="34" charset="0"/>
                <a:ea typeface="Calibri" pitchFamily="34" charset="-122"/>
                <a:cs typeface="Calibri" pitchFamily="34" charset="-120"/>
              </a:rPr>
              <a:t>所有點運算的輸入只有 256 種可能值（0～255 的整數）
預先把所有 256 個輸入對應的輸出算好，存成一個陣列
執行時每個像素只需做一次陣列查詢（整數索引），而非重新計算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效能比較：
</a:t>
            </a:r>
            <a:r>
              <a:rPr lang="en-US" sz="1300" dirty="0">
                <a:solidFill>
                  <a:srgbClr val="1A1A1A"/>
                </a:solidFill>
                <a:latin typeface="Calibri" pitchFamily="34" charset="0"/>
                <a:ea typeface="Calibri" pitchFamily="34" charset="-122"/>
                <a:cs typeface="Calibri" pitchFamily="34" charset="-120"/>
              </a:rPr>
              <a:t>  np.power()（浮點指數）
  → 每像素約 10～50 個 CPU 週期
  cv2.LUT()（整數查表）
  → 每像素約 1～2 個 CPU 週期
  → 速度提升 10～30 倍！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嵌入式重要性：Raspberry Pi 上對 1080p 影像做 Gamma 矯正，</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np.power 約 200ms/幀；cv2.LUT 約 8ms/幀 → 差距懸殊！</a:t>
            </a:r>
            <a:endParaRPr lang="en-US" sz="14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4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§3  補充 B  ┃  LUT 加速</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Docs — cv2.LUT()</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LUT 實作：建表一次，查表萬次</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Step 1：建表（只執行一次，O(256)）
</a:t>
            </a:r>
            <a:r>
              <a:rPr lang="en-US" sz="1300" dirty="0">
                <a:solidFill>
                  <a:srgbClr val="1A1A1A"/>
                </a:solidFill>
                <a:latin typeface="Calibri" pitchFamily="34" charset="0"/>
                <a:ea typeface="Calibri" pitchFamily="34" charset="-122"/>
                <a:cs typeface="Calibri" pitchFamily="34" charset="-120"/>
              </a:rPr>
              <a:t>  gamma = 0.4
  lut = np.array(
      [((i / 255.0) ** gamma) * 255 for i in range(256)],
      dtype=np.uint8
  )                  # lut.shape = (256,)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Step 2：應用（對每幀執行，O(H×W)，只做整數查表）
</a:t>
            </a:r>
            <a:r>
              <a:rPr lang="en-US" sz="1300" dirty="0">
                <a:solidFill>
                  <a:srgbClr val="1A1A1A"/>
                </a:solidFill>
                <a:latin typeface="Calibri" pitchFamily="34" charset="0"/>
                <a:ea typeface="Calibri" pitchFamily="34" charset="-122"/>
                <a:cs typeface="Calibri" pitchFamily="34" charset="-120"/>
              </a:rPr>
              <a:t>  result = cv2.LUT(img, lut)  # 自動對每個通道套用同一張 LUT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Step 3：複合操作也可以合併成單一 LUT！
</a:t>
            </a:r>
            <a:r>
              <a:rPr lang="en-US" sz="1200" dirty="0">
                <a:solidFill>
                  <a:srgbClr val="6B7280"/>
                </a:solidFill>
                <a:latin typeface="Calibri" pitchFamily="34" charset="0"/>
                <a:ea typeface="Calibri" pitchFamily="34" charset="-122"/>
                <a:cs typeface="Calibri" pitchFamily="34" charset="-120"/>
              </a:rPr>
              <a:t>  # Gamma + 亮度調整 + 對比增強，合成為一個 LUT
</a:t>
            </a:r>
            <a:r>
              <a:rPr lang="en-US" sz="1300" dirty="0">
                <a:solidFill>
                  <a:srgbClr val="1A1A1A"/>
                </a:solidFill>
                <a:latin typeface="Calibri" pitchFamily="34" charset="0"/>
                <a:ea typeface="Calibri" pitchFamily="34" charset="-122"/>
                <a:cs typeface="Calibri" pitchFamily="34" charset="-120"/>
              </a:rPr>
              <a:t>  combined_lut = np.clip(((lut/255.0)**1.0 * a + b/255.0)*255, 0, 255).astype(np.uint8)
</a:t>
            </a:r>
            <a:r>
              <a:rPr lang="en-US" sz="1300" b="1" dirty="0">
                <a:solidFill>
                  <a:srgbClr val="C45C00"/>
                </a:solidFill>
                <a:latin typeface="Calibri" pitchFamily="34" charset="0"/>
                <a:ea typeface="Calibri" pitchFamily="34" charset="-122"/>
                <a:cs typeface="Calibri" pitchFamily="34" charset="-120"/>
              </a:rPr>
              <a:t>  # 三個操作，只需查一次表！</a:t>
            </a:r>
            <a:endParaRPr lang="en-US" sz="14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5">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04</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直方圖與閾值化</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Histograms &amp; Thresholding  |  統計分析與自動二值化</a:t>
            </a:r>
            <a:endParaRPr lang="en-US" sz="1300" dirty="0"/>
          </a:p>
        </p:txBody>
      </p:sp>
      <p:sp>
        <p:nvSpPr>
          <p:cNvPr id="6" name="Shape 4"/>
          <p:cNvSpPr/>
          <p:nvPr/>
        </p:nvSpPr>
        <p:spPr>
          <a:xfrm>
            <a:off x="685800" y="2788920"/>
            <a:ext cx="7406640" cy="822960"/>
          </a:xfrm>
          <a:prstGeom prst="rect">
            <a:avLst/>
          </a:prstGeom>
          <a:solidFill>
            <a:srgbClr val="162E4A"/>
          </a:solidFill>
          <a:ln w="19050">
            <a:solidFill>
              <a:srgbClr val="C45C00"/>
            </a:solidFill>
            <a:prstDash val="solid"/>
          </a:ln>
        </p:spPr>
        <p:txBody>
          <a:bodyPr/>
          <a:lstStyle/>
          <a:p>
            <a:endParaRPr lang="zh-TW" altLang="en-US"/>
          </a:p>
        </p:txBody>
      </p:sp>
      <p:sp>
        <p:nvSpPr>
          <p:cNvPr id="7" name="Text 5"/>
          <p:cNvSpPr/>
          <p:nvPr/>
        </p:nvSpPr>
        <p:spPr>
          <a:xfrm>
            <a:off x="822960" y="2788920"/>
            <a:ext cx="7132320" cy="822960"/>
          </a:xfrm>
          <a:prstGeom prst="rect">
            <a:avLst/>
          </a:prstGeom>
          <a:noFill/>
          <a:ln/>
        </p:spPr>
        <p:txBody>
          <a:bodyPr wrap="square" lIns="0" tIns="0" rIns="0" bIns="0" rtlCol="0" anchor="ctr"/>
          <a:lstStyle/>
          <a:p>
            <a:pPr marL="0" indent="0" algn="l">
              <a:buNone/>
            </a:pPr>
            <a:r>
              <a:rPr lang="en-US" sz="1100" i="1" dirty="0">
                <a:solidFill>
                  <a:srgbClr val="F5E6D3"/>
                </a:solidFill>
                <a:latin typeface="Calibri" pitchFamily="34" charset="0"/>
                <a:ea typeface="Calibri" pitchFamily="34" charset="-122"/>
                <a:cs typeface="Calibri" pitchFamily="34" charset="-120"/>
              </a:rPr>
              <a:t>💡 如果有一百萬張照片，不可能用眼睛一張一張看。有沒有數學工具能一眼看出照片的曝光好壞？</a:t>
            </a:r>
            <a:endParaRPr lang="en-US" sz="11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直方圖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數據的統計特徵：把空間位置丟掉，只看分佈</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關鍵觀念：
</a:t>
            </a:r>
            <a:r>
              <a:rPr lang="en-US" sz="1300" dirty="0">
                <a:solidFill>
                  <a:srgbClr val="1A1A1A"/>
                </a:solidFill>
                <a:latin typeface="Calibri" pitchFamily="34" charset="0"/>
                <a:ea typeface="Calibri" pitchFamily="34" charset="-122"/>
                <a:cs typeface="Calibri" pitchFamily="34" charset="-120"/>
              </a:rPr>
              <a:t>把二維的像素座標位置資訊丟掉，只統計「每個數字在整張影像中出現了幾次」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為什麼有用？
</a:t>
            </a:r>
            <a:r>
              <a:rPr lang="en-US" sz="1300" dirty="0">
                <a:solidFill>
                  <a:srgbClr val="1A1A1A"/>
                </a:solidFill>
                <a:latin typeface="Calibri" pitchFamily="34" charset="0"/>
                <a:ea typeface="Calibri" pitchFamily="34" charset="-122"/>
                <a:cs typeface="Calibri" pitchFamily="34" charset="-120"/>
              </a:rPr>
              <a:t>  • 兩張影像形狀完全不同，但若曝光條件相同，直方圖分佈相似
  • 一眼看出影像是否過曝（右偏）、欠曝（左偏）、低對比（中間擠）
  • 不需要看圖就能自動診斷影像品質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類比：
</a:t>
            </a:r>
            <a:r>
              <a:rPr lang="en-US" sz="1300" dirty="0">
                <a:solidFill>
                  <a:srgbClr val="1A1A1A"/>
                </a:solidFill>
                <a:latin typeface="Calibri" pitchFamily="34" charset="0"/>
                <a:ea typeface="Calibri" pitchFamily="34" charset="-122"/>
                <a:cs typeface="Calibri" pitchFamily="34" charset="-120"/>
              </a:rPr>
              <a:t>  把一班 40 個學生的考試成績（0～100 分）統計成一個長度 101 的陣列
  histogram[85] = 5 → 有 5 個學生考了 85 分
  這個統計陣列讓你一眼看出班級成績分佈，而不需要逐一看每個學生的分數</a:t>
            </a:r>
            <a:endParaRPr lang="en-US" sz="14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直方圖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影像直方圖的數學定義</a:t>
            </a:r>
            <a:endParaRPr lang="en-US" sz="20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r_k：第 k 個灰階等級（像素值）；n_k：影像中像素值等於 r_k 的像素總數</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輸入：</a:t>
            </a:r>
            <a:r>
              <a:rPr lang="en-US" sz="1250" dirty="0">
                <a:solidFill>
                  <a:srgbClr val="1A1A1A"/>
                </a:solidFill>
                <a:latin typeface="Calibri" pitchFamily="34" charset="0"/>
                <a:ea typeface="Calibri" pitchFamily="34" charset="-122"/>
                <a:cs typeface="Calibri" pitchFamily="34" charset="-120"/>
              </a:rPr>
              <a:t>一張 (H×W) 的灰階影像矩陣</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輸出：</a:t>
            </a:r>
            <a:r>
              <a:rPr lang="en-US" sz="1250" dirty="0">
                <a:solidFill>
                  <a:srgbClr val="1A1A1A"/>
                </a:solidFill>
                <a:latin typeface="Calibri" pitchFamily="34" charset="0"/>
                <a:ea typeface="Calibri" pitchFamily="34" charset="-122"/>
                <a:cs typeface="Calibri" pitchFamily="34" charset="-120"/>
              </a:rPr>
              <a:t>長度 256 的一維整數陣列，記錄每個亮度等級的像素數量</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特性：</a:t>
            </a:r>
            <a:r>
              <a:rPr lang="en-US" sz="1250" dirty="0">
                <a:solidFill>
                  <a:srgbClr val="1A1A1A"/>
                </a:solidFill>
                <a:latin typeface="Calibri" pitchFamily="34" charset="0"/>
                <a:ea typeface="Calibri" pitchFamily="34" charset="-122"/>
                <a:cs typeface="Calibri" pitchFamily="34" charset="-120"/>
              </a:rPr>
              <a:t>∑ n_k = H × W（所有像素數量加總等於影像總像素數）</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資訊損失：</a:t>
            </a:r>
            <a:r>
              <a:rPr lang="en-US" sz="1250" dirty="0">
                <a:solidFill>
                  <a:srgbClr val="1A1A1A"/>
                </a:solidFill>
                <a:latin typeface="Calibri" pitchFamily="34" charset="0"/>
                <a:ea typeface="Calibri" pitchFamily="34" charset="-122"/>
                <a:cs typeface="Calibri" pitchFamily="34" charset="-120"/>
              </a:rPr>
              <a:t>直方圖完全丟棄了空間位置資訊！兩張差異極大的影像可能有相同的直方圖</a:t>
            </a:r>
            <a:endParaRPr lang="en-US" sz="1250" dirty="0"/>
          </a:p>
        </p:txBody>
      </p:sp>
      <p:pic>
        <p:nvPicPr>
          <p:cNvPr id="12" name="Picture 15">
            <a:extLst>
              <a:ext uri="{FF2B5EF4-FFF2-40B4-BE49-F238E27FC236}">
                <a16:creationId xmlns:a16="http://schemas.microsoft.com/office/drawing/2014/main" id="{32BE3042-8180-DD24-6AA7-514380B515A5}"/>
              </a:ext>
            </a:extLst>
          </p:cNvPr>
          <p:cNvPicPr>
            <a:picLocks noChangeAspect="1" noChangeArrowheads="1"/>
          </p:cNvPicPr>
          <p:nvPr/>
        </p:nvPicPr>
        <p:blipFill>
          <a:blip r:embed="rId3" cstate="print"/>
          <a:srcRect/>
          <a:stretch>
            <a:fillRect/>
          </a:stretch>
        </p:blipFill>
        <p:spPr bwMode="auto">
          <a:xfrm>
            <a:off x="3062090" y="475488"/>
            <a:ext cx="5761870" cy="1741591"/>
          </a:xfrm>
          <a:prstGeom prst="rect">
            <a:avLst/>
          </a:prstGeom>
          <a:noFill/>
          <a:ln w="9525">
            <a:noFill/>
            <a:miter lim="800000"/>
            <a:headEnd/>
            <a:tailEnd/>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直方圖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直方圖的 Python 實作邏輯（手刻版 → 理解原理）</a:t>
            </a:r>
            <a:endParaRPr lang="en-US" sz="2000" dirty="0"/>
          </a:p>
        </p:txBody>
      </p:sp>
      <p:sp>
        <p:nvSpPr>
          <p:cNvPr id="7" name="Text 5"/>
          <p:cNvSpPr/>
          <p:nvPr/>
        </p:nvSpPr>
        <p:spPr>
          <a:xfrm>
            <a:off x="320040" y="1115568"/>
            <a:ext cx="512064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手刻版（理解每一步）：
</a:t>
            </a:r>
            <a:r>
              <a:rPr lang="en-US" sz="1300" dirty="0">
                <a:solidFill>
                  <a:srgbClr val="1A1A1A"/>
                </a:solidFill>
                <a:latin typeface="Calibri" pitchFamily="34" charset="0"/>
                <a:ea typeface="Calibri" pitchFamily="34" charset="-122"/>
                <a:cs typeface="Calibri" pitchFamily="34" charset="-120"/>
              </a:rPr>
              <a:t>  h = np.zeros(256, dtype=int)         # 長度 256，初始全 0
  for row in range(img.shape[0]):
      for col in range(img.shape[1]):
          val = img[row, col]           # 取得像素值
          h[val] += 1                   # 計數加一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OpenCV 快速版（實務請用這個）：
</a:t>
            </a:r>
            <a:r>
              <a:rPr lang="en-US" sz="1300" dirty="0">
                <a:solidFill>
                  <a:srgbClr val="1A1A1A"/>
                </a:solidFill>
                <a:latin typeface="Calibri" pitchFamily="34" charset="0"/>
                <a:ea typeface="Calibri" pitchFamily="34" charset="-122"/>
                <a:cs typeface="Calibri" pitchFamily="34" charset="-120"/>
              </a:rPr>
              <a:t>  hist = cv2.calcHist([gray], [0], None, [256], [0, 256])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Matplotlib 視覺化：
</a:t>
            </a:r>
            <a:r>
              <a:rPr lang="en-US" sz="1300" dirty="0">
                <a:solidFill>
                  <a:srgbClr val="1A1A1A"/>
                </a:solidFill>
                <a:latin typeface="Calibri" pitchFamily="34" charset="0"/>
                <a:ea typeface="Calibri" pitchFamily="34" charset="-122"/>
                <a:cs typeface="Calibri" pitchFamily="34" charset="-120"/>
              </a:rPr>
              <a:t>  plt.hist(img.ravel(), 256, [0, 256])  # ravel() 攤平成一維
  plt.xlabel('Pixel value'); plt.ylabel('Count')
  plt.title('Grayscale Histogram')
</a:t>
            </a:r>
            <a:endParaRPr lang="en-US" sz="1400" dirty="0"/>
          </a:p>
        </p:txBody>
      </p:sp>
      <p:sp>
        <p:nvSpPr>
          <p:cNvPr id="8" name="Shape 6"/>
          <p:cNvSpPr/>
          <p:nvPr/>
        </p:nvSpPr>
        <p:spPr>
          <a:xfrm>
            <a:off x="5577840" y="1115568"/>
            <a:ext cx="3246120" cy="3520440"/>
          </a:xfrm>
          <a:prstGeom prst="rect">
            <a:avLst/>
          </a:prstGeom>
          <a:solidFill>
            <a:srgbClr val="D6E4F0"/>
          </a:solidFill>
          <a:ln w="10160">
            <a:solidFill>
              <a:srgbClr val="1E3A5F"/>
            </a:solidFill>
            <a:prstDash val="solid"/>
          </a:ln>
        </p:spPr>
        <p:txBody>
          <a:bodyPr/>
          <a:lstStyle/>
          <a:p>
            <a:endParaRPr lang="zh-TW" altLang="en-US"/>
          </a:p>
        </p:txBody>
      </p:sp>
      <p:sp>
        <p:nvSpPr>
          <p:cNvPr id="9" name="Shape 7"/>
          <p:cNvSpPr/>
          <p:nvPr/>
        </p:nvSpPr>
        <p:spPr>
          <a:xfrm>
            <a:off x="5577840" y="1115568"/>
            <a:ext cx="3246120" cy="329184"/>
          </a:xfrm>
          <a:prstGeom prst="rect">
            <a:avLst/>
          </a:prstGeom>
          <a:solidFill>
            <a:srgbClr val="1E3A5F"/>
          </a:solidFill>
          <a:ln w="12700">
            <a:solidFill>
              <a:srgbClr val="1E3A5F"/>
            </a:solidFill>
            <a:prstDash val="solid"/>
          </a:ln>
        </p:spPr>
        <p:txBody>
          <a:bodyPr/>
          <a:lstStyle/>
          <a:p>
            <a:endParaRPr lang="zh-TW" altLang="en-US"/>
          </a:p>
        </p:txBody>
      </p:sp>
      <p:sp>
        <p:nvSpPr>
          <p:cNvPr id="10" name="Text 8"/>
          <p:cNvSpPr/>
          <p:nvPr/>
        </p:nvSpPr>
        <p:spPr>
          <a:xfrm>
            <a:off x="5623560" y="1115568"/>
            <a:ext cx="315468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為什麼用 ravel()？</a:t>
            </a:r>
            <a:endParaRPr lang="en-US" sz="1000" dirty="0"/>
          </a:p>
        </p:txBody>
      </p:sp>
      <p:sp>
        <p:nvSpPr>
          <p:cNvPr id="11" name="Text 9"/>
          <p:cNvSpPr/>
          <p:nvPr/>
        </p:nvSpPr>
        <p:spPr>
          <a:xfrm>
            <a:off x="5623560" y="1490472"/>
            <a:ext cx="31089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img.ravel() 將 (H,W) 二維矩陣攤平成一維陣列</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例：</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(480, 640) → (307200,)</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Matplotlib 的 hist() 函式只接受一維輸入</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ravel() 不複製資料，速度快</a:t>
            </a:r>
            <a:endParaRPr lang="en-US" sz="11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直方圖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直方圖診斷影像品質的三種病態</a:t>
            </a:r>
            <a:endParaRPr lang="en-US" sz="2000" dirty="0"/>
          </a:p>
        </p:txBody>
      </p:sp>
      <p:sp>
        <p:nvSpPr>
          <p:cNvPr id="7" name="Shape 5"/>
          <p:cNvSpPr/>
          <p:nvPr/>
        </p:nvSpPr>
        <p:spPr>
          <a:xfrm>
            <a:off x="32004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8" name="Shape 6"/>
          <p:cNvSpPr/>
          <p:nvPr/>
        </p:nvSpPr>
        <p:spPr>
          <a:xfrm>
            <a:off x="320040" y="1115568"/>
            <a:ext cx="2743200" cy="329184"/>
          </a:xfrm>
          <a:prstGeom prst="rect">
            <a:avLst/>
          </a:prstGeom>
          <a:solidFill>
            <a:srgbClr val="B85000"/>
          </a:solidFill>
          <a:ln w="12700">
            <a:solidFill>
              <a:srgbClr val="B85000"/>
            </a:solidFill>
            <a:prstDash val="solid"/>
          </a:ln>
        </p:spPr>
        <p:txBody>
          <a:bodyPr/>
          <a:lstStyle/>
          <a:p>
            <a:endParaRPr lang="zh-TW" altLang="en-US"/>
          </a:p>
        </p:txBody>
      </p:sp>
      <p:sp>
        <p:nvSpPr>
          <p:cNvPr id="9" name="Text 7"/>
          <p:cNvSpPr/>
          <p:nvPr/>
        </p:nvSpPr>
        <p:spPr>
          <a:xfrm>
            <a:off x="39319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過度曝光 (Over-exposed)</a:t>
            </a:r>
            <a:endParaRPr lang="en-US" sz="1100" dirty="0"/>
          </a:p>
        </p:txBody>
      </p:sp>
      <p:sp>
        <p:nvSpPr>
          <p:cNvPr id="10" name="Text 8"/>
          <p:cNvSpPr/>
          <p:nvPr/>
        </p:nvSpPr>
        <p:spPr>
          <a:xfrm>
            <a:off x="411480" y="1490472"/>
            <a:ext cx="256032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直方圖峰值嚴重向右偏移</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大量像素堆積在 200-255</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視覺：整體泛白，亮部細節消失於高光</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直方圖形狀：右端出現截斷的「牆壁」（代表有像素被截斷為 255）</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解法：Gamma γ &gt; 1 壓暗，或重拍降低曝光值</a:t>
            </a:r>
            <a:endParaRPr lang="en-US" sz="1100" dirty="0"/>
          </a:p>
        </p:txBody>
      </p:sp>
      <p:sp>
        <p:nvSpPr>
          <p:cNvPr id="11" name="Shape 9"/>
          <p:cNvSpPr/>
          <p:nvPr/>
        </p:nvSpPr>
        <p:spPr>
          <a:xfrm>
            <a:off x="320040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2" name="Shape 10"/>
          <p:cNvSpPr/>
          <p:nvPr/>
        </p:nvSpPr>
        <p:spPr>
          <a:xfrm>
            <a:off x="3200400" y="1115568"/>
            <a:ext cx="2743200" cy="329184"/>
          </a:xfrm>
          <a:prstGeom prst="rect">
            <a:avLst/>
          </a:prstGeom>
          <a:solidFill>
            <a:srgbClr val="222222"/>
          </a:solidFill>
          <a:ln w="12700">
            <a:solidFill>
              <a:srgbClr val="222222"/>
            </a:solidFill>
            <a:prstDash val="solid"/>
          </a:ln>
        </p:spPr>
        <p:txBody>
          <a:bodyPr/>
          <a:lstStyle/>
          <a:p>
            <a:endParaRPr lang="zh-TW" altLang="en-US"/>
          </a:p>
        </p:txBody>
      </p:sp>
      <p:sp>
        <p:nvSpPr>
          <p:cNvPr id="13" name="Text 11"/>
          <p:cNvSpPr/>
          <p:nvPr/>
        </p:nvSpPr>
        <p:spPr>
          <a:xfrm>
            <a:off x="327355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曝光不足 (Under-exposed)</a:t>
            </a:r>
            <a:endParaRPr lang="en-US" sz="1100" dirty="0"/>
          </a:p>
        </p:txBody>
      </p:sp>
      <p:sp>
        <p:nvSpPr>
          <p:cNvPr id="14" name="Text 12"/>
          <p:cNvSpPr/>
          <p:nvPr/>
        </p:nvSpPr>
        <p:spPr>
          <a:xfrm>
            <a:off x="3291840" y="1490472"/>
            <a:ext cx="256032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直方圖峰值嚴重向左偏移</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大量像素堆積在 0-50</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視覺：整體漆黑，暗部細節淹沒無法辨識</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直方圖形狀：左端出現「牆壁」（像素截斷為 0）</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解法：Gamma γ &lt; 1 提亮，或 Histogram Equalization</a:t>
            </a:r>
            <a:endParaRPr lang="en-US" sz="1100" dirty="0"/>
          </a:p>
        </p:txBody>
      </p:sp>
      <p:sp>
        <p:nvSpPr>
          <p:cNvPr id="15" name="Shape 13"/>
          <p:cNvSpPr/>
          <p:nvPr/>
        </p:nvSpPr>
        <p:spPr>
          <a:xfrm>
            <a:off x="608076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6" name="Shape 14"/>
          <p:cNvSpPr/>
          <p:nvPr/>
        </p:nvSpPr>
        <p:spPr>
          <a:xfrm>
            <a:off x="6080760" y="1115568"/>
            <a:ext cx="2743200" cy="329184"/>
          </a:xfrm>
          <a:prstGeom prst="rect">
            <a:avLst/>
          </a:prstGeom>
          <a:solidFill>
            <a:srgbClr val="6B7280"/>
          </a:solidFill>
          <a:ln w="12700">
            <a:solidFill>
              <a:srgbClr val="6B7280"/>
            </a:solidFill>
            <a:prstDash val="solid"/>
          </a:ln>
        </p:spPr>
        <p:txBody>
          <a:bodyPr/>
          <a:lstStyle/>
          <a:p>
            <a:endParaRPr lang="zh-TW" altLang="en-US"/>
          </a:p>
        </p:txBody>
      </p:sp>
      <p:sp>
        <p:nvSpPr>
          <p:cNvPr id="17" name="Text 15"/>
          <p:cNvSpPr/>
          <p:nvPr/>
        </p:nvSpPr>
        <p:spPr>
          <a:xfrm>
            <a:off x="615391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低對比度 (Low Contrast)</a:t>
            </a:r>
            <a:endParaRPr lang="en-US" sz="1100" dirty="0"/>
          </a:p>
        </p:txBody>
      </p:sp>
      <p:sp>
        <p:nvSpPr>
          <p:cNvPr id="18" name="Text 16"/>
          <p:cNvSpPr/>
          <p:nvPr/>
        </p:nvSpPr>
        <p:spPr>
          <a:xfrm>
            <a:off x="6172200" y="1490472"/>
            <a:ext cx="256032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直方圖集中在中間</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（約 60-180），兩端空白</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視覺：灰濛濛，看起來像覆蓋薄霧，整體缺乏層次</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直方圖形狀：高瘦的單峰集中在中央</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解法：對比拉伸（Contrast Stretching）或 Histogram Equalization</a:t>
            </a:r>
            <a:endParaRPr lang="en-US" sz="11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直方圖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直方圖等化（Histogram Equalization）：自動拉伸對比</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g(x,y)  =  round [ CDF( f(x,y) )  ×  255 ]</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CDF(k) = Σ h(j)/(H×W) for j=0 to k  ← 累積分佈函數，將擠在一起的分佈均勻拉伸到 0-255</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直覺：</a:t>
            </a:r>
            <a:r>
              <a:rPr lang="en-US" sz="1250" dirty="0">
                <a:solidFill>
                  <a:srgbClr val="1A1A1A"/>
                </a:solidFill>
                <a:latin typeface="Calibri" pitchFamily="34" charset="0"/>
                <a:ea typeface="Calibri" pitchFamily="34" charset="-122"/>
                <a:cs typeface="Calibri" pitchFamily="34" charset="-120"/>
              </a:rPr>
              <a:t>把直方圖「拉平」—讓每個亮度等級出現的次數盡量相等</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效果：</a:t>
            </a:r>
            <a:r>
              <a:rPr lang="en-US" sz="1250" dirty="0">
                <a:solidFill>
                  <a:srgbClr val="1A1A1A"/>
                </a:solidFill>
                <a:latin typeface="Calibri" pitchFamily="34" charset="0"/>
                <a:ea typeface="Calibri" pitchFamily="34" charset="-122"/>
                <a:cs typeface="Calibri" pitchFamily="34" charset="-120"/>
              </a:rPr>
              <a:t>自動提升對比，無需手動調整任何參數</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副作用：</a:t>
            </a:r>
            <a:r>
              <a:rPr lang="en-US" sz="1250" dirty="0">
                <a:solidFill>
                  <a:srgbClr val="1A1A1A"/>
                </a:solidFill>
                <a:latin typeface="Calibri" pitchFamily="34" charset="0"/>
                <a:ea typeface="Calibri" pitchFamily="34" charset="-122"/>
                <a:cs typeface="Calibri" pitchFamily="34" charset="-120"/>
              </a:rPr>
              <a:t>背景雜訊也同時被放大（見補充 C：CLAHE）</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OpenCV：</a:t>
            </a:r>
            <a:r>
              <a:rPr lang="en-US" sz="1250" dirty="0">
                <a:solidFill>
                  <a:srgbClr val="1A1A1A"/>
                </a:solidFill>
                <a:latin typeface="Calibri" pitchFamily="34" charset="0"/>
                <a:ea typeface="Calibri" pitchFamily="34" charset="-122"/>
                <a:cs typeface="Calibri" pitchFamily="34" charset="-120"/>
              </a:rPr>
              <a:t>equalized = cv2.equalizeHist(gray_img)</a:t>
            </a:r>
            <a:endParaRPr lang="en-US" sz="125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直方圖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直方圖等化視覺效果對比</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三種病態影像，等化後的改善結果：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過度曝光 → 等化後：
</a:t>
            </a:r>
            <a:r>
              <a:rPr lang="en-US" sz="1300" dirty="0">
                <a:solidFill>
                  <a:srgbClr val="1A1A1A"/>
                </a:solidFill>
                <a:latin typeface="Calibri" pitchFamily="34" charset="0"/>
                <a:ea typeface="Calibri" pitchFamily="34" charset="-122"/>
                <a:cs typeface="Calibri" pitchFamily="34" charset="-120"/>
              </a:rPr>
              <a:t>  原本白茫茫的天空和牆面恢復了層次感，亮部細節浮現
</a:t>
            </a:r>
            <a:r>
              <a:rPr lang="en-US" sz="1300" b="1" dirty="0">
                <a:solidFill>
                  <a:srgbClr val="C45C00"/>
                </a:solidFill>
                <a:latin typeface="Calibri" pitchFamily="34" charset="0"/>
                <a:ea typeface="Calibri" pitchFamily="34" charset="-122"/>
                <a:cs typeface="Calibri" pitchFamily="34" charset="-120"/>
              </a:rPr>
              <a:t>曝光不足 → 等化後：
</a:t>
            </a:r>
            <a:r>
              <a:rPr lang="en-US" sz="1300" dirty="0">
                <a:solidFill>
                  <a:srgbClr val="1A1A1A"/>
                </a:solidFill>
                <a:latin typeface="Calibri" pitchFamily="34" charset="0"/>
                <a:ea typeface="Calibri" pitchFamily="34" charset="-122"/>
                <a:cs typeface="Calibri" pitchFamily="34" charset="-120"/>
              </a:rPr>
              <a:t>  暗部的物體輪廓清晰可見，整體明暗均衡
</a:t>
            </a:r>
            <a:r>
              <a:rPr lang="en-US" sz="1300" b="1" dirty="0">
                <a:solidFill>
                  <a:srgbClr val="C45C00"/>
                </a:solidFill>
                <a:latin typeface="Calibri" pitchFamily="34" charset="0"/>
                <a:ea typeface="Calibri" pitchFamily="34" charset="-122"/>
                <a:cs typeface="Calibri" pitchFamily="34" charset="-120"/>
              </a:rPr>
              <a:t>低對比度 → 等化後：
</a:t>
            </a:r>
            <a:r>
              <a:rPr lang="en-US" sz="1300" dirty="0">
                <a:solidFill>
                  <a:srgbClr val="1A1A1A"/>
                </a:solidFill>
                <a:latin typeface="Calibri" pitchFamily="34" charset="0"/>
                <a:ea typeface="Calibri" pitchFamily="34" charset="-122"/>
                <a:cs typeface="Calibri" pitchFamily="34" charset="-120"/>
              </a:rPr>
              <a:t>  灰濛濛的霧感消失，黑白分明，細節層次豐富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使用限制（重要）：
</a:t>
            </a:r>
            <a:r>
              <a:rPr lang="en-US" sz="1300" dirty="0">
                <a:solidFill>
                  <a:srgbClr val="1A1A1A"/>
                </a:solidFill>
                <a:latin typeface="Calibri" pitchFamily="34" charset="0"/>
                <a:ea typeface="Calibri" pitchFamily="34" charset="-122"/>
                <a:cs typeface="Calibri" pitchFamily="34" charset="-120"/>
              </a:rPr>
              <a:t>  • 直方圖等化對「整張影像」做全域統計，不考慮局部差異
  • 若影像有明暗不均（如半邊日照半邊陰影），全域等化效果不理想
</a:t>
            </a:r>
            <a:r>
              <a:rPr lang="en-US" sz="1300" b="1" dirty="0">
                <a:solidFill>
                  <a:srgbClr val="C45C00"/>
                </a:solidFill>
                <a:latin typeface="Calibri" pitchFamily="34" charset="0"/>
                <a:ea typeface="Calibri" pitchFamily="34" charset="-122"/>
                <a:cs typeface="Calibri" pitchFamily="34" charset="-120"/>
              </a:rPr>
              <a:t>  • → 解法：CLAHE（自適應局部直方圖等化），見下頁補充！</a:t>
            </a:r>
            <a:endParaRPr lang="en-US" sz="1400" dirty="0"/>
          </a:p>
        </p:txBody>
      </p:sp>
      <p:pic>
        <p:nvPicPr>
          <p:cNvPr id="8" name="Picture 30">
            <a:extLst>
              <a:ext uri="{FF2B5EF4-FFF2-40B4-BE49-F238E27FC236}">
                <a16:creationId xmlns:a16="http://schemas.microsoft.com/office/drawing/2014/main" id="{BB412ACC-8C73-B449-E894-7D475E57D970}"/>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r="-1706" b="3697"/>
          <a:stretch/>
        </p:blipFill>
        <p:spPr bwMode="auto">
          <a:xfrm>
            <a:off x="5507213" y="831851"/>
            <a:ext cx="3316747" cy="3836161"/>
          </a:xfrm>
          <a:prstGeom prst="rect">
            <a:avLst/>
          </a:prstGeom>
          <a:noFill/>
          <a:ln w="9525">
            <a:noFill/>
            <a:miter lim="800000"/>
            <a:headEnd/>
            <a:tailEnd/>
          </a:ln>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直方圖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直方圖的進階應用：影片鏡頭邊界自動偵測</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應用情境：
</a:t>
            </a:r>
            <a:r>
              <a:rPr lang="en-US" sz="1300" dirty="0">
                <a:solidFill>
                  <a:srgbClr val="1A1A1A"/>
                </a:solidFill>
                <a:latin typeface="Calibri" pitchFamily="34" charset="0"/>
                <a:ea typeface="Calibri" pitchFamily="34" charset="-122"/>
                <a:cs typeface="Calibri" pitchFamily="34" charset="-120"/>
              </a:rPr>
              <a:t>一段 2 小時新聞影片，需要自動找出每個「鏡頭切換點（Shot Boundary）」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核心思想：
</a:t>
            </a:r>
            <a:r>
              <a:rPr lang="en-US" sz="1300" dirty="0">
                <a:solidFill>
                  <a:srgbClr val="1A1A1A"/>
                </a:solidFill>
                <a:latin typeface="Calibri" pitchFamily="34" charset="0"/>
                <a:ea typeface="Calibri" pitchFamily="34" charset="-122"/>
                <a:cs typeface="Calibri" pitchFamily="34" charset="-120"/>
              </a:rPr>
              <a:t>  同一個鏡頭的相鄰幀，畫面內容相似 → 直方圖分佈相似
  鏡頭切換時，畫面劇烈變化 → 直方圖突然大幅改變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演算法流程：
</a:t>
            </a:r>
            <a:r>
              <a:rPr lang="en-US" sz="1300" dirty="0">
                <a:solidFill>
                  <a:srgbClr val="1A1A1A"/>
                </a:solidFill>
                <a:latin typeface="Calibri" pitchFamily="34" charset="0"/>
                <a:ea typeface="Calibri" pitchFamily="34" charset="-122"/>
                <a:cs typeface="Calibri" pitchFamily="34" charset="-120"/>
              </a:rPr>
              <a:t>  1.  計算每幀的灰階直方圖
  2.  計算相鄰幀直方圖的差異值（L1 距離 或 相關係數）
  3.  差異值超過閾值 → 偵測到鏡頭切換點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OpenCV 直方圖比較函式：
</a:t>
            </a:r>
            <a:r>
              <a:rPr lang="en-US" sz="1200" dirty="0">
                <a:solidFill>
                  <a:srgbClr val="6B7280"/>
                </a:solidFill>
                <a:latin typeface="Calibri" pitchFamily="34" charset="0"/>
                <a:ea typeface="Calibri" pitchFamily="34" charset="-122"/>
                <a:cs typeface="Calibri" pitchFamily="34" charset="-120"/>
              </a:rPr>
              <a:t>  # 相關係數（越接近 1 表示越相似）
</a:t>
            </a:r>
            <a:r>
              <a:rPr lang="en-US" sz="1300" dirty="0">
                <a:solidFill>
                  <a:srgbClr val="1A1A1A"/>
                </a:solidFill>
                <a:latin typeface="Calibri" pitchFamily="34" charset="0"/>
                <a:ea typeface="Calibri" pitchFamily="34" charset="-122"/>
                <a:cs typeface="Calibri" pitchFamily="34" charset="-120"/>
              </a:rPr>
              <a:t>  similarity = cv2.compareHist(h1, h2, cv2.HISTCMP_CORREL)
</a:t>
            </a:r>
            <a:r>
              <a:rPr lang="en-US" sz="1300" b="1" dirty="0">
                <a:solidFill>
                  <a:srgbClr val="C45C00"/>
                </a:solidFill>
                <a:latin typeface="Calibri" pitchFamily="34" charset="0"/>
                <a:ea typeface="Calibri" pitchFamily="34" charset="-122"/>
                <a:cs typeface="Calibri" pitchFamily="34" charset="-120"/>
              </a:rPr>
              <a:t>  if similarity &lt; 0.7: print('Shot boundary detected!')</a:t>
            </a:r>
            <a:endParaRPr lang="en-US" sz="1400" dirty="0"/>
          </a:p>
        </p:txBody>
      </p:sp>
      <p:pic>
        <p:nvPicPr>
          <p:cNvPr id="8" name="Picture 15">
            <a:extLst>
              <a:ext uri="{FF2B5EF4-FFF2-40B4-BE49-F238E27FC236}">
                <a16:creationId xmlns:a16="http://schemas.microsoft.com/office/drawing/2014/main" id="{7BDA667C-F69D-1040-9747-86A7B08F5F0A}"/>
              </a:ext>
            </a:extLst>
          </p:cNvPr>
          <p:cNvPicPr>
            <a:picLocks noChangeAspect="1" noChangeArrowheads="1"/>
          </p:cNvPicPr>
          <p:nvPr/>
        </p:nvPicPr>
        <p:blipFill>
          <a:blip r:embed="rId3" cstate="print"/>
          <a:srcRect r="-5044" b="4440"/>
          <a:stretch/>
        </p:blipFill>
        <p:spPr bwMode="auto">
          <a:xfrm>
            <a:off x="5819759" y="938338"/>
            <a:ext cx="3324241" cy="3729674"/>
          </a:xfrm>
          <a:prstGeom prst="rect">
            <a:avLst/>
          </a:prstGeom>
          <a:noFill/>
          <a:ln w="9525">
            <a:noFill/>
            <a:miter lim="800000"/>
            <a:headEnd/>
            <a:tailEnd/>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補充 C  ┃  CLAHE</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全域直方圖等化的致命缺點：雜訊過度放大</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問題情境（真實場景）：
</a:t>
            </a:r>
            <a:r>
              <a:rPr lang="en-US" sz="1300" dirty="0">
                <a:solidFill>
                  <a:srgbClr val="1A1A1A"/>
                </a:solidFill>
                <a:latin typeface="Calibri" pitchFamily="34" charset="0"/>
                <a:ea typeface="Calibri" pitchFamily="34" charset="-122"/>
                <a:cs typeface="Calibri" pitchFamily="34" charset="-120"/>
              </a:rPr>
              <a:t>一張臉部照片，左半邊在陰影下（暗），右半邊有陽光照射（亮）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套用全域 equalizeHist 後的後果：
</a:t>
            </a:r>
            <a:r>
              <a:rPr lang="en-US" sz="1300" dirty="0">
                <a:solidFill>
                  <a:srgbClr val="1A1A1A"/>
                </a:solidFill>
                <a:latin typeface="Calibri" pitchFamily="34" charset="0"/>
                <a:ea typeface="Calibri" pitchFamily="34" charset="-122"/>
                <a:cs typeface="Calibri" pitchFamily="34" charset="-120"/>
              </a:rPr>
              <a:t>  • 暗部區域的微小雜訊（感測器熱雜訊）被等化算法大幅放大，皮膚上出現雜訊點
  • 原本亮部（有細節）被壓縮均勻化，反而失去臉部立體感
  • 明暗交界處出現人工的「光暈效應」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根本原因：
</a:t>
            </a:r>
            <a:r>
              <a:rPr lang="en-US" sz="1300" dirty="0">
                <a:solidFill>
                  <a:srgbClr val="1A1A1A"/>
                </a:solidFill>
                <a:latin typeface="Calibri" pitchFamily="34" charset="0"/>
                <a:ea typeface="Calibri" pitchFamily="34" charset="-122"/>
                <a:cs typeface="Calibri" pitchFamily="34" charset="-120"/>
              </a:rPr>
              <a:t>  全域統計把「背景暗角的雜訊」和「前景臉部的細節」等同看待，一起拉伸</a:t>
            </a:r>
            <a:endParaRPr lang="en-US" sz="14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5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補充 C  ┃  CLAHE</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Docs — cv2.createCLAHE()</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CLAHE：對比度受限的自適應直方圖等化</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CLAHE 的兩大改進：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改進 1：局部自適應（Adaptive）
</a:t>
            </a:r>
            <a:r>
              <a:rPr lang="en-US" sz="1300" dirty="0">
                <a:solidFill>
                  <a:srgbClr val="1A1A1A"/>
                </a:solidFill>
                <a:latin typeface="Calibri" pitchFamily="34" charset="0"/>
                <a:ea typeface="Calibri" pitchFamily="34" charset="-122"/>
                <a:cs typeface="Calibri" pitchFamily="34" charset="-120"/>
              </a:rPr>
              <a:t>  將影像切割成小的矩形區塊（Tiles，預設 8×8 = 64 個區塊）
  對每個區塊獨立做直方圖等化 → 局部對比自動最佳化
  區塊邊界用雙線性插值（Bilinear Interpolation）平滑接合，避免方塊邊界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改進 2：對比度限制（Contrast Limiting）
</a:t>
            </a:r>
            <a:r>
              <a:rPr lang="en-US" sz="1300" dirty="0">
                <a:solidFill>
                  <a:srgbClr val="1A1A1A"/>
                </a:solidFill>
                <a:latin typeface="Calibri" pitchFamily="34" charset="0"/>
                <a:ea typeface="Calibri" pitchFamily="34" charset="-122"/>
                <a:cs typeface="Calibri" pitchFamily="34" charset="-120"/>
              </a:rPr>
              <a:t>  設定 Clip Limit 參數（預設 2.0）：
  若某個直方圖高度超過 Clip Limit，超出部分均勻分配給其他灰階等級
  → 防止局部雜訊被過度放大，同時保持對比增強效果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clahe = cv2.createCLAHE(clipLimit=2.0, tileGridSize=(8,8))
result = clahe.apply(gray_img)</a:t>
            </a:r>
            <a:endParaRPr lang="en-US" sz="14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5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補充 C  ┃  CLAHE</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CLAHE 視覺對比：三種處理結果的比較</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測試影像：夜間監控（明暗不均，局部有強光）
</a:t>
            </a:r>
            <a:r>
              <a:rPr lang="en-US" sz="1300" b="1" dirty="0">
                <a:solidFill>
                  <a:srgbClr val="C45C00"/>
                </a:solidFill>
                <a:latin typeface="Calibri" pitchFamily="34" charset="0"/>
                <a:ea typeface="Calibri" pitchFamily="34" charset="-122"/>
                <a:cs typeface="Calibri" pitchFamily="34" charset="-120"/>
              </a:rPr>
              <a:t>原圖（Original）：
</a:t>
            </a:r>
            <a:r>
              <a:rPr lang="en-US" sz="1300" dirty="0">
                <a:solidFill>
                  <a:srgbClr val="1A1A1A"/>
                </a:solidFill>
                <a:latin typeface="Calibri" pitchFamily="34" charset="0"/>
                <a:ea typeface="Calibri" pitchFamily="34" charset="-122"/>
                <a:cs typeface="Calibri" pitchFamily="34" charset="-120"/>
              </a:rPr>
              <a:t>  暗角細節不清，整體對比偏低，局部有強光過曝
</a:t>
            </a:r>
            <a:r>
              <a:rPr lang="en-US" sz="1300" b="1" dirty="0">
                <a:solidFill>
                  <a:srgbClr val="C45C00"/>
                </a:solidFill>
                <a:latin typeface="Calibri" pitchFamily="34" charset="0"/>
                <a:ea typeface="Calibri" pitchFamily="34" charset="-122"/>
                <a:cs typeface="Calibri" pitchFamily="34" charset="-120"/>
              </a:rPr>
              <a:t>全域 equalizeHist：
</a:t>
            </a:r>
            <a:r>
              <a:rPr lang="en-US" sz="1300" dirty="0">
                <a:solidFill>
                  <a:srgbClr val="1A1A1A"/>
                </a:solidFill>
                <a:latin typeface="Calibri" pitchFamily="34" charset="0"/>
                <a:ea typeface="Calibri" pitchFamily="34" charset="-122"/>
                <a:cs typeface="Calibri" pitchFamily="34" charset="-120"/>
              </a:rPr>
              <a:t>  整體亮度提升，但暗角雜訊被大幅放大，強光附近出現人工光暈
</a:t>
            </a:r>
            <a:r>
              <a:rPr lang="en-US" sz="1300" b="1" dirty="0">
                <a:solidFill>
                  <a:srgbClr val="1E3A5F"/>
                </a:solidFill>
                <a:latin typeface="Calibri" pitchFamily="34" charset="0"/>
                <a:ea typeface="Calibri" pitchFamily="34" charset="-122"/>
                <a:cs typeface="Calibri" pitchFamily="34" charset="-120"/>
              </a:rPr>
              <a:t>CLAHE（clipLimit=2.0，tileGridSize=8×8）：
</a:t>
            </a:r>
            <a:r>
              <a:rPr lang="en-US" sz="1300" dirty="0">
                <a:solidFill>
                  <a:srgbClr val="1A1A1A"/>
                </a:solidFill>
                <a:latin typeface="Calibri" pitchFamily="34" charset="0"/>
                <a:ea typeface="Calibri" pitchFamily="34" charset="-122"/>
                <a:cs typeface="Calibri" pitchFamily="34" charset="-120"/>
              </a:rPr>
              <a:t>  暗角細節清晰顯現，雜訊受 Clip Limit 控制不過度放大，強光區域保持自然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業界應用：
</a:t>
            </a:r>
            <a:r>
              <a:rPr lang="en-US" sz="1300" dirty="0">
                <a:solidFill>
                  <a:srgbClr val="1A1A1A"/>
                </a:solidFill>
                <a:latin typeface="Calibri" pitchFamily="34" charset="0"/>
                <a:ea typeface="Calibri" pitchFamily="34" charset="-122"/>
                <a:cs typeface="Calibri" pitchFamily="34" charset="-120"/>
              </a:rPr>
              <a:t>  • 醫療影像：X光、CT、眼底攝影的標準前處理
  • 車用 ADAS：夜間行車輔助，提升車道線和行人的辨識率
  • 工業視覺：不均勻光源下的瑕疵檢測，CLAHE 是業界標準前處理流程</a:t>
            </a:r>
            <a:endParaRPr lang="en-US" sz="14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56">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320040" y="91440"/>
            <a:ext cx="2560320" cy="292608"/>
          </a:xfrm>
          <a:prstGeom prst="roundRect">
            <a:avLst>
              <a:gd name="adj" fmla="val 25000"/>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91440"/>
            <a:ext cx="2560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  閾值化</a:t>
            </a:r>
            <a:endParaRPr lang="en-US" sz="900" dirty="0"/>
          </a:p>
        </p:txBody>
      </p:sp>
      <p:sp>
        <p:nvSpPr>
          <p:cNvPr id="4" name="Text 2"/>
          <p:cNvSpPr/>
          <p:nvPr/>
        </p:nvSpPr>
        <p:spPr>
          <a:xfrm>
            <a:off x="457200" y="502920"/>
            <a:ext cx="8229600" cy="347472"/>
          </a:xfrm>
          <a:prstGeom prst="rect">
            <a:avLst/>
          </a:prstGeom>
          <a:noFill/>
          <a:ln/>
        </p:spPr>
        <p:txBody>
          <a:bodyPr wrap="square" rtlCol="0" anchor="ctr"/>
          <a:lstStyle/>
          <a:p>
            <a:pPr marL="0" indent="0" algn="l">
              <a:buNone/>
            </a:pPr>
            <a:r>
              <a:rPr lang="en-US" sz="1100" b="1" kern="0" spc="300" dirty="0">
                <a:solidFill>
                  <a:srgbClr val="C45C00"/>
                </a:solidFill>
                <a:latin typeface="Calibri" pitchFamily="34" charset="0"/>
                <a:ea typeface="Calibri" pitchFamily="34" charset="-122"/>
                <a:cs typeface="Calibri" pitchFamily="34" charset="-120"/>
              </a:rPr>
              <a:t>核心提問</a:t>
            </a:r>
            <a:endParaRPr lang="en-US" sz="1100" dirty="0"/>
          </a:p>
        </p:txBody>
      </p:sp>
      <p:sp>
        <p:nvSpPr>
          <p:cNvPr id="5" name="Shape 3"/>
          <p:cNvSpPr/>
          <p:nvPr/>
        </p:nvSpPr>
        <p:spPr>
          <a:xfrm>
            <a:off x="457200" y="914400"/>
            <a:ext cx="8229600" cy="2743200"/>
          </a:xfrm>
          <a:prstGeom prst="rect">
            <a:avLst/>
          </a:prstGeom>
          <a:solidFill>
            <a:srgbClr val="162E4A"/>
          </a:solidFill>
          <a:ln w="25400">
            <a:solidFill>
              <a:srgbClr val="C45C00"/>
            </a:solidFill>
            <a:prstDash val="solid"/>
          </a:ln>
        </p:spPr>
        <p:txBody>
          <a:bodyPr/>
          <a:lstStyle/>
          <a:p>
            <a:endParaRPr lang="zh-TW" altLang="en-US"/>
          </a:p>
        </p:txBody>
      </p:sp>
      <p:sp>
        <p:nvSpPr>
          <p:cNvPr id="6" name="Text 4"/>
          <p:cNvSpPr/>
          <p:nvPr/>
        </p:nvSpPr>
        <p:spPr>
          <a:xfrm>
            <a:off x="640080" y="1051560"/>
            <a:ext cx="7863840" cy="2377440"/>
          </a:xfrm>
          <a:prstGeom prst="rect">
            <a:avLst/>
          </a:prstGeom>
          <a:noFill/>
          <a:ln/>
        </p:spPr>
        <p:txBody>
          <a:bodyPr wrap="square" rtlCol="0" anchor="ctr"/>
          <a:lstStyle/>
          <a:p>
            <a:pPr marL="0" indent="0" algn="l">
              <a:buNone/>
            </a:pPr>
            <a:r>
              <a:rPr lang="en-US" sz="2400" dirty="0">
                <a:solidFill>
                  <a:srgbClr val="C45C00"/>
                </a:solidFill>
                <a:latin typeface="Calibri" pitchFamily="34" charset="0"/>
                <a:ea typeface="Calibri" pitchFamily="34" charset="-122"/>
                <a:cs typeface="Calibri" pitchFamily="34" charset="-120"/>
              </a:rPr>
              <a:t>❓  </a:t>
            </a:r>
            <a:r>
              <a:rPr lang="en-US" sz="1700" b="1" dirty="0">
                <a:solidFill>
                  <a:srgbClr val="FFFFFF"/>
                </a:solidFill>
                <a:latin typeface="Calibri" pitchFamily="34" charset="0"/>
                <a:ea typeface="Calibri" pitchFamily="34" charset="-122"/>
                <a:cs typeface="Calibri" pitchFamily="34" charset="-120"/>
              </a:rPr>
              <a:t>工廠產線上，我想把「深色零件」從「淺色輸送帶」上自動分離出來，只用像素值的統計，能做到嗎？</a:t>
            </a:r>
            <a:endParaRPr lang="en-US" sz="2400" dirty="0"/>
          </a:p>
        </p:txBody>
      </p:sp>
      <p:sp>
        <p:nvSpPr>
          <p:cNvPr id="7" name="Text 5"/>
          <p:cNvSpPr/>
          <p:nvPr/>
        </p:nvSpPr>
        <p:spPr>
          <a:xfrm>
            <a:off x="457200" y="3794760"/>
            <a:ext cx="8229600" cy="685800"/>
          </a:xfrm>
          <a:prstGeom prst="rect">
            <a:avLst/>
          </a:prstGeom>
          <a:noFill/>
          <a:ln/>
        </p:spPr>
        <p:txBody>
          <a:bodyPr wrap="square" rtlCol="0" anchor="ctr"/>
          <a:lstStyle/>
          <a:p>
            <a:pPr marL="0" indent="0" algn="l">
              <a:buNone/>
            </a:pPr>
            <a:r>
              <a:rPr lang="en-US" sz="1100" i="1" dirty="0">
                <a:solidFill>
                  <a:srgbClr val="D6E4F0"/>
                </a:solidFill>
                <a:latin typeface="Calibri" pitchFamily="34" charset="0"/>
                <a:ea typeface="Calibri" pitchFamily="34" charset="-122"/>
                <a:cs typeface="Calibri" pitchFamily="34" charset="-120"/>
              </a:rPr>
              <a:t>提示：深色零件像素值偏低，淺色背景偏高，我們需要找到一個切分點 T，讓兩者分開</a:t>
            </a:r>
            <a:endParaRPr lang="en-US" sz="11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5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閾值化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影像閾值化（Thresholding）：最簡單的影像分割</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g(x,y) = 255  if  f(x,y) ≥ T</a:t>
            </a:r>
            <a:endParaRPr lang="en-US" sz="1800" dirty="0"/>
          </a:p>
          <a:p>
            <a:pPr marL="0" indent="0" algn="ctr">
              <a:buNone/>
            </a:pPr>
            <a:r>
              <a:rPr lang="en-US" sz="1800" b="1" dirty="0">
                <a:solidFill>
                  <a:srgbClr val="FFFFFF"/>
                </a:solidFill>
                <a:latin typeface="Calibri" pitchFamily="34" charset="0"/>
                <a:ea typeface="Calibri" pitchFamily="34" charset="-122"/>
                <a:cs typeface="Calibri" pitchFamily="34" charset="-120"/>
              </a:rPr>
              <a:t>g(x,y) =   0    if  f(x,y) &lt; T</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T：閾值（Threshold）；將灰階影像轉換為二值化（Binary）影像</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輸入：</a:t>
            </a:r>
            <a:r>
              <a:rPr lang="en-US" sz="1250" dirty="0">
                <a:solidFill>
                  <a:srgbClr val="1A1A1A"/>
                </a:solidFill>
                <a:latin typeface="Calibri" pitchFamily="34" charset="0"/>
                <a:ea typeface="Calibri" pitchFamily="34" charset="-122"/>
                <a:cs typeface="Calibri" pitchFamily="34" charset="-120"/>
              </a:rPr>
              <a:t>灰階影像 f(x,y) ∈ [0, 255]</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輸出：</a:t>
            </a:r>
            <a:r>
              <a:rPr lang="en-US" sz="1250" dirty="0">
                <a:solidFill>
                  <a:srgbClr val="1A1A1A"/>
                </a:solidFill>
                <a:latin typeface="Calibri" pitchFamily="34" charset="0"/>
                <a:ea typeface="Calibri" pitchFamily="34" charset="-122"/>
                <a:cs typeface="Calibri" pitchFamily="34" charset="-120"/>
              </a:rPr>
              <a:t>二值影像 g(x,y) ∈ {0, 255}：前景白色，背景黑色</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應用前提：</a:t>
            </a:r>
            <a:r>
              <a:rPr lang="en-US" sz="1250" dirty="0">
                <a:solidFill>
                  <a:srgbClr val="1A1A1A"/>
                </a:solidFill>
                <a:latin typeface="Calibri" pitchFamily="34" charset="0"/>
                <a:ea typeface="Calibri" pitchFamily="34" charset="-122"/>
                <a:cs typeface="Calibri" pitchFamily="34" charset="-120"/>
              </a:rPr>
              <a:t>影像中必須有明顯的前景/背景亮度差異（直方圖有雙峰）</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OpenCV 實作：</a:t>
            </a:r>
            <a:r>
              <a:rPr lang="en-US" sz="1250" dirty="0">
                <a:solidFill>
                  <a:srgbClr val="1A1A1A"/>
                </a:solidFill>
                <a:latin typeface="Calibri" pitchFamily="34" charset="0"/>
                <a:ea typeface="Calibri" pitchFamily="34" charset="-122"/>
                <a:cs typeface="Calibri" pitchFamily="34" charset="-120"/>
              </a:rPr>
              <a:t>_, binary = cv2.threshold(img, T, 255, cv2.THRESH_BINARY)</a:t>
            </a:r>
            <a:endParaRPr lang="en-US" sz="125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閾值化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固定閾值的視覺效果與 OpenCV 的四種閾值模式</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四種主要閾值模式：
</a:t>
            </a:r>
            <a:r>
              <a:rPr lang="en-US" sz="1300" dirty="0">
                <a:solidFill>
                  <a:srgbClr val="1A1A1A"/>
                </a:solidFill>
                <a:latin typeface="Calibri" pitchFamily="34" charset="0"/>
                <a:ea typeface="Calibri" pitchFamily="34" charset="-122"/>
                <a:cs typeface="Calibri" pitchFamily="34" charset="-120"/>
              </a:rPr>
              <a:t>  THRESH_BINARY：    f ≥ T → 255，f &lt; T → 0
  THRESH_BINARY_INV：f ≥ T → 0，  f &lt; T → 255  （反向）
  THRESH_TRUNC：     f ≥ T → T，  f &lt; T → f     （截斷高值）
  THRESH_TOZERO：    f ≥ T → f，  f &lt; T → 0     （低值歸零）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實際示範：
</a:t>
            </a:r>
            <a:r>
              <a:rPr lang="en-US" sz="1300" dirty="0">
                <a:solidFill>
                  <a:srgbClr val="1A1A1A"/>
                </a:solidFill>
                <a:latin typeface="Calibri" pitchFamily="34" charset="0"/>
                <a:ea typeface="Calibri" pitchFamily="34" charset="-122"/>
                <a:cs typeface="Calibri" pitchFamily="34" charset="-120"/>
              </a:rPr>
              <a:t>  _, binary = cv2.threshold(gray, 128, 255, cv2.THRESH_BINARY)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問題：如何選擇最好的 T？
</a:t>
            </a:r>
            <a:r>
              <a:rPr lang="en-US" sz="1300" dirty="0">
                <a:solidFill>
                  <a:srgbClr val="1A1A1A"/>
                </a:solidFill>
                <a:latin typeface="Calibri" pitchFamily="34" charset="0"/>
                <a:ea typeface="Calibri" pitchFamily="34" charset="-122"/>
                <a:cs typeface="Calibri" pitchFamily="34" charset="-120"/>
              </a:rPr>
              <a:t>  • 光源穩定的實驗室環境：人工嘗試幾個值，找到最清晰的分割
  • 光源變化的戶外環境：T 需要動態調整，固定值無法適應！
</a:t>
            </a:r>
            <a:r>
              <a:rPr lang="en-US" sz="1300" b="1" dirty="0">
                <a:solidFill>
                  <a:srgbClr val="C45C00"/>
                </a:solidFill>
                <a:latin typeface="Calibri" pitchFamily="34" charset="0"/>
                <a:ea typeface="Calibri" pitchFamily="34" charset="-122"/>
                <a:cs typeface="Calibri" pitchFamily="34" charset="-120"/>
              </a:rPr>
              <a:t>  → 需要能「自動找最佳 T」的算法：Otsu 大津法！</a:t>
            </a:r>
            <a:endParaRPr lang="en-US" sz="14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閾值化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閾值化的成功應用案例</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案例 1：顯微鏡細胞影像分割
</a:t>
            </a:r>
            <a:r>
              <a:rPr lang="en-US" sz="1300" dirty="0">
                <a:solidFill>
                  <a:srgbClr val="1A1A1A"/>
                </a:solidFill>
                <a:latin typeface="Calibri" pitchFamily="34" charset="0"/>
                <a:ea typeface="Calibri" pitchFamily="34" charset="-122"/>
                <a:cs typeface="Calibri" pitchFamily="34" charset="-120"/>
              </a:rPr>
              <a:t>  背景（培養皿底部）：淺色，像素值 ≈ 200
  細胞核（深染）：深色，像素值 ≈ 60
  設定 T = 128：細胞核 = 白色 255，背景 = 黑色 0
  結果：細胞核完美分離，可直接計數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案例 2：電路板焊點偵測
</a:t>
            </a:r>
            <a:r>
              <a:rPr lang="en-US" sz="1300" dirty="0">
                <a:solidFill>
                  <a:srgbClr val="1A1A1A"/>
                </a:solidFill>
                <a:latin typeface="Calibri" pitchFamily="34" charset="0"/>
                <a:ea typeface="Calibri" pitchFamily="34" charset="-122"/>
                <a:cs typeface="Calibri" pitchFamily="34" charset="-120"/>
              </a:rPr>
              <a:t>  焊點（反射強光）：極亮，像素值 ≈ 240
  基板（深色）：像素值 ≈ 50
  設定 T = 180：焊點 = 白色，基板 = 黑色
  結果：焊點完整顯現，可快速計算焊點數量並偵測缺焊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成功的前提：影像的直方圖呈現明顯的雙峰（Bimodal）分佈！</a:t>
            </a:r>
            <a:endParaRPr lang="en-US" sz="1400" dirty="0"/>
          </a:p>
        </p:txBody>
      </p:sp>
      <p:pic>
        <p:nvPicPr>
          <p:cNvPr id="8" name="內容版面配置區 3">
            <a:extLst>
              <a:ext uri="{FF2B5EF4-FFF2-40B4-BE49-F238E27FC236}">
                <a16:creationId xmlns:a16="http://schemas.microsoft.com/office/drawing/2014/main" id="{E5A37107-755A-17FD-743C-3E3452941572}"/>
              </a:ext>
            </a:extLst>
          </p:cNvPr>
          <p:cNvPicPr>
            <a:picLocks noChangeAspect="1"/>
          </p:cNvPicPr>
          <p:nvPr/>
        </p:nvPicPr>
        <p:blipFill>
          <a:blip r:embed="rId3"/>
          <a:stretch>
            <a:fillRect/>
          </a:stretch>
        </p:blipFill>
        <p:spPr>
          <a:xfrm>
            <a:off x="4423354" y="687050"/>
            <a:ext cx="4572000" cy="1533090"/>
          </a:xfrm>
          <a:prstGeom prst="rect">
            <a:avLst/>
          </a:prstGeom>
        </p:spPr>
      </p:pic>
      <p:pic>
        <p:nvPicPr>
          <p:cNvPr id="9" name="圖片 8">
            <a:extLst>
              <a:ext uri="{FF2B5EF4-FFF2-40B4-BE49-F238E27FC236}">
                <a16:creationId xmlns:a16="http://schemas.microsoft.com/office/drawing/2014/main" id="{8D35D0E3-AD61-8477-0FA7-9B1D227689E6}"/>
              </a:ext>
            </a:extLst>
          </p:cNvPr>
          <p:cNvPicPr>
            <a:picLocks noChangeAspect="1"/>
          </p:cNvPicPr>
          <p:nvPr/>
        </p:nvPicPr>
        <p:blipFill>
          <a:blip r:embed="rId4"/>
          <a:stretch>
            <a:fillRect/>
          </a:stretch>
        </p:blipFill>
        <p:spPr>
          <a:xfrm>
            <a:off x="2991582" y="3689905"/>
            <a:ext cx="5951858" cy="1321007"/>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閾值化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實務挑戰：不均勻光源下，固定閾值失效</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問題描述：
</a:t>
            </a:r>
            <a:r>
              <a:rPr lang="en-US" sz="1300" dirty="0">
                <a:solidFill>
                  <a:srgbClr val="1A1A1A"/>
                </a:solidFill>
                <a:latin typeface="Calibri" pitchFamily="34" charset="0"/>
                <a:ea typeface="Calibri" pitchFamily="34" charset="-122"/>
                <a:cs typeface="Calibri" pitchFamily="34" charset="-120"/>
              </a:rPr>
              <a:t>一條工廠輸送帶，因為環境光源不均勻，帶面左側偏亮（值≈200），右側偏暗（值≈120）
零件：深色，值≈60；設定 T = 100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固定閾值的失效模式：
</a:t>
            </a:r>
            <a:r>
              <a:rPr lang="en-US" sz="1300" dirty="0">
                <a:solidFill>
                  <a:srgbClr val="1A1A1A"/>
                </a:solidFill>
                <a:latin typeface="Calibri" pitchFamily="34" charset="0"/>
                <a:ea typeface="Calibri" pitchFamily="34" charset="-122"/>
                <a:cs typeface="Calibri" pitchFamily="34" charset="-120"/>
              </a:rPr>
              <a:t>  右側：背景（120）&gt; T（100）→ 被誤判為前景「零件」！
  左側：零件（60）&lt; T（100）→ 正確判為零件
  → 右側的背景被誤判，產生大量「假陽性」錯誤偵測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進階解法選項：
</a:t>
            </a:r>
            <a:r>
              <a:rPr lang="en-US" sz="1300" dirty="0">
                <a:solidFill>
                  <a:srgbClr val="1A1A1A"/>
                </a:solidFill>
                <a:latin typeface="Calibri" pitchFamily="34" charset="0"/>
                <a:ea typeface="Calibri" pitchFamily="34" charset="-122"/>
                <a:cs typeface="Calibri" pitchFamily="34" charset="-120"/>
              </a:rPr>
              <a:t>  1.  改善硬體光源（最根本，但成本高）
  2.  自適應閾值（Adaptive Thresholding）：不同區塊使用不同 T
  3.  Otsu 自動閾值（下頁）：自動尋找全域最佳 T
  4.  CLAHE 預處理後再閾值：先均勻化再切割</a:t>
            </a:r>
            <a:endParaRPr lang="en-US" sz="14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閾值化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r>
              <a:rPr lang="en-US" sz="2000" b="1" dirty="0">
                <a:solidFill>
                  <a:srgbClr val="1E3A5F"/>
                </a:solidFill>
                <a:latin typeface="Calibri" pitchFamily="34" charset="0"/>
                <a:ea typeface="Calibri" pitchFamily="34" charset="-122"/>
                <a:cs typeface="Calibri" pitchFamily="34" charset="-120"/>
              </a:rPr>
              <a:t>Otsu 大津演算法（1979）：</a:t>
            </a:r>
            <a:r>
              <a:rPr lang="en-US" sz="2000" b="1" dirty="0" err="1">
                <a:solidFill>
                  <a:srgbClr val="1E3A5F"/>
                </a:solidFill>
                <a:latin typeface="Calibri" pitchFamily="34" charset="0"/>
                <a:ea typeface="Calibri" pitchFamily="34" charset="-122"/>
                <a:cs typeface="Calibri" pitchFamily="34" charset="-120"/>
              </a:rPr>
              <a:t>讓機器自己找最佳</a:t>
            </a:r>
            <a:r>
              <a:rPr lang="en-US" sz="2000" b="1" dirty="0">
                <a:solidFill>
                  <a:srgbClr val="1E3A5F"/>
                </a:solidFill>
                <a:latin typeface="Calibri" pitchFamily="34" charset="0"/>
                <a:ea typeface="Calibri" pitchFamily="34" charset="-122"/>
                <a:cs typeface="Calibri" pitchFamily="34" charset="-120"/>
              </a:rPr>
              <a:t> T</a:t>
            </a:r>
          </a:p>
          <a:p>
            <a:r>
              <a:rPr lang="zh-TW" altLang="en-US" sz="2000" b="1" dirty="0">
                <a:solidFill>
                  <a:srgbClr val="1E3A5F"/>
                </a:solidFill>
                <a:latin typeface="Calibri" pitchFamily="34" charset="0"/>
                <a:ea typeface="Calibri" pitchFamily="34" charset="-122"/>
                <a:cs typeface="Calibri" pitchFamily="34" charset="-120"/>
              </a:rPr>
              <a:t>群間最大差異二值化法</a:t>
            </a:r>
            <a:endParaRPr lang="en-US" sz="2000" b="1" dirty="0">
              <a:solidFill>
                <a:srgbClr val="1E3A5F"/>
              </a:solidFill>
              <a:latin typeface="Calibri" pitchFamily="34" charset="0"/>
              <a:ea typeface="Calibri" pitchFamily="34" charset="-122"/>
              <a:cs typeface="Calibri" pitchFamily="34" charset="-120"/>
            </a:endParaRPr>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發明者：日本學者 大津展之（Nobuyuki Otsu），1979 年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核心思想：
</a:t>
            </a:r>
            <a:r>
              <a:rPr lang="en-US" sz="1300" dirty="0">
                <a:solidFill>
                  <a:srgbClr val="1A1A1A"/>
                </a:solidFill>
                <a:latin typeface="Calibri" pitchFamily="34" charset="0"/>
                <a:ea typeface="Calibri" pitchFamily="34" charset="-122"/>
                <a:cs typeface="Calibri" pitchFamily="34" charset="-120"/>
              </a:rPr>
              <a:t>  最好的 T 值，應該讓分割出來的兩個群體（前景和背景）：
  • 各自「內部越相似越好」（群內方差越小越好）
  • 彼此「差異越大越好」（群間方差越大越好）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等價目標：最大化「類間方差（Between-class Variance）」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演算法效率：
</a:t>
            </a:r>
            <a:r>
              <a:rPr lang="en-US" sz="1300" dirty="0">
                <a:solidFill>
                  <a:srgbClr val="1A1A1A"/>
                </a:solidFill>
                <a:latin typeface="Calibri" pitchFamily="34" charset="0"/>
                <a:ea typeface="Calibri" pitchFamily="34" charset="-122"/>
                <a:cs typeface="Calibri" pitchFamily="34" charset="-120"/>
              </a:rPr>
              <a:t>  只需遍歷 255 個可能的 T 值（從 0 到 254），計算每個 T 的類間方差
  找到最大類間方差對應的 T* 即為最佳閾值
</a:t>
            </a:r>
            <a:r>
              <a:rPr lang="en-US" sz="1300" b="1" dirty="0">
                <a:solidFill>
                  <a:srgbClr val="C45C00"/>
                </a:solidFill>
                <a:latin typeface="Calibri" pitchFamily="34" charset="0"/>
                <a:ea typeface="Calibri" pitchFamily="34" charset="-122"/>
                <a:cs typeface="Calibri" pitchFamily="34" charset="-120"/>
              </a:rPr>
              <a:t>  計算複雜度 O(256)，極輕量！</a:t>
            </a:r>
            <a:endParaRPr lang="en-US" sz="1400" dirty="0"/>
          </a:p>
        </p:txBody>
      </p:sp>
      <p:pic>
        <p:nvPicPr>
          <p:cNvPr id="8" name="圖片 7">
            <a:extLst>
              <a:ext uri="{FF2B5EF4-FFF2-40B4-BE49-F238E27FC236}">
                <a16:creationId xmlns:a16="http://schemas.microsoft.com/office/drawing/2014/main" id="{6D90FBF6-ADCC-66A7-9F1E-CFCE18149F53}"/>
              </a:ext>
            </a:extLst>
          </p:cNvPr>
          <p:cNvPicPr>
            <a:picLocks noChangeAspect="1"/>
          </p:cNvPicPr>
          <p:nvPr/>
        </p:nvPicPr>
        <p:blipFill>
          <a:blip r:embed="rId3"/>
          <a:stretch>
            <a:fillRect/>
          </a:stretch>
        </p:blipFill>
        <p:spPr>
          <a:xfrm>
            <a:off x="5077785" y="1422196"/>
            <a:ext cx="3675055" cy="1325193"/>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閾值化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Otsu 演算法的數學推導</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σ²_B(T)  =  ω₀(T) · ω₁(T) · [ μ₀(T) − μ₁(T) ]²</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最大化類間方差（Between-class Variance），找到最佳切分點 T*</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ω₀(T), ω₁(T)：</a:t>
            </a:r>
            <a:r>
              <a:rPr lang="en-US" sz="1250" dirty="0">
                <a:solidFill>
                  <a:srgbClr val="1A1A1A"/>
                </a:solidFill>
                <a:latin typeface="Calibri" pitchFamily="34" charset="0"/>
                <a:ea typeface="Calibri" pitchFamily="34" charset="-122"/>
                <a:cs typeface="Calibri" pitchFamily="34" charset="-120"/>
              </a:rPr>
              <a:t>以 T 為切分點，背景（&lt; T）和前景（≥ T）各自的像素比例</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μ₀(T), μ₁(T)：</a:t>
            </a:r>
            <a:r>
              <a:rPr lang="en-US" sz="1250" dirty="0">
                <a:solidFill>
                  <a:srgbClr val="1A1A1A"/>
                </a:solidFill>
                <a:latin typeface="Calibri" pitchFamily="34" charset="0"/>
                <a:ea typeface="Calibri" pitchFamily="34" charset="-122"/>
                <a:cs typeface="Calibri" pitchFamily="34" charset="-120"/>
              </a:rPr>
              <a:t>背景和前景的平均灰階值</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直覺理解：</a:t>
            </a:r>
            <a:r>
              <a:rPr lang="en-US" sz="1250" dirty="0">
                <a:solidFill>
                  <a:srgbClr val="1A1A1A"/>
                </a:solidFill>
                <a:latin typeface="Calibri" pitchFamily="34" charset="0"/>
                <a:ea typeface="Calibri" pitchFamily="34" charset="-122"/>
                <a:cs typeface="Calibri" pitchFamily="34" charset="-120"/>
              </a:rPr>
              <a:t>最好的 T 讓兩類「各自集中」（ω 均衡）且「彼此分離」（μ 差距大）</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OpenCV 一行：</a:t>
            </a:r>
            <a:r>
              <a:rPr lang="en-US" sz="1250" dirty="0">
                <a:solidFill>
                  <a:srgbClr val="1A1A1A"/>
                </a:solidFill>
                <a:latin typeface="Calibri" pitchFamily="34" charset="0"/>
                <a:ea typeface="Calibri" pitchFamily="34" charset="-122"/>
                <a:cs typeface="Calibri" pitchFamily="34" charset="-120"/>
              </a:rPr>
              <a:t>_, binary = cv2.threshold(img, 0, 255, cv2.THRESH_OTSU)</a:t>
            </a:r>
            <a:endParaRPr lang="en-US" sz="125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字方塊 2">
            <a:extLst>
              <a:ext uri="{FF2B5EF4-FFF2-40B4-BE49-F238E27FC236}">
                <a16:creationId xmlns:a16="http://schemas.microsoft.com/office/drawing/2014/main" id="{02CA66FD-70FB-4526-8F36-05C56E9C7D97}"/>
              </a:ext>
            </a:extLst>
          </p:cNvPr>
          <p:cNvSpPr txBox="1"/>
          <p:nvPr/>
        </p:nvSpPr>
        <p:spPr>
          <a:xfrm>
            <a:off x="762000" y="816739"/>
            <a:ext cx="7442200" cy="2031325"/>
          </a:xfrm>
          <a:prstGeom prst="rect">
            <a:avLst/>
          </a:prstGeom>
          <a:noFill/>
        </p:spPr>
        <p:txBody>
          <a:bodyPr wrap="square">
            <a:spAutoFit/>
          </a:bodyPr>
          <a:lstStyle/>
          <a:p>
            <a:pPr marL="285750" indent="-285750">
              <a:buFont typeface="Arial" panose="020B0604020202020204" pitchFamily="34" charset="0"/>
              <a:buChar char="•"/>
            </a:pPr>
            <a:r>
              <a:rPr lang="zh-TW" altLang="en-US" dirty="0"/>
              <a:t>對於圖像I(x,y)，前景(即目標)和背景的分割閾值記作T，屬於前景的像素點數佔整幅圖像的比例記爲ω0，其平均灰度μ0；背景像素點數佔整幅圖像的比例爲ω1，其平均灰度爲μ1。圖像的總平均灰度記爲μ，類間方差記爲σ2。</a:t>
            </a:r>
          </a:p>
          <a:p>
            <a:pPr marL="285750" indent="-285750">
              <a:buFont typeface="Arial" panose="020B0604020202020204" pitchFamily="34" charset="0"/>
              <a:buChar char="•"/>
            </a:pPr>
            <a:r>
              <a:rPr lang="zh-TW" altLang="en-US" dirty="0"/>
              <a:t>假設圖像的背景較暗，並且圖像的大小爲M×N，圖像中像素的灰度值小於閾值T的像素個數記作N0，像素灰度大於閾值T的像素個數記作N1，則有：</a:t>
            </a:r>
          </a:p>
        </p:txBody>
      </p:sp>
      <p:pic>
        <p:nvPicPr>
          <p:cNvPr id="4" name="Picture 2" descr="https://pic1.xuehuaimg.com/proxy/csdn/https:/img-blog.csdnimg.cn/20200429185814155.png">
            <a:extLst>
              <a:ext uri="{FF2B5EF4-FFF2-40B4-BE49-F238E27FC236}">
                <a16:creationId xmlns:a16="http://schemas.microsoft.com/office/drawing/2014/main" id="{CDF5AF8D-3338-5836-8078-A276E96512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52575" y="3143038"/>
            <a:ext cx="3019425" cy="1524000"/>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descr="https://pic1.xuehuaimg.com/proxy/csdn/https:/img-blog.csdnimg.cn/20200429185900549.png">
            <a:extLst>
              <a:ext uri="{FF2B5EF4-FFF2-40B4-BE49-F238E27FC236}">
                <a16:creationId xmlns:a16="http://schemas.microsoft.com/office/drawing/2014/main" id="{AC8B5AA7-0740-F8F6-1712-5B93345AD7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1507" y="4667038"/>
            <a:ext cx="2247900" cy="371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373188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6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§4  閾值化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Otsu 在嵌入式視覺的實用價值</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為什麼嵌入式設備愛用 Otsu？
</a:t>
            </a:r>
            <a:r>
              <a:rPr lang="en-US" sz="1300" dirty="0">
                <a:solidFill>
                  <a:srgbClr val="1A1A1A"/>
                </a:solidFill>
                <a:latin typeface="Calibri" pitchFamily="34" charset="0"/>
                <a:ea typeface="Calibri" pitchFamily="34" charset="-122"/>
                <a:cs typeface="Calibri" pitchFamily="34" charset="-120"/>
              </a:rPr>
              <a:t>1.  計算量極輕：O(256)，只遍歷灰階值，不遍歷每個像素
2.  完全自動：不需要人工設定 T，適合 24 小時自動運行的產線機台
3.  可重現性：同樣的影像始終得到相同的 T 值，結果穩定
4.  無需標定：不需要事先「教」機器什麼是前景什麼是背景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Otsu </a:t>
            </a:r>
            <a:r>
              <a:rPr lang="en-US" sz="1400" b="1" dirty="0" err="1">
                <a:solidFill>
                  <a:srgbClr val="C45C00"/>
                </a:solidFill>
                <a:latin typeface="Calibri" pitchFamily="34" charset="0"/>
                <a:ea typeface="Calibri" pitchFamily="34" charset="-122"/>
                <a:cs typeface="Calibri" pitchFamily="34" charset="-120"/>
              </a:rPr>
              <a:t>的使用前提</a:t>
            </a:r>
            <a:r>
              <a:rPr lang="en-US" sz="1400" b="1" dirty="0">
                <a:solidFill>
                  <a:srgbClr val="C45C00"/>
                </a:solidFill>
                <a:latin typeface="Calibri" pitchFamily="34" charset="0"/>
                <a:ea typeface="Calibri" pitchFamily="34" charset="-122"/>
                <a:cs typeface="Calibri" pitchFamily="34" charset="-120"/>
              </a:rPr>
              <a:t>（</a:t>
            </a:r>
            <a:r>
              <a:rPr lang="en-US" altLang="zh-TW" sz="1400" b="1" dirty="0">
                <a:solidFill>
                  <a:srgbClr val="C45C00"/>
                </a:solidFill>
                <a:latin typeface="Calibri" pitchFamily="34" charset="0"/>
                <a:ea typeface="Calibri" pitchFamily="34" charset="-122"/>
                <a:cs typeface="Calibri" pitchFamily="34" charset="-120"/>
              </a:rPr>
              <a:t>!!!</a:t>
            </a:r>
            <a:r>
              <a:rPr lang="en-US" sz="1400" b="1" dirty="0">
                <a:solidFill>
                  <a:srgbClr val="C45C00"/>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直方圖必須呈現明顯的雙峰（Bimodal）分佈
  → 代表影像中必須有前景和背景的明顯亮度差異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最佳實務流程（嵌入式標準做法）：
</a:t>
            </a:r>
            <a:r>
              <a:rPr lang="en-US" sz="1300" dirty="0">
                <a:solidFill>
                  <a:srgbClr val="1A1A1A"/>
                </a:solidFill>
                <a:latin typeface="Calibri" pitchFamily="34" charset="0"/>
                <a:ea typeface="Calibri" pitchFamily="34" charset="-122"/>
                <a:cs typeface="Calibri" pitchFamily="34" charset="-120"/>
              </a:rPr>
              <a:t>  先做中值濾波（去椒鹽雜訊）→ 再 Otsu 閾值化 → 再做形態學後處理
</a:t>
            </a:r>
            <a:r>
              <a:rPr lang="en-US" sz="1300" b="1" dirty="0">
                <a:solidFill>
                  <a:srgbClr val="C45C00"/>
                </a:solidFill>
                <a:latin typeface="Calibri" pitchFamily="34" charset="0"/>
                <a:ea typeface="Calibri" pitchFamily="34" charset="-122"/>
                <a:cs typeface="Calibri" pitchFamily="34" charset="-120"/>
              </a:rPr>
              <a:t>  缺少去噪這一步，Otsu 可能找到錯誤的 T 值！</a:t>
            </a:r>
            <a:endParaRPr lang="en-US" sz="14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pic1.xuehuaimg.com/proxy/csdn/https:/img-blog.csdnimg.cn/20200429190615515.png?x-oss-process=image/watermark,type_ZmFuZ3poZW5naGVpdGk,shadow_10,text_aHR0cHM6Ly9ibG9nLmNzZG4ubmV0L215X2t1bg==,size_16,color_FFFFFF,t_70">
            <a:extLst>
              <a:ext uri="{FF2B5EF4-FFF2-40B4-BE49-F238E27FC236}">
                <a16:creationId xmlns:a16="http://schemas.microsoft.com/office/drawing/2014/main" id="{C0262A83-7ECC-EE56-0262-CA73071BE9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265" y="1186815"/>
            <a:ext cx="5543550" cy="2533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476411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C3CBF0B-0374-7BFE-D8FC-1E8F7D7CAFE8}"/>
              </a:ext>
            </a:extLst>
          </p:cNvPr>
          <p:cNvSpPr/>
          <p:nvPr/>
        </p:nvSpPr>
        <p:spPr>
          <a:xfrm>
            <a:off x="1414633" y="1747702"/>
            <a:ext cx="6835406" cy="646331"/>
          </a:xfrm>
          <a:prstGeom prst="rect">
            <a:avLst/>
          </a:prstGeom>
        </p:spPr>
        <p:txBody>
          <a:bodyPr wrap="square">
            <a:spAutoFit/>
          </a:bodyPr>
          <a:lstStyle/>
          <a:p>
            <a:r>
              <a:rPr lang="zh-TW" altLang="en-US" sz="1800" dirty="0">
                <a:latin typeface="DFKaiShu-SB-Estd-BF"/>
              </a:rPr>
              <a:t>區域門檻值法</a:t>
            </a:r>
            <a:r>
              <a:rPr lang="en-US" altLang="zh-TW" sz="1800" dirty="0">
                <a:latin typeface="Arial" panose="020B0604020202020204" pitchFamily="34" charset="0"/>
              </a:rPr>
              <a:t>(local thresholding) </a:t>
            </a:r>
            <a:r>
              <a:rPr lang="zh-TW" altLang="en-US" sz="1800" dirty="0">
                <a:latin typeface="DFKaiShu-SB-Estd-BF"/>
              </a:rPr>
              <a:t>的門檻值選取同時與影像灰階及各像素的區域特徵</a:t>
            </a:r>
            <a:r>
              <a:rPr lang="en-US" altLang="zh-TW" sz="1800" dirty="0">
                <a:latin typeface="Arial" panose="020B0604020202020204" pitchFamily="34" charset="0"/>
              </a:rPr>
              <a:t>(local property)</a:t>
            </a:r>
            <a:r>
              <a:rPr lang="zh-TW" altLang="en-US" sz="1800" dirty="0">
                <a:latin typeface="DFKaiShu-SB-Estd-BF"/>
              </a:rPr>
              <a:t>有關；例如，定義門檻值</a:t>
            </a:r>
            <a:r>
              <a:rPr lang="en-US" altLang="zh-TW" sz="1800" i="1" dirty="0">
                <a:latin typeface="Arial,Italic"/>
              </a:rPr>
              <a:t>T</a:t>
            </a:r>
            <a:r>
              <a:rPr lang="zh-TW" altLang="en-US" sz="1800" dirty="0">
                <a:latin typeface="DFKaiShu-SB-Estd-BF"/>
              </a:rPr>
              <a:t>，</a:t>
            </a:r>
            <a:endParaRPr lang="zh-TW" altLang="en-US" sz="1800" dirty="0"/>
          </a:p>
        </p:txBody>
      </p:sp>
      <p:pic>
        <p:nvPicPr>
          <p:cNvPr id="3" name="圖片 2">
            <a:extLst>
              <a:ext uri="{FF2B5EF4-FFF2-40B4-BE49-F238E27FC236}">
                <a16:creationId xmlns:a16="http://schemas.microsoft.com/office/drawing/2014/main" id="{363A162A-7D68-2D86-579A-69C25B903DAF}"/>
              </a:ext>
            </a:extLst>
          </p:cNvPr>
          <p:cNvPicPr>
            <a:picLocks noChangeAspect="1"/>
          </p:cNvPicPr>
          <p:nvPr/>
        </p:nvPicPr>
        <p:blipFill>
          <a:blip r:embed="rId2"/>
          <a:stretch>
            <a:fillRect/>
          </a:stretch>
        </p:blipFill>
        <p:spPr>
          <a:xfrm>
            <a:off x="2474382" y="2598426"/>
            <a:ext cx="4116979" cy="904863"/>
          </a:xfrm>
          <a:prstGeom prst="rect">
            <a:avLst/>
          </a:prstGeom>
        </p:spPr>
      </p:pic>
    </p:spTree>
    <p:extLst>
      <p:ext uri="{BB962C8B-B14F-4D97-AF65-F5344CB8AC3E}">
        <p14:creationId xmlns:p14="http://schemas.microsoft.com/office/powerpoint/2010/main" val="68285452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https://pic1.xuehuaimg.com/proxy/csdn/https:/img-blog.csdnimg.cn/20200429190806913.png?x-oss-process=image/watermark,type_ZmFuZ3poZW5naGVpdGk,shadow_10,text_aHR0cHM6Ly9ibG9nLmNzZG4ubmV0L215X2t1bg==,size_16,color_FFFFFF,t_70">
            <a:extLst>
              <a:ext uri="{FF2B5EF4-FFF2-40B4-BE49-F238E27FC236}">
                <a16:creationId xmlns:a16="http://schemas.microsoft.com/office/drawing/2014/main" id="{84C6B252-C0A3-9100-4E16-499475BDAA7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7805" y="681037"/>
            <a:ext cx="5924550" cy="37814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5367112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name="Slide 64">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05</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鄰域運算與卷積基礎</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Neighborhood Operations &amp; Convolution</a:t>
            </a:r>
            <a:endParaRPr lang="en-US" sz="1300" dirty="0"/>
          </a:p>
        </p:txBody>
      </p:sp>
      <p:sp>
        <p:nvSpPr>
          <p:cNvPr id="6" name="Shape 4"/>
          <p:cNvSpPr/>
          <p:nvPr/>
        </p:nvSpPr>
        <p:spPr>
          <a:xfrm>
            <a:off x="685800" y="2788920"/>
            <a:ext cx="7406640" cy="822960"/>
          </a:xfrm>
          <a:prstGeom prst="rect">
            <a:avLst/>
          </a:prstGeom>
          <a:solidFill>
            <a:srgbClr val="162E4A"/>
          </a:solidFill>
          <a:ln w="19050">
            <a:solidFill>
              <a:srgbClr val="C45C00"/>
            </a:solidFill>
            <a:prstDash val="solid"/>
          </a:ln>
        </p:spPr>
        <p:txBody>
          <a:bodyPr/>
          <a:lstStyle/>
          <a:p>
            <a:endParaRPr lang="zh-TW" altLang="en-US"/>
          </a:p>
        </p:txBody>
      </p:sp>
      <p:sp>
        <p:nvSpPr>
          <p:cNvPr id="7" name="Text 5"/>
          <p:cNvSpPr/>
          <p:nvPr/>
        </p:nvSpPr>
        <p:spPr>
          <a:xfrm>
            <a:off x="822960" y="2788920"/>
            <a:ext cx="7132320" cy="822960"/>
          </a:xfrm>
          <a:prstGeom prst="rect">
            <a:avLst/>
          </a:prstGeom>
          <a:noFill/>
          <a:ln/>
        </p:spPr>
        <p:txBody>
          <a:bodyPr wrap="square" lIns="0" tIns="0" rIns="0" bIns="0" rtlCol="0" anchor="ctr"/>
          <a:lstStyle/>
          <a:p>
            <a:pPr marL="0" indent="0" algn="l">
              <a:buNone/>
            </a:pPr>
            <a:r>
              <a:rPr lang="en-US" sz="1100" i="1" dirty="0">
                <a:solidFill>
                  <a:srgbClr val="F5E6D3"/>
                </a:solidFill>
                <a:latin typeface="Calibri" pitchFamily="34" charset="0"/>
                <a:ea typeface="Calibri" pitchFamily="34" charset="-122"/>
                <a:cs typeface="Calibri" pitchFamily="34" charset="-120"/>
              </a:rPr>
              <a:t>💡 </a:t>
            </a:r>
            <a:r>
              <a:rPr lang="en-US" sz="1100" i="1" dirty="0" err="1">
                <a:solidFill>
                  <a:srgbClr val="F5E6D3"/>
                </a:solidFill>
                <a:latin typeface="Calibri" pitchFamily="34" charset="0"/>
                <a:ea typeface="Calibri" pitchFamily="34" charset="-122"/>
                <a:cs typeface="Calibri" pitchFamily="34" charset="-120"/>
              </a:rPr>
              <a:t>前面的技術都只看單一像素。如果照片充滿了雜訊，單點運算</a:t>
            </a:r>
            <a:br>
              <a:rPr lang="en-US" sz="1100" i="1" dirty="0">
                <a:solidFill>
                  <a:srgbClr val="F5E6D3"/>
                </a:solidFill>
                <a:latin typeface="Calibri" pitchFamily="34" charset="0"/>
                <a:ea typeface="Calibri" pitchFamily="34" charset="-122"/>
                <a:cs typeface="Calibri" pitchFamily="34" charset="-120"/>
              </a:rPr>
            </a:br>
            <a:r>
              <a:rPr lang="zh-TW" altLang="en-US" sz="1100" i="1" dirty="0">
                <a:solidFill>
                  <a:srgbClr val="F5E6D3"/>
                </a:solidFill>
                <a:latin typeface="Calibri" pitchFamily="34" charset="0"/>
                <a:ea typeface="Calibri" pitchFamily="34" charset="-122"/>
                <a:cs typeface="Calibri" pitchFamily="34" charset="-120"/>
              </a:rPr>
              <a:t>      </a:t>
            </a:r>
            <a:r>
              <a:rPr lang="en-US" sz="1100" i="1" dirty="0" err="1">
                <a:solidFill>
                  <a:srgbClr val="F5E6D3"/>
                </a:solidFill>
                <a:latin typeface="Calibri" pitchFamily="34" charset="0"/>
                <a:ea typeface="Calibri" pitchFamily="34" charset="-122"/>
                <a:cs typeface="Calibri" pitchFamily="34" charset="-120"/>
              </a:rPr>
              <a:t>能解決嗎</a:t>
            </a:r>
            <a:r>
              <a:rPr lang="en-US" sz="1100" i="1" dirty="0">
                <a:solidFill>
                  <a:srgbClr val="F5E6D3"/>
                </a:solidFill>
                <a:latin typeface="Calibri" pitchFamily="34" charset="0"/>
                <a:ea typeface="Calibri" pitchFamily="34" charset="-122"/>
                <a:cs typeface="Calibri" pitchFamily="34" charset="-120"/>
              </a:rPr>
              <a:t>？</a:t>
            </a:r>
            <a:endParaRPr lang="en-US" sz="1100" dirty="0"/>
          </a:p>
        </p:txBody>
      </p:sp>
      <p:pic>
        <p:nvPicPr>
          <p:cNvPr id="8" name="Picture 2" descr="https://pic1.xuehuaimg.com/proxy/csdn/https:/img-blog.csdnimg.cn/20200429190543588.png?x-oss-process=image/watermark,type_ZmFuZ3poZW5naGVpdGk,shadow_10,text_aHR0cHM6Ly9ibG9nLmNzZG4ubmV0L215X2t1bg==,size_16,color_FFFFFF,t_70">
            <a:extLst>
              <a:ext uri="{FF2B5EF4-FFF2-40B4-BE49-F238E27FC236}">
                <a16:creationId xmlns:a16="http://schemas.microsoft.com/office/drawing/2014/main" id="{5B0CABDD-471F-4359-F83A-426867E64661}"/>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33191"/>
          <a:stretch>
            <a:fillRect/>
          </a:stretch>
        </p:blipFill>
        <p:spPr bwMode="auto">
          <a:xfrm>
            <a:off x="4919330" y="2889206"/>
            <a:ext cx="4224670" cy="204855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name="Slide 6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影像雜訊的三大類型（單點運算完全無能為力）</a:t>
            </a:r>
            <a:endParaRPr lang="en-US" sz="2000" dirty="0"/>
          </a:p>
        </p:txBody>
      </p:sp>
      <p:sp>
        <p:nvSpPr>
          <p:cNvPr id="7" name="Shape 5"/>
          <p:cNvSpPr/>
          <p:nvPr/>
        </p:nvSpPr>
        <p:spPr>
          <a:xfrm>
            <a:off x="32004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8" name="Shape 6"/>
          <p:cNvSpPr/>
          <p:nvPr/>
        </p:nvSpPr>
        <p:spPr>
          <a:xfrm>
            <a:off x="320040" y="1115568"/>
            <a:ext cx="2743200" cy="329184"/>
          </a:xfrm>
          <a:prstGeom prst="rect">
            <a:avLst/>
          </a:prstGeom>
          <a:solidFill>
            <a:srgbClr val="1A1A1A"/>
          </a:solidFill>
          <a:ln w="12700">
            <a:solidFill>
              <a:srgbClr val="1A1A1A"/>
            </a:solidFill>
            <a:prstDash val="solid"/>
          </a:ln>
        </p:spPr>
        <p:txBody>
          <a:bodyPr/>
          <a:lstStyle/>
          <a:p>
            <a:endParaRPr lang="zh-TW" altLang="en-US"/>
          </a:p>
        </p:txBody>
      </p:sp>
      <p:sp>
        <p:nvSpPr>
          <p:cNvPr id="9" name="Text 7"/>
          <p:cNvSpPr/>
          <p:nvPr/>
        </p:nvSpPr>
        <p:spPr>
          <a:xfrm>
            <a:off x="39319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椒鹽雜訊 (Salt &amp; Pepper)</a:t>
            </a:r>
            <a:endParaRPr lang="en-US" sz="1100" dirty="0"/>
          </a:p>
        </p:txBody>
      </p:sp>
      <p:sp>
        <p:nvSpPr>
          <p:cNvPr id="10" name="Text 8"/>
          <p:cNvSpPr/>
          <p:nvPr/>
        </p:nvSpPr>
        <p:spPr>
          <a:xfrm>
            <a:off x="411480" y="1490472"/>
            <a:ext cx="2578608"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隨機分佈的純白（255）和純黑（0）點</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原因：感測器像素損壞、傳輸位元錯誤</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直方圖特徵：在 0 和 255 各有尖銳的小突峰</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最有效解法：中值濾波</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（本節補充 D 詳述）</a:t>
            </a:r>
            <a:endParaRPr lang="en-US" sz="1100" dirty="0"/>
          </a:p>
        </p:txBody>
      </p:sp>
      <p:sp>
        <p:nvSpPr>
          <p:cNvPr id="11" name="Shape 9"/>
          <p:cNvSpPr/>
          <p:nvPr/>
        </p:nvSpPr>
        <p:spPr>
          <a:xfrm>
            <a:off x="3200400"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2" name="Shape 10"/>
          <p:cNvSpPr/>
          <p:nvPr/>
        </p:nvSpPr>
        <p:spPr>
          <a:xfrm>
            <a:off x="3200400" y="1115568"/>
            <a:ext cx="2743200" cy="329184"/>
          </a:xfrm>
          <a:prstGeom prst="rect">
            <a:avLst/>
          </a:prstGeom>
          <a:solidFill>
            <a:srgbClr val="C45C00"/>
          </a:solidFill>
          <a:ln w="12700">
            <a:solidFill>
              <a:srgbClr val="C45C00"/>
            </a:solidFill>
            <a:prstDash val="solid"/>
          </a:ln>
        </p:spPr>
        <p:txBody>
          <a:bodyPr/>
          <a:lstStyle/>
          <a:p>
            <a:endParaRPr lang="zh-TW" altLang="en-US"/>
          </a:p>
        </p:txBody>
      </p:sp>
      <p:sp>
        <p:nvSpPr>
          <p:cNvPr id="13" name="Text 11"/>
          <p:cNvSpPr/>
          <p:nvPr/>
        </p:nvSpPr>
        <p:spPr>
          <a:xfrm>
            <a:off x="327355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高斯雜訊 (Gaussian Noise)</a:t>
            </a:r>
            <a:endParaRPr lang="en-US" sz="1100" dirty="0"/>
          </a:p>
        </p:txBody>
      </p:sp>
      <p:sp>
        <p:nvSpPr>
          <p:cNvPr id="14" name="Text 12"/>
          <p:cNvSpPr/>
          <p:nvPr/>
        </p:nvSpPr>
        <p:spPr>
          <a:xfrm>
            <a:off x="3291840" y="1490472"/>
            <a:ext cx="256032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每個像素加上隨機的正態分佈偏移值</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原因：感測器熱雜訊、ADC 量化誤差、電子雜訊</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直方圖特徵：整體稍微「增胖」</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最有效解法：高斯濾波</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（統計上最佳的線性去噪方法）</a:t>
            </a:r>
            <a:endParaRPr lang="en-US" sz="1100" dirty="0"/>
          </a:p>
        </p:txBody>
      </p:sp>
      <p:sp>
        <p:nvSpPr>
          <p:cNvPr id="15" name="Shape 13"/>
          <p:cNvSpPr/>
          <p:nvPr/>
        </p:nvSpPr>
        <p:spPr>
          <a:xfrm>
            <a:off x="6061164" y="1115568"/>
            <a:ext cx="274320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6" name="Shape 14"/>
          <p:cNvSpPr/>
          <p:nvPr/>
        </p:nvSpPr>
        <p:spPr>
          <a:xfrm>
            <a:off x="6080760" y="1115568"/>
            <a:ext cx="2743200" cy="329184"/>
          </a:xfrm>
          <a:prstGeom prst="rect">
            <a:avLst/>
          </a:prstGeom>
          <a:solidFill>
            <a:srgbClr val="5A2D82"/>
          </a:solidFill>
          <a:ln w="12700">
            <a:solidFill>
              <a:srgbClr val="5A2D82"/>
            </a:solidFill>
            <a:prstDash val="solid"/>
          </a:ln>
        </p:spPr>
        <p:txBody>
          <a:bodyPr/>
          <a:lstStyle/>
          <a:p>
            <a:endParaRPr lang="zh-TW" altLang="en-US"/>
          </a:p>
        </p:txBody>
      </p:sp>
      <p:sp>
        <p:nvSpPr>
          <p:cNvPr id="17" name="Text 15"/>
          <p:cNvSpPr/>
          <p:nvPr/>
        </p:nvSpPr>
        <p:spPr>
          <a:xfrm>
            <a:off x="6153912" y="1115568"/>
            <a:ext cx="2596896" cy="329184"/>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脈衝雜訊 (Impulse Noise)</a:t>
            </a:r>
            <a:endParaRPr lang="en-US" sz="1100" dirty="0"/>
          </a:p>
        </p:txBody>
      </p:sp>
      <p:sp>
        <p:nvSpPr>
          <p:cNvPr id="18" name="Text 16"/>
          <p:cNvSpPr/>
          <p:nvPr/>
        </p:nvSpPr>
        <p:spPr>
          <a:xfrm>
            <a:off x="6102531" y="1490472"/>
            <a:ext cx="2893423"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隨機位置的極端值（不限於 0 和 255）</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原因：感測器過熱、宇宙射線（高空設備）</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直方圖特徵：出現孤立的異常尖峰</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最有效解法：中值濾波或截斷均值濾波</a:t>
            </a:r>
            <a:endParaRPr lang="en-US" sz="1100" dirty="0"/>
          </a:p>
        </p:txBody>
      </p:sp>
      <p:pic>
        <p:nvPicPr>
          <p:cNvPr id="2050" name="Picture 2" descr="undefined">
            <a:extLst>
              <a:ext uri="{FF2B5EF4-FFF2-40B4-BE49-F238E27FC236}">
                <a16:creationId xmlns:a16="http://schemas.microsoft.com/office/drawing/2014/main" id="{AA6657A1-1ABD-A203-7749-93188872A0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88509" y="3054096"/>
            <a:ext cx="1519411" cy="2032212"/>
          </a:xfrm>
          <a:prstGeom prst="rect">
            <a:avLst/>
          </a:prstGeom>
          <a:noFill/>
          <a:extLst>
            <a:ext uri="{909E8E84-426E-40DD-AFC4-6F175D3DCCD1}">
              <a14:hiddenFill xmlns:a14="http://schemas.microsoft.com/office/drawing/2010/main">
                <a:solidFill>
                  <a:srgbClr val="FFFFFF"/>
                </a:solidFill>
              </a14:hiddenFill>
            </a:ext>
          </a:extLst>
        </p:spPr>
      </p:pic>
      <p:sp>
        <p:nvSpPr>
          <p:cNvPr id="20" name="文字方塊 19">
            <a:extLst>
              <a:ext uri="{FF2B5EF4-FFF2-40B4-BE49-F238E27FC236}">
                <a16:creationId xmlns:a16="http://schemas.microsoft.com/office/drawing/2014/main" id="{812EAD35-1136-9659-2D0B-28C54EA99CE3}"/>
              </a:ext>
            </a:extLst>
          </p:cNvPr>
          <p:cNvSpPr txBox="1"/>
          <p:nvPr/>
        </p:nvSpPr>
        <p:spPr>
          <a:xfrm>
            <a:off x="3111078" y="4724186"/>
            <a:ext cx="3042834" cy="276999"/>
          </a:xfrm>
          <a:prstGeom prst="rect">
            <a:avLst/>
          </a:prstGeom>
          <a:noFill/>
        </p:spPr>
        <p:txBody>
          <a:bodyPr wrap="square">
            <a:spAutoFit/>
          </a:bodyPr>
          <a:lstStyle/>
          <a:p>
            <a:r>
              <a:rPr lang="en-US" altLang="zh-TW" sz="1200" dirty="0">
                <a:hlinkClick r:id="rId4"/>
              </a:rPr>
              <a:t>[</a:t>
            </a:r>
            <a:r>
              <a:rPr lang="zh-TW" altLang="en-US" sz="1200" dirty="0">
                <a:hlinkClick r:id="rId4"/>
              </a:rPr>
              <a:t>圖像處理</a:t>
            </a:r>
            <a:r>
              <a:rPr lang="en-US" altLang="zh-TW" sz="1200" dirty="0">
                <a:hlinkClick r:id="rId4"/>
              </a:rPr>
              <a:t>] </a:t>
            </a:r>
            <a:r>
              <a:rPr lang="zh-TW" altLang="en-US" sz="1200" dirty="0">
                <a:hlinkClick r:id="rId4"/>
              </a:rPr>
              <a:t>濾波器對圖像雜訊處理比較 </a:t>
            </a:r>
            <a:r>
              <a:rPr lang="en-US" altLang="zh-TW" sz="1200" dirty="0">
                <a:hlinkClick r:id="rId4"/>
              </a:rPr>
              <a:t>(</a:t>
            </a:r>
            <a:r>
              <a:rPr lang="zh-TW" altLang="en-US" sz="1200" dirty="0">
                <a:hlinkClick r:id="rId4"/>
              </a:rPr>
              <a:t>下</a:t>
            </a:r>
            <a:r>
              <a:rPr lang="en-US" altLang="zh-TW" sz="1200" dirty="0">
                <a:hlinkClick r:id="rId4"/>
              </a:rPr>
              <a:t>)</a:t>
            </a:r>
            <a:endParaRPr lang="zh-TW" altLang="en-US" sz="1200" dirty="0"/>
          </a:p>
        </p:txBody>
      </p:sp>
      <p:pic>
        <p:nvPicPr>
          <p:cNvPr id="22" name="圖片 21">
            <a:extLst>
              <a:ext uri="{FF2B5EF4-FFF2-40B4-BE49-F238E27FC236}">
                <a16:creationId xmlns:a16="http://schemas.microsoft.com/office/drawing/2014/main" id="{CBC15DE3-0865-BBAA-3456-5BE52AEB7EAB}"/>
              </a:ext>
            </a:extLst>
          </p:cNvPr>
          <p:cNvPicPr>
            <a:picLocks noChangeAspect="1"/>
          </p:cNvPicPr>
          <p:nvPr/>
        </p:nvPicPr>
        <p:blipFill>
          <a:blip r:embed="rId5"/>
          <a:stretch>
            <a:fillRect/>
          </a:stretch>
        </p:blipFill>
        <p:spPr>
          <a:xfrm>
            <a:off x="3429974" y="3054096"/>
            <a:ext cx="2440474" cy="1604772"/>
          </a:xfrm>
          <a:prstGeom prst="rect">
            <a:avLst/>
          </a:prstGeom>
        </p:spPr>
      </p:pic>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name="Slide 6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為何單點運算無法去雜訊？</a:t>
            </a:r>
            <a:endParaRPr lang="en-US" sz="2000" dirty="0"/>
          </a:p>
        </p:txBody>
      </p:sp>
      <p:sp>
        <p:nvSpPr>
          <p:cNvPr id="7" name="Text 5"/>
          <p:cNvSpPr/>
          <p:nvPr/>
        </p:nvSpPr>
        <p:spPr>
          <a:xfrm>
            <a:off x="320040" y="1115568"/>
            <a:ext cx="512064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根本原因：
</a:t>
            </a:r>
            <a:r>
              <a:rPr lang="en-US" sz="1300" dirty="0">
                <a:solidFill>
                  <a:srgbClr val="1A1A1A"/>
                </a:solidFill>
                <a:latin typeface="Calibri" pitchFamily="34" charset="0"/>
                <a:ea typeface="Calibri" pitchFamily="34" charset="-122"/>
                <a:cs typeface="Calibri" pitchFamily="34" charset="-120"/>
              </a:rPr>
              <a:t>一個椒鹽雜訊白點（值=255）透過單點運算 g = T{255}，無論 T 是什麼函數，
都只能根據 255 這個值做映射，無法知道「鄰居們的值是多少」。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解法思路：讓像素「問鄰居的意見」
</a:t>
            </a:r>
            <a:r>
              <a:rPr lang="en-US" sz="1300" dirty="0">
                <a:solidFill>
                  <a:srgbClr val="1A1A1A"/>
                </a:solidFill>
                <a:latin typeface="Calibri" pitchFamily="34" charset="0"/>
                <a:ea typeface="Calibri" pitchFamily="34" charset="-122"/>
                <a:cs typeface="Calibri" pitchFamily="34" charset="-120"/>
              </a:rPr>
              <a:t>  新像素的值，由「自己與周圍鄰居的值」共同決定！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鄰域（Neighborhood）的定義：
</a:t>
            </a:r>
            <a:r>
              <a:rPr lang="en-US" sz="1300" dirty="0">
                <a:solidFill>
                  <a:srgbClr val="1A1A1A"/>
                </a:solidFill>
                <a:latin typeface="Calibri" pitchFamily="34" charset="0"/>
                <a:ea typeface="Calibri" pitchFamily="34" charset="-122"/>
                <a:cs typeface="Calibri" pitchFamily="34" charset="-120"/>
              </a:rPr>
              <a:t>  以目標像素為中心，取周圍一個矩形區域的所有像素
  最常見：3×3（8個鄰居）、5×5（24個鄰居）、7×7（48個鄰居）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濾波器（Filter / Kernel / Mask）：
</a:t>
            </a:r>
            <a:r>
              <a:rPr lang="en-US" sz="1300" dirty="0">
                <a:solidFill>
                  <a:srgbClr val="1A1A1A"/>
                </a:solidFill>
                <a:latin typeface="Calibri" pitchFamily="34" charset="0"/>
                <a:ea typeface="Calibri" pitchFamily="34" charset="-122"/>
                <a:cs typeface="Calibri" pitchFamily="34" charset="-120"/>
              </a:rPr>
              <a:t>  一個小矩陣，決定鄰域中各像素對計算結果的「貢獻權重」
  將濾波器在影像上逐位置滑動的過程，稱為「濾波（Filtering）」</a:t>
            </a:r>
            <a:endParaRPr lang="en-US" sz="1400" dirty="0"/>
          </a:p>
        </p:txBody>
      </p:sp>
      <p:sp>
        <p:nvSpPr>
          <p:cNvPr id="8" name="Shape 6"/>
          <p:cNvSpPr/>
          <p:nvPr/>
        </p:nvSpPr>
        <p:spPr>
          <a:xfrm>
            <a:off x="5577840" y="1115568"/>
            <a:ext cx="3246120" cy="3520440"/>
          </a:xfrm>
          <a:prstGeom prst="rect">
            <a:avLst/>
          </a:prstGeom>
          <a:solidFill>
            <a:srgbClr val="D6E4F0"/>
          </a:solidFill>
          <a:ln w="10160">
            <a:solidFill>
              <a:srgbClr val="1E3A5F"/>
            </a:solidFill>
            <a:prstDash val="solid"/>
          </a:ln>
        </p:spPr>
        <p:txBody>
          <a:bodyPr/>
          <a:lstStyle/>
          <a:p>
            <a:endParaRPr lang="zh-TW" altLang="en-US"/>
          </a:p>
        </p:txBody>
      </p:sp>
      <p:sp>
        <p:nvSpPr>
          <p:cNvPr id="9" name="Shape 7"/>
          <p:cNvSpPr/>
          <p:nvPr/>
        </p:nvSpPr>
        <p:spPr>
          <a:xfrm>
            <a:off x="5577840" y="1115568"/>
            <a:ext cx="3246120" cy="329184"/>
          </a:xfrm>
          <a:prstGeom prst="rect">
            <a:avLst/>
          </a:prstGeom>
          <a:solidFill>
            <a:srgbClr val="1E3A5F"/>
          </a:solidFill>
          <a:ln w="12700">
            <a:solidFill>
              <a:srgbClr val="1E3A5F"/>
            </a:solidFill>
            <a:prstDash val="solid"/>
          </a:ln>
        </p:spPr>
        <p:txBody>
          <a:bodyPr/>
          <a:lstStyle/>
          <a:p>
            <a:endParaRPr lang="zh-TW" altLang="en-US"/>
          </a:p>
        </p:txBody>
      </p:sp>
      <p:sp>
        <p:nvSpPr>
          <p:cNvPr id="10" name="Text 8"/>
          <p:cNvSpPr/>
          <p:nvPr/>
        </p:nvSpPr>
        <p:spPr>
          <a:xfrm>
            <a:off x="5623560" y="1115568"/>
            <a:ext cx="3154680" cy="32918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鄰域大小的取捨</a:t>
            </a:r>
            <a:endParaRPr lang="en-US" sz="1000" dirty="0"/>
          </a:p>
        </p:txBody>
      </p:sp>
      <p:sp>
        <p:nvSpPr>
          <p:cNvPr id="11" name="Text 9"/>
          <p:cNvSpPr/>
          <p:nvPr/>
        </p:nvSpPr>
        <p:spPr>
          <a:xfrm>
            <a:off x="5623560" y="1490472"/>
            <a:ext cx="31089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3×3：8個鄰居</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最常用，計算快</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適合嵌入式即時處理</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5×5：24個鄰居</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更大的平滑/模糊效果</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邊緣也更模糊</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7×7以上</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適合強雜訊場景</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計算量上升 O(k²)</a:t>
            </a: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嵌入式需謹慎使用</a:t>
            </a:r>
            <a:endParaRPr lang="en-US" sz="1100" dirty="0"/>
          </a:p>
        </p:txBody>
      </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name="Slide 6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err="1">
                <a:solidFill>
                  <a:srgbClr val="1E3A5F"/>
                </a:solidFill>
                <a:latin typeface="Calibri" pitchFamily="34" charset="0"/>
                <a:ea typeface="Calibri" pitchFamily="34" charset="-122"/>
                <a:cs typeface="Calibri" pitchFamily="34" charset="-120"/>
              </a:rPr>
              <a:t>鄰域矩陣的視覺說明</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目標像素（Center Pixel）：
</a:t>
            </a:r>
            <a:r>
              <a:rPr lang="en-US" sz="1300" dirty="0">
                <a:solidFill>
                  <a:srgbClr val="1A1A1A"/>
                </a:solidFill>
                <a:latin typeface="Calibri" pitchFamily="34" charset="0"/>
                <a:ea typeface="Calibri" pitchFamily="34" charset="-122"/>
                <a:cs typeface="Calibri" pitchFamily="34" charset="-120"/>
              </a:rPr>
              <a:t>  位於鄰域的正中央，其新值將由整個鄰域計算決定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3×3 鄰域示例（以像素 P 為中心）：
</a:t>
            </a:r>
          </a:p>
          <a:p>
            <a:pPr marL="0" indent="0">
              <a:buNone/>
            </a:pPr>
            <a:r>
              <a:rPr lang="en-US" sz="1300" dirty="0">
                <a:solidFill>
                  <a:srgbClr val="1A1A1A"/>
                </a:solidFill>
                <a:latin typeface="Calibri" pitchFamily="34" charset="0"/>
                <a:ea typeface="Calibri" pitchFamily="34" charset="-122"/>
                <a:cs typeface="Calibri" pitchFamily="34" charset="-120"/>
              </a:rPr>
              <a:t>
</a:t>
            </a:r>
            <a:r>
              <a:rPr lang="en-US" sz="400" dirty="0">
                <a:solidFill>
                  <a:srgbClr val="000000"/>
                </a:solidFill>
                <a:latin typeface="Calibri" pitchFamily="34" charset="0"/>
                <a:ea typeface="Calibri" pitchFamily="34" charset="-122"/>
                <a:cs typeface="Calibri" pitchFamily="34" charset="-120"/>
              </a:rPr>
              <a:t>
</a:t>
            </a:r>
          </a:p>
          <a:p>
            <a:pPr marL="0" indent="0">
              <a:buNone/>
            </a:pP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5×5 鄰域：
</a:t>
            </a:r>
            <a:r>
              <a:rPr lang="en-US" sz="1300" dirty="0">
                <a:solidFill>
                  <a:srgbClr val="1A1A1A"/>
                </a:solidFill>
                <a:latin typeface="Calibri" pitchFamily="34" charset="0"/>
                <a:ea typeface="Calibri" pitchFamily="34" charset="-122"/>
                <a:cs typeface="Calibri" pitchFamily="34" charset="-120"/>
              </a:rPr>
              <a:t>  涵蓋 5 行 × 5 列 = 25 個像素（中心 + 周圍 24 個）
  提供更大的「參考範圍」，平滑效果更強，但計算量 25/9 ≈ 2.8 倍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關鍵問題：
</a:t>
            </a:r>
            <a:r>
              <a:rPr lang="en-US" sz="1300" dirty="0">
                <a:solidFill>
                  <a:srgbClr val="1A1A1A"/>
                </a:solidFill>
                <a:latin typeface="Calibri" pitchFamily="34" charset="0"/>
                <a:ea typeface="Calibri" pitchFamily="34" charset="-122"/>
                <a:cs typeface="Calibri" pitchFamily="34" charset="-120"/>
              </a:rPr>
              <a:t>  鄰域中每個像素的貢獻應該一樣嗎？還是距離中心越近應該越重要？
</a:t>
            </a:r>
            <a:r>
              <a:rPr lang="en-US" sz="1300" b="1" dirty="0">
                <a:solidFill>
                  <a:srgbClr val="C45C00"/>
                </a:solidFill>
                <a:latin typeface="Calibri" pitchFamily="34" charset="0"/>
                <a:ea typeface="Calibri" pitchFamily="34" charset="-122"/>
                <a:cs typeface="Calibri" pitchFamily="34" charset="-120"/>
              </a:rPr>
              <a:t>  → 這個問題的答案，催生了不同的濾波器設計！（Mean vs Gaussian）</a:t>
            </a:r>
            <a:endParaRPr lang="en-US" sz="1400" dirty="0"/>
          </a:p>
        </p:txBody>
      </p:sp>
      <p:pic>
        <p:nvPicPr>
          <p:cNvPr id="9" name="圖片 8">
            <a:extLst>
              <a:ext uri="{FF2B5EF4-FFF2-40B4-BE49-F238E27FC236}">
                <a16:creationId xmlns:a16="http://schemas.microsoft.com/office/drawing/2014/main" id="{EE30FC7E-CC63-6259-7580-178C4A09A7F3}"/>
              </a:ext>
            </a:extLst>
          </p:cNvPr>
          <p:cNvPicPr>
            <a:picLocks noChangeAspect="1"/>
          </p:cNvPicPr>
          <p:nvPr/>
        </p:nvPicPr>
        <p:blipFill>
          <a:blip r:embed="rId3"/>
          <a:stretch>
            <a:fillRect/>
          </a:stretch>
        </p:blipFill>
        <p:spPr>
          <a:xfrm>
            <a:off x="4370351" y="1115568"/>
            <a:ext cx="3624070" cy="1690088"/>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name="Slide 6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來源：03_pixels_and_filters.pdf p.26</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濾波器（Filter）概念的誕生</a:t>
            </a:r>
            <a:endParaRPr lang="en-US" sz="2000" dirty="0"/>
          </a:p>
        </p:txBody>
      </p:sp>
      <p:sp>
        <p:nvSpPr>
          <p:cNvPr id="7" name="Text 5"/>
          <p:cNvSpPr/>
          <p:nvPr/>
        </p:nvSpPr>
        <p:spPr>
          <a:xfrm>
            <a:off x="320040" y="1115568"/>
            <a:ext cx="4160520" cy="3520440"/>
          </a:xfrm>
          <a:prstGeom prst="rect">
            <a:avLst/>
          </a:prstGeom>
          <a:noFill/>
          <a:ln/>
        </p:spPr>
        <p:txBody>
          <a:bodyPr wrap="square" rtlCol="0" anchor="t"/>
          <a:lstStyle/>
          <a:p>
            <a:pPr marL="0" indent="0">
              <a:buNone/>
            </a:pPr>
            <a:r>
              <a:rPr lang="en-US" sz="1300" b="1" dirty="0">
                <a:solidFill>
                  <a:srgbClr val="C45C00"/>
                </a:solidFill>
                <a:latin typeface="Calibri" pitchFamily="34" charset="0"/>
                <a:ea typeface="Calibri" pitchFamily="34" charset="-122"/>
                <a:cs typeface="Calibri" pitchFamily="34" charset="-120"/>
              </a:rPr>
              <a:t>直覺描述：
</a:t>
            </a:r>
            <a:r>
              <a:rPr lang="en-US" sz="1200" dirty="0">
                <a:solidFill>
                  <a:srgbClr val="1A1A1A"/>
                </a:solidFill>
                <a:latin typeface="Calibri" pitchFamily="34" charset="0"/>
                <a:ea typeface="Calibri" pitchFamily="34" charset="-122"/>
                <a:cs typeface="Calibri" pitchFamily="34" charset="-120"/>
              </a:rPr>
              <a:t>把一個小遮罩（如 3×3 矩陣）在整張影像上逐一滑過，每個位置計算一個新值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學術名稱：
</a:t>
            </a:r>
            <a:r>
              <a:rPr lang="en-US" sz="1200" dirty="0">
                <a:solidFill>
                  <a:srgbClr val="1A1A1A"/>
                </a:solidFill>
                <a:latin typeface="Calibri" pitchFamily="34" charset="0"/>
                <a:ea typeface="Calibri" pitchFamily="34" charset="-122"/>
                <a:cs typeface="Calibri" pitchFamily="34" charset="-120"/>
              </a:rPr>
              <a:t>這個操作在數學上就是「卷積（Convolution）」，是訊號處理的核心運算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Kernel（核）：
</a:t>
            </a:r>
            <a:r>
              <a:rPr lang="en-US" sz="1200" dirty="0">
                <a:solidFill>
                  <a:srgbClr val="1A1A1A"/>
                </a:solidFill>
                <a:latin typeface="Calibri" pitchFamily="34" charset="0"/>
                <a:ea typeface="Calibri" pitchFamily="34" charset="-122"/>
                <a:cs typeface="Calibri" pitchFamily="34" charset="-120"/>
              </a:rPr>
              <a:t>滑動的小矩陣，裡面的數值決定了運算結果的性質（平滑/銳化/邊緣）
</a:t>
            </a:r>
            <a:r>
              <a:rPr lang="en-US" sz="3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C45C00"/>
                </a:solidFill>
                <a:latin typeface="Calibri" pitchFamily="34" charset="0"/>
                <a:ea typeface="Calibri" pitchFamily="34" charset="-122"/>
                <a:cs typeface="Calibri" pitchFamily="34" charset="-120"/>
              </a:rPr>
              <a:t>Stride（步幅）：
</a:t>
            </a:r>
            <a:r>
              <a:rPr lang="en-US" sz="1200" dirty="0">
                <a:solidFill>
                  <a:srgbClr val="1A1A1A"/>
                </a:solidFill>
                <a:latin typeface="Calibri" pitchFamily="34" charset="0"/>
                <a:ea typeface="Calibri" pitchFamily="34" charset="-122"/>
                <a:cs typeface="Calibri" pitchFamily="34" charset="-120"/>
              </a:rPr>
              <a:t>遮罩每次移動幾格，通常 stride=1（逐像素滑動）
</a:t>
            </a:r>
            <a:endParaRPr lang="en-US" sz="1300" dirty="0"/>
          </a:p>
        </p:txBody>
      </p:sp>
      <p:sp>
        <p:nvSpPr>
          <p:cNvPr id="8" name="Shape 6"/>
          <p:cNvSpPr/>
          <p:nvPr/>
        </p:nvSpPr>
        <p:spPr>
          <a:xfrm>
            <a:off x="4663440" y="1115568"/>
            <a:ext cx="4160520" cy="3520440"/>
          </a:xfrm>
          <a:prstGeom prst="rect">
            <a:avLst/>
          </a:prstGeom>
          <a:solidFill>
            <a:srgbClr val="F5E6D3"/>
          </a:solidFill>
          <a:ln w="10160">
            <a:solidFill>
              <a:srgbClr val="D1C9BC"/>
            </a:solidFill>
            <a:prstDash val="solid"/>
          </a:ln>
        </p:spPr>
        <p:txBody>
          <a:bodyPr/>
          <a:lstStyle/>
          <a:p>
            <a:endParaRPr lang="zh-TW" altLang="en-US"/>
          </a:p>
        </p:txBody>
      </p:sp>
      <p:sp>
        <p:nvSpPr>
          <p:cNvPr id="9" name="Shape 7"/>
          <p:cNvSpPr/>
          <p:nvPr/>
        </p:nvSpPr>
        <p:spPr>
          <a:xfrm>
            <a:off x="4663440" y="1115568"/>
            <a:ext cx="4160520" cy="329184"/>
          </a:xfrm>
          <a:prstGeom prst="rect">
            <a:avLst/>
          </a:prstGeom>
          <a:solidFill>
            <a:srgbClr val="C45C00"/>
          </a:solidFill>
          <a:ln w="12700">
            <a:solidFill>
              <a:srgbClr val="C45C00"/>
            </a:solidFill>
            <a:prstDash val="solid"/>
          </a:ln>
        </p:spPr>
        <p:txBody>
          <a:bodyPr/>
          <a:lstStyle/>
          <a:p>
            <a:endParaRPr lang="zh-TW" altLang="en-US"/>
          </a:p>
        </p:txBody>
      </p:sp>
      <p:sp>
        <p:nvSpPr>
          <p:cNvPr id="10" name="Text 8"/>
          <p:cNvSpPr/>
          <p:nvPr/>
        </p:nvSpPr>
        <p:spPr>
          <a:xfrm>
            <a:off x="4709160" y="1115568"/>
            <a:ext cx="4069080" cy="329184"/>
          </a:xfrm>
          <a:prstGeom prst="rect">
            <a:avLst/>
          </a:prstGeom>
          <a:noFill/>
          <a:ln/>
        </p:spPr>
        <p:txBody>
          <a:bodyPr wrap="square" lIns="0" tIns="0" rIns="0" bIns="0" rtlCol="0" anchor="ctr"/>
          <a:lstStyle/>
          <a:p>
            <a:pPr marL="0" indent="0" algn="ctr">
              <a:buNone/>
            </a:pPr>
            <a:r>
              <a:rPr lang="en-US" sz="1050" b="1" dirty="0">
                <a:solidFill>
                  <a:srgbClr val="FFFFFF"/>
                </a:solidFill>
                <a:latin typeface="Calibri" pitchFamily="34" charset="0"/>
                <a:ea typeface="Calibri" pitchFamily="34" charset="-122"/>
                <a:cs typeface="Calibri" pitchFamily="34" charset="-120"/>
              </a:rPr>
              <a:t>濾波器的效果取決於 Kernel 內容</a:t>
            </a:r>
            <a:endParaRPr lang="en-US" sz="1050" dirty="0"/>
          </a:p>
        </p:txBody>
      </p:sp>
      <p:sp>
        <p:nvSpPr>
          <p:cNvPr id="11" name="Text 9"/>
          <p:cNvSpPr/>
          <p:nvPr/>
        </p:nvSpPr>
        <p:spPr>
          <a:xfrm>
            <a:off x="4709160" y="1490472"/>
            <a:ext cx="4023360" cy="3063240"/>
          </a:xfrm>
          <a:prstGeom prst="rect">
            <a:avLst/>
          </a:prstGeom>
          <a:noFill/>
          <a:ln/>
        </p:spPr>
        <p:txBody>
          <a:bodyPr wrap="square" rtlCol="0" anchor="t"/>
          <a:lstStyle/>
          <a:p>
            <a:pPr marL="0" indent="0" algn="l">
              <a:buNone/>
            </a:pPr>
            <a:r>
              <a:rPr lang="en-US" sz="1100" dirty="0">
                <a:solidFill>
                  <a:srgbClr val="1A1A1A"/>
                </a:solidFill>
                <a:latin typeface="Calibri" pitchFamily="34" charset="0"/>
                <a:ea typeface="Calibri" pitchFamily="34" charset="-122"/>
                <a:cs typeface="Calibri" pitchFamily="34" charset="-120"/>
              </a:rPr>
              <a:t>全部為 1/9 → 均值平滑</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中心大四周小 → 高斯平滑</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中心正四周負 → 銳化邊緣</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中心 1 其他 0 → 不做任何事（Identity）</a:t>
            </a:r>
            <a:endParaRPr lang="en-US" sz="1100" dirty="0"/>
          </a:p>
          <a:p>
            <a:pPr marL="0" indent="0" algn="l">
              <a:buNone/>
            </a:pPr>
            <a:endParaRPr lang="en-US" sz="1100" dirty="0"/>
          </a:p>
          <a:p>
            <a:pPr marL="0" indent="0" algn="l">
              <a:buNone/>
            </a:pPr>
            <a:r>
              <a:rPr lang="en-US" sz="1100" dirty="0">
                <a:solidFill>
                  <a:srgbClr val="1A1A1A"/>
                </a:solidFill>
                <a:latin typeface="Calibri" pitchFamily="34" charset="0"/>
                <a:ea typeface="Calibri" pitchFamily="34" charset="-122"/>
                <a:cs typeface="Calibri" pitchFamily="34" charset="-120"/>
              </a:rPr>
              <a:t>→ 卷積是一個通用的框架！</a:t>
            </a:r>
            <a:endParaRPr lang="en-US" sz="1100" dirty="0"/>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name="Slide 6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第一個濾波器：移動平均（Mean Filter）</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h_mean  =  (1/9) ×  [ 1 1 1 ; 1 1 1 ; 1 1 1 ]</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每個鄰居的權重都相同（1/9），新像素值 = 自己與周圍 8 個鄰居的算術平均值</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效果：</a:t>
            </a:r>
            <a:r>
              <a:rPr lang="en-US" sz="1250" dirty="0">
                <a:solidFill>
                  <a:srgbClr val="1A1A1A"/>
                </a:solidFill>
                <a:latin typeface="Calibri" pitchFamily="34" charset="0"/>
                <a:ea typeface="Calibri" pitchFamily="34" charset="-122"/>
                <a:cs typeface="Calibri" pitchFamily="34" charset="-120"/>
              </a:rPr>
              <a:t>影像變模糊（Blur）：高頻細節（邊緣、雜訊）被稀釋平均掉</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優點：</a:t>
            </a:r>
            <a:r>
              <a:rPr lang="en-US" sz="1250" dirty="0">
                <a:solidFill>
                  <a:srgbClr val="1A1A1A"/>
                </a:solidFill>
                <a:latin typeface="Calibri" pitchFamily="34" charset="0"/>
                <a:ea typeface="Calibri" pitchFamily="34" charset="-122"/>
                <a:cs typeface="Calibri" pitchFamily="34" charset="-120"/>
              </a:rPr>
              <a:t>最簡單，計算最快（實作上可用累加窗口避免重複計算）</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缺點：</a:t>
            </a:r>
            <a:r>
              <a:rPr lang="en-US" sz="1250" dirty="0">
                <a:solidFill>
                  <a:srgbClr val="1A1A1A"/>
                </a:solidFill>
                <a:latin typeface="Calibri" pitchFamily="34" charset="0"/>
                <a:ea typeface="Calibri" pitchFamily="34" charset="-122"/>
                <a:cs typeface="Calibri" pitchFamily="34" charset="-120"/>
              </a:rPr>
              <a:t>每個鄰居「票數相同」，遠近一樣，導致「方塊感」瑕疵</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OpenCV：</a:t>
            </a:r>
            <a:r>
              <a:rPr lang="en-US" sz="1250" dirty="0">
                <a:solidFill>
                  <a:srgbClr val="1A1A1A"/>
                </a:solidFill>
                <a:latin typeface="Calibri" pitchFamily="34" charset="0"/>
                <a:ea typeface="Calibri" pitchFamily="34" charset="-122"/>
                <a:cs typeface="Calibri" pitchFamily="34" charset="-120"/>
              </a:rPr>
              <a:t>cv2.blur(img, (3,3))  或  cv2.boxFilter(img, -1, (3,3))</a:t>
            </a:r>
            <a:endParaRPr lang="en-US" sz="1250" dirty="0"/>
          </a:p>
        </p:txBody>
      </p:sp>
      <p:pic>
        <p:nvPicPr>
          <p:cNvPr id="13" name="圖片 12">
            <a:extLst>
              <a:ext uri="{FF2B5EF4-FFF2-40B4-BE49-F238E27FC236}">
                <a16:creationId xmlns:a16="http://schemas.microsoft.com/office/drawing/2014/main" id="{FCC81900-6D8E-AB99-C93D-ABFFA3BD63D1}"/>
              </a:ext>
            </a:extLst>
          </p:cNvPr>
          <p:cNvPicPr>
            <a:picLocks noChangeAspect="1"/>
          </p:cNvPicPr>
          <p:nvPr/>
        </p:nvPicPr>
        <p:blipFill>
          <a:blip r:embed="rId3"/>
          <a:stretch>
            <a:fillRect/>
          </a:stretch>
        </p:blipFill>
        <p:spPr>
          <a:xfrm>
            <a:off x="6022453" y="2651760"/>
            <a:ext cx="2629035" cy="2222614"/>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name="Slide 7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移動平均濾波器的視覺效果</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示範影像：鬣蜥（Iguana）特寫，鱗片細節豐富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3×3 Mean Filter：
</a:t>
            </a:r>
            <a:r>
              <a:rPr lang="en-US" sz="1300" dirty="0">
                <a:solidFill>
                  <a:srgbClr val="1A1A1A"/>
                </a:solidFill>
                <a:latin typeface="Calibri" pitchFamily="34" charset="0"/>
                <a:ea typeface="Calibri" pitchFamily="34" charset="-122"/>
                <a:cs typeface="Calibri" pitchFamily="34" charset="-120"/>
              </a:rPr>
              <a:t>  鱗片紋理稍微模糊，整體仍清晰可辨，雜訊被稀釋
</a:t>
            </a:r>
            <a:r>
              <a:rPr lang="en-US" sz="1300" b="1" dirty="0">
                <a:solidFill>
                  <a:srgbClr val="C45C00"/>
                </a:solidFill>
                <a:latin typeface="Calibri" pitchFamily="34" charset="0"/>
                <a:ea typeface="Calibri" pitchFamily="34" charset="-122"/>
                <a:cs typeface="Calibri" pitchFamily="34" charset="-120"/>
              </a:rPr>
              <a:t>5×5 Mean Filter：
</a:t>
            </a:r>
            <a:r>
              <a:rPr lang="en-US" sz="1300" dirty="0">
                <a:solidFill>
                  <a:srgbClr val="1A1A1A"/>
                </a:solidFill>
                <a:latin typeface="Calibri" pitchFamily="34" charset="0"/>
                <a:ea typeface="Calibri" pitchFamily="34" charset="-122"/>
                <a:cs typeface="Calibri" pitchFamily="34" charset="-120"/>
              </a:rPr>
              <a:t>  鱗片紋理明顯模糊，眼睛周圍出現方塊感，邊緣不自然
</a:t>
            </a:r>
            <a:r>
              <a:rPr lang="en-US" sz="1300" b="1" dirty="0">
                <a:solidFill>
                  <a:srgbClr val="C45C00"/>
                </a:solidFill>
                <a:latin typeface="Calibri" pitchFamily="34" charset="0"/>
                <a:ea typeface="Calibri" pitchFamily="34" charset="-122"/>
                <a:cs typeface="Calibri" pitchFamily="34" charset="-120"/>
              </a:rPr>
              <a:t>11×11 Mean Filter：
</a:t>
            </a:r>
            <a:r>
              <a:rPr lang="en-US" sz="1300" dirty="0">
                <a:solidFill>
                  <a:srgbClr val="1A1A1A"/>
                </a:solidFill>
                <a:latin typeface="Calibri" pitchFamily="34" charset="0"/>
                <a:ea typeface="Calibri" pitchFamily="34" charset="-122"/>
                <a:cs typeface="Calibri" pitchFamily="34" charset="-120"/>
              </a:rPr>
              <a:t>  嚴重模糊，輪廓變成方形，完全喪失高頻紋理細節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問題觀察（方塊感的來源）：
</a:t>
            </a:r>
            <a:r>
              <a:rPr lang="en-US" sz="1300" dirty="0">
                <a:solidFill>
                  <a:srgbClr val="1A1A1A"/>
                </a:solidFill>
                <a:latin typeface="Calibri" pitchFamily="34" charset="0"/>
                <a:ea typeface="Calibri" pitchFamily="34" charset="-122"/>
                <a:cs typeface="Calibri" pitchFamily="34" charset="-120"/>
              </a:rPr>
              <a:t>  Mean Filter 對所有鄰居一視同仁，遠近同等重要
  → 鄰域邊緣的像素對結果有「非自然」的影響，形成方塊感
</a:t>
            </a:r>
            <a:r>
              <a:rPr lang="en-US" sz="1300" b="1" dirty="0">
                <a:solidFill>
                  <a:srgbClr val="C45C00"/>
                </a:solidFill>
                <a:latin typeface="Calibri" pitchFamily="34" charset="0"/>
                <a:ea typeface="Calibri" pitchFamily="34" charset="-122"/>
                <a:cs typeface="Calibri" pitchFamily="34" charset="-120"/>
              </a:rPr>
              <a:t>  → 需要更符合物理直覺的權重分配方式：高斯濾波器！（§6）</a:t>
            </a:r>
            <a:endParaRPr lang="en-US" sz="1400" dirty="0"/>
          </a:p>
        </p:txBody>
      </p:sp>
      <p:pic>
        <p:nvPicPr>
          <p:cNvPr id="9" name="圖片 8">
            <a:extLst>
              <a:ext uri="{FF2B5EF4-FFF2-40B4-BE49-F238E27FC236}">
                <a16:creationId xmlns:a16="http://schemas.microsoft.com/office/drawing/2014/main" id="{66E0B0B3-75F9-DC95-2E93-B57F9285BC63}"/>
              </a:ext>
            </a:extLst>
          </p:cNvPr>
          <p:cNvPicPr>
            <a:picLocks noChangeAspect="1"/>
          </p:cNvPicPr>
          <p:nvPr/>
        </p:nvPicPr>
        <p:blipFill>
          <a:blip r:embed="rId3"/>
          <a:srcRect t="-428" r="54507" b="428"/>
          <a:stretch>
            <a:fillRect/>
          </a:stretch>
        </p:blipFill>
        <p:spPr>
          <a:xfrm>
            <a:off x="5865222" y="524597"/>
            <a:ext cx="2550758" cy="2197418"/>
          </a:xfrm>
          <a:prstGeom prst="rect">
            <a:avLst/>
          </a:prstGeom>
        </p:spPr>
      </p:pic>
      <p:pic>
        <p:nvPicPr>
          <p:cNvPr id="10" name="圖片 9">
            <a:extLst>
              <a:ext uri="{FF2B5EF4-FFF2-40B4-BE49-F238E27FC236}">
                <a16:creationId xmlns:a16="http://schemas.microsoft.com/office/drawing/2014/main" id="{30D91562-CBE4-0570-C3A8-C23E367128F1}"/>
              </a:ext>
            </a:extLst>
          </p:cNvPr>
          <p:cNvPicPr>
            <a:picLocks noChangeAspect="1"/>
          </p:cNvPicPr>
          <p:nvPr/>
        </p:nvPicPr>
        <p:blipFill>
          <a:blip r:embed="rId3"/>
          <a:srcRect l="47609"/>
          <a:stretch>
            <a:fillRect/>
          </a:stretch>
        </p:blipFill>
        <p:spPr>
          <a:xfrm>
            <a:off x="5664925" y="2822599"/>
            <a:ext cx="2803099" cy="2096873"/>
          </a:xfrm>
          <a:prstGeom prst="rect">
            <a:avLst/>
          </a:prstGeom>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name="Slide 7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zh-TW" altLang="en-US" sz="2000" b="1" dirty="0">
                <a:solidFill>
                  <a:srgbClr val="1E3A5F"/>
                </a:solidFill>
                <a:latin typeface="Calibri" pitchFamily="34" charset="0"/>
                <a:ea typeface="Calibri" pitchFamily="34" charset="-122"/>
                <a:cs typeface="Calibri" pitchFamily="34" charset="-120"/>
              </a:rPr>
              <a:t>連續函數</a:t>
            </a:r>
            <a:r>
              <a:rPr lang="en-US" sz="2000" b="1" dirty="0" err="1">
                <a:solidFill>
                  <a:srgbClr val="1E3A5F"/>
                </a:solidFill>
                <a:latin typeface="Calibri" pitchFamily="34" charset="0"/>
                <a:ea typeface="Calibri" pitchFamily="34" charset="-122"/>
                <a:cs typeface="Calibri" pitchFamily="34" charset="-120"/>
              </a:rPr>
              <a:t>卷積（Convolution）的正式數學定義</a:t>
            </a:r>
            <a:endParaRPr lang="en-US" sz="2000" dirty="0"/>
          </a:p>
        </p:txBody>
      </p:sp>
      <p:sp>
        <p:nvSpPr>
          <p:cNvPr id="7" name="Shape 5"/>
          <p:cNvSpPr/>
          <p:nvPr/>
        </p:nvSpPr>
        <p:spPr>
          <a:xfrm>
            <a:off x="320040" y="1115568"/>
            <a:ext cx="8503920" cy="3598164"/>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3364992"/>
          </a:xfrm>
          <a:prstGeom prst="rect">
            <a:avLst/>
          </a:prstGeom>
          <a:noFill/>
          <a:ln/>
        </p:spPr>
        <p:txBody>
          <a:bodyPr wrap="square" lIns="0" tIns="0" rIns="0" bIns="0" rtlCol="0" anchor="ctr"/>
          <a:lstStyle/>
          <a:p>
            <a:pPr marL="0" indent="0" algn="ctr">
              <a:buNone/>
            </a:pPr>
            <a:endParaRPr lang="en-US" sz="1800" dirty="0"/>
          </a:p>
        </p:txBody>
      </p:sp>
      <p:pic>
        <p:nvPicPr>
          <p:cNvPr id="12" name="Picture 15">
            <a:extLst>
              <a:ext uri="{FF2B5EF4-FFF2-40B4-BE49-F238E27FC236}">
                <a16:creationId xmlns:a16="http://schemas.microsoft.com/office/drawing/2014/main" id="{D4C45C83-1F0C-4E9C-44A3-8AE8D5A8B4C7}"/>
              </a:ext>
            </a:extLst>
          </p:cNvPr>
          <p:cNvPicPr>
            <a:picLocks noChangeAspect="1" noChangeArrowheads="1"/>
          </p:cNvPicPr>
          <p:nvPr/>
        </p:nvPicPr>
        <p:blipFill>
          <a:blip r:embed="rId3" cstate="print"/>
          <a:stretch>
            <a:fillRect/>
          </a:stretch>
        </p:blipFill>
        <p:spPr bwMode="auto">
          <a:xfrm>
            <a:off x="1929497" y="1839576"/>
            <a:ext cx="5467885" cy="2188356"/>
          </a:xfrm>
          <a:prstGeom prst="rect">
            <a:avLst/>
          </a:prstGeom>
          <a:noFill/>
          <a:ln w="9525">
            <a:noFill/>
            <a:miter lim="800000"/>
            <a:headEnd/>
            <a:tailEnd/>
          </a:ln>
        </p:spPr>
      </p:pic>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63ADB5-97F4-F3B2-7014-109C3F0DFE07}"/>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C348A862-354D-5349-18E0-E491A13B49F3}"/>
              </a:ext>
            </a:extLst>
          </p:cNvPr>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a:extLst>
              <a:ext uri="{FF2B5EF4-FFF2-40B4-BE49-F238E27FC236}">
                <a16:creationId xmlns:a16="http://schemas.microsoft.com/office/drawing/2014/main" id="{1A886EAB-B965-EFC2-A2FE-759924B2697D}"/>
              </a:ext>
            </a:extLst>
          </p:cNvPr>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a:extLst>
              <a:ext uri="{FF2B5EF4-FFF2-40B4-BE49-F238E27FC236}">
                <a16:creationId xmlns:a16="http://schemas.microsoft.com/office/drawing/2014/main" id="{A9AFB355-E03E-8E00-C81A-FA38CA6BCEAC}"/>
              </a:ext>
            </a:extLst>
          </p:cNvPr>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a:extLst>
              <a:ext uri="{FF2B5EF4-FFF2-40B4-BE49-F238E27FC236}">
                <a16:creationId xmlns:a16="http://schemas.microsoft.com/office/drawing/2014/main" id="{77F547D1-B1D6-356A-63E8-62E192E05AE1}"/>
              </a:ext>
            </a:extLst>
          </p:cNvPr>
          <p:cNvSpPr/>
          <p:nvPr/>
        </p:nvSpPr>
        <p:spPr>
          <a:xfrm>
            <a:off x="320040" y="475488"/>
            <a:ext cx="8503920" cy="566928"/>
          </a:xfrm>
          <a:prstGeom prst="rect">
            <a:avLst/>
          </a:prstGeom>
          <a:noFill/>
          <a:ln/>
        </p:spPr>
        <p:txBody>
          <a:bodyPr wrap="square" rtlCol="0" anchor="ctr"/>
          <a:lstStyle/>
          <a:p>
            <a:pPr marL="0" indent="0" algn="l">
              <a:buNone/>
            </a:pPr>
            <a:r>
              <a:rPr lang="zh-TW" altLang="en-US" sz="2000" b="1" dirty="0">
                <a:solidFill>
                  <a:srgbClr val="1E3A5F"/>
                </a:solidFill>
                <a:latin typeface="Calibri" pitchFamily="34" charset="0"/>
                <a:ea typeface="Calibri" pitchFamily="34" charset="-122"/>
                <a:cs typeface="Calibri" pitchFamily="34" charset="-120"/>
              </a:rPr>
              <a:t>離散函數</a:t>
            </a:r>
            <a:r>
              <a:rPr lang="en-US" sz="2000" b="1" dirty="0" err="1">
                <a:solidFill>
                  <a:srgbClr val="1E3A5F"/>
                </a:solidFill>
                <a:latin typeface="Calibri" pitchFamily="34" charset="0"/>
                <a:ea typeface="Calibri" pitchFamily="34" charset="-122"/>
                <a:cs typeface="Calibri" pitchFamily="34" charset="-120"/>
              </a:rPr>
              <a:t>卷積（Convolution）的正式數學定義</a:t>
            </a:r>
            <a:endParaRPr lang="en-US" sz="2000" dirty="0"/>
          </a:p>
        </p:txBody>
      </p:sp>
      <p:sp>
        <p:nvSpPr>
          <p:cNvPr id="7" name="Shape 5">
            <a:extLst>
              <a:ext uri="{FF2B5EF4-FFF2-40B4-BE49-F238E27FC236}">
                <a16:creationId xmlns:a16="http://schemas.microsoft.com/office/drawing/2014/main" id="{CCDE3C28-0AC3-D110-5F15-AFBA02B782B1}"/>
              </a:ext>
            </a:extLst>
          </p:cNvPr>
          <p:cNvSpPr/>
          <p:nvPr/>
        </p:nvSpPr>
        <p:spPr>
          <a:xfrm>
            <a:off x="320040" y="1115568"/>
            <a:ext cx="8503920" cy="3598164"/>
          </a:xfrm>
          <a:prstGeom prst="rect">
            <a:avLst/>
          </a:prstGeom>
          <a:solidFill>
            <a:srgbClr val="1E3A5F"/>
          </a:solidFill>
          <a:ln w="12700">
            <a:solidFill>
              <a:srgbClr val="1E3A5F"/>
            </a:solidFill>
            <a:prstDash val="solid"/>
          </a:ln>
        </p:spPr>
        <p:txBody>
          <a:bodyPr/>
          <a:lstStyle/>
          <a:p>
            <a:endParaRPr lang="zh-TW" altLang="en-US"/>
          </a:p>
        </p:txBody>
      </p:sp>
      <p:sp>
        <p:nvSpPr>
          <p:cNvPr id="8" name="Shape 6">
            <a:extLst>
              <a:ext uri="{FF2B5EF4-FFF2-40B4-BE49-F238E27FC236}">
                <a16:creationId xmlns:a16="http://schemas.microsoft.com/office/drawing/2014/main" id="{3D1E21BA-AFEE-FDA4-24C7-6CB2CDD760A2}"/>
              </a:ext>
            </a:extLst>
          </p:cNvPr>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a:extLst>
              <a:ext uri="{FF2B5EF4-FFF2-40B4-BE49-F238E27FC236}">
                <a16:creationId xmlns:a16="http://schemas.microsoft.com/office/drawing/2014/main" id="{886951DC-510E-2DA1-2A08-32E33E01B619}"/>
              </a:ext>
            </a:extLst>
          </p:cNvPr>
          <p:cNvSpPr/>
          <p:nvPr/>
        </p:nvSpPr>
        <p:spPr>
          <a:xfrm>
            <a:off x="548640" y="1115568"/>
            <a:ext cx="8229600" cy="3364992"/>
          </a:xfrm>
          <a:prstGeom prst="rect">
            <a:avLst/>
          </a:prstGeom>
          <a:noFill/>
          <a:ln/>
        </p:spPr>
        <p:txBody>
          <a:bodyPr wrap="square" lIns="0" tIns="0" rIns="0" bIns="0" rtlCol="0" anchor="ctr"/>
          <a:lstStyle/>
          <a:p>
            <a:pPr marL="0" indent="0" algn="ctr">
              <a:buNone/>
            </a:pPr>
            <a:endParaRPr lang="en-US" sz="1800" dirty="0"/>
          </a:p>
        </p:txBody>
      </p:sp>
      <p:pic>
        <p:nvPicPr>
          <p:cNvPr id="5" name="Picture 2">
            <a:extLst>
              <a:ext uri="{FF2B5EF4-FFF2-40B4-BE49-F238E27FC236}">
                <a16:creationId xmlns:a16="http://schemas.microsoft.com/office/drawing/2014/main" id="{5BEF9076-B6FF-D7B8-2155-51C6CBD63762}"/>
              </a:ext>
            </a:extLst>
          </p:cNvPr>
          <p:cNvPicPr>
            <a:picLocks noChangeAspect="1" noChangeArrowheads="1"/>
          </p:cNvPicPr>
          <p:nvPr/>
        </p:nvPicPr>
        <p:blipFill>
          <a:blip r:embed="rId3" cstate="print"/>
          <a:stretch>
            <a:fillRect/>
          </a:stretch>
        </p:blipFill>
        <p:spPr bwMode="auto">
          <a:xfrm>
            <a:off x="1678033" y="1595628"/>
            <a:ext cx="6490607" cy="2604830"/>
          </a:xfrm>
          <a:prstGeom prst="rect">
            <a:avLst/>
          </a:prstGeom>
          <a:noFill/>
          <a:ln w="9525">
            <a:noFill/>
            <a:miter lim="800000"/>
            <a:headEnd/>
            <a:tailEnd/>
          </a:ln>
        </p:spPr>
      </p:pic>
    </p:spTree>
    <p:extLst>
      <p:ext uri="{BB962C8B-B14F-4D97-AF65-F5344CB8AC3E}">
        <p14:creationId xmlns:p14="http://schemas.microsoft.com/office/powerpoint/2010/main" val="397907013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33F6F9-BA0B-6079-48CF-910F104944C1}"/>
            </a:ext>
          </a:extLst>
        </p:cNvPr>
        <p:cNvGrpSpPr/>
        <p:nvPr/>
      </p:nvGrpSpPr>
      <p:grpSpPr>
        <a:xfrm>
          <a:off x="0" y="0"/>
          <a:ext cx="0" cy="0"/>
          <a:chOff x="0" y="0"/>
          <a:chExt cx="0" cy="0"/>
        </a:xfrm>
      </p:grpSpPr>
      <p:sp>
        <p:nvSpPr>
          <p:cNvPr id="2" name="Shape 0">
            <a:extLst>
              <a:ext uri="{FF2B5EF4-FFF2-40B4-BE49-F238E27FC236}">
                <a16:creationId xmlns:a16="http://schemas.microsoft.com/office/drawing/2014/main" id="{B264373B-02B5-B017-D1EC-95F0BDF11970}"/>
              </a:ext>
            </a:extLst>
          </p:cNvPr>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a:extLst>
              <a:ext uri="{FF2B5EF4-FFF2-40B4-BE49-F238E27FC236}">
                <a16:creationId xmlns:a16="http://schemas.microsoft.com/office/drawing/2014/main" id="{1B699083-4FAF-B55D-B62E-581564A09E27}"/>
              </a:ext>
            </a:extLst>
          </p:cNvPr>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a:extLst>
              <a:ext uri="{FF2B5EF4-FFF2-40B4-BE49-F238E27FC236}">
                <a16:creationId xmlns:a16="http://schemas.microsoft.com/office/drawing/2014/main" id="{8D26FD67-94B4-53B9-8E32-8A60C77ADDA3}"/>
              </a:ext>
            </a:extLst>
          </p:cNvPr>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a:extLst>
              <a:ext uri="{FF2B5EF4-FFF2-40B4-BE49-F238E27FC236}">
                <a16:creationId xmlns:a16="http://schemas.microsoft.com/office/drawing/2014/main" id="{1EBFDEF7-F718-AD70-C9C9-5AF7C437B99C}"/>
              </a:ext>
            </a:extLst>
          </p:cNvPr>
          <p:cNvSpPr/>
          <p:nvPr/>
        </p:nvSpPr>
        <p:spPr>
          <a:xfrm>
            <a:off x="320040" y="475488"/>
            <a:ext cx="8503920" cy="566928"/>
          </a:xfrm>
          <a:prstGeom prst="rect">
            <a:avLst/>
          </a:prstGeom>
          <a:noFill/>
          <a:ln/>
        </p:spPr>
        <p:txBody>
          <a:bodyPr wrap="square" rtlCol="0" anchor="ctr"/>
          <a:lstStyle/>
          <a:p>
            <a:pPr marL="0" indent="0" algn="l">
              <a:buNone/>
            </a:pPr>
            <a:r>
              <a:rPr lang="en-US" altLang="zh-TW" sz="2000" b="1" dirty="0">
                <a:solidFill>
                  <a:srgbClr val="1E3A5F"/>
                </a:solidFill>
                <a:latin typeface="Calibri" pitchFamily="34" charset="0"/>
                <a:ea typeface="Calibri" pitchFamily="34" charset="-122"/>
                <a:cs typeface="Calibri" pitchFamily="34" charset="-120"/>
              </a:rPr>
              <a:t>2D</a:t>
            </a:r>
            <a:r>
              <a:rPr lang="en-US" sz="2000" b="1" dirty="0">
                <a:solidFill>
                  <a:srgbClr val="1E3A5F"/>
                </a:solidFill>
                <a:latin typeface="Calibri" pitchFamily="34" charset="0"/>
                <a:ea typeface="Calibri" pitchFamily="34" charset="-122"/>
                <a:cs typeface="Calibri" pitchFamily="34" charset="-120"/>
              </a:rPr>
              <a:t>卷積（Convolution）的正式數學定義</a:t>
            </a:r>
            <a:endParaRPr lang="en-US" sz="2000" dirty="0"/>
          </a:p>
        </p:txBody>
      </p:sp>
      <p:sp>
        <p:nvSpPr>
          <p:cNvPr id="7" name="Shape 5">
            <a:extLst>
              <a:ext uri="{FF2B5EF4-FFF2-40B4-BE49-F238E27FC236}">
                <a16:creationId xmlns:a16="http://schemas.microsoft.com/office/drawing/2014/main" id="{6E6C2447-5318-689C-7446-A3F59DC8E3AE}"/>
              </a:ext>
            </a:extLst>
          </p:cNvPr>
          <p:cNvSpPr/>
          <p:nvPr/>
        </p:nvSpPr>
        <p:spPr>
          <a:xfrm>
            <a:off x="320040" y="1115568"/>
            <a:ext cx="8503920" cy="3598164"/>
          </a:xfrm>
          <a:prstGeom prst="rect">
            <a:avLst/>
          </a:prstGeom>
          <a:solidFill>
            <a:srgbClr val="1E3A5F"/>
          </a:solidFill>
          <a:ln w="12700">
            <a:solidFill>
              <a:srgbClr val="1E3A5F"/>
            </a:solidFill>
            <a:prstDash val="solid"/>
          </a:ln>
        </p:spPr>
        <p:txBody>
          <a:bodyPr/>
          <a:lstStyle/>
          <a:p>
            <a:endParaRPr lang="zh-TW" altLang="en-US"/>
          </a:p>
        </p:txBody>
      </p:sp>
      <p:sp>
        <p:nvSpPr>
          <p:cNvPr id="8" name="Shape 6">
            <a:extLst>
              <a:ext uri="{FF2B5EF4-FFF2-40B4-BE49-F238E27FC236}">
                <a16:creationId xmlns:a16="http://schemas.microsoft.com/office/drawing/2014/main" id="{B6CE35AB-D731-D934-7018-05BF995E117B}"/>
              </a:ext>
            </a:extLst>
          </p:cNvPr>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a:extLst>
              <a:ext uri="{FF2B5EF4-FFF2-40B4-BE49-F238E27FC236}">
                <a16:creationId xmlns:a16="http://schemas.microsoft.com/office/drawing/2014/main" id="{D07A7A3C-EEE2-5449-898A-5AC92EDFC156}"/>
              </a:ext>
            </a:extLst>
          </p:cNvPr>
          <p:cNvSpPr/>
          <p:nvPr/>
        </p:nvSpPr>
        <p:spPr>
          <a:xfrm>
            <a:off x="548640" y="1115568"/>
            <a:ext cx="8229600" cy="3364992"/>
          </a:xfrm>
          <a:prstGeom prst="rect">
            <a:avLst/>
          </a:prstGeom>
          <a:noFill/>
          <a:ln/>
        </p:spPr>
        <p:txBody>
          <a:bodyPr wrap="square" lIns="0" tIns="0" rIns="0" bIns="0" rtlCol="0" anchor="ctr"/>
          <a:lstStyle/>
          <a:p>
            <a:pPr marL="0" indent="0" algn="ctr">
              <a:buNone/>
            </a:pPr>
            <a:endParaRPr lang="en-US" sz="1800" dirty="0"/>
          </a:p>
        </p:txBody>
      </p:sp>
      <p:pic>
        <p:nvPicPr>
          <p:cNvPr id="10" name="Picture 2">
            <a:extLst>
              <a:ext uri="{FF2B5EF4-FFF2-40B4-BE49-F238E27FC236}">
                <a16:creationId xmlns:a16="http://schemas.microsoft.com/office/drawing/2014/main" id="{1218EE75-DCF9-66BC-CFAA-134E88D8FEA8}"/>
              </a:ext>
            </a:extLst>
          </p:cNvPr>
          <p:cNvPicPr>
            <a:picLocks noChangeAspect="1" noChangeArrowheads="1"/>
          </p:cNvPicPr>
          <p:nvPr/>
        </p:nvPicPr>
        <p:blipFill>
          <a:blip r:embed="rId3" cstate="print"/>
          <a:stretch>
            <a:fillRect/>
          </a:stretch>
        </p:blipFill>
        <p:spPr bwMode="auto">
          <a:xfrm>
            <a:off x="1515586" y="1654462"/>
            <a:ext cx="6295708" cy="2679024"/>
          </a:xfrm>
          <a:prstGeom prst="rect">
            <a:avLst/>
          </a:prstGeom>
          <a:noFill/>
          <a:ln w="9525">
            <a:noFill/>
            <a:miter lim="800000"/>
            <a:headEnd/>
            <a:tailEnd/>
          </a:ln>
        </p:spPr>
      </p:pic>
    </p:spTree>
    <p:extLst>
      <p:ext uri="{BB962C8B-B14F-4D97-AF65-F5344CB8AC3E}">
        <p14:creationId xmlns:p14="http://schemas.microsoft.com/office/powerpoint/2010/main" val="285867392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name="Slide 7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2D 卷積的完整數學公式與計算範例</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2D 離散卷積公式：
</a:t>
            </a:r>
            <a:r>
              <a:rPr lang="en-US" sz="1300" dirty="0">
                <a:solidFill>
                  <a:srgbClr val="1A1A1A"/>
                </a:solidFill>
                <a:latin typeface="Calibri" pitchFamily="34" charset="0"/>
                <a:ea typeface="Calibri" pitchFamily="34" charset="-122"/>
                <a:cs typeface="Calibri" pitchFamily="34" charset="-120"/>
              </a:rPr>
              <a:t>  g(x,y) = Σ(s=-k..k) Σ(t=-k..k)  h(s,t) · f(x-s, y-t)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具體計算範例（3×3 核）：
</a:t>
            </a:r>
            <a:r>
              <a:rPr lang="en-US" sz="1300" dirty="0">
                <a:solidFill>
                  <a:srgbClr val="1A1A1A"/>
                </a:solidFill>
                <a:latin typeface="Calibri" pitchFamily="34" charset="0"/>
                <a:ea typeface="Calibri" pitchFamily="34" charset="-122"/>
                <a:cs typeface="Calibri" pitchFamily="34" charset="-120"/>
              </a:rPr>
              <a:t>  影像局部（3×3）：        核（Mean Filter）：
  [ 10  20  30 ]           [ 1/9  1/9  1/9 ]
  [ 40  50  60 ]      *    [ 1/9  1/9  1/9 ]
  [ 70  80  90 ]           [ 1/9  1/9  1/9 ]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  計算中心像素的輸出：
</a:t>
            </a:r>
            <a:r>
              <a:rPr lang="en-US" sz="1400" b="1" dirty="0">
                <a:solidFill>
                  <a:srgbClr val="C45C00"/>
                </a:solidFill>
                <a:latin typeface="Calibri" pitchFamily="34" charset="0"/>
                <a:ea typeface="Calibri" pitchFamily="34" charset="-122"/>
                <a:cs typeface="Calibri" pitchFamily="34" charset="-120"/>
              </a:rPr>
              <a:t>  g = (10+20+30+40+50+60+70+80+90) / 9 = 450/9 = 50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驗證：均值濾波器的輸出確實是鄰域的算術平均值！</a:t>
            </a:r>
            <a:endParaRPr lang="en-US" sz="14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1453"/>
        <p:cNvGrpSpPr/>
        <p:nvPr/>
      </p:nvGrpSpPr>
      <p:grpSpPr>
        <a:xfrm>
          <a:off x="0" y="0"/>
          <a:ext cx="0" cy="0"/>
          <a:chOff x="0" y="0"/>
          <a:chExt cx="0" cy="0"/>
        </a:xfrm>
      </p:grpSpPr>
      <p:sp>
        <p:nvSpPr>
          <p:cNvPr id="1454" name="Google Shape;1454;p66"/>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a:t>Mean filtering</a:t>
            </a:r>
            <a:endParaRPr/>
          </a:p>
        </p:txBody>
      </p:sp>
      <p:graphicFrame>
        <p:nvGraphicFramePr>
          <p:cNvPr id="1455" name="Google Shape;1455;p66"/>
          <p:cNvGraphicFramePr/>
          <p:nvPr/>
        </p:nvGraphicFramePr>
        <p:xfrm>
          <a:off x="495300" y="971550"/>
          <a:ext cx="3828500" cy="365730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gridCol w="382850">
                  <a:extLst>
                    <a:ext uri="{9D8B030D-6E8A-4147-A177-3AD203B41FA5}">
                      <a16:colId xmlns:a16="http://schemas.microsoft.com/office/drawing/2014/main" val="20008"/>
                    </a:ext>
                  </a:extLst>
                </a:gridCol>
                <a:gridCol w="382850">
                  <a:extLst>
                    <a:ext uri="{9D8B030D-6E8A-4147-A177-3AD203B41FA5}">
                      <a16:colId xmlns:a16="http://schemas.microsoft.com/office/drawing/2014/main" val="20009"/>
                    </a:ext>
                  </a:extLst>
                </a:gridCol>
              </a:tblGrid>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0"/>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1"/>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2"/>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3"/>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4"/>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5"/>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6"/>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7"/>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FFFFFF"/>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8"/>
                  </a:ext>
                </a:extLst>
              </a:tr>
              <a:tr h="365730">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a:t>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tc>
                  <a:txBody>
                    <a:bodyPr/>
                    <a:lstStyle/>
                    <a:p>
                      <a:pPr marL="0" lvl="0" indent="0" algn="ctr" rtl="0">
                        <a:spcBef>
                          <a:spcPts val="0"/>
                        </a:spcBef>
                        <a:spcAft>
                          <a:spcPts val="0"/>
                        </a:spcAft>
                        <a:buNone/>
                      </a:pPr>
                      <a:r>
                        <a:rPr lang="en" sz="1200" dirty="0"/>
                        <a:t>0</a:t>
                      </a:r>
                      <a:endParaRPr sz="1200" dirty="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solidFill>
                      <a:srgbClr val="999999"/>
                    </a:solidFill>
                  </a:tcPr>
                </a:tc>
                <a:extLst>
                  <a:ext uri="{0D108BD9-81ED-4DB2-BD59-A6C34878D82A}">
                    <a16:rowId xmlns:a16="http://schemas.microsoft.com/office/drawing/2014/main" val="10009"/>
                  </a:ext>
                </a:extLst>
              </a:tr>
            </a:tbl>
          </a:graphicData>
        </a:graphic>
      </p:graphicFrame>
      <p:grpSp>
        <p:nvGrpSpPr>
          <p:cNvPr id="1456" name="Google Shape;1456;p66"/>
          <p:cNvGrpSpPr/>
          <p:nvPr/>
        </p:nvGrpSpPr>
        <p:grpSpPr>
          <a:xfrm>
            <a:off x="881864" y="3523450"/>
            <a:ext cx="5103604" cy="1086300"/>
            <a:chOff x="2024863" y="3142450"/>
            <a:chExt cx="5103604" cy="1086300"/>
          </a:xfrm>
        </p:grpSpPr>
        <p:sp>
          <p:nvSpPr>
            <p:cNvPr id="1457" name="Google Shape;1457;p66"/>
            <p:cNvSpPr/>
            <p:nvPr/>
          </p:nvSpPr>
          <p:spPr>
            <a:xfrm>
              <a:off x="2024863" y="3142450"/>
              <a:ext cx="1140000" cy="1086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sz="1200"/>
            </a:p>
          </p:txBody>
        </p:sp>
        <p:sp>
          <p:nvSpPr>
            <p:cNvPr id="1458" name="Google Shape;1458;p66"/>
            <p:cNvSpPr/>
            <p:nvPr/>
          </p:nvSpPr>
          <p:spPr>
            <a:xfrm>
              <a:off x="6749267" y="3523450"/>
              <a:ext cx="379200" cy="3588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endParaRPr sz="1200"/>
            </a:p>
          </p:txBody>
        </p:sp>
      </p:grpSp>
      <p:sp>
        <p:nvSpPr>
          <p:cNvPr id="1459" name="Google Shape;1459;p66"/>
          <p:cNvSpPr txBox="1"/>
          <p:nvPr/>
        </p:nvSpPr>
        <p:spPr>
          <a:xfrm>
            <a:off x="2061900" y="4541750"/>
            <a:ext cx="1044000" cy="496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2400">
                <a:latin typeface="Cambria Math"/>
                <a:ea typeface="Cambria Math"/>
                <a:cs typeface="Cambria Math"/>
                <a:sym typeface="Cambria Math"/>
              </a:rPr>
              <a:t>F[x,y]</a:t>
            </a:r>
            <a:endParaRPr sz="2400">
              <a:latin typeface="Cambria Math"/>
              <a:ea typeface="Cambria Math"/>
              <a:cs typeface="Cambria Math"/>
              <a:sym typeface="Cambria Math"/>
            </a:endParaRPr>
          </a:p>
        </p:txBody>
      </p:sp>
      <p:sp>
        <p:nvSpPr>
          <p:cNvPr id="1460" name="Google Shape;1460;p66"/>
          <p:cNvSpPr txBox="1"/>
          <p:nvPr/>
        </p:nvSpPr>
        <p:spPr>
          <a:xfrm>
            <a:off x="6329100" y="4541750"/>
            <a:ext cx="1044000" cy="4962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sz="2400">
                <a:latin typeface="Cambria Math"/>
                <a:ea typeface="Cambria Math"/>
                <a:cs typeface="Cambria Math"/>
                <a:sym typeface="Cambria Math"/>
              </a:rPr>
              <a:t>G[x,y]</a:t>
            </a:r>
            <a:endParaRPr sz="2400">
              <a:latin typeface="Cambria Math"/>
              <a:ea typeface="Cambria Math"/>
              <a:cs typeface="Cambria Math"/>
              <a:sym typeface="Cambria Math"/>
            </a:endParaRPr>
          </a:p>
        </p:txBody>
      </p:sp>
      <p:graphicFrame>
        <p:nvGraphicFramePr>
          <p:cNvPr id="1461" name="Google Shape;1461;p66"/>
          <p:cNvGraphicFramePr/>
          <p:nvPr/>
        </p:nvGraphicFramePr>
        <p:xfrm>
          <a:off x="4838700" y="971550"/>
          <a:ext cx="3828500" cy="3657300"/>
        </p:xfrm>
        <a:graphic>
          <a:graphicData uri="http://schemas.openxmlformats.org/drawingml/2006/table">
            <a:tbl>
              <a:tblPr>
                <a:noFill/>
              </a:tblPr>
              <a:tblGrid>
                <a:gridCol w="382850">
                  <a:extLst>
                    <a:ext uri="{9D8B030D-6E8A-4147-A177-3AD203B41FA5}">
                      <a16:colId xmlns:a16="http://schemas.microsoft.com/office/drawing/2014/main" val="20000"/>
                    </a:ext>
                  </a:extLst>
                </a:gridCol>
                <a:gridCol w="382850">
                  <a:extLst>
                    <a:ext uri="{9D8B030D-6E8A-4147-A177-3AD203B41FA5}">
                      <a16:colId xmlns:a16="http://schemas.microsoft.com/office/drawing/2014/main" val="20001"/>
                    </a:ext>
                  </a:extLst>
                </a:gridCol>
                <a:gridCol w="382850">
                  <a:extLst>
                    <a:ext uri="{9D8B030D-6E8A-4147-A177-3AD203B41FA5}">
                      <a16:colId xmlns:a16="http://schemas.microsoft.com/office/drawing/2014/main" val="20002"/>
                    </a:ext>
                  </a:extLst>
                </a:gridCol>
                <a:gridCol w="382850">
                  <a:extLst>
                    <a:ext uri="{9D8B030D-6E8A-4147-A177-3AD203B41FA5}">
                      <a16:colId xmlns:a16="http://schemas.microsoft.com/office/drawing/2014/main" val="20003"/>
                    </a:ext>
                  </a:extLst>
                </a:gridCol>
                <a:gridCol w="382850">
                  <a:extLst>
                    <a:ext uri="{9D8B030D-6E8A-4147-A177-3AD203B41FA5}">
                      <a16:colId xmlns:a16="http://schemas.microsoft.com/office/drawing/2014/main" val="20004"/>
                    </a:ext>
                  </a:extLst>
                </a:gridCol>
                <a:gridCol w="382850">
                  <a:extLst>
                    <a:ext uri="{9D8B030D-6E8A-4147-A177-3AD203B41FA5}">
                      <a16:colId xmlns:a16="http://schemas.microsoft.com/office/drawing/2014/main" val="20005"/>
                    </a:ext>
                  </a:extLst>
                </a:gridCol>
                <a:gridCol w="382850">
                  <a:extLst>
                    <a:ext uri="{9D8B030D-6E8A-4147-A177-3AD203B41FA5}">
                      <a16:colId xmlns:a16="http://schemas.microsoft.com/office/drawing/2014/main" val="20006"/>
                    </a:ext>
                  </a:extLst>
                </a:gridCol>
                <a:gridCol w="382850">
                  <a:extLst>
                    <a:ext uri="{9D8B030D-6E8A-4147-A177-3AD203B41FA5}">
                      <a16:colId xmlns:a16="http://schemas.microsoft.com/office/drawing/2014/main" val="20007"/>
                    </a:ext>
                  </a:extLst>
                </a:gridCol>
                <a:gridCol w="382850">
                  <a:extLst>
                    <a:ext uri="{9D8B030D-6E8A-4147-A177-3AD203B41FA5}">
                      <a16:colId xmlns:a16="http://schemas.microsoft.com/office/drawing/2014/main" val="20008"/>
                    </a:ext>
                  </a:extLst>
                </a:gridCol>
                <a:gridCol w="382850">
                  <a:extLst>
                    <a:ext uri="{9D8B030D-6E8A-4147-A177-3AD203B41FA5}">
                      <a16:colId xmlns:a16="http://schemas.microsoft.com/office/drawing/2014/main" val="20009"/>
                    </a:ext>
                  </a:extLst>
                </a:gridCol>
              </a:tblGrid>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0"/>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1"/>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2"/>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3"/>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4"/>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80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90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5"/>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50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50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6"/>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30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30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7"/>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r>
                        <a:rPr lang="en" sz="1200"/>
                        <a:t>10</a:t>
                      </a: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8"/>
                  </a:ext>
                </a:extLst>
              </a:tr>
              <a:tr h="365730">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tc>
                  <a:txBody>
                    <a:bodyPr/>
                    <a:lstStyle/>
                    <a:p>
                      <a:pPr marL="0" lvl="0" indent="0" algn="l" rtl="0">
                        <a:spcBef>
                          <a:spcPts val="0"/>
                        </a:spcBef>
                        <a:spcAft>
                          <a:spcPts val="0"/>
                        </a:spcAft>
                        <a:buNone/>
                      </a:pPr>
                      <a:endParaRPr sz="1200"/>
                    </a:p>
                  </a:txBody>
                  <a:tcPr marL="91425" marR="91425" marT="91425" marB="91425">
                    <a:lnL w="9525" cap="flat" cmpd="sng">
                      <a:solidFill>
                        <a:srgbClr val="000000"/>
                      </a:solidFill>
                      <a:prstDash val="solid"/>
                      <a:round/>
                      <a:headEnd type="none" w="sm" len="sm"/>
                      <a:tailEnd type="none" w="sm" len="sm"/>
                    </a:lnL>
                    <a:lnR w="9525" cap="flat" cmpd="sng">
                      <a:solidFill>
                        <a:srgbClr val="000000"/>
                      </a:solidFill>
                      <a:prstDash val="solid"/>
                      <a:round/>
                      <a:headEnd type="none" w="sm" len="sm"/>
                      <a:tailEnd type="none" w="sm" len="sm"/>
                    </a:lnR>
                    <a:lnT w="9525" cap="flat" cmpd="sng">
                      <a:solidFill>
                        <a:srgbClr val="000000"/>
                      </a:solidFill>
                      <a:prstDash val="solid"/>
                      <a:round/>
                      <a:headEnd type="none" w="sm" len="sm"/>
                      <a:tailEnd type="none" w="sm" len="sm"/>
                    </a:lnT>
                    <a:lnB w="9525" cap="flat" cmpd="sng">
                      <a:solidFill>
                        <a:srgbClr val="000000"/>
                      </a:solidFill>
                      <a:prstDash val="solid"/>
                      <a:round/>
                      <a:headEnd type="none" w="sm" len="sm"/>
                      <a:tailEnd type="none" w="sm" len="sm"/>
                    </a:lnB>
                  </a:tcPr>
                </a:tc>
                <a:extLst>
                  <a:ext uri="{0D108BD9-81ED-4DB2-BD59-A6C34878D82A}">
                    <a16:rowId xmlns:a16="http://schemas.microsoft.com/office/drawing/2014/main" val="10009"/>
                  </a:ext>
                </a:extLst>
              </a:tr>
            </a:tbl>
          </a:graphicData>
        </a:graphic>
      </p:graphicFrame>
    </p:spTree>
    <p:extLst>
      <p:ext uri="{BB962C8B-B14F-4D97-AF65-F5344CB8AC3E}">
        <p14:creationId xmlns:p14="http://schemas.microsoft.com/office/powerpoint/2010/main" val="7076508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7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圖解卷積 Step 1：對齊（Align）</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操作描述：
</a:t>
            </a:r>
            <a:r>
              <a:rPr lang="en-US" sz="1300" dirty="0">
                <a:solidFill>
                  <a:srgbClr val="1A1A1A"/>
                </a:solidFill>
                <a:latin typeface="Calibri" pitchFamily="34" charset="0"/>
                <a:ea typeface="Calibri" pitchFamily="34" charset="-122"/>
                <a:cs typeface="Calibri" pitchFamily="34" charset="-120"/>
              </a:rPr>
              <a:t>將 3×3 的濾波器核放置到影像的目標位置上
核的中心對準要計算的目標像素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視覺示意（核放在第 2 列第 2 行像素上）：
</a:t>
            </a:r>
            <a:r>
              <a:rPr lang="en-US" sz="1300" dirty="0">
                <a:solidFill>
                  <a:srgbClr val="1A1A1A"/>
                </a:solidFill>
                <a:latin typeface="Calibri" pitchFamily="34" charset="0"/>
                <a:ea typeface="Calibri" pitchFamily="34" charset="-122"/>
                <a:cs typeface="Calibri" pitchFamily="34" charset="-120"/>
              </a:rPr>
              <a:t>  影像（局部）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核
  ╔══╦══╦══╗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b</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c</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h1</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h2</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h3║</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    ×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d</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[e]║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f</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h4</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h5</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h6║</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g</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h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I</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          ║</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h7</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h8</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a:t>
            </a:r>
            <a:r>
              <a:rPr lang="zh-TW" altLang="en-US" sz="1300" dirty="0">
                <a:solidFill>
                  <a:srgbClr val="1A1A1A"/>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h9║</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          ╚══╩══╩══╝</a:t>
            </a:r>
            <a:endParaRPr lang="en-US" sz="1400" dirty="0"/>
          </a:p>
          <a:p>
            <a:pPr marL="0" indent="0">
              <a:buNone/>
            </a:pP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 e ] 是目標像素（將被計算得到新值）</a:t>
            </a:r>
            <a:endParaRPr lang="en-US" sz="1400" dirty="0"/>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7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圖解卷積 Step 2：逐元素相乘後加總（MAC）</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Multiply-Accumulate（MAC）運算：
</a:t>
            </a:r>
            <a:r>
              <a:rPr lang="en-US" sz="1300" dirty="0">
                <a:solidFill>
                  <a:srgbClr val="1A1A1A"/>
                </a:solidFill>
                <a:latin typeface="Calibri" pitchFamily="34" charset="0"/>
                <a:ea typeface="Calibri" pitchFamily="34" charset="-122"/>
                <a:cs typeface="Calibri" pitchFamily="34" charset="-120"/>
              </a:rPr>
              <a:t>對每個對應位置的數字相乘，然後全部加總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計算過程（以均值核為例）：
</a:t>
            </a:r>
            <a:r>
              <a:rPr lang="en-US" sz="1300" dirty="0">
                <a:solidFill>
                  <a:srgbClr val="1A1A1A"/>
                </a:solidFill>
                <a:latin typeface="Calibri" pitchFamily="34" charset="0"/>
                <a:ea typeface="Calibri" pitchFamily="34" charset="-122"/>
                <a:cs typeface="Calibri" pitchFamily="34" charset="-120"/>
              </a:rPr>
              <a:t>  g(e) = a×(1/9) + b×(1/9) + c×(1/9)
       + d×(1/9) + e×(1/9) + f×(1/9)
       + g×(1/9) + h×(1/9) + i×(1/9)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       = (a + b + c + d + e + f + g + h + i) / 9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硬體加速觀點：
</a:t>
            </a:r>
            <a:r>
              <a:rPr lang="en-US" sz="1300" dirty="0">
                <a:solidFill>
                  <a:srgbClr val="1A1A1A"/>
                </a:solidFill>
                <a:latin typeface="Calibri" pitchFamily="34" charset="0"/>
                <a:ea typeface="Calibri" pitchFamily="34" charset="-122"/>
                <a:cs typeface="Calibri" pitchFamily="34" charset="-120"/>
              </a:rPr>
              <a:t>  MAC 運算是 SIMD、GPU、NPU 最最基礎的指令集
  這就是為什麼「矩陣乘法加速器」直接加速了卷積計算
</a:t>
            </a:r>
            <a:r>
              <a:rPr lang="en-US" sz="1300" b="1" dirty="0">
                <a:solidFill>
                  <a:srgbClr val="C45C00"/>
                </a:solidFill>
                <a:latin typeface="Calibri" pitchFamily="34" charset="0"/>
                <a:ea typeface="Calibri" pitchFamily="34" charset="-122"/>
                <a:cs typeface="Calibri" pitchFamily="34" charset="-120"/>
              </a:rPr>
              <a:t>  嵌入式 AI 晶片（如 Coral TPU、Jetson）的核心就是超高吞吐量的 MAC 單元！</a:t>
            </a:r>
            <a:endParaRPr lang="en-US" sz="1400" dirty="0"/>
          </a:p>
        </p:txBody>
      </p:sp>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name="Slide 7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圖解卷積 Step 3：填入輸出矩陣</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將計算結果填入輸出矩陣的對應位置：
</a:t>
            </a:r>
            <a:r>
              <a:rPr lang="en-US" sz="1300" dirty="0">
                <a:solidFill>
                  <a:srgbClr val="1A1A1A"/>
                </a:solidFill>
                <a:latin typeface="Calibri" pitchFamily="34" charset="0"/>
                <a:ea typeface="Calibri" pitchFamily="34" charset="-122"/>
                <a:cs typeface="Calibri" pitchFamily="34" charset="-120"/>
              </a:rPr>
              <a:t>  輸入影像座標 (row, col)
  對應輸出矩陣座標 (row, col)（在 stride=1 且有 Padding 的情況下）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輸出矩陣的大小（數學推導）：
</a:t>
            </a:r>
            <a:r>
              <a:rPr lang="en-US" sz="1300" dirty="0">
                <a:solidFill>
                  <a:srgbClr val="1A1A1A"/>
                </a:solidFill>
                <a:latin typeface="Calibri" pitchFamily="34" charset="0"/>
                <a:ea typeface="Calibri" pitchFamily="34" charset="-122"/>
                <a:cs typeface="Calibri" pitchFamily="34" charset="-120"/>
              </a:rPr>
              <a:t>  無 Padding，核大小 k×k，stride=1：
</a:t>
            </a:r>
            <a:r>
              <a:rPr lang="en-US" sz="1400" b="1" dirty="0">
                <a:solidFill>
                  <a:srgbClr val="C45C00"/>
                </a:solidFill>
                <a:latin typeface="Calibri" pitchFamily="34" charset="0"/>
                <a:ea typeface="Calibri" pitchFamily="34" charset="-122"/>
                <a:cs typeface="Calibri" pitchFamily="34" charset="-120"/>
              </a:rPr>
              <a:t>  輸出尺寸 = ( H − k + 1 )  ×  ( W − k + 1 )
</a:t>
            </a:r>
            <a:r>
              <a:rPr lang="en-US" sz="1300" dirty="0">
                <a:solidFill>
                  <a:srgbClr val="1A1A1A"/>
                </a:solidFill>
                <a:latin typeface="Calibri" pitchFamily="34" charset="0"/>
                <a:ea typeface="Calibri" pitchFamily="34" charset="-122"/>
                <a:cs typeface="Calibri" pitchFamily="34" charset="-120"/>
              </a:rPr>
              <a:t>  例：輸入 480×640，核 3×3 → 輸出 478×638（每邊縮小 1 格）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有 Padding（pad = k//2），stride=1：
</a:t>
            </a:r>
            <a:r>
              <a:rPr lang="en-US" sz="1400" b="1" dirty="0">
                <a:solidFill>
                  <a:srgbClr val="C45C00"/>
                </a:solidFill>
                <a:latin typeface="Calibri" pitchFamily="34" charset="0"/>
                <a:ea typeface="Calibri" pitchFamily="34" charset="-122"/>
                <a:cs typeface="Calibri" pitchFamily="34" charset="-120"/>
              </a:rPr>
              <a:t>  輸出尺寸 = H × W（維持原始大小！）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1E3A5F"/>
                </a:solidFill>
                <a:latin typeface="Calibri" pitchFamily="34" charset="0"/>
                <a:ea typeface="Calibri" pitchFamily="34" charset="-122"/>
                <a:cs typeface="Calibri" pitchFamily="34" charset="-120"/>
              </a:rPr>
              <a:t>嵌入式實務選擇：
</a:t>
            </a:r>
            <a:r>
              <a:rPr lang="en-US" sz="1300" dirty="0">
                <a:solidFill>
                  <a:srgbClr val="1A1A1A"/>
                </a:solidFill>
                <a:latin typeface="Calibri" pitchFamily="34" charset="0"/>
                <a:ea typeface="Calibri" pitchFamily="34" charset="-122"/>
                <a:cs typeface="Calibri" pitchFamily="34" charset="-120"/>
              </a:rPr>
              <a:t>  幾乎所有嵌入式影像處理都選擇「有 Padding」，維持每幀影像尺寸不變，方便串接多個操作</a:t>
            </a:r>
            <a:endParaRPr lang="en-US" sz="1400" dirty="0"/>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7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來源：2025-02-26 pdf p.31</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圖解卷積 Step 4：滑動掃描完整影像</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完整的掃描過程：
</a:t>
            </a:r>
            <a:r>
              <a:rPr lang="en-US" sz="1300" dirty="0">
                <a:solidFill>
                  <a:srgbClr val="1A1A1A"/>
                </a:solidFill>
                <a:latin typeface="Calibri" pitchFamily="34" charset="0"/>
                <a:ea typeface="Calibri" pitchFamily="34" charset="-122"/>
                <a:cs typeface="Calibri" pitchFamily="34" charset="-120"/>
              </a:rPr>
              <a:t>  核從影像左上角開始（通常從 row=1, col=1，跳過邊界）
  每計算完一個位置，向右移動 stride 格（通常 stride=1）
  到達行尾時，跳到下一行的最左邊重新開始
  掃描完整張影像後，得到輸出矩陣 g(x,y)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計算量分析：
</a:t>
            </a:r>
            <a:r>
              <a:rPr lang="en-US" sz="1300" dirty="0">
                <a:solidFill>
                  <a:srgbClr val="1A1A1A"/>
                </a:solidFill>
                <a:latin typeface="Calibri" pitchFamily="34" charset="0"/>
                <a:ea typeface="Calibri" pitchFamily="34" charset="-122"/>
                <a:cs typeface="Calibri" pitchFamily="34" charset="-120"/>
              </a:rPr>
              <a:t>  每個輸出像素需要 k² 次乘法 + (k²-1) 次加法
  總計算量 ≈ H × W × k² 次乘加運算
  1080p 影像，3×3 核 ≈ 1,860 萬次乘加（約 20ms on ARM Cortex-A）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OpenCV 優化版（使用 SIMD + 多線程）：
</a:t>
            </a:r>
            <a:r>
              <a:rPr lang="en-US" sz="1300" dirty="0">
                <a:solidFill>
                  <a:srgbClr val="1A1A1A"/>
                </a:solidFill>
                <a:latin typeface="Calibri" pitchFamily="34" charset="0"/>
                <a:ea typeface="Calibri" pitchFamily="34" charset="-122"/>
                <a:cs typeface="Calibri" pitchFamily="34" charset="-120"/>
              </a:rPr>
              <a:t>  cv2.filter2D(img, -1, kernel)  # -1 = 輸出與輸入同型別
</a:t>
            </a:r>
            <a:r>
              <a:rPr lang="en-US" sz="1300" b="1" dirty="0">
                <a:solidFill>
                  <a:srgbClr val="C45C00"/>
                </a:solidFill>
                <a:latin typeface="Calibri" pitchFamily="34" charset="0"/>
                <a:ea typeface="Calibri" pitchFamily="34" charset="-122"/>
                <a:cs typeface="Calibri" pitchFamily="34" charset="-120"/>
              </a:rPr>
              <a:t>  實際執行時間 &lt; 2ms on Raspberry Pi 4</a:t>
            </a:r>
            <a:endParaRPr lang="en-US" sz="1400" dirty="0"/>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562" name="Picture 2"/>
          <p:cNvPicPr>
            <a:picLocks noGrp="1" noChangeAspect="1" noChangeArrowheads="1"/>
          </p:cNvPicPr>
          <p:nvPr>
            <p:ph idx="1"/>
          </p:nvPr>
        </p:nvPicPr>
        <p:blipFill>
          <a:blip r:embed="rId2" cstate="print"/>
          <a:stretch>
            <a:fillRect/>
          </a:stretch>
        </p:blipFill>
        <p:spPr bwMode="auto">
          <a:xfrm>
            <a:off x="1385887" y="1571935"/>
            <a:ext cx="6101954" cy="2431829"/>
          </a:xfrm>
          <a:prstGeom prst="rect">
            <a:avLst/>
          </a:prstGeom>
          <a:noFill/>
          <a:ln w="9525">
            <a:noFill/>
            <a:miter lim="800000"/>
            <a:headEnd/>
            <a:tailEnd/>
          </a:ln>
        </p:spPr>
      </p:pic>
    </p:spTree>
    <p:extLst>
      <p:ext uri="{BB962C8B-B14F-4D97-AF65-F5344CB8AC3E}">
        <p14:creationId xmlns:p14="http://schemas.microsoft.com/office/powerpoint/2010/main" val="2274226958"/>
      </p:ext>
    </p:extLst>
  </p:cSld>
  <p:clrMapOvr>
    <a:masterClrMapping/>
  </p:clrMapOvr>
  <p:transition>
    <p:wipe/>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67586" name="Picture 2"/>
          <p:cNvPicPr>
            <a:picLocks noGrp="1" noChangeAspect="1" noChangeArrowheads="1"/>
          </p:cNvPicPr>
          <p:nvPr>
            <p:ph idx="1"/>
          </p:nvPr>
        </p:nvPicPr>
        <p:blipFill>
          <a:blip r:embed="rId2" cstate="print"/>
          <a:stretch>
            <a:fillRect/>
          </a:stretch>
        </p:blipFill>
        <p:spPr bwMode="auto">
          <a:xfrm>
            <a:off x="1385887" y="1577203"/>
            <a:ext cx="6101954" cy="2421291"/>
          </a:xfrm>
          <a:prstGeom prst="rect">
            <a:avLst/>
          </a:prstGeom>
          <a:noFill/>
          <a:ln w="9525">
            <a:noFill/>
            <a:miter lim="800000"/>
            <a:headEnd/>
            <a:tailEnd/>
          </a:ln>
        </p:spPr>
      </p:pic>
    </p:spTree>
    <p:extLst>
      <p:ext uri="{BB962C8B-B14F-4D97-AF65-F5344CB8AC3E}">
        <p14:creationId xmlns:p14="http://schemas.microsoft.com/office/powerpoint/2010/main" val="3790770880"/>
      </p:ext>
    </p:extLst>
  </p:cSld>
  <p:clrMapOvr>
    <a:masterClrMapping/>
  </p:clrMapOvr>
  <p:transition>
    <p:wipe/>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8610" name="Picture 2"/>
          <p:cNvPicPr>
            <a:picLocks noGrp="1" noChangeAspect="1" noChangeArrowheads="1"/>
          </p:cNvPicPr>
          <p:nvPr>
            <p:ph idx="1"/>
          </p:nvPr>
        </p:nvPicPr>
        <p:blipFill>
          <a:blip r:embed="rId2" cstate="print"/>
          <a:stretch>
            <a:fillRect/>
          </a:stretch>
        </p:blipFill>
        <p:spPr bwMode="auto">
          <a:xfrm>
            <a:off x="1385887" y="1581258"/>
            <a:ext cx="6101954" cy="2413181"/>
          </a:xfrm>
          <a:prstGeom prst="rect">
            <a:avLst/>
          </a:prstGeom>
          <a:noFill/>
          <a:ln w="9525">
            <a:noFill/>
            <a:miter lim="800000"/>
            <a:headEnd/>
            <a:tailEnd/>
          </a:ln>
        </p:spPr>
      </p:pic>
    </p:spTree>
    <p:extLst>
      <p:ext uri="{BB962C8B-B14F-4D97-AF65-F5344CB8AC3E}">
        <p14:creationId xmlns:p14="http://schemas.microsoft.com/office/powerpoint/2010/main" val="2529890795"/>
      </p:ext>
    </p:extLst>
  </p:cSld>
  <p:clrMapOvr>
    <a:masterClrMapping/>
  </p:clrMapOvr>
  <p:transition>
    <p:wipe/>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97282" name="Picture 2"/>
          <p:cNvPicPr>
            <a:picLocks noGrp="1" noChangeAspect="1" noChangeArrowheads="1"/>
          </p:cNvPicPr>
          <p:nvPr>
            <p:ph idx="1"/>
          </p:nvPr>
        </p:nvPicPr>
        <p:blipFill>
          <a:blip r:embed="rId2" cstate="print"/>
          <a:stretch>
            <a:fillRect/>
          </a:stretch>
        </p:blipFill>
        <p:spPr bwMode="auto">
          <a:xfrm>
            <a:off x="1385887" y="1561382"/>
            <a:ext cx="6101954" cy="2452932"/>
          </a:xfrm>
          <a:prstGeom prst="rect">
            <a:avLst/>
          </a:prstGeom>
          <a:noFill/>
          <a:ln w="9525">
            <a:noFill/>
            <a:miter lim="800000"/>
            <a:headEnd/>
            <a:tailEnd/>
          </a:ln>
        </p:spPr>
      </p:pic>
    </p:spTree>
    <p:extLst>
      <p:ext uri="{BB962C8B-B14F-4D97-AF65-F5344CB8AC3E}">
        <p14:creationId xmlns:p14="http://schemas.microsoft.com/office/powerpoint/2010/main" val="3066760171"/>
      </p:ext>
    </p:extLst>
  </p:cSld>
  <p:clrMapOvr>
    <a:masterClrMapping/>
  </p:clrMapOvr>
  <p:transition>
    <p:wipe/>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98306" name="Picture 2"/>
          <p:cNvPicPr>
            <a:picLocks noGrp="1" noChangeAspect="1" noChangeArrowheads="1"/>
          </p:cNvPicPr>
          <p:nvPr>
            <p:ph idx="1"/>
          </p:nvPr>
        </p:nvPicPr>
        <p:blipFill>
          <a:blip r:embed="rId2" cstate="print"/>
          <a:stretch>
            <a:fillRect/>
          </a:stretch>
        </p:blipFill>
        <p:spPr bwMode="auto">
          <a:xfrm>
            <a:off x="1385887" y="1593009"/>
            <a:ext cx="6101954" cy="2389681"/>
          </a:xfrm>
          <a:prstGeom prst="rect">
            <a:avLst/>
          </a:prstGeom>
          <a:noFill/>
          <a:ln w="9525">
            <a:noFill/>
            <a:miter lim="800000"/>
            <a:headEnd/>
            <a:tailEnd/>
          </a:ln>
        </p:spPr>
      </p:pic>
    </p:spTree>
    <p:extLst>
      <p:ext uri="{BB962C8B-B14F-4D97-AF65-F5344CB8AC3E}">
        <p14:creationId xmlns:p14="http://schemas.microsoft.com/office/powerpoint/2010/main" val="1547070701"/>
      </p:ext>
    </p:extLst>
  </p:cSld>
  <p:clrMapOvr>
    <a:masterClrMapping/>
  </p:clrMapOvr>
  <p:transition>
    <p:wipe/>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pic>
        <p:nvPicPr>
          <p:cNvPr id="99330" name="Picture 2"/>
          <p:cNvPicPr>
            <a:picLocks noGrp="1" noChangeAspect="1" noChangeArrowheads="1"/>
          </p:cNvPicPr>
          <p:nvPr>
            <p:ph idx="1"/>
          </p:nvPr>
        </p:nvPicPr>
        <p:blipFill>
          <a:blip r:embed="rId2" cstate="print"/>
          <a:stretch>
            <a:fillRect/>
          </a:stretch>
        </p:blipFill>
        <p:spPr bwMode="auto">
          <a:xfrm>
            <a:off x="1385887" y="1583145"/>
            <a:ext cx="6101954" cy="2409407"/>
          </a:xfrm>
          <a:prstGeom prst="rect">
            <a:avLst/>
          </a:prstGeom>
          <a:noFill/>
          <a:ln w="9525">
            <a:noFill/>
            <a:miter lim="800000"/>
            <a:headEnd/>
            <a:tailEnd/>
          </a:ln>
        </p:spPr>
      </p:pic>
    </p:spTree>
    <p:extLst>
      <p:ext uri="{BB962C8B-B14F-4D97-AF65-F5344CB8AC3E}">
        <p14:creationId xmlns:p14="http://schemas.microsoft.com/office/powerpoint/2010/main" val="25957355"/>
      </p:ext>
    </p:extLst>
  </p:cSld>
  <p:clrMapOvr>
    <a:masterClrMapping/>
  </p:clrMapOvr>
  <p:transition>
    <p:wipe/>
  </p:transition>
</p:sld>
</file>

<file path=ppt/slides/slide96.xml><?xml version="1.0" encoding="utf-8"?>
<p:sld xmlns:a="http://schemas.openxmlformats.org/drawingml/2006/main" xmlns:r="http://schemas.openxmlformats.org/officeDocument/2006/relationships" xmlns:p="http://schemas.openxmlformats.org/presentationml/2006/main">
  <p:cSld name="Slide 7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實務挑戰：核走到邊緣時，一半懸空在外面！</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問題描述：
</a:t>
            </a:r>
            <a:r>
              <a:rPr lang="en-US" sz="1300" dirty="0">
                <a:solidFill>
                  <a:srgbClr val="1A1A1A"/>
                </a:solidFill>
                <a:latin typeface="Calibri" pitchFamily="34" charset="0"/>
                <a:ea typeface="Calibri" pitchFamily="34" charset="-122"/>
                <a:cs typeface="Calibri" pitchFamily="34" charset="-120"/>
              </a:rPr>
              <a:t>當 3×3 的核放在影像最左上角的第一個像素時：
  核需要存取 f[-1,-1], f[-1,0], f[-1,+1], f[0,-1]…
  但這些座標不在影像的定義域內（呼應 S17 邊界問題！）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兩種基本處理方向：
</a:t>
            </a:r>
            <a:r>
              <a:rPr lang="en-US" sz="1300" dirty="0">
                <a:solidFill>
                  <a:srgbClr val="1A1A1A"/>
                </a:solidFill>
                <a:latin typeface="Calibri" pitchFamily="34" charset="0"/>
                <a:ea typeface="Calibri" pitchFamily="34" charset="-122"/>
                <a:cs typeface="Calibri" pitchFamily="34" charset="-120"/>
              </a:rPr>
              <a:t>  （A）不做 Padding：只計算核能完全覆蓋的位置
       → 輸出比輸入小（每邊縮 k//2 格），累積多次操作後影像越來越小
  （B）做 Padding：在影像四周補虛擬像素
       → 輸出與輸入尺寸相同，這是嵌入式實務的標準做法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OpenCV 的 borderType 參數控制 Padding 策略：
</a:t>
            </a:r>
            <a:r>
              <a:rPr lang="en-US" sz="1300" b="1" dirty="0">
                <a:solidFill>
                  <a:srgbClr val="C45C00"/>
                </a:solidFill>
                <a:latin typeface="Calibri" pitchFamily="34" charset="0"/>
                <a:ea typeface="Calibri" pitchFamily="34" charset="-122"/>
                <a:cs typeface="Calibri" pitchFamily="34" charset="-120"/>
              </a:rPr>
              <a:t>  cv2.GaussianBlur(img, (5,5), 1.0, borderType=cv2.BORDER_REFLECT_101)</a:t>
            </a:r>
            <a:endParaRPr lang="en-US" sz="140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name="Slide 7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邊界填充（Padding）的定義與目的</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Padding 的定義：
</a:t>
            </a:r>
            <a:r>
              <a:rPr lang="en-US" sz="1300" dirty="0">
                <a:solidFill>
                  <a:srgbClr val="1A1A1A"/>
                </a:solidFill>
                <a:latin typeface="Calibri" pitchFamily="34" charset="0"/>
                <a:ea typeface="Calibri" pitchFamily="34" charset="-122"/>
                <a:cs typeface="Calibri" pitchFamily="34" charset="-120"/>
              </a:rPr>
              <a:t>在影像的四邊（上下左右）各補充 pad = k//2 排/列的虛擬像素
3×3 核 → pad = 1；5×5 核 → pad = 2；7×7 核 → pad = 3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為什麼必須有 Padding？
</a:t>
            </a:r>
            <a:r>
              <a:rPr lang="en-US" sz="1300" dirty="0">
                <a:solidFill>
                  <a:srgbClr val="1A1A1A"/>
                </a:solidFill>
                <a:latin typeface="Calibri" pitchFamily="34" charset="0"/>
                <a:ea typeface="Calibri" pitchFamily="34" charset="-122"/>
                <a:cs typeface="Calibri" pitchFamily="34" charset="-120"/>
              </a:rPr>
              <a:t>  • 維持輸出尺寸與輸入相同（不縮小影像）
  • 讓邊緣像素也能正確參與卷積計算
  • 不同的填充策略會帶來不同的邊界效果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注意：沒有任何一種 Padding 是「完美的」
</a:t>
            </a:r>
            <a:r>
              <a:rPr lang="en-US" sz="1300" dirty="0">
                <a:solidFill>
                  <a:srgbClr val="1A1A1A"/>
                </a:solidFill>
                <a:latin typeface="Calibri" pitchFamily="34" charset="0"/>
                <a:ea typeface="Calibri" pitchFamily="34" charset="-122"/>
                <a:cs typeface="Calibri" pitchFamily="34" charset="-120"/>
              </a:rPr>
              <a:t>  所有策略都是在「邊界資訊不足」這個客觀事實下的最佳近似。
  不同應用場景應選擇最合適的 Padding 策略。</a:t>
            </a:r>
            <a:endParaRPr lang="en-US" sz="14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7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Padding 策略（一）：Zero 與 Clamp</a:t>
            </a:r>
            <a:endParaRPr lang="en-US" sz="2000" dirty="0"/>
          </a:p>
        </p:txBody>
      </p:sp>
      <p:sp>
        <p:nvSpPr>
          <p:cNvPr id="7" name="Shape 5"/>
          <p:cNvSpPr/>
          <p:nvPr/>
        </p:nvSpPr>
        <p:spPr>
          <a:xfrm>
            <a:off x="32004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8" name="Shape 6"/>
          <p:cNvSpPr/>
          <p:nvPr/>
        </p:nvSpPr>
        <p:spPr>
          <a:xfrm>
            <a:off x="320040" y="1115568"/>
            <a:ext cx="4206240" cy="329184"/>
          </a:xfrm>
          <a:prstGeom prst="rect">
            <a:avLst/>
          </a:prstGeom>
          <a:solidFill>
            <a:srgbClr val="333333"/>
          </a:solidFill>
          <a:ln w="12700">
            <a:solidFill>
              <a:srgbClr val="333333"/>
            </a:solidFill>
            <a:prstDash val="solid"/>
          </a:ln>
        </p:spPr>
        <p:txBody>
          <a:bodyPr/>
          <a:lstStyle/>
          <a:p>
            <a:endParaRPr lang="zh-TW" altLang="en-US"/>
          </a:p>
        </p:txBody>
      </p:sp>
      <p:sp>
        <p:nvSpPr>
          <p:cNvPr id="9" name="Text 7"/>
          <p:cNvSpPr/>
          <p:nvPr/>
        </p:nvSpPr>
        <p:spPr>
          <a:xfrm>
            <a:off x="39319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Zero Padding（補零）</a:t>
            </a:r>
            <a:endParaRPr lang="en-US" sz="1150" dirty="0"/>
          </a:p>
        </p:txBody>
      </p:sp>
      <p:sp>
        <p:nvSpPr>
          <p:cNvPr id="10" name="Text 8"/>
          <p:cNvSpPr/>
          <p:nvPr/>
        </p:nvSpPr>
        <p:spPr>
          <a:xfrm>
            <a:off x="42976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超出邊界的位置一律補 0（黑色）</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OpenCV：cv2.BORDER_CONSTANT</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優點：計算最簡單，數學上乾淨</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缺點：邊緣區域被黑色「拉暗」，形成人工暗框</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適用：背景本來就是黑色的場景（如深夜監控），或明確不在乎邊界效果時</a:t>
            </a:r>
            <a:endParaRPr lang="en-US" sz="1150" dirty="0"/>
          </a:p>
        </p:txBody>
      </p:sp>
      <p:sp>
        <p:nvSpPr>
          <p:cNvPr id="11" name="Shape 9"/>
          <p:cNvSpPr/>
          <p:nvPr/>
        </p:nvSpPr>
        <p:spPr>
          <a:xfrm>
            <a:off x="470916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2" name="Shape 10"/>
          <p:cNvSpPr/>
          <p:nvPr/>
        </p:nvSpPr>
        <p:spPr>
          <a:xfrm>
            <a:off x="4709160" y="1115568"/>
            <a:ext cx="4206240" cy="329184"/>
          </a:xfrm>
          <a:prstGeom prst="rect">
            <a:avLst/>
          </a:prstGeom>
          <a:solidFill>
            <a:srgbClr val="1E3A5F"/>
          </a:solidFill>
          <a:ln w="12700">
            <a:solidFill>
              <a:srgbClr val="1E3A5F"/>
            </a:solidFill>
            <a:prstDash val="solid"/>
          </a:ln>
        </p:spPr>
        <p:txBody>
          <a:bodyPr/>
          <a:lstStyle/>
          <a:p>
            <a:endParaRPr lang="zh-TW" altLang="en-US"/>
          </a:p>
        </p:txBody>
      </p:sp>
      <p:sp>
        <p:nvSpPr>
          <p:cNvPr id="13" name="Text 11"/>
          <p:cNvSpPr/>
          <p:nvPr/>
        </p:nvSpPr>
        <p:spPr>
          <a:xfrm>
            <a:off x="478231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Clamp / Replicate（複製邊緣）</a:t>
            </a:r>
            <a:endParaRPr lang="en-US" sz="1150" dirty="0"/>
          </a:p>
        </p:txBody>
      </p:sp>
      <p:sp>
        <p:nvSpPr>
          <p:cNvPr id="14" name="Text 12"/>
          <p:cNvSpPr/>
          <p:nvPr/>
        </p:nvSpPr>
        <p:spPr>
          <a:xfrm>
            <a:off x="481888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直接複製最邊緣的像素值向外無限延伸</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OpenCV：cv2.BORDER_REPLICATE</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優點：不引入人工的黑色邊界</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缺點：邊緣像素被過度重複，可能產生色塊感</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適用：影像邊緣與背景顏色相近的場景</a:t>
            </a:r>
            <a:endParaRPr lang="en-US" sz="115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8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卷積基礎</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Padding 策略（二）：Mirror 與 Wrap（OpenCV 預設）</a:t>
            </a:r>
            <a:endParaRPr lang="en-US" sz="2000" dirty="0"/>
          </a:p>
        </p:txBody>
      </p:sp>
      <p:sp>
        <p:nvSpPr>
          <p:cNvPr id="7" name="Shape 5"/>
          <p:cNvSpPr/>
          <p:nvPr/>
        </p:nvSpPr>
        <p:spPr>
          <a:xfrm>
            <a:off x="32004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8" name="Shape 6"/>
          <p:cNvSpPr/>
          <p:nvPr/>
        </p:nvSpPr>
        <p:spPr>
          <a:xfrm>
            <a:off x="320040" y="1115568"/>
            <a:ext cx="4206240" cy="329184"/>
          </a:xfrm>
          <a:prstGeom prst="rect">
            <a:avLst/>
          </a:prstGeom>
          <a:solidFill>
            <a:srgbClr val="1A6049"/>
          </a:solidFill>
          <a:ln w="12700">
            <a:solidFill>
              <a:srgbClr val="1A6049"/>
            </a:solidFill>
            <a:prstDash val="solid"/>
          </a:ln>
        </p:spPr>
        <p:txBody>
          <a:bodyPr/>
          <a:lstStyle/>
          <a:p>
            <a:endParaRPr lang="zh-TW" altLang="en-US"/>
          </a:p>
        </p:txBody>
      </p:sp>
      <p:sp>
        <p:nvSpPr>
          <p:cNvPr id="9" name="Text 7"/>
          <p:cNvSpPr/>
          <p:nvPr/>
        </p:nvSpPr>
        <p:spPr>
          <a:xfrm>
            <a:off x="39319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Mirror / Reflect（鏡像反射）★ 推薦</a:t>
            </a:r>
            <a:endParaRPr lang="en-US" sz="1150" dirty="0"/>
          </a:p>
        </p:txBody>
      </p:sp>
      <p:sp>
        <p:nvSpPr>
          <p:cNvPr id="10" name="Text 8"/>
          <p:cNvSpPr/>
          <p:nvPr/>
        </p:nvSpPr>
        <p:spPr>
          <a:xfrm>
            <a:off x="42976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像照鏡子：把邊緣內的像素反射到邊界外</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OpenCV：cv2.BORDER_REFLECT_101</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（反射但不含邊緣本身像素）</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優點：最平滑自然，無人工邊界，邊緣的濾波結果與內部一致</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 OpenCV 的預設 borderType！幾乎所有情境的最佳選擇</a:t>
            </a:r>
            <a:endParaRPr lang="en-US" sz="1150" dirty="0"/>
          </a:p>
        </p:txBody>
      </p:sp>
      <p:sp>
        <p:nvSpPr>
          <p:cNvPr id="11" name="Shape 9"/>
          <p:cNvSpPr/>
          <p:nvPr/>
        </p:nvSpPr>
        <p:spPr>
          <a:xfrm>
            <a:off x="4709160" y="1115568"/>
            <a:ext cx="4206240" cy="3520440"/>
          </a:xfrm>
          <a:prstGeom prst="rect">
            <a:avLst/>
          </a:prstGeom>
          <a:solidFill>
            <a:srgbClr val="FFFFFF"/>
          </a:solidFill>
          <a:ln w="10160">
            <a:solidFill>
              <a:srgbClr val="D1C9BC"/>
            </a:solidFill>
            <a:prstDash val="solid"/>
          </a:ln>
          <a:effectLst>
            <a:outerShdw blurRad="101600" dist="25400" dir="8100000" algn="bl" rotWithShape="0">
              <a:srgbClr val="000000">
                <a:alpha val="8000"/>
              </a:srgbClr>
            </a:outerShdw>
          </a:effectLst>
        </p:spPr>
        <p:txBody>
          <a:bodyPr/>
          <a:lstStyle/>
          <a:p>
            <a:endParaRPr lang="zh-TW" altLang="en-US"/>
          </a:p>
        </p:txBody>
      </p:sp>
      <p:sp>
        <p:nvSpPr>
          <p:cNvPr id="12" name="Shape 10"/>
          <p:cNvSpPr/>
          <p:nvPr/>
        </p:nvSpPr>
        <p:spPr>
          <a:xfrm>
            <a:off x="4709160" y="1115568"/>
            <a:ext cx="4206240" cy="329184"/>
          </a:xfrm>
          <a:prstGeom prst="rect">
            <a:avLst/>
          </a:prstGeom>
          <a:solidFill>
            <a:srgbClr val="5A2D82"/>
          </a:solidFill>
          <a:ln w="12700">
            <a:solidFill>
              <a:srgbClr val="5A2D82"/>
            </a:solidFill>
            <a:prstDash val="solid"/>
          </a:ln>
        </p:spPr>
        <p:txBody>
          <a:bodyPr/>
          <a:lstStyle/>
          <a:p>
            <a:endParaRPr lang="zh-TW" altLang="en-US"/>
          </a:p>
        </p:txBody>
      </p:sp>
      <p:sp>
        <p:nvSpPr>
          <p:cNvPr id="13" name="Text 11"/>
          <p:cNvSpPr/>
          <p:nvPr/>
        </p:nvSpPr>
        <p:spPr>
          <a:xfrm>
            <a:off x="4782312" y="1115568"/>
            <a:ext cx="4059936" cy="329184"/>
          </a:xfrm>
          <a:prstGeom prst="rect">
            <a:avLst/>
          </a:prstGeom>
          <a:noFill/>
          <a:ln/>
        </p:spPr>
        <p:txBody>
          <a:bodyPr wrap="square" lIns="0" tIns="0" rIns="0" bIns="0" rtlCol="0" anchor="ctr"/>
          <a:lstStyle/>
          <a:p>
            <a:pPr marL="0" indent="0" algn="ctr">
              <a:buNone/>
            </a:pPr>
            <a:r>
              <a:rPr lang="en-US" sz="1150" b="1" dirty="0">
                <a:solidFill>
                  <a:srgbClr val="FFFFFF"/>
                </a:solidFill>
                <a:latin typeface="Calibri" pitchFamily="34" charset="0"/>
                <a:ea typeface="Calibri" pitchFamily="34" charset="-122"/>
                <a:cs typeface="Calibri" pitchFamily="34" charset="-120"/>
              </a:rPr>
              <a:t>Wrap（環繞 / 週期性）</a:t>
            </a:r>
            <a:endParaRPr lang="en-US" sz="1150" dirty="0"/>
          </a:p>
        </p:txBody>
      </p:sp>
      <p:sp>
        <p:nvSpPr>
          <p:cNvPr id="14" name="Text 12"/>
          <p:cNvSpPr/>
          <p:nvPr/>
        </p:nvSpPr>
        <p:spPr>
          <a:xfrm>
            <a:off x="4818888" y="1490472"/>
            <a:ext cx="3986784" cy="3063240"/>
          </a:xfrm>
          <a:prstGeom prst="rect">
            <a:avLst/>
          </a:prstGeom>
          <a:noFill/>
          <a:ln/>
        </p:spPr>
        <p:txBody>
          <a:bodyPr wrap="square" rtlCol="0" anchor="t"/>
          <a:lstStyle/>
          <a:p>
            <a:pPr marL="0" indent="0" algn="l">
              <a:buNone/>
            </a:pPr>
            <a:r>
              <a:rPr lang="en-US" sz="1150" dirty="0">
                <a:solidFill>
                  <a:srgbClr val="1A1A1A"/>
                </a:solidFill>
                <a:latin typeface="Calibri" pitchFamily="34" charset="0"/>
                <a:ea typeface="Calibri" pitchFamily="34" charset="-122"/>
                <a:cs typeface="Calibri" pitchFamily="34" charset="-120"/>
              </a:rPr>
              <a:t>把影像當成一個無縫拼接的平鋪圖：</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左邊接右邊，上邊接下邊</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OpenCV：cv2.BORDER_WRAP</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優點：適合天然的週期性紋理（如布料）</a:t>
            </a: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缺點：一般影像使用會造成左右/上下邊緣被「錯誤連接」</a:t>
            </a:r>
            <a:endParaRPr lang="en-US" sz="1150" dirty="0"/>
          </a:p>
          <a:p>
            <a:pPr marL="0" indent="0" algn="l">
              <a:buNone/>
            </a:pPr>
            <a:endParaRPr lang="en-US" sz="1150" dirty="0"/>
          </a:p>
          <a:p>
            <a:pPr marL="0" indent="0" algn="l">
              <a:buNone/>
            </a:pPr>
            <a:r>
              <a:rPr lang="en-US" sz="1150" dirty="0">
                <a:solidFill>
                  <a:srgbClr val="1A1A1A"/>
                </a:solidFill>
                <a:latin typeface="Calibri" pitchFamily="34" charset="0"/>
                <a:ea typeface="Calibri" pitchFamily="34" charset="-122"/>
                <a:cs typeface="Calibri" pitchFamily="34" charset="-120"/>
              </a:rPr>
              <a:t>適用：週期性紋理分析、頻域濾波</a:t>
            </a:r>
            <a:endParaRPr lang="en-US" sz="115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1465"/>
        <p:cNvGrpSpPr/>
        <p:nvPr/>
      </p:nvGrpSpPr>
      <p:grpSpPr>
        <a:xfrm>
          <a:off x="0" y="0"/>
          <a:ext cx="0" cy="0"/>
          <a:chOff x="0" y="0"/>
          <a:chExt cx="0" cy="0"/>
        </a:xfrm>
      </p:grpSpPr>
      <p:sp>
        <p:nvSpPr>
          <p:cNvPr id="1466" name="Google Shape;1466;p67"/>
          <p:cNvSpPr txBox="1">
            <a:spLocks noGrp="1"/>
          </p:cNvSpPr>
          <p:nvPr>
            <p:ph type="title"/>
          </p:nvPr>
        </p:nvSpPr>
        <p:spPr>
          <a:xfrm>
            <a:off x="311700" y="140225"/>
            <a:ext cx="8520600" cy="5727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r>
              <a:rPr lang="en"/>
              <a:t>What about the borders?  </a:t>
            </a:r>
            <a:endParaRPr/>
          </a:p>
        </p:txBody>
      </p:sp>
      <p:sp>
        <p:nvSpPr>
          <p:cNvPr id="1467" name="Google Shape;1467;p67"/>
          <p:cNvSpPr txBox="1">
            <a:spLocks noGrp="1"/>
          </p:cNvSpPr>
          <p:nvPr>
            <p:ph type="body" idx="1"/>
          </p:nvPr>
        </p:nvSpPr>
        <p:spPr>
          <a:xfrm>
            <a:off x="311700" y="805750"/>
            <a:ext cx="8520600" cy="3763200"/>
          </a:xfrm>
          <a:prstGeom prst="rect">
            <a:avLst/>
          </a:prstGeom>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marL="0" indent="0">
              <a:buNone/>
            </a:pPr>
            <a:r>
              <a:rPr lang="en"/>
              <a:t>Multiple options…</a:t>
            </a:r>
            <a:endParaRPr/>
          </a:p>
          <a:p>
            <a:pPr marL="0" indent="0">
              <a:spcBef>
                <a:spcPts val="1600"/>
              </a:spcBef>
              <a:buNone/>
            </a:pPr>
            <a:r>
              <a:rPr lang="en"/>
              <a:t>Option 1:  don’t evaluate borders of G</a:t>
            </a:r>
            <a:endParaRPr/>
          </a:p>
          <a:p>
            <a:pPr marL="0" indent="0">
              <a:spcBef>
                <a:spcPts val="1600"/>
              </a:spcBef>
              <a:spcAft>
                <a:spcPts val="1600"/>
              </a:spcAft>
              <a:buNone/>
            </a:pPr>
            <a:r>
              <a:rPr lang="en"/>
              <a:t>Option 2:  pad F with extra rows/columns at left/right/top/bottom borders, and fill in using various options, e.g.</a:t>
            </a:r>
            <a:endParaRPr/>
          </a:p>
        </p:txBody>
      </p:sp>
      <p:pic>
        <p:nvPicPr>
          <p:cNvPr id="1468" name="Google Shape;1468;p67"/>
          <p:cNvPicPr preferRelativeResize="0"/>
          <p:nvPr/>
        </p:nvPicPr>
        <p:blipFill>
          <a:blip r:embed="rId3">
            <a:alphaModFix/>
          </a:blip>
          <a:stretch>
            <a:fillRect/>
          </a:stretch>
        </p:blipFill>
        <p:spPr>
          <a:xfrm>
            <a:off x="578901" y="2805700"/>
            <a:ext cx="7726901" cy="1666550"/>
          </a:xfrm>
          <a:prstGeom prst="rect">
            <a:avLst/>
          </a:prstGeom>
          <a:noFill/>
          <a:ln>
            <a:noFill/>
          </a:ln>
        </p:spPr>
      </p:pic>
    </p:spTree>
    <p:extLst>
      <p:ext uri="{BB962C8B-B14F-4D97-AF65-F5344CB8AC3E}">
        <p14:creationId xmlns:p14="http://schemas.microsoft.com/office/powerpoint/2010/main" val="1131764580"/>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85">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06</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進階濾波：高斯、雙邊與銳化</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Gaussian, Bilateral &amp; Sharpening Filters</a:t>
            </a:r>
            <a:endParaRPr lang="en-US" sz="1300" dirty="0"/>
          </a:p>
        </p:txBody>
      </p:sp>
      <p:sp>
        <p:nvSpPr>
          <p:cNvPr id="6" name="Shape 4"/>
          <p:cNvSpPr/>
          <p:nvPr/>
        </p:nvSpPr>
        <p:spPr>
          <a:xfrm>
            <a:off x="685800" y="2788920"/>
            <a:ext cx="7406640" cy="822960"/>
          </a:xfrm>
          <a:prstGeom prst="rect">
            <a:avLst/>
          </a:prstGeom>
          <a:solidFill>
            <a:srgbClr val="162E4A"/>
          </a:solidFill>
          <a:ln w="19050">
            <a:solidFill>
              <a:srgbClr val="C45C00"/>
            </a:solidFill>
            <a:prstDash val="solid"/>
          </a:ln>
        </p:spPr>
        <p:txBody>
          <a:bodyPr/>
          <a:lstStyle/>
          <a:p>
            <a:endParaRPr lang="zh-TW" altLang="en-US"/>
          </a:p>
        </p:txBody>
      </p:sp>
      <p:sp>
        <p:nvSpPr>
          <p:cNvPr id="7" name="Text 5"/>
          <p:cNvSpPr/>
          <p:nvPr/>
        </p:nvSpPr>
        <p:spPr>
          <a:xfrm>
            <a:off x="822960" y="2788920"/>
            <a:ext cx="7132320" cy="822960"/>
          </a:xfrm>
          <a:prstGeom prst="rect">
            <a:avLst/>
          </a:prstGeom>
          <a:noFill/>
          <a:ln/>
        </p:spPr>
        <p:txBody>
          <a:bodyPr wrap="square" lIns="0" tIns="0" rIns="0" bIns="0" rtlCol="0" anchor="ctr"/>
          <a:lstStyle/>
          <a:p>
            <a:pPr marL="0" indent="0" algn="l">
              <a:buNone/>
            </a:pPr>
            <a:r>
              <a:rPr lang="en-US" sz="1100" i="1" dirty="0">
                <a:solidFill>
                  <a:srgbClr val="F5E6D3"/>
                </a:solidFill>
                <a:latin typeface="Calibri" pitchFamily="34" charset="0"/>
                <a:ea typeface="Calibri" pitchFamily="34" charset="-122"/>
                <a:cs typeface="Calibri" pitchFamily="34" charset="-120"/>
              </a:rPr>
              <a:t>💡 均值濾波器會讓畫面產生方塊感。有沒有更聰明、更符合物理直覺的平滑方式？</a:t>
            </a:r>
            <a:endParaRPr lang="en-US" sz="1100" dirty="0"/>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8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來源：images-sp20 pdf p.34</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均值濾波的根本缺陷：所有鄰居等權重</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方塊感（Boxy Blur）的來源：
</a:t>
            </a:r>
            <a:r>
              <a:rPr lang="en-US" sz="1300" dirty="0">
                <a:solidFill>
                  <a:srgbClr val="1A1A1A"/>
                </a:solidFill>
                <a:latin typeface="Calibri" pitchFamily="34" charset="0"/>
                <a:ea typeface="Calibri" pitchFamily="34" charset="-122"/>
                <a:cs typeface="Calibri" pitchFamily="34" charset="-120"/>
              </a:rPr>
              <a:t>  Mean Filter 對 3×3 鄰域中心像素的正上方、正下方、左右、以及對角線鄰居，
  完全一視同仁，每個人都是 1/9 的權重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現實中，距離中心越遠的像素，影響應該越小！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自然界的「擴散」模型：
</a:t>
            </a:r>
            <a:r>
              <a:rPr lang="en-US" sz="1300" dirty="0">
                <a:solidFill>
                  <a:srgbClr val="1A1A1A"/>
                </a:solidFill>
                <a:latin typeface="Calibri" pitchFamily="34" charset="0"/>
                <a:ea typeface="Calibri" pitchFamily="34" charset="-122"/>
                <a:cs typeface="Calibri" pitchFamily="34" charset="-120"/>
              </a:rPr>
              <a:t>  水波向外擴散：越遠能量越弱（指數衰減）
  光線的散射：越遠強度越低（平方反比定律）
  熱傳導：越遠溫度影響越小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這些自然現象都符合同一個數學函數：高斯函數（Gaussian Function）！
</a:t>
            </a:r>
            <a:r>
              <a:rPr lang="en-US" sz="1300" b="1" dirty="0">
                <a:solidFill>
                  <a:srgbClr val="1E3A5F"/>
                </a:solidFill>
                <a:latin typeface="Calibri" pitchFamily="34" charset="0"/>
                <a:ea typeface="Calibri" pitchFamily="34" charset="-122"/>
                <a:cs typeface="Calibri" pitchFamily="34" charset="-120"/>
              </a:rPr>
              <a:t>→ 距離中心越近權重越大，越遠權重越小，符合自然擴散規律</a:t>
            </a:r>
            <a:endParaRPr lang="en-US" sz="140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name="Slide 8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高斯濾波器（Gaussian Filter）：符合自然的權重</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 y)  =  (1/2πσ²) · exp [ −(x² + y²) / 2σ² ]</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距離中心越近（x,y 越小），指數項越接近 0，G 值越大；越遠 G 值越小</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σ（標準差）：</a:t>
            </a:r>
            <a:r>
              <a:rPr lang="en-US" sz="1250" dirty="0">
                <a:solidFill>
                  <a:srgbClr val="1A1A1A"/>
                </a:solidFill>
                <a:latin typeface="Calibri" pitchFamily="34" charset="0"/>
                <a:ea typeface="Calibri" pitchFamily="34" charset="-122"/>
                <a:cs typeface="Calibri" pitchFamily="34" charset="-120"/>
              </a:rPr>
              <a:t>決定模糊的擴散程度。σ 越大，影響範圍越廣，模糊越明顯</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核大小 k：</a:t>
            </a:r>
            <a:r>
              <a:rPr lang="en-US" sz="1250" dirty="0">
                <a:solidFill>
                  <a:srgbClr val="1A1A1A"/>
                </a:solidFill>
                <a:latin typeface="Calibri" pitchFamily="34" charset="0"/>
                <a:ea typeface="Calibri" pitchFamily="34" charset="-122"/>
                <a:cs typeface="Calibri" pitchFamily="34" charset="-120"/>
              </a:rPr>
              <a:t>通常取 k = 2×ceil(3σ)+1，確保涵蓋 99.7% 的分佈面積</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歸一化：</a:t>
            </a:r>
            <a:r>
              <a:rPr lang="en-US" sz="1250" dirty="0">
                <a:solidFill>
                  <a:srgbClr val="1A1A1A"/>
                </a:solidFill>
                <a:latin typeface="Calibri" pitchFamily="34" charset="0"/>
                <a:ea typeface="Calibri" pitchFamily="34" charset="-122"/>
                <a:cs typeface="Calibri" pitchFamily="34" charset="-120"/>
              </a:rPr>
              <a:t>核的所有元素加總 = 1，確保輸出亮度不改變</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為何優於均值：</a:t>
            </a:r>
            <a:r>
              <a:rPr lang="en-US" sz="1250" dirty="0">
                <a:solidFill>
                  <a:srgbClr val="1A1A1A"/>
                </a:solidFill>
                <a:latin typeface="Calibri" pitchFamily="34" charset="0"/>
                <a:ea typeface="Calibri" pitchFamily="34" charset="-122"/>
                <a:cs typeface="Calibri" pitchFamily="34" charset="-120"/>
              </a:rPr>
              <a:t>中心像素權重最大（自身最重要），角落像素權重最小（影響微弱）</a:t>
            </a:r>
            <a:endParaRPr lang="en-US" sz="1250" dirty="0"/>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8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高斯函數的 3D 曲面與 2D 核矩陣</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3D 曲面形狀：
</a:t>
            </a: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endParaRPr lang="en-US" sz="1400" b="1" dirty="0">
              <a:solidFill>
                <a:srgbClr val="C45C00"/>
              </a:solidFill>
              <a:latin typeface="Calibri" pitchFamily="34" charset="0"/>
              <a:ea typeface="Calibri" pitchFamily="34" charset="-122"/>
              <a:cs typeface="Calibri" pitchFamily="34" charset="-120"/>
            </a:endParaRPr>
          </a:p>
          <a:p>
            <a:pPr marL="0" indent="0">
              <a:buNone/>
            </a:pPr>
            <a:r>
              <a:rPr lang="en-US" sz="1300" dirty="0">
                <a:solidFill>
                  <a:srgbClr val="1A1A1A"/>
                </a:solidFill>
                <a:latin typeface="Calibri" pitchFamily="34" charset="0"/>
                <a:ea typeface="Calibri" pitchFamily="34" charset="-122"/>
                <a:cs typeface="Calibri" pitchFamily="34" charset="-120"/>
              </a:rPr>
              <a:t>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OpenCV 實作（幾個等價寫法）：
</a:t>
            </a:r>
            <a:r>
              <a:rPr lang="en-US" sz="1300" dirty="0">
                <a:solidFill>
                  <a:srgbClr val="1A1A1A"/>
                </a:solidFill>
                <a:latin typeface="Calibri" pitchFamily="34" charset="0"/>
                <a:ea typeface="Calibri" pitchFamily="34" charset="-122"/>
                <a:cs typeface="Calibri" pitchFamily="34" charset="-120"/>
              </a:rPr>
              <a:t>  cv2.GaussianBlur(img, (5,5), sigmaX=1.0)
  cv2.GaussianBlur(img, (0,0), sigmaX=1.5)  # 核大小由 σ 自動決定</a:t>
            </a:r>
            <a:endParaRPr lang="en-US" sz="1400" dirty="0"/>
          </a:p>
        </p:txBody>
      </p:sp>
      <p:pic>
        <p:nvPicPr>
          <p:cNvPr id="9" name="圖片 8">
            <a:extLst>
              <a:ext uri="{FF2B5EF4-FFF2-40B4-BE49-F238E27FC236}">
                <a16:creationId xmlns:a16="http://schemas.microsoft.com/office/drawing/2014/main" id="{C201B01E-0468-EF1A-8596-FB3D40270BD3}"/>
              </a:ext>
            </a:extLst>
          </p:cNvPr>
          <p:cNvPicPr>
            <a:picLocks noChangeAspect="1"/>
          </p:cNvPicPr>
          <p:nvPr/>
        </p:nvPicPr>
        <p:blipFill>
          <a:blip r:embed="rId3"/>
          <a:stretch>
            <a:fillRect/>
          </a:stretch>
        </p:blipFill>
        <p:spPr>
          <a:xfrm>
            <a:off x="1701800" y="1042416"/>
            <a:ext cx="5936868" cy="3237490"/>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8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不同 σ 值的高斯濾波效果</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300" b="1" dirty="0">
                <a:solidFill>
                  <a:srgbClr val="C45C00"/>
                </a:solidFill>
                <a:latin typeface="Calibri" pitchFamily="34" charset="0"/>
                <a:ea typeface="Calibri" pitchFamily="34" charset="-122"/>
                <a:cs typeface="Calibri" pitchFamily="34" charset="-120"/>
              </a:rPr>
              <a:t>σ = 0.5，核 3×3：
</a:t>
            </a:r>
            <a:r>
              <a:rPr lang="en-US" sz="1300" dirty="0">
                <a:solidFill>
                  <a:srgbClr val="1A1A1A"/>
                </a:solidFill>
                <a:latin typeface="Calibri" pitchFamily="34" charset="0"/>
                <a:ea typeface="Calibri" pitchFamily="34" charset="-122"/>
                <a:cs typeface="Calibri" pitchFamily="34" charset="-120"/>
              </a:rPr>
              <a:t> 輕微平滑，去除細微雜訊，輪廓幾乎不受影響
</a:t>
            </a:r>
            <a:r>
              <a:rPr lang="en-US" sz="1300" b="1" dirty="0">
                <a:solidFill>
                  <a:srgbClr val="C45C00"/>
                </a:solidFill>
                <a:latin typeface="Calibri" pitchFamily="34" charset="0"/>
                <a:ea typeface="Calibri" pitchFamily="34" charset="-122"/>
                <a:cs typeface="Calibri" pitchFamily="34" charset="-120"/>
              </a:rPr>
              <a:t>σ = 1.0，核 7×7：
</a:t>
            </a:r>
            <a:r>
              <a:rPr lang="en-US" sz="1300" dirty="0">
                <a:solidFill>
                  <a:srgbClr val="1A1A1A"/>
                </a:solidFill>
                <a:latin typeface="Calibri" pitchFamily="34" charset="0"/>
                <a:ea typeface="Calibri" pitchFamily="34" charset="-122"/>
                <a:cs typeface="Calibri" pitchFamily="34" charset="-120"/>
              </a:rPr>
              <a:t> 明顯平滑，輪廓略微柔化，紋理開始消失
</a:t>
            </a:r>
            <a:r>
              <a:rPr lang="en-US" sz="1300" b="1" dirty="0">
                <a:solidFill>
                  <a:srgbClr val="C45C00"/>
                </a:solidFill>
                <a:latin typeface="Calibri" pitchFamily="34" charset="0"/>
                <a:ea typeface="Calibri" pitchFamily="34" charset="-122"/>
                <a:cs typeface="Calibri" pitchFamily="34" charset="-120"/>
              </a:rPr>
              <a:t>σ = 2.0，核 13×13：
</a:t>
            </a:r>
            <a:r>
              <a:rPr lang="en-US" sz="1300" dirty="0">
                <a:solidFill>
                  <a:srgbClr val="1A1A1A"/>
                </a:solidFill>
                <a:latin typeface="Calibri" pitchFamily="34" charset="0"/>
                <a:ea typeface="Calibri" pitchFamily="34" charset="-122"/>
                <a:cs typeface="Calibri" pitchFamily="34" charset="-120"/>
              </a:rPr>
              <a:t> 強烈模糊，物體輪廓仍在但紋理幾乎消失
</a:t>
            </a:r>
            <a:r>
              <a:rPr lang="en-US" sz="1300" b="1" dirty="0">
                <a:solidFill>
                  <a:srgbClr val="C45C00"/>
                </a:solidFill>
                <a:latin typeface="Calibri" pitchFamily="34" charset="0"/>
                <a:ea typeface="Calibri" pitchFamily="34" charset="-122"/>
                <a:cs typeface="Calibri" pitchFamily="34" charset="-120"/>
              </a:rPr>
              <a:t>σ = 3.5，核 21×21：
</a:t>
            </a:r>
            <a:r>
              <a:rPr lang="en-US" sz="1300" dirty="0">
                <a:solidFill>
                  <a:srgbClr val="1A1A1A"/>
                </a:solidFill>
                <a:latin typeface="Calibri" pitchFamily="34" charset="0"/>
                <a:ea typeface="Calibri" pitchFamily="34" charset="-122"/>
                <a:cs typeface="Calibri" pitchFamily="34" charset="-120"/>
              </a:rPr>
              <a:t> 極度模糊，猶如隔著毛玻璃拍攝
</a:t>
            </a: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b="1" dirty="0">
                <a:solidFill>
                  <a:srgbClr val="1E3A5F"/>
                </a:solidFill>
                <a:latin typeface="Calibri" pitchFamily="34" charset="0"/>
                <a:ea typeface="Calibri" pitchFamily="34" charset="-122"/>
                <a:cs typeface="Calibri" pitchFamily="34" charset="-120"/>
              </a:rPr>
              <a:t>與均值濾波的視覺差異：
</a:t>
            </a:r>
            <a:r>
              <a:rPr lang="en-US" sz="1300" dirty="0">
                <a:solidFill>
                  <a:srgbClr val="1A1A1A"/>
                </a:solidFill>
                <a:latin typeface="Calibri" pitchFamily="34" charset="0"/>
                <a:ea typeface="Calibri" pitchFamily="34" charset="-122"/>
                <a:cs typeface="Calibri" pitchFamily="34" charset="-120"/>
              </a:rPr>
              <a:t>  高斯模糊後的輪廓是「平滑的曲線」，無方塊感，看起來自然
  均值模糊後的輪廓出現「方形鋸齒」，人工感強
</a:t>
            </a:r>
            <a:r>
              <a:rPr lang="en-US" sz="400" dirty="0">
                <a:solidFill>
                  <a:srgbClr val="000000"/>
                </a:solidFill>
                <a:latin typeface="Calibri" pitchFamily="34" charset="0"/>
                <a:ea typeface="Calibri" pitchFamily="34" charset="-122"/>
                <a:cs typeface="Calibri" pitchFamily="34" charset="-120"/>
              </a:rPr>
              <a:t>
</a:t>
            </a:r>
            <a:endParaRPr lang="en-US" sz="1300" dirty="0"/>
          </a:p>
          <a:p>
            <a:pPr marL="0" indent="0">
              <a:buNone/>
            </a:pPr>
            <a:r>
              <a:rPr lang="en-US" sz="1400" b="1" dirty="0">
                <a:solidFill>
                  <a:srgbClr val="C45C00"/>
                </a:solidFill>
                <a:latin typeface="Calibri" pitchFamily="34" charset="0"/>
                <a:ea typeface="Calibri" pitchFamily="34" charset="-122"/>
                <a:cs typeface="Calibri" pitchFamily="34" charset="-120"/>
              </a:rPr>
              <a:t>嵌入式實用建議：
</a:t>
            </a:r>
            <a:r>
              <a:rPr lang="en-US" sz="1300" dirty="0">
                <a:solidFill>
                  <a:srgbClr val="1A1A1A"/>
                </a:solidFill>
                <a:latin typeface="Calibri" pitchFamily="34" charset="0"/>
                <a:ea typeface="Calibri" pitchFamily="34" charset="-122"/>
                <a:cs typeface="Calibri" pitchFamily="34" charset="-120"/>
              </a:rPr>
              <a:t>  核大小必須是奇數（3,5,7...）！</a:t>
            </a:r>
            <a:endParaRPr lang="en-US" sz="1300" dirty="0"/>
          </a:p>
          <a:p>
            <a:pPr marL="0" indent="0">
              <a:buNone/>
            </a:pPr>
            <a:r>
              <a:rPr lang="en-US" sz="1300" dirty="0">
                <a:solidFill>
                  <a:srgbClr val="1A1A1A"/>
                </a:solidFill>
                <a:latin typeface="Calibri" pitchFamily="34" charset="0"/>
                <a:ea typeface="Calibri" pitchFamily="34" charset="-122"/>
                <a:cs typeface="Calibri" pitchFamily="34" charset="-120"/>
              </a:rPr>
              <a:t>  前處理去噪：σ=1.0 是最常用的起點</a:t>
            </a:r>
            <a:endParaRPr lang="en-US" sz="1300" dirty="0"/>
          </a:p>
          <a:p>
            <a:pPr marL="0" indent="0">
              <a:buNone/>
            </a:pPr>
            <a:r>
              <a:rPr lang="en-US" sz="1300" dirty="0">
                <a:solidFill>
                  <a:srgbClr val="1A1A1A"/>
                </a:solidFill>
                <a:latin typeface="Calibri" pitchFamily="34" charset="0"/>
                <a:ea typeface="Calibri" pitchFamily="34" charset="-122"/>
                <a:cs typeface="Calibri" pitchFamily="34" charset="-120"/>
              </a:rPr>
              <a:t>  邊緣偵測前：先做 σ=1.0 高斯，穩定性大幅提升</a:t>
            </a:r>
            <a:endParaRPr lang="en-US" sz="1300"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81">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320040" y="91440"/>
            <a:ext cx="2560320" cy="292608"/>
          </a:xfrm>
          <a:prstGeom prst="roundRect">
            <a:avLst>
              <a:gd name="adj" fmla="val 25000"/>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91440"/>
            <a:ext cx="2560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  補充 D  ┃  中值濾波</a:t>
            </a:r>
            <a:endParaRPr lang="en-US" sz="900" dirty="0"/>
          </a:p>
        </p:txBody>
      </p:sp>
      <p:sp>
        <p:nvSpPr>
          <p:cNvPr id="4" name="Text 2"/>
          <p:cNvSpPr/>
          <p:nvPr/>
        </p:nvSpPr>
        <p:spPr>
          <a:xfrm>
            <a:off x="457200" y="502920"/>
            <a:ext cx="8229600" cy="347472"/>
          </a:xfrm>
          <a:prstGeom prst="rect">
            <a:avLst/>
          </a:prstGeom>
          <a:noFill/>
          <a:ln/>
        </p:spPr>
        <p:txBody>
          <a:bodyPr wrap="square" rtlCol="0" anchor="ctr"/>
          <a:lstStyle/>
          <a:p>
            <a:pPr marL="0" indent="0" algn="l">
              <a:buNone/>
            </a:pPr>
            <a:r>
              <a:rPr lang="en-US" sz="1100" b="1" kern="0" spc="300" dirty="0">
                <a:solidFill>
                  <a:srgbClr val="C45C00"/>
                </a:solidFill>
                <a:latin typeface="Calibri" pitchFamily="34" charset="0"/>
                <a:ea typeface="Calibri" pitchFamily="34" charset="-122"/>
                <a:cs typeface="Calibri" pitchFamily="34" charset="-120"/>
              </a:rPr>
              <a:t>核心提問</a:t>
            </a:r>
            <a:endParaRPr lang="en-US" sz="1100" dirty="0"/>
          </a:p>
        </p:txBody>
      </p:sp>
      <p:sp>
        <p:nvSpPr>
          <p:cNvPr id="5" name="Shape 3"/>
          <p:cNvSpPr/>
          <p:nvPr/>
        </p:nvSpPr>
        <p:spPr>
          <a:xfrm>
            <a:off x="457200" y="914400"/>
            <a:ext cx="8229600" cy="2743200"/>
          </a:xfrm>
          <a:prstGeom prst="rect">
            <a:avLst/>
          </a:prstGeom>
          <a:solidFill>
            <a:srgbClr val="162E4A"/>
          </a:solidFill>
          <a:ln w="25400">
            <a:solidFill>
              <a:srgbClr val="C45C00"/>
            </a:solidFill>
            <a:prstDash val="solid"/>
          </a:ln>
        </p:spPr>
        <p:txBody>
          <a:bodyPr/>
          <a:lstStyle/>
          <a:p>
            <a:endParaRPr lang="zh-TW" altLang="en-US"/>
          </a:p>
        </p:txBody>
      </p:sp>
      <p:sp>
        <p:nvSpPr>
          <p:cNvPr id="6" name="Text 4"/>
          <p:cNvSpPr/>
          <p:nvPr/>
        </p:nvSpPr>
        <p:spPr>
          <a:xfrm>
            <a:off x="640080" y="1051560"/>
            <a:ext cx="7863840" cy="2377440"/>
          </a:xfrm>
          <a:prstGeom prst="rect">
            <a:avLst/>
          </a:prstGeom>
          <a:noFill/>
          <a:ln/>
        </p:spPr>
        <p:txBody>
          <a:bodyPr wrap="square" rtlCol="0" anchor="ctr"/>
          <a:lstStyle/>
          <a:p>
            <a:pPr marL="0" indent="0" algn="l">
              <a:buNone/>
            </a:pPr>
            <a:r>
              <a:rPr lang="en-US" sz="2400" dirty="0">
                <a:solidFill>
                  <a:srgbClr val="C45C00"/>
                </a:solidFill>
                <a:latin typeface="Calibri" pitchFamily="34" charset="0"/>
                <a:ea typeface="Calibri" pitchFamily="34" charset="-122"/>
                <a:cs typeface="Calibri" pitchFamily="34" charset="-120"/>
              </a:rPr>
              <a:t>❓  </a:t>
            </a:r>
            <a:r>
              <a:rPr lang="en-US" sz="1700" b="1" dirty="0">
                <a:solidFill>
                  <a:srgbClr val="FFFFFF"/>
                </a:solidFill>
                <a:latin typeface="Calibri" pitchFamily="34" charset="0"/>
                <a:ea typeface="Calibri" pitchFamily="34" charset="-122"/>
                <a:cs typeface="Calibri" pitchFamily="34" charset="-120"/>
              </a:rPr>
              <a:t>對含有椒鹽雜訊（大量黑白點）的影像套用高斯濾波，能完全消除雜訊嗎？試想一個白點（值=255）周圍的 8 個正常像素（約值=100），高斯加權平均的結果是多少？</a:t>
            </a:r>
            <a:endParaRPr lang="en-US" sz="2400" dirty="0"/>
          </a:p>
        </p:txBody>
      </p:sp>
      <p:sp>
        <p:nvSpPr>
          <p:cNvPr id="7" name="Text 5"/>
          <p:cNvSpPr/>
          <p:nvPr/>
        </p:nvSpPr>
        <p:spPr>
          <a:xfrm>
            <a:off x="457200" y="3794760"/>
            <a:ext cx="8229600" cy="685800"/>
          </a:xfrm>
          <a:prstGeom prst="rect">
            <a:avLst/>
          </a:prstGeom>
          <a:noFill/>
          <a:ln/>
        </p:spPr>
        <p:txBody>
          <a:bodyPr wrap="square" rtlCol="0" anchor="ctr"/>
          <a:lstStyle/>
          <a:p>
            <a:pPr marL="0" indent="0" algn="l">
              <a:buNone/>
            </a:pPr>
            <a:r>
              <a:rPr lang="en-US" sz="1100" i="1" dirty="0">
                <a:solidFill>
                  <a:srgbClr val="D6E4F0"/>
                </a:solidFill>
                <a:latin typeface="Calibri" pitchFamily="34" charset="0"/>
                <a:ea typeface="Calibri" pitchFamily="34" charset="-122"/>
                <a:cs typeface="Calibri" pitchFamily="34" charset="-120"/>
              </a:rPr>
              <a:t>提示：計算一下，255 × 較大權重 + 100 × 較小權重 的結果會是什麼？雜訊消失了嗎？還是變成什麼了？</a:t>
            </a:r>
            <a:endParaRPr lang="en-US" sz="110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8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補充 D  ┃  中值濾波</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延伸閱讀：維基百科 Median Filter</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高斯濾波的盲點：線性濾波器被極端值「拉偏」</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思想實驗：一個椒鹽白點
</a:t>
            </a:r>
            <a:r>
              <a:rPr lang="en-US" sz="1300" dirty="0">
                <a:solidFill>
                  <a:srgbClr val="1A1A1A"/>
                </a:solidFill>
                <a:latin typeface="Calibri" pitchFamily="34" charset="0"/>
                <a:ea typeface="Calibri" pitchFamily="34" charset="-122"/>
                <a:cs typeface="Calibri" pitchFamily="34" charset="-120"/>
              </a:rPr>
              <a:t>  白色雜訊點值 = 255，周圍 8 個正常像素值 ≈ 100
  3×3 高斯核中心權重約 0.36，周圍 8 個各約 0.08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  高斯加權平均 ≈ 255×0.36 + 100×0.64 ≈ 92+64 = 156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  分析：
</a:t>
            </a:r>
            <a:r>
              <a:rPr lang="en-US" sz="1300" dirty="0">
                <a:solidFill>
                  <a:srgbClr val="1A1A1A"/>
                </a:solidFill>
                <a:latin typeface="Calibri" pitchFamily="34" charset="0"/>
                <a:ea typeface="Calibri" pitchFamily="34" charset="-122"/>
                <a:cs typeface="Calibri" pitchFamily="34" charset="-120"/>
              </a:rPr>
              <a:t>  • 白點（255）本身不再是 255 了（雜訊「擴散」了）
  • 周圍原本正常的 8 個像素也從 100 被拉高到約 156！
  • 結果：白點消失了，但在原位置出現了一個「灰色暈圈」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根本原因：線性濾波器（加權平均）無法抵抗極端值的干擾
</a:t>
            </a:r>
            <a:r>
              <a:rPr lang="en-US" sz="1400" b="1" dirty="0">
                <a:solidFill>
                  <a:srgbClr val="1E3A5F"/>
                </a:solidFill>
                <a:latin typeface="Calibri" pitchFamily="34" charset="0"/>
                <a:ea typeface="Calibri" pitchFamily="34" charset="-122"/>
                <a:cs typeface="Calibri" pitchFamily="34" charset="-120"/>
              </a:rPr>
              <a:t>→ 需要一個「對極端值免疫」的非線性濾波器：中值濾波！</a:t>
            </a:r>
            <a:endParaRPr lang="en-US" sz="140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8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補充 D  ┃  中值濾波</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Docs — cv2.medianBlur()  /  維基百科 Median Filter</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中值濾波器（Median Filter）：非線性濾波的代表</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定義：
</a:t>
            </a:r>
            <a:r>
              <a:rPr lang="en-US" sz="1300" dirty="0">
                <a:solidFill>
                  <a:srgbClr val="1A1A1A"/>
                </a:solidFill>
                <a:latin typeface="Calibri" pitchFamily="34" charset="0"/>
                <a:ea typeface="Calibri" pitchFamily="34" charset="-122"/>
                <a:cs typeface="Calibri" pitchFamily="34" charset="-120"/>
              </a:rPr>
              <a:t>非線性濾波器。新像素值 = 鄰域內所有像素值「排序後的中位數（Median）」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關鍵數學性質（為何對椒鹽雜訊免疫）：
</a:t>
            </a:r>
            <a:r>
              <a:rPr lang="en-US" sz="1300" dirty="0">
                <a:solidFill>
                  <a:srgbClr val="1A1A1A"/>
                </a:solidFill>
                <a:latin typeface="Calibri" pitchFamily="34" charset="0"/>
                <a:ea typeface="Calibri" pitchFamily="34" charset="-122"/>
                <a:cs typeface="Calibri" pitchFamily="34" charset="-120"/>
              </a:rPr>
              <a:t>  鄰域 [100, 102, 98, 255, 101, 99, 103, 97, 100] 排序後：
</a:t>
            </a:r>
            <a:r>
              <a:rPr lang="en-US" sz="1400" b="1" dirty="0">
                <a:solidFill>
                  <a:srgbClr val="C45C00"/>
                </a:solidFill>
                <a:latin typeface="Calibri" pitchFamily="34" charset="0"/>
                <a:ea typeface="Calibri" pitchFamily="34" charset="-122"/>
                <a:cs typeface="Calibri" pitchFamily="34" charset="-120"/>
              </a:rPr>
              <a:t>  [97, 98, 99, 100, 100, 101, 102, 103, 255] → 中位數 = 100 ✅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極端值 255 排在序列末端，完全不影響中位數！
  → 椒鹽雜訊的 0 或 255 必然排在兩端，絕對不是中位數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OpenCV 實作：
</a:t>
            </a:r>
            <a:r>
              <a:rPr lang="en-US" sz="1300" dirty="0">
                <a:solidFill>
                  <a:srgbClr val="1A1A1A"/>
                </a:solidFill>
                <a:latin typeface="Calibri" pitchFamily="34" charset="0"/>
                <a:ea typeface="Calibri" pitchFamily="34" charset="-122"/>
                <a:cs typeface="Calibri" pitchFamily="34" charset="-120"/>
              </a:rPr>
              <a:t>  cv2.medianBlur(img, 3)   # 3×3 鄰域
  cv2.medianBlur(img, 5)   # 5×5，雜訊較多時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  注意：kernel size 必須是奇數！偶數會報錯。</a:t>
            </a:r>
            <a:endParaRPr lang="en-US" sz="140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8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§5  補充 D  ┃  中值濾波</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Docs — cv2.medianBlur()</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中值濾波 vs 高斯濾波：三欄對比</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示範影像：含椒鹽雜訊的城市影像（雜訊密度約 10%）
</a:t>
            </a:r>
            <a:r>
              <a:rPr lang="en-US" sz="1300" b="1" dirty="0">
                <a:solidFill>
                  <a:srgbClr val="6B7280"/>
                </a:solidFill>
                <a:latin typeface="Calibri" pitchFamily="34" charset="0"/>
                <a:ea typeface="Calibri" pitchFamily="34" charset="-122"/>
                <a:cs typeface="Calibri" pitchFamily="34" charset="-120"/>
              </a:rPr>
              <a:t>原圖（含雜訊）：
</a:t>
            </a:r>
            <a:r>
              <a:rPr lang="en-US" sz="1300" dirty="0">
                <a:solidFill>
                  <a:srgbClr val="1A1A1A"/>
                </a:solidFill>
                <a:latin typeface="Calibri" pitchFamily="34" charset="0"/>
                <a:ea typeface="Calibri" pitchFamily="34" charset="-122"/>
                <a:cs typeface="Calibri" pitchFamily="34" charset="-120"/>
              </a:rPr>
              <a:t> 大量黑白隨機點，輪廓仍可辨識
</a:t>
            </a:r>
            <a:r>
              <a:rPr lang="en-US" sz="1300" b="1" dirty="0">
                <a:solidFill>
                  <a:srgbClr val="C45C00"/>
                </a:solidFill>
                <a:latin typeface="Calibri" pitchFamily="34" charset="0"/>
                <a:ea typeface="Calibri" pitchFamily="34" charset="-122"/>
                <a:cs typeface="Calibri" pitchFamily="34" charset="-120"/>
              </a:rPr>
              <a:t>高斯濾波（5×5, σ=1.0）後：
</a:t>
            </a:r>
            <a:r>
              <a:rPr lang="en-US" sz="1300" dirty="0">
                <a:solidFill>
                  <a:srgbClr val="1A1A1A"/>
                </a:solidFill>
                <a:latin typeface="Calibri" pitchFamily="34" charset="0"/>
                <a:ea typeface="Calibri" pitchFamily="34" charset="-122"/>
                <a:cs typeface="Calibri" pitchFamily="34" charset="-120"/>
              </a:rPr>
              <a:t> 雜訊點「擴散」成灰色暈染；邊緣模糊；仍有白暈殘留
</a:t>
            </a:r>
            <a:r>
              <a:rPr lang="en-US" sz="1300" b="1" dirty="0">
                <a:solidFill>
                  <a:srgbClr val="1E3A5F"/>
                </a:solidFill>
                <a:latin typeface="Calibri" pitchFamily="34" charset="0"/>
                <a:ea typeface="Calibri" pitchFamily="34" charset="-122"/>
                <a:cs typeface="Calibri" pitchFamily="34" charset="-120"/>
              </a:rPr>
              <a:t>中值濾波（5×5）後：
</a:t>
            </a:r>
            <a:r>
              <a:rPr lang="en-US" sz="1300" dirty="0">
                <a:solidFill>
                  <a:srgbClr val="1A1A1A"/>
                </a:solidFill>
                <a:latin typeface="Calibri" pitchFamily="34" charset="0"/>
                <a:ea typeface="Calibri" pitchFamily="34" charset="-122"/>
                <a:cs typeface="Calibri" pitchFamily="34" charset="-120"/>
              </a:rPr>
              <a:t> 雜訊點完全消除；邊緣幾乎完整保留；影像整體清晰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決策規則（嵌入式實務）：
</a:t>
            </a:r>
            <a:r>
              <a:rPr lang="en-US" sz="1300" dirty="0">
                <a:solidFill>
                  <a:srgbClr val="1A1A1A"/>
                </a:solidFill>
                <a:latin typeface="Calibri" pitchFamily="34" charset="0"/>
                <a:ea typeface="Calibri" pitchFamily="34" charset="-122"/>
                <a:cs typeface="Calibri" pitchFamily="34" charset="-120"/>
              </a:rPr>
              <a:t>  • 椒鹽 / 脈衝雜訊 → 優先中值濾波
  • 高斯雜訊（細膩均勻噪點）→ 高斯濾波（統計上最佳）
  • 不確定雜訊類型 → 先用中值，通常效果較安全
  • 速度優先 → 高斯快於中值（中值需要排序，O(k² log k²)）</a:t>
            </a:r>
            <a:endParaRPr lang="en-US" sz="1400" dirty="0"/>
          </a:p>
        </p:txBody>
      </p:sp>
      <p:sp>
        <p:nvSpPr>
          <p:cNvPr id="8" name="文字方塊 7">
            <a:extLst>
              <a:ext uri="{FF2B5EF4-FFF2-40B4-BE49-F238E27FC236}">
                <a16:creationId xmlns:a16="http://schemas.microsoft.com/office/drawing/2014/main" id="{6FC9C94D-2B1E-DC2A-8C09-7A7732C71175}"/>
              </a:ext>
            </a:extLst>
          </p:cNvPr>
          <p:cNvSpPr txBox="1"/>
          <p:nvPr/>
        </p:nvSpPr>
        <p:spPr>
          <a:xfrm>
            <a:off x="4398011" y="646545"/>
            <a:ext cx="3042834" cy="276999"/>
          </a:xfrm>
          <a:prstGeom prst="rect">
            <a:avLst/>
          </a:prstGeom>
          <a:noFill/>
        </p:spPr>
        <p:txBody>
          <a:bodyPr wrap="square">
            <a:spAutoFit/>
          </a:bodyPr>
          <a:lstStyle/>
          <a:p>
            <a:r>
              <a:rPr lang="en-US" altLang="zh-TW" sz="1200" dirty="0">
                <a:hlinkClick r:id="rId3"/>
              </a:rPr>
              <a:t>[</a:t>
            </a:r>
            <a:r>
              <a:rPr lang="zh-TW" altLang="en-US" sz="1200" dirty="0">
                <a:hlinkClick r:id="rId3"/>
              </a:rPr>
              <a:t>圖像處理</a:t>
            </a:r>
            <a:r>
              <a:rPr lang="en-US" altLang="zh-TW" sz="1200" dirty="0">
                <a:hlinkClick r:id="rId3"/>
              </a:rPr>
              <a:t>] </a:t>
            </a:r>
            <a:r>
              <a:rPr lang="zh-TW" altLang="en-US" sz="1200" dirty="0">
                <a:hlinkClick r:id="rId3"/>
              </a:rPr>
              <a:t>濾波器對圖像雜訊處理比較 </a:t>
            </a:r>
            <a:r>
              <a:rPr lang="en-US" altLang="zh-TW" sz="1200" dirty="0">
                <a:hlinkClick r:id="rId3"/>
              </a:rPr>
              <a:t>(</a:t>
            </a:r>
            <a:r>
              <a:rPr lang="zh-TW" altLang="en-US" sz="1200" dirty="0">
                <a:hlinkClick r:id="rId3"/>
              </a:rPr>
              <a:t>下</a:t>
            </a:r>
            <a:r>
              <a:rPr lang="en-US" altLang="zh-TW" sz="1200" dirty="0">
                <a:hlinkClick r:id="rId3"/>
              </a:rPr>
              <a:t>)</a:t>
            </a:r>
            <a:endParaRPr lang="zh-TW" altLang="en-US" sz="120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9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高斯濾波的新問題：雜訊消了，但邊緣也消了！</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觀察現象：
</a:t>
            </a:r>
            <a:r>
              <a:rPr lang="en-US" sz="1300" dirty="0">
                <a:solidFill>
                  <a:srgbClr val="1A1A1A"/>
                </a:solidFill>
                <a:latin typeface="Calibri" pitchFamily="34" charset="0"/>
                <a:ea typeface="Calibri" pitchFamily="34" charset="-122"/>
                <a:cs typeface="Calibri" pitchFamily="34" charset="-120"/>
              </a:rPr>
              <a:t>  用高斯濾波去除皮膚上的細紋雜訊後，眼睛的睫毛線條和嘴唇邊緣也跟著模糊了！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根本原因：
</a:t>
            </a:r>
            <a:r>
              <a:rPr lang="en-US" sz="1300" dirty="0">
                <a:solidFill>
                  <a:srgbClr val="1A1A1A"/>
                </a:solidFill>
                <a:latin typeface="Calibri" pitchFamily="34" charset="0"/>
                <a:ea typeface="Calibri" pitchFamily="34" charset="-122"/>
                <a:cs typeface="Calibri" pitchFamily="34" charset="-120"/>
              </a:rPr>
              <a:t>  高斯核的權重只考慮「空間距離」，不考慮「像素值的差異」
  → 邊緣兩側的像素（一側亮、一側暗），空間距離近，被高斯核混合在一起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解法構想：
</a:t>
            </a:r>
            <a:r>
              <a:rPr lang="en-US" sz="1300" dirty="0">
                <a:solidFill>
                  <a:srgbClr val="1A1A1A"/>
                </a:solidFill>
                <a:latin typeface="Calibri" pitchFamily="34" charset="0"/>
                <a:ea typeface="Calibri" pitchFamily="34" charset="-122"/>
                <a:cs typeface="Calibri" pitchFamily="34" charset="-120"/>
              </a:rPr>
              <a:t>  如果能同時考慮：
  ① 空間距離近的鄰居 → 權重大（距離高斯）
  ② 像素值相似的鄰居 → 權重大（亮度高斯）
  ③ 兩條件都滿足 → 最大權重，否則降低
  → 在平坦的皮膚區域：鄰居都相似 → 正常平滑
</a:t>
            </a:r>
            <a:r>
              <a:rPr lang="en-US" sz="1300" b="1" dirty="0">
                <a:solidFill>
                  <a:srgbClr val="1E3A5F"/>
                </a:solidFill>
                <a:latin typeface="Calibri" pitchFamily="34" charset="0"/>
                <a:ea typeface="Calibri" pitchFamily="34" charset="-122"/>
                <a:cs typeface="Calibri" pitchFamily="34" charset="-120"/>
              </a:rPr>
              <a:t>  → 在睫毛邊緣：另一側亮度差很多 → 降低跨邊界的混合 → 邊緣保留！</a:t>
            </a:r>
            <a:endParaRPr lang="en-US" sz="140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9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雙邊濾波器（Bilateral Filter）：保邊平滑</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雙邊濾波公式（概念）：
</a:t>
            </a:r>
            <a:r>
              <a:rPr lang="en-US" sz="1300" dirty="0">
                <a:solidFill>
                  <a:srgbClr val="1A1A1A"/>
                </a:solidFill>
                <a:latin typeface="Calibri" pitchFamily="34" charset="0"/>
                <a:ea typeface="Calibri" pitchFamily="34" charset="-122"/>
                <a:cs typeface="Calibri" pitchFamily="34" charset="-120"/>
              </a:rPr>
              <a:t>  w(i,j,k,l) = G_space(dist(i,j,k,l)) × G_color(|f(i,j) − f(k,l)|)
  → 空間高斯（距離近則大）× 亮度高斯（顏色相似則大）的乘積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OpenCV 實作：
</a:t>
            </a:r>
            <a:r>
              <a:rPr lang="en-US" sz="1300" dirty="0">
                <a:solidFill>
                  <a:srgbClr val="1A1A1A"/>
                </a:solidFill>
                <a:latin typeface="Calibri" pitchFamily="34" charset="0"/>
                <a:ea typeface="Calibri" pitchFamily="34" charset="-122"/>
                <a:cs typeface="Calibri" pitchFamily="34" charset="-120"/>
              </a:rPr>
              <a:t>  cv2.bilateralFilter(
      img,
      d=9,            # 鄰域直徑（越大越慢）
      sigmaColor=75,  # 顏色相似性（越大允許更大色差的混合）
      sigmaSpace=75   # 空間距離（越大空間範圍越廣）
  )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視覺效果：
</a:t>
            </a:r>
            <a:r>
              <a:rPr lang="en-US" sz="1300" dirty="0">
                <a:solidFill>
                  <a:srgbClr val="1A1A1A"/>
                </a:solidFill>
                <a:latin typeface="Calibri" pitchFamily="34" charset="0"/>
                <a:ea typeface="Calibri" pitchFamily="34" charset="-122"/>
                <a:cs typeface="Calibri" pitchFamily="34" charset="-120"/>
              </a:rPr>
              <a:t>  皮膚紋理平滑（同色區域正常混合）
  睫毛、頭髮、嘴唇邊緣清晰保留（跨邊緣混合被抑制）
  → 美顏濾鏡、人像磨皮的底層技術！
</a:t>
            </a:r>
            <a:r>
              <a:rPr lang="en-US" sz="1300" b="1" dirty="0">
                <a:solidFill>
                  <a:srgbClr val="C45C00"/>
                </a:solidFill>
                <a:latin typeface="Calibri" pitchFamily="34" charset="0"/>
                <a:ea typeface="Calibri" pitchFamily="34" charset="-122"/>
                <a:cs typeface="Calibri" pitchFamily="34" charset="-120"/>
              </a:rPr>
              <a:t>⚠️  缺點：計算量遠大於高斯，不適合即時串流（嵌入式慎用）</a:t>
            </a:r>
            <a:endParaRPr lang="en-US" sz="140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8690B-E8B5-4D78-85B0-F36BA1F13F1C}"/>
              </a:ext>
            </a:extLst>
          </p:cNvPr>
          <p:cNvSpPr>
            <a:spLocks noGrp="1"/>
          </p:cNvSpPr>
          <p:nvPr>
            <p:ph type="title"/>
          </p:nvPr>
        </p:nvSpPr>
        <p:spPr/>
        <p:txBody>
          <a:bodyPr/>
          <a:lstStyle/>
          <a:p>
            <a:endParaRPr lang="en-US" dirty="0"/>
          </a:p>
        </p:txBody>
      </p:sp>
      <p:sp>
        <p:nvSpPr>
          <p:cNvPr id="3" name="Date Placeholder 2">
            <a:extLst>
              <a:ext uri="{FF2B5EF4-FFF2-40B4-BE49-F238E27FC236}">
                <a16:creationId xmlns:a16="http://schemas.microsoft.com/office/drawing/2014/main" id="{4C49C4A9-AE94-4C19-86EB-8EB948C6B2BF}"/>
              </a:ext>
            </a:extLst>
          </p:cNvPr>
          <p:cNvSpPr>
            <a:spLocks noGrp="1"/>
          </p:cNvSpPr>
          <p:nvPr>
            <p:ph type="dt" sz="half" idx="10"/>
          </p:nvPr>
        </p:nvSpPr>
        <p:spPr/>
        <p:txBody>
          <a:bodyPr/>
          <a:lstStyle/>
          <a:p>
            <a:r>
              <a:rPr lang="en-US"/>
              <a:t>Richard Szeliski</a:t>
            </a:r>
          </a:p>
        </p:txBody>
      </p:sp>
      <p:sp>
        <p:nvSpPr>
          <p:cNvPr id="4" name="Footer Placeholder 3">
            <a:extLst>
              <a:ext uri="{FF2B5EF4-FFF2-40B4-BE49-F238E27FC236}">
                <a16:creationId xmlns:a16="http://schemas.microsoft.com/office/drawing/2014/main" id="{FE2B7C2D-89EB-4301-95F6-553527EABA7D}"/>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3E585D2F-F02E-41DF-A457-BBCCDDE3478E}"/>
              </a:ext>
            </a:extLst>
          </p:cNvPr>
          <p:cNvSpPr>
            <a:spLocks noGrp="1"/>
          </p:cNvSpPr>
          <p:nvPr>
            <p:ph type="sldNum" sz="quarter" idx="12"/>
          </p:nvPr>
        </p:nvSpPr>
        <p:spPr/>
        <p:txBody>
          <a:bodyPr/>
          <a:lstStyle/>
          <a:p>
            <a:fld id="{0B2D1479-DF4D-48DC-965E-2EAAECBF7152}" type="slidenum">
              <a:rPr lang="en-US" smtClean="0"/>
              <a:t>112</a:t>
            </a:fld>
            <a:endParaRPr lang="en-US"/>
          </a:p>
        </p:txBody>
      </p:sp>
      <p:pic>
        <p:nvPicPr>
          <p:cNvPr id="6" name="Picture 5">
            <a:extLst>
              <a:ext uri="{FF2B5EF4-FFF2-40B4-BE49-F238E27FC236}">
                <a16:creationId xmlns:a16="http://schemas.microsoft.com/office/drawing/2014/main" id="{729F2DD5-AA08-4B38-9AD2-FD743FF3B096}"/>
              </a:ext>
            </a:extLst>
          </p:cNvPr>
          <p:cNvPicPr>
            <a:picLocks noChangeAspect="1"/>
          </p:cNvPicPr>
          <p:nvPr/>
        </p:nvPicPr>
        <p:blipFill>
          <a:blip r:embed="rId2"/>
          <a:stretch>
            <a:fillRect/>
          </a:stretch>
        </p:blipFill>
        <p:spPr>
          <a:xfrm>
            <a:off x="1797139" y="1149306"/>
            <a:ext cx="5032481" cy="3651687"/>
          </a:xfrm>
          <a:prstGeom prst="rect">
            <a:avLst/>
          </a:prstGeom>
        </p:spPr>
      </p:pic>
    </p:spTree>
    <p:extLst>
      <p:ext uri="{BB962C8B-B14F-4D97-AF65-F5344CB8AC3E}">
        <p14:creationId xmlns:p14="http://schemas.microsoft.com/office/powerpoint/2010/main" val="399140846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6738" name="Picture 2"/>
          <p:cNvPicPr>
            <a:picLocks noGrp="1" noChangeAspect="1" noChangeArrowheads="1"/>
          </p:cNvPicPr>
          <p:nvPr>
            <p:ph idx="1"/>
          </p:nvPr>
        </p:nvPicPr>
        <p:blipFill>
          <a:blip r:embed="rId2" cstate="print"/>
          <a:srcRect r="-1692" b="6748"/>
          <a:stretch/>
        </p:blipFill>
        <p:spPr bwMode="auto">
          <a:xfrm>
            <a:off x="1817695" y="1167594"/>
            <a:ext cx="5546657" cy="2802968"/>
          </a:xfrm>
          <a:prstGeom prst="rect">
            <a:avLst/>
          </a:prstGeom>
          <a:noFill/>
          <a:ln w="9525">
            <a:noFill/>
            <a:miter lim="800000"/>
            <a:headEnd/>
            <a:tailEnd/>
          </a:ln>
        </p:spPr>
      </p:pic>
    </p:spTree>
  </p:cSld>
  <p:clrMapOvr>
    <a:masterClrMapping/>
  </p:clrMapOvr>
  <p:transition>
    <p:wipe/>
  </p:transition>
</p:sld>
</file>

<file path=ppt/slides/slide114.xml><?xml version="1.0" encoding="utf-8"?>
<p:sld xmlns:a="http://schemas.openxmlformats.org/drawingml/2006/main" xmlns:r="http://schemas.openxmlformats.org/officeDocument/2006/relationships" xmlns:p="http://schemas.openxmlformats.org/presentationml/2006/main">
  <p:cSld name="Slide 92">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320040" y="91440"/>
            <a:ext cx="2560320" cy="292608"/>
          </a:xfrm>
          <a:prstGeom prst="roundRect">
            <a:avLst>
              <a:gd name="adj" fmla="val 25000"/>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91440"/>
            <a:ext cx="2560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  高斯與銳化</a:t>
            </a:r>
            <a:endParaRPr lang="en-US" sz="900" dirty="0"/>
          </a:p>
        </p:txBody>
      </p:sp>
      <p:sp>
        <p:nvSpPr>
          <p:cNvPr id="4" name="Text 2"/>
          <p:cNvSpPr/>
          <p:nvPr/>
        </p:nvSpPr>
        <p:spPr>
          <a:xfrm>
            <a:off x="457200" y="502920"/>
            <a:ext cx="8229600" cy="347472"/>
          </a:xfrm>
          <a:prstGeom prst="rect">
            <a:avLst/>
          </a:prstGeom>
          <a:noFill/>
          <a:ln/>
        </p:spPr>
        <p:txBody>
          <a:bodyPr wrap="square" rtlCol="0" anchor="ctr"/>
          <a:lstStyle/>
          <a:p>
            <a:pPr marL="0" indent="0" algn="l">
              <a:buNone/>
            </a:pPr>
            <a:r>
              <a:rPr lang="en-US" sz="1100" b="1" kern="0" spc="300" dirty="0">
                <a:solidFill>
                  <a:srgbClr val="C45C00"/>
                </a:solidFill>
                <a:latin typeface="Calibri" pitchFamily="34" charset="0"/>
                <a:ea typeface="Calibri" pitchFamily="34" charset="-122"/>
                <a:cs typeface="Calibri" pitchFamily="34" charset="-120"/>
              </a:rPr>
              <a:t>核心提問</a:t>
            </a:r>
            <a:endParaRPr lang="en-US" sz="1100" dirty="0"/>
          </a:p>
        </p:txBody>
      </p:sp>
      <p:sp>
        <p:nvSpPr>
          <p:cNvPr id="5" name="Shape 3"/>
          <p:cNvSpPr/>
          <p:nvPr/>
        </p:nvSpPr>
        <p:spPr>
          <a:xfrm>
            <a:off x="457200" y="914400"/>
            <a:ext cx="8229600" cy="2743200"/>
          </a:xfrm>
          <a:prstGeom prst="rect">
            <a:avLst/>
          </a:prstGeom>
          <a:solidFill>
            <a:srgbClr val="162E4A"/>
          </a:solidFill>
          <a:ln w="25400">
            <a:solidFill>
              <a:srgbClr val="C45C00"/>
            </a:solidFill>
            <a:prstDash val="solid"/>
          </a:ln>
        </p:spPr>
        <p:txBody>
          <a:bodyPr/>
          <a:lstStyle/>
          <a:p>
            <a:endParaRPr lang="zh-TW" altLang="en-US"/>
          </a:p>
        </p:txBody>
      </p:sp>
      <p:sp>
        <p:nvSpPr>
          <p:cNvPr id="6" name="Text 4"/>
          <p:cNvSpPr/>
          <p:nvPr/>
        </p:nvSpPr>
        <p:spPr>
          <a:xfrm>
            <a:off x="640080" y="1051560"/>
            <a:ext cx="7863840" cy="2377440"/>
          </a:xfrm>
          <a:prstGeom prst="rect">
            <a:avLst/>
          </a:prstGeom>
          <a:noFill/>
          <a:ln/>
        </p:spPr>
        <p:txBody>
          <a:bodyPr wrap="square" rtlCol="0" anchor="ctr"/>
          <a:lstStyle/>
          <a:p>
            <a:pPr marL="0" indent="0" algn="l">
              <a:buNone/>
            </a:pPr>
            <a:r>
              <a:rPr lang="en-US" sz="2400" dirty="0">
                <a:solidFill>
                  <a:srgbClr val="C45C00"/>
                </a:solidFill>
                <a:latin typeface="Calibri" pitchFamily="34" charset="0"/>
                <a:ea typeface="Calibri" pitchFamily="34" charset="-122"/>
                <a:cs typeface="Calibri" pitchFamily="34" charset="-120"/>
              </a:rPr>
              <a:t>❓  </a:t>
            </a:r>
            <a:r>
              <a:rPr lang="en-US" sz="1700" b="1" dirty="0">
                <a:solidFill>
                  <a:srgbClr val="FFFFFF"/>
                </a:solidFill>
                <a:latin typeface="Calibri" pitchFamily="34" charset="0"/>
                <a:ea typeface="Calibri" pitchFamily="34" charset="-122"/>
                <a:cs typeface="Calibri" pitchFamily="34" charset="-120"/>
              </a:rPr>
              <a:t>我們學會了把圖片「變模糊」（均值/高斯/中值/雙邊）。有沒有辦法反過來，把模糊的圖片「變銳利」？能用卷積做到嗎？</a:t>
            </a:r>
            <a:endParaRPr lang="en-US" sz="2400" dirty="0"/>
          </a:p>
        </p:txBody>
      </p:sp>
      <p:sp>
        <p:nvSpPr>
          <p:cNvPr id="7" name="Text 5"/>
          <p:cNvSpPr/>
          <p:nvPr/>
        </p:nvSpPr>
        <p:spPr>
          <a:xfrm>
            <a:off x="457200" y="3794760"/>
            <a:ext cx="8229600" cy="685800"/>
          </a:xfrm>
          <a:prstGeom prst="rect">
            <a:avLst/>
          </a:prstGeom>
          <a:noFill/>
          <a:ln/>
        </p:spPr>
        <p:txBody>
          <a:bodyPr wrap="square" rtlCol="0" anchor="ctr"/>
          <a:lstStyle/>
          <a:p>
            <a:pPr marL="0" indent="0" algn="l">
              <a:buNone/>
            </a:pPr>
            <a:r>
              <a:rPr lang="en-US" sz="1100" i="1" dirty="0">
                <a:solidFill>
                  <a:srgbClr val="D6E4F0"/>
                </a:solidFill>
                <a:latin typeface="Calibri" pitchFamily="34" charset="0"/>
                <a:ea typeface="Calibri" pitchFamily="34" charset="-122"/>
                <a:cs typeface="Calibri" pitchFamily="34" charset="-120"/>
              </a:rPr>
              <a:t>提示：若「模糊圖 = 原圖 − 細節」，那麼「細節 = 原圖 − 模糊圖」。我們能把細節加回去嗎？</a:t>
            </a:r>
            <a:endParaRPr lang="en-US" sz="1100" dirty="0"/>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9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濾波器的魔法：線性系統可以疊加</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線性系統的疊加原理（Superposition Principle）：
</a:t>
            </a:r>
            <a:r>
              <a:rPr lang="en-US" sz="1400" b="1" dirty="0">
                <a:solidFill>
                  <a:srgbClr val="C45C00"/>
                </a:solidFill>
                <a:latin typeface="Calibri" pitchFamily="34" charset="0"/>
                <a:ea typeface="Calibri" pitchFamily="34" charset="-122"/>
                <a:cs typeface="Calibri" pitchFamily="34" charset="-120"/>
              </a:rPr>
              <a:t>  (f * h₁) + (f * h₂)  =  f * (h₁ + h₂)
</a:t>
            </a:r>
            <a:r>
              <a:rPr lang="en-US" sz="1300" dirty="0">
                <a:solidFill>
                  <a:srgbClr val="1A1A1A"/>
                </a:solidFill>
                <a:latin typeface="Calibri" pitchFamily="34" charset="0"/>
                <a:ea typeface="Calibri" pitchFamily="34" charset="-122"/>
                <a:cs typeface="Calibri" pitchFamily="34" charset="-120"/>
              </a:rPr>
              <a:t>  先分別用兩個核卷積再相加，等同於用兩核相加後的新核直接卷積！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 不同的濾波器可以「加減合併」成一個全新的濾波器！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單位濾波器（Identity Kernel）：
</a:t>
            </a:r>
            <a:r>
              <a:rPr lang="en-US" sz="1300" dirty="0">
                <a:solidFill>
                  <a:srgbClr val="1A1A1A"/>
                </a:solidFill>
                <a:latin typeface="Calibri" pitchFamily="34" charset="0"/>
                <a:ea typeface="Calibri" pitchFamily="34" charset="-122"/>
                <a:cs typeface="Calibri" pitchFamily="34" charset="-120"/>
              </a:rPr>
              <a:t>  [[ 0,0,0 ],[ 0,1,0 ],[ 0,0,0 ]]
  → 跟任何影像卷積後，結果等於原圖（不做任何改變）
  → 類比：乘法的「1」，加法的「0」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利用這個性質，我們可以設計「加強版」的濾波器！</a:t>
            </a:r>
            <a:endParaRPr lang="en-US" sz="140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9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尋找影像的「細節層（Detail Layer）」</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數學推導：
</a:t>
            </a:r>
            <a:r>
              <a:rPr lang="en-US" sz="1300" dirty="0">
                <a:solidFill>
                  <a:srgbClr val="1A1A1A"/>
                </a:solidFill>
                <a:latin typeface="Calibri" pitchFamily="34" charset="0"/>
                <a:ea typeface="Calibri" pitchFamily="34" charset="-122"/>
                <a:cs typeface="Calibri" pitchFamily="34" charset="-120"/>
              </a:rPr>
              <a:t>  模糊圖  =  原圖 * Mean Kernel  （低通濾波，保留大輪廓）
</a:t>
            </a:r>
            <a:r>
              <a:rPr lang="en-US" sz="1400" b="1" dirty="0">
                <a:solidFill>
                  <a:srgbClr val="C45C00"/>
                </a:solidFill>
                <a:latin typeface="Calibri" pitchFamily="34" charset="0"/>
                <a:ea typeface="Calibri" pitchFamily="34" charset="-122"/>
                <a:cs typeface="Calibri" pitchFamily="34" charset="-120"/>
              </a:rPr>
              <a:t>  細節層  =  原圖  −  模糊圖
</a:t>
            </a:r>
            <a:r>
              <a:rPr lang="en-US" sz="1300" dirty="0">
                <a:solidFill>
                  <a:srgbClr val="1A1A1A"/>
                </a:solidFill>
                <a:latin typeface="Calibri" pitchFamily="34" charset="0"/>
                <a:ea typeface="Calibri" pitchFamily="34" charset="-122"/>
                <a:cs typeface="Calibri" pitchFamily="34" charset="-120"/>
              </a:rPr>
              <a:t>         =  (原圖 * Identity)  −  (原圖 * Mean)
         =  原圖 * (Identity − Mean)       ← 這是一個新核！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細節層的視覺呈現：
</a:t>
            </a:r>
            <a:r>
              <a:rPr lang="en-US" sz="1300" dirty="0">
                <a:solidFill>
                  <a:srgbClr val="1A1A1A"/>
                </a:solidFill>
                <a:latin typeface="Calibri" pitchFamily="34" charset="0"/>
                <a:ea typeface="Calibri" pitchFamily="34" charset="-122"/>
                <a:cs typeface="Calibri" pitchFamily="34" charset="-120"/>
              </a:rPr>
              <a:t>  • 一張幾乎全是 128（中灰）的影像
  • 在邊緣和紋理區域出現明暗變化（偏亮 &gt; 128 或偏暗 &lt; 128）
  • 平坦的背景區域接近純灰（細節為零）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直覺意義：細節層就是「影像中高頻成分（邊緣+紋理）的快照」</a:t>
            </a:r>
            <a:endParaRPr lang="en-US" sz="140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9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銳化濾波器的完整推導</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目標：讓影像看起來更銳利、邊緣更清晰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公式推導：
</a:t>
            </a:r>
            <a:r>
              <a:rPr lang="en-US" sz="1400" b="1" dirty="0">
                <a:solidFill>
                  <a:srgbClr val="C45C00"/>
                </a:solidFill>
                <a:latin typeface="Calibri" pitchFamily="34" charset="0"/>
                <a:ea typeface="Calibri" pitchFamily="34" charset="-122"/>
                <a:cs typeface="Calibri" pitchFamily="34" charset="-120"/>
              </a:rPr>
              <a:t>  銳化圖  =  原圖  +  細節層
</a:t>
            </a:r>
            <a:r>
              <a:rPr lang="en-US" sz="1300" dirty="0">
                <a:solidFill>
                  <a:srgbClr val="1A1A1A"/>
                </a:solidFill>
                <a:latin typeface="Calibri" pitchFamily="34" charset="0"/>
                <a:ea typeface="Calibri" pitchFamily="34" charset="-122"/>
                <a:cs typeface="Calibri" pitchFamily="34" charset="-120"/>
              </a:rPr>
              <a:t>         =  原圖  +  (原圖 − 模糊圖)
</a:t>
            </a:r>
            <a:r>
              <a:rPr lang="en-US" sz="1400" b="1" dirty="0">
                <a:solidFill>
                  <a:srgbClr val="C45C00"/>
                </a:solidFill>
                <a:latin typeface="Calibri" pitchFamily="34" charset="0"/>
                <a:ea typeface="Calibri" pitchFamily="34" charset="-122"/>
                <a:cs typeface="Calibri" pitchFamily="34" charset="-120"/>
              </a:rPr>
              <a:t>         =  2 × 原圖  −  模糊圖
</a:t>
            </a:r>
            <a:r>
              <a:rPr lang="en-US" sz="1300" dirty="0">
                <a:solidFill>
                  <a:srgbClr val="1A1A1A"/>
                </a:solidFill>
                <a:latin typeface="Calibri" pitchFamily="34" charset="0"/>
                <a:ea typeface="Calibri" pitchFamily="34" charset="-122"/>
                <a:cs typeface="Calibri" pitchFamily="34" charset="-120"/>
              </a:rPr>
              <a:t>         =  原圖 * (2×Identity − Mean)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計算核矩陣：
</a:t>
            </a:r>
            <a:r>
              <a:rPr lang="en-US" sz="1300" dirty="0">
                <a:solidFill>
                  <a:srgbClr val="1A1A1A"/>
                </a:solidFill>
                <a:latin typeface="Calibri" pitchFamily="34" charset="0"/>
                <a:ea typeface="Calibri" pitchFamily="34" charset="-122"/>
                <a:cs typeface="Calibri" pitchFamily="34" charset="-120"/>
              </a:rPr>
              <a:t>  2×Identity  =  [[0,0,0],[0,2,0],[0,0,0]]
  Mean        =  [[1,1,1],[1,1,1],[1,1,1]] / 9
  相減 →  中心 = 2−1/9 = 17/9 ≈ 1.89
           周圍 8 個 = 0−1/9 = −1/9 ≈ −0.11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C45C00"/>
                </a:solidFill>
                <a:latin typeface="Calibri" pitchFamily="34" charset="0"/>
                <a:ea typeface="Calibri" pitchFamily="34" charset="-122"/>
                <a:cs typeface="Calibri" pitchFamily="34" charset="-120"/>
              </a:rPr>
              <a:t>直覺：中心高正值強調自己，周圍負值「減掉」均勻背景→殘留的是邊緣！</a:t>
            </a:r>
            <a:endParaRPr lang="en-US" sz="140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9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來源：04_systems_and_convolutions.pdf p.29</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銳化核矩陣（Sharpening Kernel）</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K_sharp  =  [[-1,-1,-1],[-1, 9,-1],[-1,-1,-1]]</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常用的近似版本：中心 9，周圍 8 個都是 -1（加總=1，保持整體亮度）</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中心值 9：</a:t>
            </a:r>
            <a:r>
              <a:rPr lang="en-US" sz="1250" dirty="0">
                <a:solidFill>
                  <a:srgbClr val="1A1A1A"/>
                </a:solidFill>
                <a:latin typeface="Calibri" pitchFamily="34" charset="0"/>
                <a:ea typeface="Calibri" pitchFamily="34" charset="-122"/>
                <a:cs typeface="Calibri" pitchFamily="34" charset="-120"/>
              </a:rPr>
              <a:t>強調目標像素本身的貢獻（是自身的 9 倍）</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周圍值 -1：</a:t>
            </a:r>
            <a:r>
              <a:rPr lang="en-US" sz="1250" dirty="0">
                <a:solidFill>
                  <a:srgbClr val="1A1A1A"/>
                </a:solidFill>
                <a:latin typeface="Calibri" pitchFamily="34" charset="0"/>
                <a:ea typeface="Calibri" pitchFamily="34" charset="-122"/>
                <a:cs typeface="Calibri" pitchFamily="34" charset="-120"/>
              </a:rPr>
              <a:t>減去所有鄰居的平均值，消除背景，突出邊緣</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加總 = 1：</a:t>
            </a:r>
            <a:r>
              <a:rPr lang="en-US" sz="1250" dirty="0">
                <a:solidFill>
                  <a:srgbClr val="1A1A1A"/>
                </a:solidFill>
                <a:latin typeface="Calibri" pitchFamily="34" charset="0"/>
                <a:ea typeface="Calibri" pitchFamily="34" charset="-122"/>
                <a:cs typeface="Calibri" pitchFamily="34" charset="-120"/>
              </a:rPr>
              <a:t>確保平坦區域不會改變亮度（只有邊緣被放大）</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OpenCV：</a:t>
            </a:r>
            <a:r>
              <a:rPr lang="en-US" sz="1250" dirty="0">
                <a:solidFill>
                  <a:srgbClr val="1A1A1A"/>
                </a:solidFill>
                <a:latin typeface="Calibri" pitchFamily="34" charset="0"/>
                <a:ea typeface="Calibri" pitchFamily="34" charset="-122"/>
                <a:cs typeface="Calibri" pitchFamily="34" charset="-120"/>
              </a:rPr>
              <a:t>cv2.filter2D(img, -1, np.array([[-1,-1,-1],[-1,9,-1],[-1,-1,-1]]))</a:t>
            </a:r>
            <a:endParaRPr lang="en-US" sz="1250" dirty="0"/>
          </a:p>
        </p:txBody>
      </p:sp>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9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銳化核的視覺效果：鬣蜥鱗片實驗</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示範影像：鬣蜥（Iguana）特寫，鱗片細節豐富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6B7280"/>
                </a:solidFill>
                <a:latin typeface="Calibri" pitchFamily="34" charset="0"/>
                <a:ea typeface="Calibri" pitchFamily="34" charset="-122"/>
                <a:cs typeface="Calibri" pitchFamily="34" charset="-120"/>
              </a:rPr>
              <a:t>原圖（無處理）：
</a:t>
            </a:r>
            <a:r>
              <a:rPr lang="en-US" sz="1300" dirty="0">
                <a:solidFill>
                  <a:srgbClr val="1A1A1A"/>
                </a:solidFill>
                <a:latin typeface="Calibri" pitchFamily="34" charset="0"/>
                <a:ea typeface="Calibri" pitchFamily="34" charset="-122"/>
                <a:cs typeface="Calibri" pitchFamily="34" charset="-120"/>
              </a:rPr>
              <a:t> 鱗片清晰但缺乏立體感
</a:t>
            </a:r>
            <a:r>
              <a:rPr lang="en-US" sz="1300" b="1" dirty="0">
                <a:solidFill>
                  <a:srgbClr val="C45C00"/>
                </a:solidFill>
                <a:latin typeface="Calibri" pitchFamily="34" charset="0"/>
                <a:ea typeface="Calibri" pitchFamily="34" charset="-122"/>
                <a:cs typeface="Calibri" pitchFamily="34" charset="-120"/>
              </a:rPr>
              <a:t>3×3 Mean Filter（模糊後）：
</a:t>
            </a:r>
            <a:r>
              <a:rPr lang="en-US" sz="1300" dirty="0">
                <a:solidFill>
                  <a:srgbClr val="1A1A1A"/>
                </a:solidFill>
                <a:latin typeface="Calibri" pitchFamily="34" charset="0"/>
                <a:ea typeface="Calibri" pitchFamily="34" charset="-122"/>
                <a:cs typeface="Calibri" pitchFamily="34" charset="-120"/>
              </a:rPr>
              <a:t> 鱗片輪廓模糊，質感消失
</a:t>
            </a:r>
            <a:r>
              <a:rPr lang="en-US" sz="1300" b="1" dirty="0">
                <a:solidFill>
                  <a:srgbClr val="1E3A5F"/>
                </a:solidFill>
                <a:latin typeface="Calibri" pitchFamily="34" charset="0"/>
                <a:ea typeface="Calibri" pitchFamily="34" charset="-122"/>
                <a:cs typeface="Calibri" pitchFamily="34" charset="-120"/>
              </a:rPr>
              <a:t>銳化核（[[-1,-1,-1],[-1,9,-1],[-1,-1,-1]]）：
</a:t>
            </a:r>
            <a:r>
              <a:rPr lang="en-US" sz="1300" dirty="0">
                <a:solidFill>
                  <a:srgbClr val="1A1A1A"/>
                </a:solidFill>
                <a:latin typeface="Calibri" pitchFamily="34" charset="0"/>
                <a:ea typeface="Calibri" pitchFamily="34" charset="-122"/>
                <a:cs typeface="Calibri" pitchFamily="34" charset="-120"/>
              </a:rPr>
              <a:t> 鱗片邊緣極度清晰，每片鱗片的輪廓呈現強烈立體感，質感大幅提升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注意事項：
</a:t>
            </a:r>
            <a:r>
              <a:rPr lang="en-US" sz="1300" dirty="0">
                <a:solidFill>
                  <a:srgbClr val="1A1A1A"/>
                </a:solidFill>
                <a:latin typeface="Calibri" pitchFamily="34" charset="0"/>
                <a:ea typeface="Calibri" pitchFamily="34" charset="-122"/>
                <a:cs typeface="Calibri" pitchFamily="34" charset="-120"/>
              </a:rPr>
              <a:t>  • 過度銳化會讓影像出現「光暈（Halo）」效應和雜訊放大
  • 銳化前若影像有雜訊，應先做輕微高斯濾波再銳化
  • 實務上推薦使用「非銳化遮罩（Unsharp Masking）」控制強度（下頁）</a:t>
            </a:r>
            <a:endParaRPr lang="en-US" sz="140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9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非銳化遮罩（Unsharp Masking）</a:t>
            </a:r>
            <a:endParaRPr lang="en-US" sz="2000" dirty="0"/>
          </a:p>
        </p:txBody>
      </p:sp>
      <p:sp>
        <p:nvSpPr>
          <p:cNvPr id="7" name="Shape 5"/>
          <p:cNvSpPr/>
          <p:nvPr/>
        </p:nvSpPr>
        <p:spPr>
          <a:xfrm>
            <a:off x="320040" y="1115568"/>
            <a:ext cx="8503920" cy="960120"/>
          </a:xfrm>
          <a:prstGeom prst="rect">
            <a:avLst/>
          </a:prstGeom>
          <a:solidFill>
            <a:srgbClr val="1E3A5F"/>
          </a:solidFill>
          <a:ln w="12700">
            <a:solidFill>
              <a:srgbClr val="1E3A5F"/>
            </a:solidFill>
            <a:prstDash val="solid"/>
          </a:ln>
        </p:spPr>
        <p:txBody>
          <a:bodyPr/>
          <a:lstStyle/>
          <a:p>
            <a:endParaRPr lang="zh-TW" altLang="en-US"/>
          </a:p>
        </p:txBody>
      </p:sp>
      <p:sp>
        <p:nvSpPr>
          <p:cNvPr id="8" name="Shape 6"/>
          <p:cNvSpPr/>
          <p:nvPr/>
        </p:nvSpPr>
        <p:spPr>
          <a:xfrm>
            <a:off x="320040" y="1115568"/>
            <a:ext cx="109728" cy="960120"/>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548640" y="1115568"/>
            <a:ext cx="8229600" cy="96012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g(x,y)  =  f(x,y)  +  k · [ f(x,y)  −  f̄(x,y) ]</a:t>
            </a:r>
            <a:endParaRPr lang="en-US" sz="1800" dirty="0"/>
          </a:p>
        </p:txBody>
      </p:sp>
      <p:sp>
        <p:nvSpPr>
          <p:cNvPr id="10" name="Text 8"/>
          <p:cNvSpPr/>
          <p:nvPr/>
        </p:nvSpPr>
        <p:spPr>
          <a:xfrm>
            <a:off x="320040" y="2130552"/>
            <a:ext cx="8503920" cy="457200"/>
          </a:xfrm>
          <a:prstGeom prst="rect">
            <a:avLst/>
          </a:prstGeom>
          <a:noFill/>
          <a:ln/>
        </p:spPr>
        <p:txBody>
          <a:bodyPr wrap="square" rtlCol="0" anchor="ctr"/>
          <a:lstStyle/>
          <a:p>
            <a:pPr marL="0" indent="0" algn="ctr">
              <a:buNone/>
            </a:pPr>
            <a:r>
              <a:rPr lang="en-US" sz="1200" i="1" dirty="0">
                <a:solidFill>
                  <a:srgbClr val="6B7280"/>
                </a:solidFill>
                <a:latin typeface="Calibri" pitchFamily="34" charset="0"/>
                <a:ea typeface="Calibri" pitchFamily="34" charset="-122"/>
                <a:cs typeface="Calibri" pitchFamily="34" charset="-120"/>
              </a:rPr>
              <a:t>f：原圖；f̄：高斯模糊圖（模糊遮罩）；k：銳化強度參數</a:t>
            </a:r>
            <a:endParaRPr lang="en-US" sz="1200" dirty="0"/>
          </a:p>
        </p:txBody>
      </p:sp>
      <p:sp>
        <p:nvSpPr>
          <p:cNvPr id="11" name="Text 9"/>
          <p:cNvSpPr/>
          <p:nvPr/>
        </p:nvSpPr>
        <p:spPr>
          <a:xfrm>
            <a:off x="320040" y="2651760"/>
            <a:ext cx="8503920" cy="1920240"/>
          </a:xfrm>
          <a:prstGeom prst="rect">
            <a:avLst/>
          </a:prstGeom>
          <a:noFill/>
          <a:ln/>
        </p:spPr>
        <p:txBody>
          <a:bodyPr wrap="square" rtlCol="0" anchor="t"/>
          <a:lstStyle/>
          <a:p>
            <a:pPr marL="0" indent="0">
              <a:buNone/>
            </a:pPr>
            <a:r>
              <a:rPr lang="en-US" sz="1250" b="1" dirty="0">
                <a:solidFill>
                  <a:srgbClr val="C45C00"/>
                </a:solidFill>
                <a:latin typeface="Calibri" pitchFamily="34" charset="0"/>
                <a:ea typeface="Calibri" pitchFamily="34" charset="-122"/>
                <a:cs typeface="Calibri" pitchFamily="34" charset="-120"/>
              </a:rPr>
              <a:t>k = 0：</a:t>
            </a:r>
            <a:r>
              <a:rPr lang="en-US" sz="1250" dirty="0">
                <a:solidFill>
                  <a:srgbClr val="1A1A1A"/>
                </a:solidFill>
                <a:latin typeface="Calibri" pitchFamily="34" charset="0"/>
                <a:ea typeface="Calibri" pitchFamily="34" charset="-122"/>
                <a:cs typeface="Calibri" pitchFamily="34" charset="-120"/>
              </a:rPr>
              <a:t>g = f，不做任何改變</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k = 1：</a:t>
            </a:r>
            <a:r>
              <a:rPr lang="en-US" sz="1250" dirty="0">
                <a:solidFill>
                  <a:srgbClr val="1A1A1A"/>
                </a:solidFill>
                <a:latin typeface="Calibri" pitchFamily="34" charset="0"/>
                <a:ea typeface="Calibri" pitchFamily="34" charset="-122"/>
                <a:cs typeface="Calibri" pitchFamily="34" charset="-120"/>
              </a:rPr>
              <a:t>標準非銳化遮罩，邊緣清晰（Photoshop「Unsharp Mask」預設）</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k = 2～5：</a:t>
            </a:r>
            <a:r>
              <a:rPr lang="en-US" sz="1250" dirty="0">
                <a:solidFill>
                  <a:srgbClr val="1A1A1A"/>
                </a:solidFill>
                <a:latin typeface="Calibri" pitchFamily="34" charset="0"/>
                <a:ea typeface="Calibri" pitchFamily="34" charset="-122"/>
                <a:cs typeface="Calibri" pitchFamily="34" charset="-120"/>
              </a:rPr>
              <a:t>高增濾波（Highboost Filtering），邊緣強化更劇烈，細節更立體</a:t>
            </a:r>
            <a:r>
              <a:rPr lang="en-US" sz="400" dirty="0">
                <a:solidFill>
                  <a:srgbClr val="000000"/>
                </a:solidFill>
                <a:latin typeface="Calibri" pitchFamily="34" charset="0"/>
                <a:ea typeface="Calibri" pitchFamily="34" charset="-122"/>
                <a:cs typeface="Calibri" pitchFamily="34" charset="-120"/>
              </a:rPr>
              <a:t>
</a:t>
            </a:r>
            <a:endParaRPr lang="en-US" sz="1250" dirty="0"/>
          </a:p>
          <a:p>
            <a:pPr marL="0" indent="0">
              <a:buNone/>
            </a:pPr>
            <a:r>
              <a:rPr lang="en-US" sz="1250" b="1" dirty="0">
                <a:solidFill>
                  <a:srgbClr val="C45C00"/>
                </a:solidFill>
                <a:latin typeface="Calibri" pitchFamily="34" charset="0"/>
                <a:ea typeface="Calibri" pitchFamily="34" charset="-122"/>
                <a:cs typeface="Calibri" pitchFamily="34" charset="-120"/>
              </a:rPr>
              <a:t>命名由來：</a:t>
            </a:r>
            <a:r>
              <a:rPr lang="en-US" sz="1250" dirty="0">
                <a:solidFill>
                  <a:srgbClr val="1A1A1A"/>
                </a:solidFill>
                <a:latin typeface="Calibri" pitchFamily="34" charset="0"/>
                <a:ea typeface="Calibri" pitchFamily="34" charset="-122"/>
                <a:cs typeface="Calibri" pitchFamily="34" charset="-120"/>
              </a:rPr>
              <a:t>歷史上暗房時代用「模糊的負片遮罩」疊加，「非銳化」指用模糊圖做輔助</a:t>
            </a:r>
            <a:endParaRPr lang="en-US" sz="1250" dirty="0"/>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name="Slide 9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來源：2025-02-26 pdf p.32</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高增濾波（Highboost Filtering）：k &gt; 1 的威力</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參數 k 的意義：
</a:t>
            </a:r>
            <a:r>
              <a:rPr lang="en-US" sz="1300" dirty="0">
                <a:solidFill>
                  <a:srgbClr val="1A1A1A"/>
                </a:solidFill>
                <a:latin typeface="Calibri" pitchFamily="34" charset="0"/>
                <a:ea typeface="Calibri" pitchFamily="34" charset="-122"/>
                <a:cs typeface="Calibri" pitchFamily="34" charset="-120"/>
              </a:rPr>
              <a:t>  k = 0：不銳化（原圖）
  k = 1：標準 Unsharp Mask（細節加回一份）
  k = 2：高增濾波（細節加回兩份，邊緣更立體）
  k = 5：極度銳化（邊緣呈現強烈的明暗環）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OpenCV 實作（使用高斯模糊版）：
</a:t>
            </a:r>
            <a:r>
              <a:rPr lang="en-US" sz="1300" dirty="0">
                <a:solidFill>
                  <a:srgbClr val="1A1A1A"/>
                </a:solidFill>
                <a:latin typeface="Calibri" pitchFamily="34" charset="0"/>
                <a:ea typeface="Calibri" pitchFamily="34" charset="-122"/>
                <a:cs typeface="Calibri" pitchFamily="34" charset="-120"/>
              </a:rPr>
              <a:t>  blurred = cv2.GaussianBlur(img, (5,5), 1.0)
  mask = cv2.subtract(img, blurred)     # 細節層
  sharpened = cv2.addWeighted(img, 1.0, mask, k, 0)  # g = f + k*(f-f̄)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應用場景：
</a:t>
            </a:r>
            <a:r>
              <a:rPr lang="en-US" sz="1300" dirty="0">
                <a:solidFill>
                  <a:srgbClr val="1A1A1A"/>
                </a:solidFill>
                <a:latin typeface="Calibri" pitchFamily="34" charset="0"/>
                <a:ea typeface="Calibri" pitchFamily="34" charset="-122"/>
                <a:cs typeface="Calibri" pitchFamily="34" charset="-120"/>
              </a:rPr>
              <a:t>  • 相機 HDR 後處理中的「清晰度」調整旋鈕
  • 印刷前的影像銳化（補償印刷過程的擴散效應）
  • 嵌入式顯示器的影像增強（讓小螢幕上的細節更清楚）</a:t>
            </a:r>
            <a:endParaRPr lang="en-US" sz="1400" dirty="0"/>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10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來源：2025-02-26 pdf p.32</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視覺示範：日本城銳化效果對比</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E3A5F"/>
                </a:solidFill>
                <a:latin typeface="Calibri" pitchFamily="34" charset="0"/>
                <a:ea typeface="Calibri" pitchFamily="34" charset="-122"/>
                <a:cs typeface="Calibri" pitchFamily="34" charset="-120"/>
              </a:rPr>
              <a:t>示範影像：日本某天守閣（城堡），有豐富的建築細節和瓦片紋理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b="1" dirty="0">
                <a:solidFill>
                  <a:srgbClr val="6B7280"/>
                </a:solidFill>
                <a:latin typeface="Calibri" pitchFamily="34" charset="0"/>
                <a:ea typeface="Calibri" pitchFamily="34" charset="-122"/>
                <a:cs typeface="Calibri" pitchFamily="34" charset="-120"/>
              </a:rPr>
              <a:t>原圖：
</a:t>
            </a:r>
            <a:r>
              <a:rPr lang="en-US" sz="1300" dirty="0">
                <a:solidFill>
                  <a:srgbClr val="1A1A1A"/>
                </a:solidFill>
                <a:latin typeface="Calibri" pitchFamily="34" charset="0"/>
                <a:ea typeface="Calibri" pitchFamily="34" charset="-122"/>
                <a:cs typeface="Calibri" pitchFamily="34" charset="-120"/>
              </a:rPr>
              <a:t> 建築輪廓清晰，但缺乏立體感
</a:t>
            </a:r>
            <a:r>
              <a:rPr lang="en-US" sz="1300" b="1" dirty="0">
                <a:solidFill>
                  <a:srgbClr val="C45C00"/>
                </a:solidFill>
                <a:latin typeface="Calibri" pitchFamily="34" charset="0"/>
                <a:ea typeface="Calibri" pitchFamily="34" charset="-122"/>
                <a:cs typeface="Calibri" pitchFamily="34" charset="-120"/>
              </a:rPr>
              <a:t>非銳化遮罩（k=1）：
</a:t>
            </a:r>
            <a:r>
              <a:rPr lang="en-US" sz="1300" dirty="0">
                <a:solidFill>
                  <a:srgbClr val="1A1A1A"/>
                </a:solidFill>
                <a:latin typeface="Calibri" pitchFamily="34" charset="0"/>
                <a:ea typeface="Calibri" pitchFamily="34" charset="-122"/>
                <a:cs typeface="Calibri" pitchFamily="34" charset="-120"/>
              </a:rPr>
              <a:t> 瓦片紋理浮現，建築輪廓更清晰，看起來更有質感
</a:t>
            </a:r>
            <a:r>
              <a:rPr lang="en-US" sz="1300" b="1" dirty="0">
                <a:solidFill>
                  <a:srgbClr val="C45C00"/>
                </a:solidFill>
                <a:latin typeface="Calibri" pitchFamily="34" charset="0"/>
                <a:ea typeface="Calibri" pitchFamily="34" charset="-122"/>
                <a:cs typeface="Calibri" pitchFamily="34" charset="-120"/>
              </a:rPr>
              <a:t>高增濾波（k=3）：
</a:t>
            </a:r>
            <a:r>
              <a:rPr lang="en-US" sz="1300" dirty="0">
                <a:solidFill>
                  <a:srgbClr val="1A1A1A"/>
                </a:solidFill>
                <a:latin typeface="Calibri" pitchFamily="34" charset="0"/>
                <a:ea typeface="Calibri" pitchFamily="34" charset="-122"/>
                <a:cs typeface="Calibri" pitchFamily="34" charset="-120"/>
              </a:rPr>
              <a:t> 每片瓦片的邊緣呈現明亮光暈，立體感極強
</a:t>
            </a:r>
            <a:r>
              <a:rPr lang="en-US" sz="1300" b="1" dirty="0">
                <a:solidFill>
                  <a:srgbClr val="C45C00"/>
                </a:solidFill>
                <a:latin typeface="Calibri" pitchFamily="34" charset="0"/>
                <a:ea typeface="Calibri" pitchFamily="34" charset="-122"/>
                <a:cs typeface="Calibri" pitchFamily="34" charset="-120"/>
              </a:rPr>
              <a:t>高增濾波（k=7）：
</a:t>
            </a:r>
            <a:r>
              <a:rPr lang="en-US" sz="1300" dirty="0">
                <a:solidFill>
                  <a:srgbClr val="1A1A1A"/>
                </a:solidFill>
                <a:latin typeface="Calibri" pitchFamily="34" charset="0"/>
                <a:ea typeface="Calibri" pitchFamily="34" charset="-122"/>
                <a:cs typeface="Calibri" pitchFamily="34" charset="-120"/>
              </a:rPr>
              <a:t> 邊緣光暈過強，出現不自然的白色閃光效果（過度銳化）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結論：
</a:t>
            </a:r>
            <a:r>
              <a:rPr lang="en-US" sz="1300" dirty="0">
                <a:solidFill>
                  <a:srgbClr val="1A1A1A"/>
                </a:solidFill>
                <a:latin typeface="Calibri" pitchFamily="34" charset="0"/>
                <a:ea typeface="Calibri" pitchFamily="34" charset="-122"/>
                <a:cs typeface="Calibri" pitchFamily="34" charset="-120"/>
              </a:rPr>
              <a:t>  k = 1～2 是最常用的「自然銳化」範圍
  k &gt; 3 通常用於特殊藝術效果，不適合一般影像處理
  銳化是一把雙面刃：k 太大會讓雜訊和壓縮瑕疵一起放大！</a:t>
            </a:r>
            <a:endParaRPr lang="en-US" sz="1400" dirty="0"/>
          </a:p>
        </p:txBody>
      </p:sp>
      <p:pic>
        <p:nvPicPr>
          <p:cNvPr id="8" name="Picture 2">
            <a:extLst>
              <a:ext uri="{FF2B5EF4-FFF2-40B4-BE49-F238E27FC236}">
                <a16:creationId xmlns:a16="http://schemas.microsoft.com/office/drawing/2014/main" id="{29E58A20-F271-0D5F-9558-57DD3C40D08C}"/>
              </a:ext>
            </a:extLst>
          </p:cNvPr>
          <p:cNvPicPr>
            <a:picLocks noChangeAspect="1" noChangeArrowheads="1"/>
          </p:cNvPicPr>
          <p:nvPr/>
        </p:nvPicPr>
        <p:blipFill>
          <a:blip r:embed="rId3" cstate="print"/>
          <a:srcRect r="-906" b="7143"/>
          <a:stretch/>
        </p:blipFill>
        <p:spPr bwMode="auto">
          <a:xfrm>
            <a:off x="4572000" y="1407380"/>
            <a:ext cx="4876440" cy="1900362"/>
          </a:xfrm>
          <a:prstGeom prst="rect">
            <a:avLst/>
          </a:prstGeom>
          <a:noFill/>
          <a:ln w="9525">
            <a:noFill/>
            <a:miter lim="800000"/>
            <a:headEnd/>
            <a:tailEnd/>
          </a:ln>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10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高斯與銳化</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濾波單元小結：卷積不只是數學，是特徵提取的語言</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本週學習的所有濾波器都是卷積核的特例：
</a:t>
            </a:r>
            <a:r>
              <a:rPr lang="en-US" sz="1300" dirty="0">
                <a:solidFill>
                  <a:srgbClr val="1A1A1A"/>
                </a:solidFill>
                <a:latin typeface="Calibri" pitchFamily="34" charset="0"/>
                <a:ea typeface="Calibri" pitchFamily="34" charset="-122"/>
                <a:cs typeface="Calibri" pitchFamily="34" charset="-120"/>
              </a:rPr>
              <a:t>  • 選擇不同的核矩陣 → 截然不同的效果
  • 卷積的本質：在每個位置提取「該位置與周圍的關係特徵」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從手工濾波器到深度學習的橋接：
</a:t>
            </a:r>
            <a:r>
              <a:rPr lang="en-US" sz="1300" dirty="0">
                <a:solidFill>
                  <a:srgbClr val="1A1A1A"/>
                </a:solidFill>
                <a:latin typeface="Calibri" pitchFamily="34" charset="0"/>
                <a:ea typeface="Calibri" pitchFamily="34" charset="-122"/>
                <a:cs typeface="Calibri" pitchFamily="34" charset="-120"/>
              </a:rPr>
              <a:t>  我們手工設計了：均值核（低通）、銳化核（高通）、高斯核（平滑）
  CNN 的卷積層：讓網路「自動學習」哪種核對任務最有用
  → 本週學的 filter2D，就是 CNN 卷積層的手動版本！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下週預告：幾何轉換（Affine Transform）
</a:t>
            </a:r>
            <a:r>
              <a:rPr lang="en-US" sz="1300" dirty="0">
                <a:solidFill>
                  <a:srgbClr val="1A1A1A"/>
                </a:solidFill>
                <a:latin typeface="Calibri" pitchFamily="34" charset="0"/>
                <a:ea typeface="Calibri" pitchFamily="34" charset="-122"/>
                <a:cs typeface="Calibri" pitchFamily="34" charset="-120"/>
              </a:rPr>
              <a:t>  到目前為止，所有操作都沒有移動像素的位置。
  下週，我們要開始「移動像素」：旋轉、縮放、透視矯正…</a:t>
            </a:r>
            <a:endParaRPr lang="en-US" sz="1400" dirty="0"/>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name="Slide 102">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320040" y="91440"/>
            <a:ext cx="2560320" cy="292608"/>
          </a:xfrm>
          <a:prstGeom prst="roundRect">
            <a:avLst>
              <a:gd name="adj" fmla="val 25000"/>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91440"/>
            <a:ext cx="2560320" cy="292608"/>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§6  補充 E  ┃  頻域概念</a:t>
            </a:r>
            <a:endParaRPr lang="en-US" sz="900" dirty="0"/>
          </a:p>
        </p:txBody>
      </p:sp>
      <p:sp>
        <p:nvSpPr>
          <p:cNvPr id="4" name="Text 2"/>
          <p:cNvSpPr/>
          <p:nvPr/>
        </p:nvSpPr>
        <p:spPr>
          <a:xfrm>
            <a:off x="457200" y="502920"/>
            <a:ext cx="8229600" cy="347472"/>
          </a:xfrm>
          <a:prstGeom prst="rect">
            <a:avLst/>
          </a:prstGeom>
          <a:noFill/>
          <a:ln/>
        </p:spPr>
        <p:txBody>
          <a:bodyPr wrap="square" rtlCol="0" anchor="ctr"/>
          <a:lstStyle/>
          <a:p>
            <a:pPr marL="0" indent="0" algn="l">
              <a:buNone/>
            </a:pPr>
            <a:r>
              <a:rPr lang="en-US" sz="1100" b="1" kern="0" spc="300" dirty="0">
                <a:solidFill>
                  <a:srgbClr val="C45C00"/>
                </a:solidFill>
                <a:latin typeface="Calibri" pitchFamily="34" charset="0"/>
                <a:ea typeface="Calibri" pitchFamily="34" charset="-122"/>
                <a:cs typeface="Calibri" pitchFamily="34" charset="-120"/>
              </a:rPr>
              <a:t>核心提問</a:t>
            </a:r>
            <a:endParaRPr lang="en-US" sz="1100" dirty="0"/>
          </a:p>
        </p:txBody>
      </p:sp>
      <p:sp>
        <p:nvSpPr>
          <p:cNvPr id="5" name="Shape 3"/>
          <p:cNvSpPr/>
          <p:nvPr/>
        </p:nvSpPr>
        <p:spPr>
          <a:xfrm>
            <a:off x="457200" y="914400"/>
            <a:ext cx="8229600" cy="2743200"/>
          </a:xfrm>
          <a:prstGeom prst="rect">
            <a:avLst/>
          </a:prstGeom>
          <a:solidFill>
            <a:srgbClr val="162E4A"/>
          </a:solidFill>
          <a:ln w="25400">
            <a:solidFill>
              <a:srgbClr val="C45C00"/>
            </a:solidFill>
            <a:prstDash val="solid"/>
          </a:ln>
        </p:spPr>
        <p:txBody>
          <a:bodyPr/>
          <a:lstStyle/>
          <a:p>
            <a:endParaRPr lang="zh-TW" altLang="en-US"/>
          </a:p>
        </p:txBody>
      </p:sp>
      <p:sp>
        <p:nvSpPr>
          <p:cNvPr id="6" name="Text 4"/>
          <p:cNvSpPr/>
          <p:nvPr/>
        </p:nvSpPr>
        <p:spPr>
          <a:xfrm>
            <a:off x="640080" y="1051560"/>
            <a:ext cx="7863840" cy="2377440"/>
          </a:xfrm>
          <a:prstGeom prst="rect">
            <a:avLst/>
          </a:prstGeom>
          <a:noFill/>
          <a:ln/>
        </p:spPr>
        <p:txBody>
          <a:bodyPr wrap="square" rtlCol="0" anchor="ctr"/>
          <a:lstStyle/>
          <a:p>
            <a:pPr marL="0" indent="0" algn="l">
              <a:buNone/>
            </a:pPr>
            <a:r>
              <a:rPr lang="en-US" sz="2400" dirty="0">
                <a:solidFill>
                  <a:srgbClr val="C45C00"/>
                </a:solidFill>
                <a:latin typeface="Calibri" pitchFamily="34" charset="0"/>
                <a:ea typeface="Calibri" pitchFamily="34" charset="-122"/>
                <a:cs typeface="Calibri" pitchFamily="34" charset="-120"/>
              </a:rPr>
              <a:t>❓  </a:t>
            </a:r>
            <a:r>
              <a:rPr lang="en-US" sz="1700" b="1" dirty="0">
                <a:solidFill>
                  <a:srgbClr val="FFFFFF"/>
                </a:solidFill>
                <a:latin typeface="Calibri" pitchFamily="34" charset="0"/>
                <a:ea typeface="Calibri" pitchFamily="34" charset="-122"/>
                <a:cs typeface="Calibri" pitchFamily="34" charset="-120"/>
              </a:rPr>
              <a:t>我們學了高斯（平滑）和銳化（強調邊緣）。這兩者有沒有一個統一的框架，解釋它們本質上的差異？</a:t>
            </a:r>
            <a:endParaRPr lang="en-US" sz="2400" dirty="0"/>
          </a:p>
        </p:txBody>
      </p:sp>
      <p:sp>
        <p:nvSpPr>
          <p:cNvPr id="7" name="Text 5"/>
          <p:cNvSpPr/>
          <p:nvPr/>
        </p:nvSpPr>
        <p:spPr>
          <a:xfrm>
            <a:off x="457200" y="3794760"/>
            <a:ext cx="8229600" cy="685800"/>
          </a:xfrm>
          <a:prstGeom prst="rect">
            <a:avLst/>
          </a:prstGeom>
          <a:noFill/>
          <a:ln/>
        </p:spPr>
        <p:txBody>
          <a:bodyPr wrap="square" rtlCol="0" anchor="ctr"/>
          <a:lstStyle/>
          <a:p>
            <a:pPr marL="0" indent="0" algn="l">
              <a:buNone/>
            </a:pPr>
            <a:r>
              <a:rPr lang="en-US" sz="1100" i="1" dirty="0">
                <a:solidFill>
                  <a:srgbClr val="D6E4F0"/>
                </a:solidFill>
                <a:latin typeface="Calibri" pitchFamily="34" charset="0"/>
                <a:ea typeface="Calibri" pitchFamily="34" charset="-122"/>
                <a:cs typeface="Calibri" pitchFamily="34" charset="-120"/>
              </a:rPr>
              <a:t>提示：音訊中，低頻是低沉轟鳴，高頻是尖銳高音。影像中也有「頻率」嗎？邊緣和背景哪個是高頻？</a:t>
            </a:r>
            <a:endParaRPr lang="en-US" sz="1100" dirty="0"/>
          </a:p>
        </p:txBody>
      </p:sp>
    </p:spTree>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10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補充 E  ┃  頻域概念</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參考：Princeton COS 426 課程筆記</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影像的「空間頻率」：建立一個強大的直覺框架</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類比音訊頻率：
</a:t>
            </a:r>
            <a:r>
              <a:rPr lang="en-US" sz="1300" dirty="0">
                <a:solidFill>
                  <a:srgbClr val="1A1A1A"/>
                </a:solidFill>
                <a:latin typeface="Calibri" pitchFamily="34" charset="0"/>
                <a:ea typeface="Calibri" pitchFamily="34" charset="-122"/>
                <a:cs typeface="Calibri" pitchFamily="34" charset="-120"/>
              </a:rPr>
              <a:t>  低頻音 = 聲音隨時間變化「慢」（低沉的鼓聲）
  高頻音 = 聲音隨時間變化「快」（尖銳的哨音）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影像的空間頻率：
</a:t>
            </a:r>
            <a:r>
              <a:rPr lang="en-US" sz="1300" dirty="0">
                <a:solidFill>
                  <a:srgbClr val="1A1A1A"/>
                </a:solidFill>
                <a:latin typeface="Calibri" pitchFamily="34" charset="0"/>
                <a:ea typeface="Calibri" pitchFamily="34" charset="-122"/>
                <a:cs typeface="Calibri" pitchFamily="34" charset="-120"/>
              </a:rPr>
              <a:t>  低頻（Low Frequency）：像素值隨空間位置變化「慢」
  → 大片天空、白牆、水面、平滑皮膚 ← 灰階值緩慢變化的區域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300" dirty="0">
                <a:solidFill>
                  <a:srgbClr val="1A1A1A"/>
                </a:solidFill>
                <a:latin typeface="Calibri" pitchFamily="34" charset="0"/>
                <a:ea typeface="Calibri" pitchFamily="34" charset="-122"/>
                <a:cs typeface="Calibri" pitchFamily="34" charset="-120"/>
              </a:rPr>
              <a:t>  高頻（High Frequency）：像素值隨空間位置變化「快」
  → 物體邊緣、紋理細節、文字線條 ← 灰階值急劇變化的區域
  → 更重要：椒鹽雜訊和壓縮瑕疵，也是高頻！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這個直覺不需要懂 FFT！只需要記住：
  邊緣 = 高頻，平坦背景 = 低頻，雜訊 = 高頻</a:t>
            </a:r>
            <a:endParaRPr lang="en-US" sz="1400" dirty="0"/>
          </a:p>
        </p:txBody>
      </p:sp>
      <p:pic>
        <p:nvPicPr>
          <p:cNvPr id="8" name="Picture 31">
            <a:extLst>
              <a:ext uri="{FF2B5EF4-FFF2-40B4-BE49-F238E27FC236}">
                <a16:creationId xmlns:a16="http://schemas.microsoft.com/office/drawing/2014/main" id="{48FCCC7F-25BB-371A-C76E-4520AE175FC0}"/>
              </a:ext>
            </a:extLst>
          </p:cNvPr>
          <p:cNvPicPr>
            <a:picLocks noChangeAspect="1" noChangeArrowheads="1"/>
          </p:cNvPicPr>
          <p:nvPr/>
        </p:nvPicPr>
        <p:blipFill>
          <a:blip r:embed="rId3" cstate="print"/>
          <a:srcRect/>
          <a:stretch>
            <a:fillRect/>
          </a:stretch>
        </p:blipFill>
        <p:spPr bwMode="auto">
          <a:xfrm>
            <a:off x="5169614" y="1041572"/>
            <a:ext cx="3743478" cy="3668432"/>
          </a:xfrm>
          <a:prstGeom prst="rect">
            <a:avLst/>
          </a:prstGeom>
          <a:noFill/>
          <a:ln w="9525">
            <a:noFill/>
            <a:miter lim="800000"/>
            <a:headEnd/>
            <a:tailEnd/>
          </a:ln>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endParaRPr lang="zh-TW" altLang="en-US" dirty="0"/>
          </a:p>
        </p:txBody>
      </p:sp>
      <p:pic>
        <p:nvPicPr>
          <p:cNvPr id="52225" name="Picture 1"/>
          <p:cNvPicPr>
            <a:picLocks noGrp="1" noChangeAspect="1" noChangeArrowheads="1"/>
          </p:cNvPicPr>
          <p:nvPr>
            <p:ph idx="1"/>
          </p:nvPr>
        </p:nvPicPr>
        <p:blipFill>
          <a:blip r:embed="rId2" cstate="print"/>
          <a:stretch>
            <a:fillRect/>
          </a:stretch>
        </p:blipFill>
        <p:spPr bwMode="auto">
          <a:xfrm>
            <a:off x="1385887" y="1299975"/>
            <a:ext cx="6101954" cy="2975747"/>
          </a:xfrm>
          <a:prstGeom prst="rect">
            <a:avLst/>
          </a:prstGeom>
          <a:noFill/>
          <a:ln w="9525">
            <a:noFill/>
            <a:miter lim="800000"/>
            <a:headEnd/>
            <a:tailEnd/>
          </a:ln>
        </p:spPr>
      </p:pic>
    </p:spTree>
  </p:cSld>
  <p:clrMapOvr>
    <a:masterClrMapping/>
  </p:clrMapOvr>
  <p:transition>
    <p:wipe/>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endParaRPr lang="zh-TW" altLang="en-US" dirty="0"/>
          </a:p>
        </p:txBody>
      </p:sp>
      <p:pic>
        <p:nvPicPr>
          <p:cNvPr id="51201" name="Picture 1"/>
          <p:cNvPicPr>
            <a:picLocks noGrp="1" noChangeAspect="1" noChangeArrowheads="1"/>
          </p:cNvPicPr>
          <p:nvPr>
            <p:ph idx="1"/>
          </p:nvPr>
        </p:nvPicPr>
        <p:blipFill>
          <a:blip r:embed="rId2" cstate="print"/>
          <a:stretch>
            <a:fillRect/>
          </a:stretch>
        </p:blipFill>
        <p:spPr bwMode="auto">
          <a:xfrm>
            <a:off x="1385887" y="1457462"/>
            <a:ext cx="6101954" cy="2660774"/>
          </a:xfrm>
          <a:prstGeom prst="rect">
            <a:avLst/>
          </a:prstGeom>
          <a:noFill/>
          <a:ln w="9525">
            <a:noFill/>
            <a:miter lim="800000"/>
            <a:headEnd/>
            <a:tailEnd/>
          </a:ln>
        </p:spPr>
      </p:pic>
    </p:spTree>
  </p:cSld>
  <p:clrMapOvr>
    <a:masterClrMapping/>
  </p:clrMapOvr>
  <p:transition>
    <p:wipe/>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endParaRPr lang="zh-TW" altLang="en-US" dirty="0"/>
          </a:p>
        </p:txBody>
      </p:sp>
      <p:pic>
        <p:nvPicPr>
          <p:cNvPr id="50177" name="Picture 1"/>
          <p:cNvPicPr>
            <a:picLocks noGrp="1" noChangeAspect="1" noChangeArrowheads="1"/>
          </p:cNvPicPr>
          <p:nvPr>
            <p:ph idx="1"/>
          </p:nvPr>
        </p:nvPicPr>
        <p:blipFill>
          <a:blip r:embed="rId2" cstate="print"/>
          <a:stretch>
            <a:fillRect/>
          </a:stretch>
        </p:blipFill>
        <p:spPr bwMode="auto">
          <a:xfrm>
            <a:off x="1385887" y="1577559"/>
            <a:ext cx="6101954" cy="2420579"/>
          </a:xfrm>
          <a:prstGeom prst="rect">
            <a:avLst/>
          </a:prstGeom>
          <a:noFill/>
          <a:ln w="9525">
            <a:noFill/>
            <a:miter lim="800000"/>
            <a:headEnd/>
            <a:tailEnd/>
          </a:ln>
        </p:spPr>
      </p:pic>
    </p:spTree>
  </p:cSld>
  <p:clrMapOvr>
    <a:masterClrMapping/>
  </p:clrMapOvr>
  <p:transition>
    <p:wipe/>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endParaRPr lang="zh-TW" altLang="en-US" dirty="0"/>
          </a:p>
        </p:txBody>
      </p:sp>
      <p:pic>
        <p:nvPicPr>
          <p:cNvPr id="49153" name="Picture 1"/>
          <p:cNvPicPr>
            <a:picLocks noGrp="1" noChangeAspect="1" noChangeArrowheads="1"/>
          </p:cNvPicPr>
          <p:nvPr>
            <p:ph idx="1"/>
          </p:nvPr>
        </p:nvPicPr>
        <p:blipFill>
          <a:blip r:embed="rId2" cstate="print"/>
          <a:stretch>
            <a:fillRect/>
          </a:stretch>
        </p:blipFill>
        <p:spPr bwMode="auto">
          <a:xfrm>
            <a:off x="1385887" y="1555360"/>
            <a:ext cx="6101954" cy="2464977"/>
          </a:xfrm>
          <a:prstGeom prst="rect">
            <a:avLst/>
          </a:prstGeom>
          <a:noFill/>
          <a:ln w="9525">
            <a:noFill/>
            <a:miter lim="800000"/>
            <a:headEnd/>
            <a:tailEnd/>
          </a:ln>
        </p:spPr>
      </p:pic>
    </p:spTree>
  </p:cSld>
  <p:clrMapOvr>
    <a:masterClrMapping/>
  </p:clrMapOvr>
  <p:transition>
    <p:wipe/>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r>
              <a:rPr lang="zh-TW" altLang="en-US" dirty="0"/>
              <a:t>                            頻率域濾波</a:t>
            </a:r>
          </a:p>
        </p:txBody>
      </p:sp>
      <p:pic>
        <p:nvPicPr>
          <p:cNvPr id="20509" name="Picture 29"/>
          <p:cNvPicPr>
            <a:picLocks noGrp="1" noChangeAspect="1" noChangeArrowheads="1"/>
          </p:cNvPicPr>
          <p:nvPr>
            <p:ph idx="1"/>
          </p:nvPr>
        </p:nvPicPr>
        <p:blipFill>
          <a:blip r:embed="rId2" cstate="print"/>
          <a:stretch>
            <a:fillRect/>
          </a:stretch>
        </p:blipFill>
        <p:spPr bwMode="auto">
          <a:xfrm>
            <a:off x="1385887" y="2293650"/>
            <a:ext cx="6101954" cy="988397"/>
          </a:xfrm>
          <a:prstGeom prst="rect">
            <a:avLst/>
          </a:prstGeom>
          <a:noFill/>
          <a:ln w="9525">
            <a:noFill/>
            <a:miter lim="800000"/>
            <a:headEnd/>
            <a:tailEnd/>
          </a:ln>
        </p:spPr>
      </p:pic>
      <p:sp>
        <p:nvSpPr>
          <p:cNvPr id="20482" name="Rectangle 2"/>
          <p:cNvSpPr>
            <a:spLocks noChangeArrowheads="1"/>
          </p:cNvSpPr>
          <p:nvPr/>
        </p:nvSpPr>
        <p:spPr bwMode="auto">
          <a:xfrm>
            <a:off x="1143001" y="-138499"/>
            <a:ext cx="138564" cy="276999"/>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spAutoFit/>
          </a:bodyPr>
          <a:lstStyle/>
          <a:p>
            <a:endParaRPr lang="zh-TW" altLang="en-US" sz="1350"/>
          </a:p>
        </p:txBody>
      </p:sp>
    </p:spTree>
  </p:cSld>
  <p:clrMapOvr>
    <a:masterClrMapping/>
  </p:clrMapOvr>
  <p:transition>
    <p:wipe/>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endParaRPr lang="zh-TW" altLang="en-US" dirty="0"/>
          </a:p>
        </p:txBody>
      </p:sp>
      <p:sp>
        <p:nvSpPr>
          <p:cNvPr id="10" name="內容版面配置區 9"/>
          <p:cNvSpPr>
            <a:spLocks noGrp="1"/>
          </p:cNvSpPr>
          <p:nvPr>
            <p:ph idx="1"/>
          </p:nvPr>
        </p:nvSpPr>
        <p:spPr/>
        <p:txBody>
          <a:bodyPr/>
          <a:lstStyle/>
          <a:p>
            <a:r>
              <a:rPr lang="en-US" altLang="zh-TW" dirty="0"/>
              <a:t>6-3-2</a:t>
            </a:r>
            <a:r>
              <a:rPr lang="zh-TW" altLang="en-US" dirty="0"/>
              <a:t>　頻率域濾波器</a:t>
            </a:r>
            <a:endParaRPr lang="en-US" altLang="zh-TW" dirty="0"/>
          </a:p>
          <a:p>
            <a:endParaRPr lang="zh-TW" altLang="en-US" dirty="0"/>
          </a:p>
        </p:txBody>
      </p:sp>
      <p:pic>
        <p:nvPicPr>
          <p:cNvPr id="54274" name="Picture 2"/>
          <p:cNvPicPr>
            <a:picLocks noChangeAspect="1" noChangeArrowheads="1"/>
          </p:cNvPicPr>
          <p:nvPr/>
        </p:nvPicPr>
        <p:blipFill>
          <a:blip r:embed="rId2" cstate="print"/>
          <a:srcRect/>
          <a:stretch>
            <a:fillRect/>
          </a:stretch>
        </p:blipFill>
        <p:spPr bwMode="auto">
          <a:xfrm>
            <a:off x="1763688" y="1599642"/>
            <a:ext cx="5206365" cy="1814513"/>
          </a:xfrm>
          <a:prstGeom prst="rect">
            <a:avLst/>
          </a:prstGeom>
          <a:noFill/>
          <a:ln w="9525">
            <a:noFill/>
            <a:miter lim="800000"/>
            <a:headEnd/>
            <a:tailEnd/>
          </a:ln>
        </p:spPr>
      </p:pic>
    </p:spTree>
  </p:cSld>
  <p:clrMapOvr>
    <a:masterClrMapping/>
  </p:clrMapOvr>
  <p:transition>
    <p:wipe/>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endParaRPr lang="zh-TW" altLang="en-US" dirty="0"/>
          </a:p>
        </p:txBody>
      </p:sp>
      <p:pic>
        <p:nvPicPr>
          <p:cNvPr id="53249" name="Picture 1"/>
          <p:cNvPicPr>
            <a:picLocks noGrp="1" noChangeAspect="1" noChangeArrowheads="1"/>
          </p:cNvPicPr>
          <p:nvPr>
            <p:ph idx="1"/>
          </p:nvPr>
        </p:nvPicPr>
        <p:blipFill>
          <a:blip r:embed="rId2" cstate="print"/>
          <a:stretch>
            <a:fillRect/>
          </a:stretch>
        </p:blipFill>
        <p:spPr bwMode="auto">
          <a:xfrm>
            <a:off x="1385887" y="1719922"/>
            <a:ext cx="6101954" cy="2135852"/>
          </a:xfrm>
          <a:prstGeom prst="rect">
            <a:avLst/>
          </a:prstGeom>
          <a:noFill/>
          <a:ln w="9525">
            <a:noFill/>
            <a:miter lim="800000"/>
            <a:headEnd/>
            <a:tailEnd/>
          </a:ln>
        </p:spPr>
      </p:pic>
    </p:spTree>
  </p:cSld>
  <p:clrMapOvr>
    <a:masterClrMapping/>
  </p:clrMapOvr>
  <p:transition>
    <p:wipe/>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標題 1"/>
          <p:cNvSpPr>
            <a:spLocks noGrp="1"/>
          </p:cNvSpPr>
          <p:nvPr>
            <p:ph type="title"/>
          </p:nvPr>
        </p:nvSpPr>
        <p:spPr/>
        <p:txBody>
          <a:bodyPr/>
          <a:lstStyle/>
          <a:p>
            <a:endParaRPr lang="zh-TW" altLang="en-US" dirty="0"/>
          </a:p>
        </p:txBody>
      </p:sp>
      <p:pic>
        <p:nvPicPr>
          <p:cNvPr id="15420" name="Picture 60"/>
          <p:cNvPicPr>
            <a:picLocks noGrp="1" noChangeAspect="1" noChangeArrowheads="1"/>
          </p:cNvPicPr>
          <p:nvPr>
            <p:ph idx="1"/>
          </p:nvPr>
        </p:nvPicPr>
        <p:blipFill>
          <a:blip r:embed="rId2" cstate="print"/>
          <a:stretch>
            <a:fillRect/>
          </a:stretch>
        </p:blipFill>
        <p:spPr bwMode="auto">
          <a:xfrm>
            <a:off x="1385887" y="1581050"/>
            <a:ext cx="6101954" cy="2413596"/>
          </a:xfrm>
          <a:prstGeom prst="rect">
            <a:avLst/>
          </a:prstGeom>
          <a:noFill/>
          <a:ln w="9525">
            <a:noFill/>
            <a:miter lim="800000"/>
            <a:headEnd/>
            <a:tailEnd/>
          </a:ln>
        </p:spPr>
      </p:pic>
      <p:sp>
        <p:nvSpPr>
          <p:cNvPr id="15362" name="Rectangle 2"/>
          <p:cNvSpPr>
            <a:spLocks noChangeArrowheads="1"/>
          </p:cNvSpPr>
          <p:nvPr/>
        </p:nvSpPr>
        <p:spPr bwMode="auto">
          <a:xfrm>
            <a:off x="1143001" y="-138499"/>
            <a:ext cx="138564" cy="276999"/>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spAutoFit/>
          </a:bodyPr>
          <a:lstStyle/>
          <a:p>
            <a:endParaRPr lang="zh-TW" altLang="en-US" sz="1350"/>
          </a:p>
        </p:txBody>
      </p:sp>
      <p:sp>
        <p:nvSpPr>
          <p:cNvPr id="15364" name="Rectangle 4"/>
          <p:cNvSpPr>
            <a:spLocks noChangeArrowheads="1"/>
          </p:cNvSpPr>
          <p:nvPr/>
        </p:nvSpPr>
        <p:spPr bwMode="auto">
          <a:xfrm>
            <a:off x="1143001" y="-138499"/>
            <a:ext cx="138564" cy="276999"/>
          </a:xfrm>
          <a:prstGeom prst="rect">
            <a:avLst/>
          </a:prstGeom>
          <a:noFill/>
          <a:ln w="9525">
            <a:noFill/>
            <a:miter lim="800000"/>
            <a:headEnd/>
            <a:tailEnd/>
          </a:ln>
          <a:effectLst/>
        </p:spPr>
        <p:txBody>
          <a:bodyPr vert="horz" wrap="none" lIns="68580" tIns="34290" rIns="68580" bIns="34290" numCol="1" anchor="ctr" anchorCtr="0" compatLnSpc="1">
            <a:prstTxWarp prst="textNoShape">
              <a:avLst/>
            </a:prstTxWarp>
            <a:spAutoFit/>
          </a:bodyPr>
          <a:lstStyle/>
          <a:p>
            <a:endParaRPr lang="zh-TW" altLang="en-US" sz="1350"/>
          </a:p>
        </p:txBody>
      </p:sp>
    </p:spTree>
  </p:cSld>
  <p:clrMapOvr>
    <a:masterClrMapping/>
  </p:clrMapOvr>
  <p:transition>
    <p:wipe/>
  </p:transition>
</p:sld>
</file>

<file path=ppt/slides/slide134.xml><?xml version="1.0" encoding="utf-8"?>
<p:sld xmlns:a="http://schemas.openxmlformats.org/drawingml/2006/main" xmlns:r="http://schemas.openxmlformats.org/officeDocument/2006/relationships" xmlns:p="http://schemas.openxmlformats.org/presentationml/2006/main">
  <p:cSld name="Slide 10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補充 E  ┃  頻域概念</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參考：Princeton COS 426 課程筆記</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用頻域語言重新認識本週所有濾波器</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1A6049"/>
                </a:solidFill>
                <a:latin typeface="Calibri" pitchFamily="34" charset="0"/>
                <a:ea typeface="Calibri" pitchFamily="34" charset="-122"/>
                <a:cs typeface="Calibri" pitchFamily="34" charset="-120"/>
              </a:rPr>
              <a:t>低通濾波器（Low-pass Filter）—保留低頻，移除高頻：
</a:t>
            </a:r>
            <a:r>
              <a:rPr lang="en-US" sz="1300" dirty="0">
                <a:solidFill>
                  <a:srgbClr val="1A1A1A"/>
                </a:solidFill>
                <a:latin typeface="Calibri" pitchFamily="34" charset="0"/>
                <a:ea typeface="Calibri" pitchFamily="34" charset="-122"/>
                <a:cs typeface="Calibri" pitchFamily="34" charset="-120"/>
              </a:rPr>
              <a:t>  → 均值濾波（Mean Filter）：等權重低通
  → 高斯濾波（Gaussian Filter）：加權低通（最自然）
  → 中值濾波（Median Filter）：非線性低通（抗極端值）
  效果：去除雜訊（高頻）、同時也模糊了邊緣（高頻）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高通濾波器（High-pass Filter）—保留高頻，移除低頻：
</a:t>
            </a:r>
            <a:r>
              <a:rPr lang="en-US" sz="1300" dirty="0">
                <a:solidFill>
                  <a:srgbClr val="1A1A1A"/>
                </a:solidFill>
                <a:latin typeface="Calibri" pitchFamily="34" charset="0"/>
                <a:ea typeface="Calibri" pitchFamily="34" charset="-122"/>
                <a:cs typeface="Calibri" pitchFamily="34" charset="-120"/>
              </a:rPr>
              <a:t>  → 銳化核（Sharpening Kernel）：突顯邊緣，移除平坦背景
  → Unsharp Masking = 原圖 + k×高通成分
  效果：邊緣和紋理更清晰，但雜訊也被放大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5A2D82"/>
                </a:solidFill>
                <a:latin typeface="Calibri" pitchFamily="34" charset="0"/>
                <a:ea typeface="Calibri" pitchFamily="34" charset="-122"/>
                <a:cs typeface="Calibri" pitchFamily="34" charset="-120"/>
              </a:rPr>
              <a:t>空間自適應（Adaptive）— 根據局部選低/高通：
</a:t>
            </a:r>
            <a:r>
              <a:rPr lang="en-US" sz="1300" dirty="0">
                <a:solidFill>
                  <a:srgbClr val="1A1A1A"/>
                </a:solidFill>
                <a:latin typeface="Calibri" pitchFamily="34" charset="0"/>
                <a:ea typeface="Calibri" pitchFamily="34" charset="-122"/>
                <a:cs typeface="Calibri" pitchFamily="34" charset="-120"/>
              </a:rPr>
              <a:t>  → 雙邊濾波（Bilateral）：平坦區=低通，邊緣區=保留高頻
  → CLAHE：局部自適應直方圖均衡</a:t>
            </a:r>
            <a:endParaRPr lang="en-US" sz="140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0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§6  補充 E  ┃  頻域概念</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延伸閱讀：Zeiler &amp; Fergus (2014) 'Visualizing and Understanding Convolutional Networks'</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頻域框架的深遠意義：通往 CNN 的橋梁</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一張對照表：
</a:t>
            </a:r>
            <a:r>
              <a:rPr lang="en-US" sz="1300" dirty="0">
                <a:solidFill>
                  <a:srgbClr val="1A1A1A"/>
                </a:solidFill>
                <a:latin typeface="Calibri" pitchFamily="34" charset="0"/>
                <a:ea typeface="Calibri" pitchFamily="34" charset="-122"/>
                <a:cs typeface="Calibri" pitchFamily="34" charset="-120"/>
              </a:rPr>
              <a:t>  低通濾波器  ↔  CNN 深層特徵圖（保留語意形狀）
  高通濾波器  ↔  CNN 淺層特徵圖（偵測邊緣、方向）
  自適應濾波  ↔  Attention 機制（根據內容決定關注哪裡）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1E3A5F"/>
                </a:solidFill>
                <a:latin typeface="Calibri" pitchFamily="34" charset="0"/>
                <a:ea typeface="Calibri" pitchFamily="34" charset="-122"/>
                <a:cs typeface="Calibri" pitchFamily="34" charset="-120"/>
              </a:rPr>
              <a:t>Zeiler &amp; Fergus (2014) 的視覺化實驗發現：
</a:t>
            </a:r>
            <a:r>
              <a:rPr lang="en-US" sz="1300" dirty="0">
                <a:solidFill>
                  <a:srgbClr val="1A1A1A"/>
                </a:solidFill>
                <a:latin typeface="Calibri" pitchFamily="34" charset="0"/>
                <a:ea typeface="Calibri" pitchFamily="34" charset="-122"/>
                <a:cs typeface="Calibri" pitchFamily="34" charset="-120"/>
              </a:rPr>
              <a:t>  VGG 第一層卷積核 ≈ Gabor 濾波器（方向性帶通濾波）
  → CNN 自動學到了「哪種頻率在哪個方向上最有助於分類」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本週學到的手工濾波器，就是深度學習卷積核的直覺原型：
</a:t>
            </a:r>
            <a:r>
              <a:rPr lang="en-US" sz="1300" dirty="0">
                <a:solidFill>
                  <a:srgbClr val="1A1A1A"/>
                </a:solidFill>
                <a:latin typeface="Calibri" pitchFamily="34" charset="0"/>
                <a:ea typeface="Calibri" pitchFamily="34" charset="-122"/>
                <a:cs typeface="Calibri" pitchFamily="34" charset="-120"/>
              </a:rPr>
              <a:t>  理解了 Gaussian 和 Sharpening，就理解了 CNN 第一層在提取什麼
</a:t>
            </a:r>
            <a:r>
              <a:rPr lang="en-US" sz="1300" b="1" dirty="0">
                <a:solidFill>
                  <a:srgbClr val="1E3A5F"/>
                </a:solidFill>
                <a:latin typeface="Calibri" pitchFamily="34" charset="0"/>
                <a:ea typeface="Calibri" pitchFamily="34" charset="-122"/>
                <a:cs typeface="Calibri" pitchFamily="34" charset="-120"/>
              </a:rPr>
              <a:t>  理解了 Bilateral，就理解了 Self-Attention 的空間感知思維</a:t>
            </a:r>
            <a:endParaRPr lang="en-US" sz="1400" dirty="0"/>
          </a:p>
        </p:txBody>
      </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name="Slide 106">
    <p:bg>
      <p:bgPr>
        <a:solidFill>
          <a:srgbClr val="1E3A5F"/>
        </a:solidFill>
        <a:effectLst/>
      </p:bgPr>
    </p:bg>
    <p:spTree>
      <p:nvGrpSpPr>
        <p:cNvPr id="1" name=""/>
        <p:cNvGrpSpPr/>
        <p:nvPr/>
      </p:nvGrpSpPr>
      <p:grpSpPr>
        <a:xfrm>
          <a:off x="0" y="0"/>
          <a:ext cx="0" cy="0"/>
          <a:chOff x="0" y="0"/>
          <a:chExt cx="0" cy="0"/>
        </a:xfrm>
      </p:grpSpPr>
      <p:sp>
        <p:nvSpPr>
          <p:cNvPr id="2" name="Text 0"/>
          <p:cNvSpPr/>
          <p:nvPr/>
        </p:nvSpPr>
        <p:spPr>
          <a:xfrm>
            <a:off x="5943600" y="91440"/>
            <a:ext cx="3017520" cy="3657600"/>
          </a:xfrm>
          <a:prstGeom prst="rect">
            <a:avLst/>
          </a:prstGeom>
          <a:noFill/>
          <a:ln/>
        </p:spPr>
        <p:txBody>
          <a:bodyPr wrap="square" rtlCol="0" anchor="t"/>
          <a:lstStyle/>
          <a:p>
            <a:pPr marL="0" indent="0" algn="r">
              <a:buNone/>
            </a:pPr>
            <a:r>
              <a:rPr lang="en-US" sz="16000" b="1" dirty="0">
                <a:solidFill>
                  <a:srgbClr val="243F6B"/>
                </a:solidFill>
                <a:latin typeface="Calibri" pitchFamily="34" charset="0"/>
                <a:ea typeface="Calibri" pitchFamily="34" charset="-122"/>
                <a:cs typeface="Calibri" pitchFamily="34" charset="-120"/>
              </a:rPr>
              <a:t>07</a:t>
            </a:r>
            <a:endParaRPr lang="en-US" sz="16000" dirty="0"/>
          </a:p>
        </p:txBody>
      </p:sp>
      <p:sp>
        <p:nvSpPr>
          <p:cNvPr id="3" name="Shape 1"/>
          <p:cNvSpPr/>
          <p:nvPr/>
        </p:nvSpPr>
        <p:spPr>
          <a:xfrm>
            <a:off x="457200" y="1280160"/>
            <a:ext cx="109728" cy="2103120"/>
          </a:xfrm>
          <a:prstGeom prst="rect">
            <a:avLst/>
          </a:prstGeom>
          <a:solidFill>
            <a:srgbClr val="C45C00"/>
          </a:solidFill>
          <a:ln w="12700">
            <a:solidFill>
              <a:srgbClr val="C45C00"/>
            </a:solidFill>
            <a:prstDash val="solid"/>
          </a:ln>
        </p:spPr>
        <p:txBody>
          <a:bodyPr/>
          <a:lstStyle/>
          <a:p>
            <a:endParaRPr lang="zh-TW" altLang="en-US"/>
          </a:p>
        </p:txBody>
      </p:sp>
      <p:sp>
        <p:nvSpPr>
          <p:cNvPr id="4" name="Text 2"/>
          <p:cNvSpPr/>
          <p:nvPr/>
        </p:nvSpPr>
        <p:spPr>
          <a:xfrm>
            <a:off x="685800" y="1280160"/>
            <a:ext cx="7132320" cy="914400"/>
          </a:xfrm>
          <a:prstGeom prst="rect">
            <a:avLst/>
          </a:prstGeom>
          <a:noFill/>
          <a:ln/>
        </p:spPr>
        <p:txBody>
          <a:bodyPr wrap="square" rtlCol="0" anchor="ctr"/>
          <a:lstStyle/>
          <a:p>
            <a:pPr marL="0" indent="0" algn="l">
              <a:buNone/>
            </a:pPr>
            <a:r>
              <a:rPr lang="en-US" sz="3000" b="1" dirty="0">
                <a:solidFill>
                  <a:srgbClr val="FFFFFF"/>
                </a:solidFill>
                <a:latin typeface="Calibri" pitchFamily="34" charset="0"/>
                <a:ea typeface="Calibri" pitchFamily="34" charset="-122"/>
                <a:cs typeface="Calibri" pitchFamily="34" charset="-120"/>
              </a:rPr>
              <a:t>總結、OpenCV 速查 &amp; 實作題目</a:t>
            </a:r>
            <a:endParaRPr lang="en-US" sz="3000" dirty="0"/>
          </a:p>
        </p:txBody>
      </p:sp>
      <p:sp>
        <p:nvSpPr>
          <p:cNvPr id="5" name="Text 3"/>
          <p:cNvSpPr/>
          <p:nvPr/>
        </p:nvSpPr>
        <p:spPr>
          <a:xfrm>
            <a:off x="685800" y="2240280"/>
            <a:ext cx="7132320" cy="457200"/>
          </a:xfrm>
          <a:prstGeom prst="rect">
            <a:avLst/>
          </a:prstGeom>
          <a:noFill/>
          <a:ln/>
        </p:spPr>
        <p:txBody>
          <a:bodyPr wrap="square" rtlCol="0" anchor="ctr"/>
          <a:lstStyle/>
          <a:p>
            <a:pPr marL="0" indent="0" algn="l">
              <a:buNone/>
            </a:pPr>
            <a:r>
              <a:rPr lang="en-US" sz="1300" dirty="0">
                <a:solidFill>
                  <a:srgbClr val="F5E6D3"/>
                </a:solidFill>
                <a:latin typeface="Calibri" pitchFamily="34" charset="0"/>
                <a:ea typeface="Calibri" pitchFamily="34" charset="-122"/>
                <a:cs typeface="Calibri" pitchFamily="34" charset="-120"/>
              </a:rPr>
              <a:t>Summary, API Reference &amp; Lab Assignments</a:t>
            </a:r>
            <a:endParaRPr lang="en-US" sz="1300" dirty="0"/>
          </a:p>
        </p:txBody>
      </p:sp>
    </p:spTree>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07">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總結</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本週課程整理</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本週觀念總結（一）：影像格式與單點運算</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影像與視訊格式（§1）：
</a:t>
            </a:r>
            <a:r>
              <a:rPr lang="en-US" sz="1300" dirty="0">
                <a:solidFill>
                  <a:srgbClr val="1A1A1A"/>
                </a:solidFill>
                <a:latin typeface="Calibri" pitchFamily="34" charset="0"/>
                <a:ea typeface="Calibri" pitchFamily="34" charset="-122"/>
                <a:cs typeface="Calibri" pitchFamily="34" charset="-120"/>
              </a:rPr>
              <a:t>  • JPEG（有損）壓縮率 97%，適合傳輸；PNG（無損）適合開發和訓練資料
  • H.264 利用 I/P/B 幀的時間壓縮，cv2.VideoCapture() 自動解碼
</a:t>
            </a:r>
            <a:r>
              <a:rPr lang="en-US" sz="1300" b="1" dirty="0">
                <a:solidFill>
                  <a:srgbClr val="C45C00"/>
                </a:solidFill>
                <a:latin typeface="Calibri" pitchFamily="34" charset="0"/>
                <a:ea typeface="Calibri" pitchFamily="34" charset="-122"/>
                <a:cs typeface="Calibri" pitchFamily="34" charset="-120"/>
              </a:rPr>
              <a:t>  • ⚠️ OpenCV 使用 BGR 通道順序（不是 RGB）！
</a:t>
            </a:r>
            <a:r>
              <a:rPr lang="en-US" sz="1400" b="1" dirty="0">
                <a:solidFill>
                  <a:srgbClr val="C45C00"/>
                </a:solidFill>
                <a:latin typeface="Calibri" pitchFamily="34" charset="0"/>
                <a:ea typeface="Calibri" pitchFamily="34" charset="-122"/>
                <a:cs typeface="Calibri" pitchFamily="34" charset="-120"/>
              </a:rPr>
              <a:t>單點運算（§2）：
</a:t>
            </a:r>
            <a:r>
              <a:rPr lang="en-US" sz="1300" dirty="0">
                <a:solidFill>
                  <a:srgbClr val="1A1A1A"/>
                </a:solidFill>
                <a:latin typeface="Calibri" pitchFamily="34" charset="0"/>
                <a:ea typeface="Calibri" pitchFamily="34" charset="-122"/>
                <a:cs typeface="Calibri" pitchFamily="34" charset="-120"/>
              </a:rPr>
              <a:t>  • Negative：g = 255 − f
  • Brightness：g = f + c   ← 注意 uint8 Clipping！
  • Contrast：g = a·f + b   → cv2.convertScaleAbs(img, alpha=a, beta=b)
</a:t>
            </a:r>
            <a:r>
              <a:rPr lang="en-US" sz="1400" b="1" dirty="0">
                <a:solidFill>
                  <a:srgbClr val="C45C00"/>
                </a:solidFill>
                <a:latin typeface="Calibri" pitchFamily="34" charset="0"/>
                <a:ea typeface="Calibri" pitchFamily="34" charset="-122"/>
                <a:cs typeface="Calibri" pitchFamily="34" charset="-120"/>
              </a:rPr>
              <a:t>Gamma 矯正 + LUT（§3）：
</a:t>
            </a:r>
            <a:r>
              <a:rPr lang="en-US" sz="1300" dirty="0">
                <a:solidFill>
                  <a:srgbClr val="1A1A1A"/>
                </a:solidFill>
                <a:latin typeface="Calibri" pitchFamily="34" charset="0"/>
                <a:ea typeface="Calibri" pitchFamily="34" charset="-122"/>
                <a:cs typeface="Calibri" pitchFamily="34" charset="-120"/>
              </a:rPr>
              <a:t>  • Gamma：g = (f/255)^γ × 255，γ&lt;1 提亮暗部，γ&gt;1 壓暗
</a:t>
            </a:r>
            <a:r>
              <a:rPr lang="en-US" sz="1300" b="1" dirty="0">
                <a:solidFill>
                  <a:srgbClr val="1E3A5F"/>
                </a:solidFill>
                <a:latin typeface="Calibri" pitchFamily="34" charset="0"/>
                <a:ea typeface="Calibri" pitchFamily="34" charset="-122"/>
                <a:cs typeface="Calibri" pitchFamily="34" charset="-120"/>
              </a:rPr>
              <a:t>  • LUT 加速：預建 256 元素查找表，快 10～30 倍！</a:t>
            </a:r>
            <a:endParaRPr lang="en-US" sz="140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0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總結</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本週課程整理</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本週觀念總結（二）：直方圖、CLAHE 與閾值化</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直方圖分析（§4）：
</a:t>
            </a:r>
            <a:r>
              <a:rPr lang="en-US" sz="1300" dirty="0">
                <a:solidFill>
                  <a:srgbClr val="1A1A1A"/>
                </a:solidFill>
                <a:latin typeface="Calibri" pitchFamily="34" charset="0"/>
                <a:ea typeface="Calibri" pitchFamily="34" charset="-122"/>
                <a:cs typeface="Calibri" pitchFamily="34" charset="-120"/>
              </a:rPr>
              <a:t>  • h(k) = 像素值為 k 的總像素數，長度 256 的統計陣列
  • 直方圖形狀診斷：右偏=過曝，左偏=欠曝，中間擠=低對比
  • 全域等化（equalizeHist）→ 快速但可能放大雜訊
  • CLAHE（createCLAHE）→ 局部自適應 + Clip Limit，業界標準！
</a:t>
            </a:r>
          </a:p>
          <a:p>
            <a:pPr marL="0" indent="0">
              <a:buNone/>
            </a:pPr>
            <a:r>
              <a:rPr lang="en-US" sz="1300" dirty="0">
                <a:solidFill>
                  <a:srgbClr val="1A1A1A"/>
                </a:solidFill>
                <a:latin typeface="Calibri" pitchFamily="34" charset="0"/>
                <a:ea typeface="Calibri" pitchFamily="34" charset="-122"/>
                <a:cs typeface="Calibri" pitchFamily="34" charset="-120"/>
              </a:rPr>
              <a:t>
</a:t>
            </a:r>
            <a:r>
              <a:rPr lang="en-US" sz="1400" b="1" dirty="0">
                <a:solidFill>
                  <a:srgbClr val="C45C00"/>
                </a:solidFill>
                <a:latin typeface="Calibri" pitchFamily="34" charset="0"/>
                <a:ea typeface="Calibri" pitchFamily="34" charset="-122"/>
                <a:cs typeface="Calibri" pitchFamily="34" charset="-120"/>
              </a:rPr>
              <a:t>閾值化（§4）：
</a:t>
            </a:r>
            <a:r>
              <a:rPr lang="en-US" sz="1300" dirty="0">
                <a:solidFill>
                  <a:srgbClr val="1A1A1A"/>
                </a:solidFill>
                <a:latin typeface="Calibri" pitchFamily="34" charset="0"/>
                <a:ea typeface="Calibri" pitchFamily="34" charset="-122"/>
                <a:cs typeface="Calibri" pitchFamily="34" charset="-120"/>
              </a:rPr>
              <a:t>  • 固定閾值 T：cv2.threshold(img, T, 255, cv2.THRESH_BINARY)
  • Otsu 自動閾值：cv2.threshold(img, 0, 255, cv2.THRESH_OTSU)
  • Otsu 計算量 O(256)，自動找最佳 T，不需要手動設定
</a:t>
            </a:r>
            <a:r>
              <a:rPr lang="en-US" sz="1300" b="1" dirty="0">
                <a:solidFill>
                  <a:srgbClr val="C45C00"/>
                </a:solidFill>
                <a:latin typeface="Calibri" pitchFamily="34" charset="0"/>
                <a:ea typeface="Calibri" pitchFamily="34" charset="-122"/>
                <a:cs typeface="Calibri" pitchFamily="34" charset="-120"/>
              </a:rPr>
              <a:t>  • 最佳實務：先中值濾波去噪 → 再 Otsu 閾值化</a:t>
            </a:r>
            <a:endParaRPr lang="en-US" sz="1400" dirty="0"/>
          </a:p>
        </p:txBody>
      </p:sp>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0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總結</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本週課程整理</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本週觀念總結（三）：卷積、濾波器與頻域觀點</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卷積基礎（§5）：
</a:t>
            </a:r>
            <a:r>
              <a:rPr lang="en-US" sz="1300" dirty="0">
                <a:solidFill>
                  <a:srgbClr val="1A1A1A"/>
                </a:solidFill>
                <a:latin typeface="Calibri" pitchFamily="34" charset="0"/>
                <a:ea typeface="Calibri" pitchFamily="34" charset="-122"/>
                <a:cs typeface="Calibri" pitchFamily="34" charset="-120"/>
              </a:rPr>
              <a:t>  • 2D 卷積：核在影像上滑動，每個位置做「逐元素相乘加總（MAC）」
  • Padding 策略：Mirror 反射（cv2.BORDER_REFLECT_101）最自然，OpenCV 預設
  • 均值核：1/9 全 1，低通；中值濾波：取排序後中位數，消椒鹽雜訊最佳
</a:t>
            </a:r>
            <a:r>
              <a:rPr lang="en-US" sz="1400" b="1" dirty="0">
                <a:solidFill>
                  <a:srgbClr val="C45C00"/>
                </a:solidFill>
                <a:latin typeface="Calibri" pitchFamily="34" charset="0"/>
                <a:ea typeface="Calibri" pitchFamily="34" charset="-122"/>
                <a:cs typeface="Calibri" pitchFamily="34" charset="-120"/>
              </a:rPr>
              <a:t>高斯與銳化（§6）：
</a:t>
            </a:r>
            <a:r>
              <a:rPr lang="en-US" sz="1300" dirty="0">
                <a:solidFill>
                  <a:srgbClr val="1A1A1A"/>
                </a:solidFill>
                <a:latin typeface="Calibri" pitchFamily="34" charset="0"/>
                <a:ea typeface="Calibri" pitchFamily="34" charset="-122"/>
                <a:cs typeface="Calibri" pitchFamily="34" charset="-120"/>
              </a:rPr>
              <a:t>  • 高斯：exp(−(x²+y²)/2σ²)，平滑且自然，比均值少方塊感
  • 雙邊：空間距離 × 亮度相似度，保邊平滑（美顏底層）
  • 銳化：中心高正、周圍負的核；Unsharp Mask = 原圖 + k×(原圖−模糊圖)
</a:t>
            </a:r>
            <a:r>
              <a:rPr lang="en-US" sz="1400" b="1" dirty="0" err="1">
                <a:solidFill>
                  <a:srgbClr val="C45C00"/>
                </a:solidFill>
                <a:latin typeface="Calibri" pitchFamily="34" charset="0"/>
                <a:ea typeface="Calibri" pitchFamily="34" charset="-122"/>
                <a:cs typeface="Calibri" pitchFamily="34" charset="-120"/>
              </a:rPr>
              <a:t>頻域概念（補充</a:t>
            </a:r>
            <a:r>
              <a:rPr lang="en-US" sz="1400" b="1" dirty="0">
                <a:solidFill>
                  <a:srgbClr val="C45C00"/>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 低通 = 均值/高斯/中值（平滑，去雜訊）
  • 高通 = 銳化核（強調邊緣），本週手工核 = CNN 第一層的直覺原型！
</a:t>
            </a:r>
            <a:r>
              <a:rPr lang="en-US" sz="1300" b="1" dirty="0">
                <a:solidFill>
                  <a:srgbClr val="C45C00"/>
                </a:solidFill>
                <a:latin typeface="Calibri" pitchFamily="34" charset="0"/>
                <a:ea typeface="Calibri" pitchFamily="34" charset="-122"/>
                <a:cs typeface="Calibri" pitchFamily="34" charset="-120"/>
              </a:rPr>
              <a:t>  ⭐ 本週所有技術只改變像素數值，不改變空間位置！</a:t>
            </a:r>
            <a:endParaRPr lang="en-US" sz="140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1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總結</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課程設計</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學習界線重申：這週我們做了什麼，沒做什麼</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本週學習邊界（非常重要！）：
</a:t>
            </a:r>
            <a:r>
              <a:rPr lang="en-US" sz="1400" b="1" dirty="0">
                <a:solidFill>
                  <a:srgbClr val="1A6049"/>
                </a:solidFill>
                <a:latin typeface="Calibri" pitchFamily="34" charset="0"/>
                <a:ea typeface="Calibri" pitchFamily="34" charset="-122"/>
                <a:cs typeface="Calibri" pitchFamily="34" charset="-120"/>
              </a:rPr>
              <a:t>  ✅ 改變了：每個像素的「數值大小」
</a:t>
            </a:r>
            <a:r>
              <a:rPr lang="en-US" sz="1300" dirty="0">
                <a:solidFill>
                  <a:srgbClr val="1A1A1A"/>
                </a:solidFill>
                <a:latin typeface="Calibri" pitchFamily="34" charset="0"/>
                <a:ea typeface="Calibri" pitchFamily="34" charset="-122"/>
                <a:cs typeface="Calibri" pitchFamily="34" charset="-120"/>
              </a:rPr>
              <a:t>  ✅ 學會了：亮度、對比度、Gamma、直方圖、閾值、卷積、濾波
  ✅ 影響了：影像的整體亮暗、對比、雜訊、邊緣清晰度
</a:t>
            </a:r>
            <a:r>
              <a:rPr lang="en-US" sz="1400" b="1" dirty="0">
                <a:solidFill>
                  <a:srgbClr val="8B1A1A"/>
                </a:solidFill>
                <a:latin typeface="Calibri" pitchFamily="34" charset="0"/>
                <a:ea typeface="Calibri" pitchFamily="34" charset="-122"/>
                <a:cs typeface="Calibri" pitchFamily="34" charset="-120"/>
              </a:rPr>
              <a:t>  ❌ 沒有改變：任何像素的「空間位置」
</a:t>
            </a:r>
            <a:r>
              <a:rPr lang="en-US" sz="1300" dirty="0">
                <a:solidFill>
                  <a:srgbClr val="1A1A1A"/>
                </a:solidFill>
                <a:latin typeface="Calibri" pitchFamily="34" charset="0"/>
                <a:ea typeface="Calibri" pitchFamily="34" charset="-122"/>
                <a:cs typeface="Calibri" pitchFamily="34" charset="-120"/>
              </a:rPr>
              <a:t>  ❌ 沒有涉及：旋轉、縮放、平移、透視變換
  ❌ 沒有涉及：彩色空間轉換（HSV、Lab，下週課程）
  ❌ 沒有涉及：形態學（Morphology，侵蝕/膨脹）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err="1">
                <a:solidFill>
                  <a:srgbClr val="1E3A5F"/>
                </a:solidFill>
                <a:latin typeface="Calibri" pitchFamily="34" charset="0"/>
                <a:ea typeface="Calibri" pitchFamily="34" charset="-122"/>
                <a:cs typeface="Calibri" pitchFamily="34" charset="-120"/>
              </a:rPr>
              <a:t>下週主題：移動像素的</a:t>
            </a:r>
            <a:r>
              <a:rPr lang="zh-TW" altLang="en-US" sz="1400" b="1" dirty="0">
                <a:solidFill>
                  <a:srgbClr val="1E3A5F"/>
                </a:solidFill>
                <a:latin typeface="Calibri" pitchFamily="34" charset="0"/>
                <a:ea typeface="Calibri" pitchFamily="34" charset="-122"/>
                <a:cs typeface="Calibri" pitchFamily="34" charset="-120"/>
              </a:rPr>
              <a:t>技術</a:t>
            </a:r>
            <a:r>
              <a:rPr lang="en-US" sz="1400" b="1" dirty="0">
                <a:solidFill>
                  <a:srgbClr val="1E3A5F"/>
                </a:solidFill>
                <a:latin typeface="Calibri" pitchFamily="34" charset="0"/>
                <a:ea typeface="Calibri" pitchFamily="34" charset="-122"/>
                <a:cs typeface="Calibri" pitchFamily="34" charset="-120"/>
              </a:rPr>
              <a:t>
</a:t>
            </a:r>
            <a:r>
              <a:rPr lang="en-US" sz="1300" dirty="0">
                <a:solidFill>
                  <a:srgbClr val="1A1A1A"/>
                </a:solidFill>
                <a:latin typeface="Calibri" pitchFamily="34" charset="0"/>
                <a:ea typeface="Calibri" pitchFamily="34" charset="-122"/>
                <a:cs typeface="Calibri" pitchFamily="34" charset="-120"/>
              </a:rPr>
              <a:t>  仿射轉換（Affine Transform）：旋轉、縮放、平移
  透視矯正（Perspective Transform）：書本掃描、車牌矯正</a:t>
            </a:r>
            <a:endParaRPr lang="en-US" sz="1400" dirty="0"/>
          </a:p>
        </p:txBody>
      </p:sp>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1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OpenCV 速查</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官方文件 docs.opencv.org</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OpenCV 登場：不需要自己寫雙層 for loop</a:t>
            </a:r>
            <a:endParaRPr lang="en-US" sz="2000" dirty="0"/>
          </a:p>
        </p:txBody>
      </p:sp>
      <p:sp>
        <p:nvSpPr>
          <p:cNvPr id="7" name="Text 5"/>
          <p:cNvSpPr/>
          <p:nvPr/>
        </p:nvSpPr>
        <p:spPr>
          <a:xfrm>
            <a:off x="320040" y="1115568"/>
            <a:ext cx="8503920" cy="3520440"/>
          </a:xfrm>
          <a:prstGeom prst="rect">
            <a:avLst/>
          </a:prstGeom>
          <a:noFill/>
          <a:ln/>
        </p:spPr>
        <p:txBody>
          <a:bodyPr wrap="square" rtlCol="0" anchor="t"/>
          <a:lstStyle/>
          <a:p>
            <a:pPr marL="0" indent="0">
              <a:buNone/>
            </a:pPr>
            <a:r>
              <a:rPr lang="en-US" sz="1400" b="1" dirty="0">
                <a:solidFill>
                  <a:srgbClr val="C45C00"/>
                </a:solidFill>
                <a:latin typeface="Calibri" pitchFamily="34" charset="0"/>
                <a:ea typeface="Calibri" pitchFamily="34" charset="-122"/>
                <a:cs typeface="Calibri" pitchFamily="34" charset="-120"/>
              </a:rPr>
              <a:t>效能對比（1080p 灰階影像，Raspberry Pi 4）：
</a:t>
            </a:r>
            <a:r>
              <a:rPr lang="en-US" sz="1300" dirty="0">
                <a:solidFill>
                  <a:srgbClr val="1A1A1A"/>
                </a:solidFill>
                <a:latin typeface="Calibri" pitchFamily="34" charset="0"/>
                <a:ea typeface="Calibri" pitchFamily="34" charset="-122"/>
                <a:cs typeface="Calibri" pitchFamily="34" charset="-120"/>
              </a:rPr>
              <a:t>  自己寫的 Python for loop：               ~5000 ms / 幀
  NumPy 向量化操作（如 img + 50）：         ~15 ms / 幀
  cv2.GaussianBlur()（C++ + SIMD）：       ~2 ms / 幀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  → OpenCV 比純 Python 快 2500 倍！
</a:t>
            </a:r>
            <a:r>
              <a:rPr lang="en-US" sz="1400" b="1" dirty="0">
                <a:solidFill>
                  <a:srgbClr val="1E3A5F"/>
                </a:solidFill>
                <a:latin typeface="Calibri" pitchFamily="34" charset="0"/>
                <a:ea typeface="Calibri" pitchFamily="34" charset="-122"/>
                <a:cs typeface="Calibri" pitchFamily="34" charset="-120"/>
              </a:rPr>
              <a:t>OpenCV 的實作優化：
</a:t>
            </a:r>
            <a:r>
              <a:rPr lang="en-US" sz="1300" dirty="0">
                <a:solidFill>
                  <a:srgbClr val="1A1A1A"/>
                </a:solidFill>
                <a:latin typeface="Calibri" pitchFamily="34" charset="0"/>
                <a:ea typeface="Calibri" pitchFamily="34" charset="-122"/>
                <a:cs typeface="Calibri" pitchFamily="34" charset="-120"/>
              </a:rPr>
              <a:t>  • 核心算法用 C++ 實作，Python 只是薄薄的封裝
  • 自動使用 SSE/AVX SIMD 向量化指令（一次處理 8/16 個像素）
  • 部分操作支援多線程（OpenMP）
  • 支援 CUDA GPU 加速（OpenCV GPU 模組）
</a:t>
            </a:r>
            <a:r>
              <a:rPr lang="en-US" sz="400" dirty="0">
                <a:solidFill>
                  <a:srgbClr val="000000"/>
                </a:solidFill>
                <a:latin typeface="Calibri" pitchFamily="34" charset="0"/>
                <a:ea typeface="Calibri" pitchFamily="34" charset="-122"/>
                <a:cs typeface="Calibri" pitchFamily="34" charset="-120"/>
              </a:rPr>
              <a:t>
</a:t>
            </a:r>
            <a:endParaRPr lang="en-US" sz="1400" dirty="0"/>
          </a:p>
          <a:p>
            <a:pPr marL="0" indent="0">
              <a:buNone/>
            </a:pPr>
            <a:r>
              <a:rPr lang="en-US" sz="1400" b="1" dirty="0">
                <a:solidFill>
                  <a:srgbClr val="C45C00"/>
                </a:solidFill>
                <a:latin typeface="Calibri" pitchFamily="34" charset="0"/>
                <a:ea typeface="Calibri" pitchFamily="34" charset="-122"/>
                <a:cs typeface="Calibri" pitchFamily="34" charset="-120"/>
              </a:rPr>
              <a:t>嵌入式開發守則：永遠優先使用 OpenCV 的內建函式，不要自己寫迴圈！</a:t>
            </a:r>
            <a:endParaRPr lang="en-US" sz="1400" dirty="0"/>
          </a:p>
        </p:txBody>
      </p:sp>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name="Slide 11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OpenCV 速查表 (1/5)</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4.x 官方文件 docs.opencv.org</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OpenCV API 速查表：亮度 / 對比度 / 通道操作</a:t>
            </a:r>
            <a:endParaRPr lang="en-US" sz="2000" dirty="0"/>
          </a:p>
        </p:txBody>
      </p:sp>
      <p:sp>
        <p:nvSpPr>
          <p:cNvPr id="7" name="Shape 5"/>
          <p:cNvSpPr/>
          <p:nvPr/>
        </p:nvSpPr>
        <p:spPr>
          <a:xfrm>
            <a:off x="320040" y="1115568"/>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8" name="Shape 6"/>
          <p:cNvSpPr/>
          <p:nvPr/>
        </p:nvSpPr>
        <p:spPr>
          <a:xfrm>
            <a:off x="320040" y="1115568"/>
            <a:ext cx="64008" cy="347472"/>
          </a:xfrm>
          <a:prstGeom prst="rect">
            <a:avLst/>
          </a:prstGeom>
          <a:solidFill>
            <a:srgbClr val="1E3A5F"/>
          </a:solidFill>
          <a:ln w="12700">
            <a:solidFill>
              <a:srgbClr val="1E3A5F"/>
            </a:solidFill>
            <a:prstDash val="solid"/>
          </a:ln>
        </p:spPr>
        <p:txBody>
          <a:bodyPr/>
          <a:lstStyle/>
          <a:p>
            <a:endParaRPr lang="zh-TW" altLang="en-US"/>
          </a:p>
        </p:txBody>
      </p:sp>
      <p:sp>
        <p:nvSpPr>
          <p:cNvPr id="9" name="Text 7"/>
          <p:cNvSpPr/>
          <p:nvPr/>
        </p:nvSpPr>
        <p:spPr>
          <a:xfrm>
            <a:off x="420624" y="111556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cv2.convertScaleAbs(img, alpha=a, beta=b)</a:t>
            </a:r>
            <a:endParaRPr lang="en-US" sz="950" dirty="0"/>
          </a:p>
        </p:txBody>
      </p:sp>
      <p:sp>
        <p:nvSpPr>
          <p:cNvPr id="10" name="Text 8"/>
          <p:cNvSpPr/>
          <p:nvPr/>
        </p:nvSpPr>
        <p:spPr>
          <a:xfrm>
            <a:off x="6400800" y="111556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線性對比調整  g = a·f + b，安全截斷</a:t>
            </a:r>
            <a:endParaRPr lang="en-US" sz="950" dirty="0"/>
          </a:p>
        </p:txBody>
      </p:sp>
      <p:sp>
        <p:nvSpPr>
          <p:cNvPr id="11" name="Shape 9"/>
          <p:cNvSpPr/>
          <p:nvPr/>
        </p:nvSpPr>
        <p:spPr>
          <a:xfrm>
            <a:off x="320040" y="1499616"/>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12" name="Shape 10"/>
          <p:cNvSpPr/>
          <p:nvPr/>
        </p:nvSpPr>
        <p:spPr>
          <a:xfrm>
            <a:off x="320040" y="1499616"/>
            <a:ext cx="64008" cy="347472"/>
          </a:xfrm>
          <a:prstGeom prst="rect">
            <a:avLst/>
          </a:prstGeom>
          <a:solidFill>
            <a:srgbClr val="1E3A5F"/>
          </a:solidFill>
          <a:ln w="12700">
            <a:solidFill>
              <a:srgbClr val="1E3A5F"/>
            </a:solidFill>
            <a:prstDash val="solid"/>
          </a:ln>
        </p:spPr>
        <p:txBody>
          <a:bodyPr/>
          <a:lstStyle/>
          <a:p>
            <a:endParaRPr lang="zh-TW" altLang="en-US"/>
          </a:p>
        </p:txBody>
      </p:sp>
      <p:sp>
        <p:nvSpPr>
          <p:cNvPr id="13" name="Text 11"/>
          <p:cNvSpPr/>
          <p:nvPr/>
        </p:nvSpPr>
        <p:spPr>
          <a:xfrm>
            <a:off x="420624" y="1499616"/>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cv2.add(img, scalar)</a:t>
            </a:r>
            <a:endParaRPr lang="en-US" sz="950" dirty="0"/>
          </a:p>
        </p:txBody>
      </p:sp>
      <p:sp>
        <p:nvSpPr>
          <p:cNvPr id="14" name="Text 12"/>
          <p:cNvSpPr/>
          <p:nvPr/>
        </p:nvSpPr>
        <p:spPr>
          <a:xfrm>
            <a:off x="6400800" y="1499616"/>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安全加法，自動截斷，不溢位</a:t>
            </a:r>
            <a:endParaRPr lang="en-US" sz="950" dirty="0"/>
          </a:p>
        </p:txBody>
      </p:sp>
      <p:sp>
        <p:nvSpPr>
          <p:cNvPr id="15" name="Shape 13"/>
          <p:cNvSpPr/>
          <p:nvPr/>
        </p:nvSpPr>
        <p:spPr>
          <a:xfrm>
            <a:off x="320040" y="1883664"/>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16" name="Shape 14"/>
          <p:cNvSpPr/>
          <p:nvPr/>
        </p:nvSpPr>
        <p:spPr>
          <a:xfrm>
            <a:off x="320040" y="1883664"/>
            <a:ext cx="64008" cy="347472"/>
          </a:xfrm>
          <a:prstGeom prst="rect">
            <a:avLst/>
          </a:prstGeom>
          <a:solidFill>
            <a:srgbClr val="1E3A5F"/>
          </a:solidFill>
          <a:ln w="12700">
            <a:solidFill>
              <a:srgbClr val="1E3A5F"/>
            </a:solidFill>
            <a:prstDash val="solid"/>
          </a:ln>
        </p:spPr>
        <p:txBody>
          <a:bodyPr/>
          <a:lstStyle/>
          <a:p>
            <a:endParaRPr lang="zh-TW" altLang="en-US"/>
          </a:p>
        </p:txBody>
      </p:sp>
      <p:sp>
        <p:nvSpPr>
          <p:cNvPr id="17" name="Text 15"/>
          <p:cNvSpPr/>
          <p:nvPr/>
        </p:nvSpPr>
        <p:spPr>
          <a:xfrm>
            <a:off x="420624" y="1883664"/>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cv2.subtract(img, scalar)</a:t>
            </a:r>
            <a:endParaRPr lang="en-US" sz="950" dirty="0"/>
          </a:p>
        </p:txBody>
      </p:sp>
      <p:sp>
        <p:nvSpPr>
          <p:cNvPr id="18" name="Text 16"/>
          <p:cNvSpPr/>
          <p:nvPr/>
        </p:nvSpPr>
        <p:spPr>
          <a:xfrm>
            <a:off x="6400800" y="1883664"/>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安全減法，不溢位</a:t>
            </a:r>
            <a:endParaRPr lang="en-US" sz="950" dirty="0"/>
          </a:p>
        </p:txBody>
      </p:sp>
      <p:sp>
        <p:nvSpPr>
          <p:cNvPr id="19" name="Shape 17"/>
          <p:cNvSpPr/>
          <p:nvPr/>
        </p:nvSpPr>
        <p:spPr>
          <a:xfrm>
            <a:off x="320040" y="2267712"/>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0" name="Shape 18"/>
          <p:cNvSpPr/>
          <p:nvPr/>
        </p:nvSpPr>
        <p:spPr>
          <a:xfrm>
            <a:off x="320040" y="2267712"/>
            <a:ext cx="64008" cy="347472"/>
          </a:xfrm>
          <a:prstGeom prst="rect">
            <a:avLst/>
          </a:prstGeom>
          <a:solidFill>
            <a:srgbClr val="1E3A5F"/>
          </a:solidFill>
          <a:ln w="12700">
            <a:solidFill>
              <a:srgbClr val="1E3A5F"/>
            </a:solidFill>
            <a:prstDash val="solid"/>
          </a:ln>
        </p:spPr>
        <p:txBody>
          <a:bodyPr/>
          <a:lstStyle/>
          <a:p>
            <a:endParaRPr lang="zh-TW" altLang="en-US"/>
          </a:p>
        </p:txBody>
      </p:sp>
      <p:sp>
        <p:nvSpPr>
          <p:cNvPr id="21" name="Text 19"/>
          <p:cNvSpPr/>
          <p:nvPr/>
        </p:nvSpPr>
        <p:spPr>
          <a:xfrm>
            <a:off x="420624" y="2267712"/>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cv2.addWeighted(img1, a, img2, b, 0)</a:t>
            </a:r>
            <a:endParaRPr lang="en-US" sz="950" dirty="0"/>
          </a:p>
        </p:txBody>
      </p:sp>
      <p:sp>
        <p:nvSpPr>
          <p:cNvPr id="22" name="Text 20"/>
          <p:cNvSpPr/>
          <p:nvPr/>
        </p:nvSpPr>
        <p:spPr>
          <a:xfrm>
            <a:off x="6400800" y="2267712"/>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加權疊加  g = a·f1 + b·f2</a:t>
            </a:r>
            <a:endParaRPr lang="en-US" sz="950" dirty="0"/>
          </a:p>
        </p:txBody>
      </p:sp>
      <p:sp>
        <p:nvSpPr>
          <p:cNvPr id="23" name="Shape 21"/>
          <p:cNvSpPr/>
          <p:nvPr/>
        </p:nvSpPr>
        <p:spPr>
          <a:xfrm>
            <a:off x="320040" y="2651760"/>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24" name="Shape 22"/>
          <p:cNvSpPr/>
          <p:nvPr/>
        </p:nvSpPr>
        <p:spPr>
          <a:xfrm>
            <a:off x="320040" y="2651760"/>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25" name="Text 23"/>
          <p:cNvSpPr/>
          <p:nvPr/>
        </p:nvSpPr>
        <p:spPr>
          <a:xfrm>
            <a:off x="420624" y="2651760"/>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b, g, r = cv2.split(img)</a:t>
            </a:r>
            <a:endParaRPr lang="en-US" sz="950" dirty="0"/>
          </a:p>
        </p:txBody>
      </p:sp>
      <p:sp>
        <p:nvSpPr>
          <p:cNvPr id="26" name="Text 24"/>
          <p:cNvSpPr/>
          <p:nvPr/>
        </p:nvSpPr>
        <p:spPr>
          <a:xfrm>
            <a:off x="6400800" y="2651760"/>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分離 BGR 三通道，各為 (H,W) uint8</a:t>
            </a:r>
            <a:endParaRPr lang="en-US" sz="950" dirty="0"/>
          </a:p>
        </p:txBody>
      </p:sp>
      <p:sp>
        <p:nvSpPr>
          <p:cNvPr id="27" name="Shape 25"/>
          <p:cNvSpPr/>
          <p:nvPr/>
        </p:nvSpPr>
        <p:spPr>
          <a:xfrm>
            <a:off x="320040" y="3035808"/>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8" name="Shape 26"/>
          <p:cNvSpPr/>
          <p:nvPr/>
        </p:nvSpPr>
        <p:spPr>
          <a:xfrm>
            <a:off x="320040" y="3035808"/>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29" name="Text 27"/>
          <p:cNvSpPr/>
          <p:nvPr/>
        </p:nvSpPr>
        <p:spPr>
          <a:xfrm>
            <a:off x="420624" y="303580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cv2.merge([b, g, r])</a:t>
            </a:r>
            <a:endParaRPr lang="en-US" sz="950" dirty="0"/>
          </a:p>
        </p:txBody>
      </p:sp>
      <p:sp>
        <p:nvSpPr>
          <p:cNvPr id="30" name="Text 28"/>
          <p:cNvSpPr/>
          <p:nvPr/>
        </p:nvSpPr>
        <p:spPr>
          <a:xfrm>
            <a:off x="6400800" y="303580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合併三通道為 (H,W,3) BGR 影像</a:t>
            </a:r>
            <a:endParaRPr lang="en-US" sz="950" dirty="0"/>
          </a:p>
        </p:txBody>
      </p:sp>
      <p:sp>
        <p:nvSpPr>
          <p:cNvPr id="31" name="Shape 29"/>
          <p:cNvSpPr/>
          <p:nvPr/>
        </p:nvSpPr>
        <p:spPr>
          <a:xfrm>
            <a:off x="320040" y="3419856"/>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32" name="Shape 30"/>
          <p:cNvSpPr/>
          <p:nvPr/>
        </p:nvSpPr>
        <p:spPr>
          <a:xfrm>
            <a:off x="320040" y="3419856"/>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33" name="Text 31"/>
          <p:cNvSpPr/>
          <p:nvPr/>
        </p:nvSpPr>
        <p:spPr>
          <a:xfrm>
            <a:off x="420624" y="3419856"/>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cv2.cvtColor(img, cv2.COLOR_BGR2GRAY)</a:t>
            </a:r>
            <a:endParaRPr lang="en-US" sz="950" dirty="0"/>
          </a:p>
        </p:txBody>
      </p:sp>
      <p:sp>
        <p:nvSpPr>
          <p:cNvPr id="34" name="Text 32"/>
          <p:cNvSpPr/>
          <p:nvPr/>
        </p:nvSpPr>
        <p:spPr>
          <a:xfrm>
            <a:off x="6400800" y="3419856"/>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彩色轉灰階（加權平均）</a:t>
            </a:r>
            <a:endParaRPr lang="en-US" sz="950" dirty="0"/>
          </a:p>
        </p:txBody>
      </p:sp>
      <p:sp>
        <p:nvSpPr>
          <p:cNvPr id="35" name="Shape 33"/>
          <p:cNvSpPr/>
          <p:nvPr/>
        </p:nvSpPr>
        <p:spPr>
          <a:xfrm>
            <a:off x="320040" y="3803904"/>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36" name="Shape 34"/>
          <p:cNvSpPr/>
          <p:nvPr/>
        </p:nvSpPr>
        <p:spPr>
          <a:xfrm>
            <a:off x="320040" y="3803904"/>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37" name="Text 35"/>
          <p:cNvSpPr/>
          <p:nvPr/>
        </p:nvSpPr>
        <p:spPr>
          <a:xfrm>
            <a:off x="420624" y="3803904"/>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cv2.cvtColor(img, cv2.COLOR_BGR2RGB)</a:t>
            </a:r>
            <a:endParaRPr lang="en-US" sz="950" dirty="0"/>
          </a:p>
        </p:txBody>
      </p:sp>
      <p:sp>
        <p:nvSpPr>
          <p:cNvPr id="38" name="Text 36"/>
          <p:cNvSpPr/>
          <p:nvPr/>
        </p:nvSpPr>
        <p:spPr>
          <a:xfrm>
            <a:off x="6400800" y="3803904"/>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BGR → RGB，Matplotlib 顯示用</a:t>
            </a:r>
            <a:endParaRPr lang="en-US" sz="950" dirty="0"/>
          </a:p>
        </p:txBody>
      </p:sp>
    </p:spTree>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13">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OpenCV 速查表 (2/5)</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4.x 官方文件 docs.opencv.org</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OpenCV API 速查表：Gamma 矯正 / LUT 加速</a:t>
            </a:r>
            <a:endParaRPr lang="en-US" sz="2000" dirty="0"/>
          </a:p>
        </p:txBody>
      </p:sp>
      <p:sp>
        <p:nvSpPr>
          <p:cNvPr id="7" name="Shape 5"/>
          <p:cNvSpPr/>
          <p:nvPr/>
        </p:nvSpPr>
        <p:spPr>
          <a:xfrm>
            <a:off x="320040" y="1115568"/>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8" name="Shape 6"/>
          <p:cNvSpPr/>
          <p:nvPr/>
        </p:nvSpPr>
        <p:spPr>
          <a:xfrm>
            <a:off x="320040" y="1115568"/>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420624" y="111556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img_f = img.astype(np.float32) / 255.0</a:t>
            </a:r>
            <a:endParaRPr lang="en-US" sz="950" dirty="0"/>
          </a:p>
        </p:txBody>
      </p:sp>
      <p:sp>
        <p:nvSpPr>
          <p:cNvPr id="10" name="Text 8"/>
          <p:cNvSpPr/>
          <p:nvPr/>
        </p:nvSpPr>
        <p:spPr>
          <a:xfrm>
            <a:off x="6400800" y="111556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Step 1：正規化到 [0,1]</a:t>
            </a:r>
            <a:endParaRPr lang="en-US" sz="950" dirty="0"/>
          </a:p>
        </p:txBody>
      </p:sp>
      <p:sp>
        <p:nvSpPr>
          <p:cNvPr id="11" name="Shape 9"/>
          <p:cNvSpPr/>
          <p:nvPr/>
        </p:nvSpPr>
        <p:spPr>
          <a:xfrm>
            <a:off x="320040" y="1499616"/>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12" name="Shape 10"/>
          <p:cNvSpPr/>
          <p:nvPr/>
        </p:nvSpPr>
        <p:spPr>
          <a:xfrm>
            <a:off x="320040" y="1499616"/>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13" name="Text 11"/>
          <p:cNvSpPr/>
          <p:nvPr/>
        </p:nvSpPr>
        <p:spPr>
          <a:xfrm>
            <a:off x="420624" y="1499616"/>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corrected = np.power(img_f, gamma)</a:t>
            </a:r>
            <a:endParaRPr lang="en-US" sz="950" dirty="0"/>
          </a:p>
        </p:txBody>
      </p:sp>
      <p:sp>
        <p:nvSpPr>
          <p:cNvPr id="14" name="Text 12"/>
          <p:cNvSpPr/>
          <p:nvPr/>
        </p:nvSpPr>
        <p:spPr>
          <a:xfrm>
            <a:off x="6400800" y="1499616"/>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Step 2：套用 Gamma（慢）</a:t>
            </a:r>
            <a:endParaRPr lang="en-US" sz="950" dirty="0"/>
          </a:p>
        </p:txBody>
      </p:sp>
      <p:sp>
        <p:nvSpPr>
          <p:cNvPr id="15" name="Shape 13"/>
          <p:cNvSpPr/>
          <p:nvPr/>
        </p:nvSpPr>
        <p:spPr>
          <a:xfrm>
            <a:off x="320040" y="1883664"/>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16" name="Shape 14"/>
          <p:cNvSpPr/>
          <p:nvPr/>
        </p:nvSpPr>
        <p:spPr>
          <a:xfrm>
            <a:off x="320040" y="1883664"/>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17" name="Text 15"/>
          <p:cNvSpPr/>
          <p:nvPr/>
        </p:nvSpPr>
        <p:spPr>
          <a:xfrm>
            <a:off x="420624" y="1883664"/>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np.clip(corrected*255, 0, 255).astype(np.uint8)</a:t>
            </a:r>
            <a:endParaRPr lang="en-US" sz="950" dirty="0"/>
          </a:p>
        </p:txBody>
      </p:sp>
      <p:sp>
        <p:nvSpPr>
          <p:cNvPr id="18" name="Text 16"/>
          <p:cNvSpPr/>
          <p:nvPr/>
        </p:nvSpPr>
        <p:spPr>
          <a:xfrm>
            <a:off x="6400800" y="1883664"/>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Step 3：截斷並轉回 uint8</a:t>
            </a:r>
            <a:endParaRPr lang="en-US" sz="950" dirty="0"/>
          </a:p>
        </p:txBody>
      </p:sp>
      <p:sp>
        <p:nvSpPr>
          <p:cNvPr id="19" name="Shape 17"/>
          <p:cNvSpPr/>
          <p:nvPr/>
        </p:nvSpPr>
        <p:spPr>
          <a:xfrm>
            <a:off x="320040" y="2267712"/>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0" name="Shape 18"/>
          <p:cNvSpPr/>
          <p:nvPr/>
        </p:nvSpPr>
        <p:spPr>
          <a:xfrm>
            <a:off x="320040" y="2267712"/>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21" name="Text 19"/>
          <p:cNvSpPr/>
          <p:nvPr/>
        </p:nvSpPr>
        <p:spPr>
          <a:xfrm>
            <a:off x="420624" y="2267712"/>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lut = np.array([((i/255.0)**g)*255 for i in range(256)], dtype=np.uint8)</a:t>
            </a:r>
            <a:endParaRPr lang="en-US" sz="950" dirty="0"/>
          </a:p>
        </p:txBody>
      </p:sp>
      <p:sp>
        <p:nvSpPr>
          <p:cNvPr id="22" name="Text 20"/>
          <p:cNvSpPr/>
          <p:nvPr/>
        </p:nvSpPr>
        <p:spPr>
          <a:xfrm>
            <a:off x="6400800" y="2267712"/>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建立 LUT（只需執行一次）</a:t>
            </a:r>
            <a:endParaRPr lang="en-US" sz="950" dirty="0"/>
          </a:p>
        </p:txBody>
      </p:sp>
      <p:sp>
        <p:nvSpPr>
          <p:cNvPr id="23" name="Shape 21"/>
          <p:cNvSpPr/>
          <p:nvPr/>
        </p:nvSpPr>
        <p:spPr>
          <a:xfrm>
            <a:off x="320040" y="2651760"/>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24" name="Shape 22"/>
          <p:cNvSpPr/>
          <p:nvPr/>
        </p:nvSpPr>
        <p:spPr>
          <a:xfrm>
            <a:off x="320040" y="2651760"/>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25" name="Text 23"/>
          <p:cNvSpPr/>
          <p:nvPr/>
        </p:nvSpPr>
        <p:spPr>
          <a:xfrm>
            <a:off x="420624" y="2651760"/>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cv2.LUT(img, lut)</a:t>
            </a:r>
            <a:endParaRPr lang="en-US" sz="950" dirty="0"/>
          </a:p>
        </p:txBody>
      </p:sp>
      <p:sp>
        <p:nvSpPr>
          <p:cNvPr id="26" name="Text 24"/>
          <p:cNvSpPr/>
          <p:nvPr/>
        </p:nvSpPr>
        <p:spPr>
          <a:xfrm>
            <a:off x="6400800" y="2651760"/>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套用 LUT（快 10-30 倍，推薦！）</a:t>
            </a:r>
            <a:endParaRPr lang="en-US" sz="95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14">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OpenCV 速查表 (3/5)</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4.x 官方文件 docs.opencv.org</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OpenCV API 速查表：直方圖 / CLAHE / 閾值化</a:t>
            </a:r>
            <a:endParaRPr lang="en-US" sz="2000" dirty="0"/>
          </a:p>
        </p:txBody>
      </p:sp>
      <p:sp>
        <p:nvSpPr>
          <p:cNvPr id="7" name="Shape 5"/>
          <p:cNvSpPr/>
          <p:nvPr/>
        </p:nvSpPr>
        <p:spPr>
          <a:xfrm>
            <a:off x="320040" y="1115568"/>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8" name="Shape 6"/>
          <p:cNvSpPr/>
          <p:nvPr/>
        </p:nvSpPr>
        <p:spPr>
          <a:xfrm>
            <a:off x="320040" y="1115568"/>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9" name="Text 7"/>
          <p:cNvSpPr/>
          <p:nvPr/>
        </p:nvSpPr>
        <p:spPr>
          <a:xfrm>
            <a:off x="420624" y="111556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cv2.calcHist([img], [0], None, [256], [0,256])</a:t>
            </a:r>
            <a:endParaRPr lang="en-US" sz="950" dirty="0"/>
          </a:p>
        </p:txBody>
      </p:sp>
      <p:sp>
        <p:nvSpPr>
          <p:cNvPr id="10" name="Text 8"/>
          <p:cNvSpPr/>
          <p:nvPr/>
        </p:nvSpPr>
        <p:spPr>
          <a:xfrm>
            <a:off x="6400800" y="111556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計算灰階直方圖</a:t>
            </a:r>
            <a:endParaRPr lang="en-US" sz="950" dirty="0"/>
          </a:p>
        </p:txBody>
      </p:sp>
      <p:sp>
        <p:nvSpPr>
          <p:cNvPr id="11" name="Shape 9"/>
          <p:cNvSpPr/>
          <p:nvPr/>
        </p:nvSpPr>
        <p:spPr>
          <a:xfrm>
            <a:off x="320040" y="1499616"/>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12" name="Shape 10"/>
          <p:cNvSpPr/>
          <p:nvPr/>
        </p:nvSpPr>
        <p:spPr>
          <a:xfrm>
            <a:off x="320040" y="1499616"/>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13" name="Text 11"/>
          <p:cNvSpPr/>
          <p:nvPr/>
        </p:nvSpPr>
        <p:spPr>
          <a:xfrm>
            <a:off x="420624" y="1499616"/>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cv2.compareHist(h1, h2, cv2.HISTCMP_CORREL)</a:t>
            </a:r>
            <a:endParaRPr lang="en-US" sz="950" dirty="0"/>
          </a:p>
        </p:txBody>
      </p:sp>
      <p:sp>
        <p:nvSpPr>
          <p:cNvPr id="14" name="Text 12"/>
          <p:cNvSpPr/>
          <p:nvPr/>
        </p:nvSpPr>
        <p:spPr>
          <a:xfrm>
            <a:off x="6400800" y="1499616"/>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比較兩個直方圖（相關係數）</a:t>
            </a:r>
            <a:endParaRPr lang="en-US" sz="950" dirty="0"/>
          </a:p>
        </p:txBody>
      </p:sp>
      <p:sp>
        <p:nvSpPr>
          <p:cNvPr id="15" name="Shape 13"/>
          <p:cNvSpPr/>
          <p:nvPr/>
        </p:nvSpPr>
        <p:spPr>
          <a:xfrm>
            <a:off x="320040" y="1883664"/>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16" name="Shape 14"/>
          <p:cNvSpPr/>
          <p:nvPr/>
        </p:nvSpPr>
        <p:spPr>
          <a:xfrm>
            <a:off x="320040" y="1883664"/>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17" name="Text 15"/>
          <p:cNvSpPr/>
          <p:nvPr/>
        </p:nvSpPr>
        <p:spPr>
          <a:xfrm>
            <a:off x="420624" y="1883664"/>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cv2.equalizeHist(gray)</a:t>
            </a:r>
            <a:endParaRPr lang="en-US" sz="950" dirty="0"/>
          </a:p>
        </p:txBody>
      </p:sp>
      <p:sp>
        <p:nvSpPr>
          <p:cNvPr id="18" name="Text 16"/>
          <p:cNvSpPr/>
          <p:nvPr/>
        </p:nvSpPr>
        <p:spPr>
          <a:xfrm>
            <a:off x="6400800" y="1883664"/>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全域直方圖等化（快速）</a:t>
            </a:r>
            <a:endParaRPr lang="en-US" sz="950" dirty="0"/>
          </a:p>
        </p:txBody>
      </p:sp>
      <p:sp>
        <p:nvSpPr>
          <p:cNvPr id="19" name="Shape 17"/>
          <p:cNvSpPr/>
          <p:nvPr/>
        </p:nvSpPr>
        <p:spPr>
          <a:xfrm>
            <a:off x="320040" y="2267712"/>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0" name="Shape 18"/>
          <p:cNvSpPr/>
          <p:nvPr/>
        </p:nvSpPr>
        <p:spPr>
          <a:xfrm>
            <a:off x="320040" y="2267712"/>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21" name="Text 19"/>
          <p:cNvSpPr/>
          <p:nvPr/>
        </p:nvSpPr>
        <p:spPr>
          <a:xfrm>
            <a:off x="420624" y="2267712"/>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clahe = cv2.createCLAHE(clipLimit=2.0, tileGridSize=(8,8))</a:t>
            </a:r>
            <a:endParaRPr lang="en-US" sz="950" dirty="0"/>
          </a:p>
        </p:txBody>
      </p:sp>
      <p:sp>
        <p:nvSpPr>
          <p:cNvPr id="22" name="Text 20"/>
          <p:cNvSpPr/>
          <p:nvPr/>
        </p:nvSpPr>
        <p:spPr>
          <a:xfrm>
            <a:off x="6400800" y="2267712"/>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建立 CLAHE 物件（推薦！）</a:t>
            </a:r>
            <a:endParaRPr lang="en-US" sz="950" dirty="0"/>
          </a:p>
        </p:txBody>
      </p:sp>
      <p:sp>
        <p:nvSpPr>
          <p:cNvPr id="23" name="Shape 21"/>
          <p:cNvSpPr/>
          <p:nvPr/>
        </p:nvSpPr>
        <p:spPr>
          <a:xfrm>
            <a:off x="320040" y="2651760"/>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24" name="Shape 22"/>
          <p:cNvSpPr/>
          <p:nvPr/>
        </p:nvSpPr>
        <p:spPr>
          <a:xfrm>
            <a:off x="320040" y="2651760"/>
            <a:ext cx="64008" cy="347472"/>
          </a:xfrm>
          <a:prstGeom prst="rect">
            <a:avLst/>
          </a:prstGeom>
          <a:solidFill>
            <a:srgbClr val="1A6049"/>
          </a:solidFill>
          <a:ln w="12700">
            <a:solidFill>
              <a:srgbClr val="1A6049"/>
            </a:solidFill>
            <a:prstDash val="solid"/>
          </a:ln>
        </p:spPr>
        <p:txBody>
          <a:bodyPr/>
          <a:lstStyle/>
          <a:p>
            <a:endParaRPr lang="zh-TW" altLang="en-US"/>
          </a:p>
        </p:txBody>
      </p:sp>
      <p:sp>
        <p:nvSpPr>
          <p:cNvPr id="25" name="Text 23"/>
          <p:cNvSpPr/>
          <p:nvPr/>
        </p:nvSpPr>
        <p:spPr>
          <a:xfrm>
            <a:off x="420624" y="2651760"/>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clahe.apply(gray)</a:t>
            </a:r>
            <a:endParaRPr lang="en-US" sz="950" dirty="0"/>
          </a:p>
        </p:txBody>
      </p:sp>
      <p:sp>
        <p:nvSpPr>
          <p:cNvPr id="26" name="Text 24"/>
          <p:cNvSpPr/>
          <p:nvPr/>
        </p:nvSpPr>
        <p:spPr>
          <a:xfrm>
            <a:off x="6400800" y="2651760"/>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套用 CLAHE</a:t>
            </a:r>
            <a:endParaRPr lang="en-US" sz="950" dirty="0"/>
          </a:p>
        </p:txBody>
      </p:sp>
      <p:sp>
        <p:nvSpPr>
          <p:cNvPr id="27" name="Shape 25"/>
          <p:cNvSpPr/>
          <p:nvPr/>
        </p:nvSpPr>
        <p:spPr>
          <a:xfrm>
            <a:off x="320040" y="3035808"/>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8" name="Shape 26"/>
          <p:cNvSpPr/>
          <p:nvPr/>
        </p:nvSpPr>
        <p:spPr>
          <a:xfrm>
            <a:off x="320040" y="3035808"/>
            <a:ext cx="64008" cy="347472"/>
          </a:xfrm>
          <a:prstGeom prst="rect">
            <a:avLst/>
          </a:prstGeom>
          <a:solidFill>
            <a:srgbClr val="5A2D82"/>
          </a:solidFill>
          <a:ln w="12700">
            <a:solidFill>
              <a:srgbClr val="5A2D82"/>
            </a:solidFill>
            <a:prstDash val="solid"/>
          </a:ln>
        </p:spPr>
        <p:txBody>
          <a:bodyPr/>
          <a:lstStyle/>
          <a:p>
            <a:endParaRPr lang="zh-TW" altLang="en-US"/>
          </a:p>
        </p:txBody>
      </p:sp>
      <p:sp>
        <p:nvSpPr>
          <p:cNvPr id="29" name="Text 27"/>
          <p:cNvSpPr/>
          <p:nvPr/>
        </p:nvSpPr>
        <p:spPr>
          <a:xfrm>
            <a:off x="420624" y="303580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cv2.threshold(img, T, 255, cv2.THRESH_BINARY)</a:t>
            </a:r>
            <a:endParaRPr lang="en-US" sz="950" dirty="0"/>
          </a:p>
        </p:txBody>
      </p:sp>
      <p:sp>
        <p:nvSpPr>
          <p:cNvPr id="30" name="Text 28"/>
          <p:cNvSpPr/>
          <p:nvPr/>
        </p:nvSpPr>
        <p:spPr>
          <a:xfrm>
            <a:off x="6400800" y="303580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固定閾值二值化</a:t>
            </a:r>
            <a:endParaRPr lang="en-US" sz="950" dirty="0"/>
          </a:p>
        </p:txBody>
      </p:sp>
      <p:sp>
        <p:nvSpPr>
          <p:cNvPr id="31" name="Shape 29"/>
          <p:cNvSpPr/>
          <p:nvPr/>
        </p:nvSpPr>
        <p:spPr>
          <a:xfrm>
            <a:off x="320040" y="3419856"/>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32" name="Shape 30"/>
          <p:cNvSpPr/>
          <p:nvPr/>
        </p:nvSpPr>
        <p:spPr>
          <a:xfrm>
            <a:off x="320040" y="3419856"/>
            <a:ext cx="64008" cy="347472"/>
          </a:xfrm>
          <a:prstGeom prst="rect">
            <a:avLst/>
          </a:prstGeom>
          <a:solidFill>
            <a:srgbClr val="5A2D82"/>
          </a:solidFill>
          <a:ln w="12700">
            <a:solidFill>
              <a:srgbClr val="5A2D82"/>
            </a:solidFill>
            <a:prstDash val="solid"/>
          </a:ln>
        </p:spPr>
        <p:txBody>
          <a:bodyPr/>
          <a:lstStyle/>
          <a:p>
            <a:endParaRPr lang="zh-TW" altLang="en-US"/>
          </a:p>
        </p:txBody>
      </p:sp>
      <p:sp>
        <p:nvSpPr>
          <p:cNvPr id="33" name="Text 31"/>
          <p:cNvSpPr/>
          <p:nvPr/>
        </p:nvSpPr>
        <p:spPr>
          <a:xfrm>
            <a:off x="420624" y="3419856"/>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cv2.threshold(img, 0, 255, cv2.THRESH_OTSU)</a:t>
            </a:r>
            <a:endParaRPr lang="en-US" sz="950" dirty="0"/>
          </a:p>
        </p:txBody>
      </p:sp>
      <p:sp>
        <p:nvSpPr>
          <p:cNvPr id="34" name="Text 32"/>
          <p:cNvSpPr/>
          <p:nvPr/>
        </p:nvSpPr>
        <p:spPr>
          <a:xfrm>
            <a:off x="6400800" y="3419856"/>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Otsu 自動閾值（推薦！）</a:t>
            </a:r>
            <a:endParaRPr lang="en-US" sz="950" dirty="0"/>
          </a:p>
        </p:txBody>
      </p:sp>
      <p:sp>
        <p:nvSpPr>
          <p:cNvPr id="35" name="Shape 33"/>
          <p:cNvSpPr/>
          <p:nvPr/>
        </p:nvSpPr>
        <p:spPr>
          <a:xfrm>
            <a:off x="320040" y="3803904"/>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36" name="Shape 34"/>
          <p:cNvSpPr/>
          <p:nvPr/>
        </p:nvSpPr>
        <p:spPr>
          <a:xfrm>
            <a:off x="320040" y="3803904"/>
            <a:ext cx="64008" cy="347472"/>
          </a:xfrm>
          <a:prstGeom prst="rect">
            <a:avLst/>
          </a:prstGeom>
          <a:solidFill>
            <a:srgbClr val="5A2D82"/>
          </a:solidFill>
          <a:ln w="12700">
            <a:solidFill>
              <a:srgbClr val="5A2D82"/>
            </a:solidFill>
            <a:prstDash val="solid"/>
          </a:ln>
        </p:spPr>
        <p:txBody>
          <a:bodyPr/>
          <a:lstStyle/>
          <a:p>
            <a:endParaRPr lang="zh-TW" altLang="en-US"/>
          </a:p>
        </p:txBody>
      </p:sp>
      <p:sp>
        <p:nvSpPr>
          <p:cNvPr id="37" name="Text 35"/>
          <p:cNvSpPr/>
          <p:nvPr/>
        </p:nvSpPr>
        <p:spPr>
          <a:xfrm>
            <a:off x="420624" y="3803904"/>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cv2.adaptiveThreshold(img, 255, cv2.ADAPTIVE_THRESH_GAUSSIAN_C, cv2.THRESH_BINARY, 11, 2)</a:t>
            </a:r>
            <a:endParaRPr lang="en-US" sz="950" dirty="0"/>
          </a:p>
        </p:txBody>
      </p:sp>
      <p:sp>
        <p:nvSpPr>
          <p:cNvPr id="38" name="Text 36"/>
          <p:cNvSpPr/>
          <p:nvPr/>
        </p:nvSpPr>
        <p:spPr>
          <a:xfrm>
            <a:off x="6400800" y="3803904"/>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自適應局部閾值化</a:t>
            </a:r>
            <a:endParaRPr lang="en-US" sz="95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15">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OpenCV 速查表 (4/5)</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4.x 官方文件 docs.opencv.org</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OpenCV API 速查表：平滑 / 去噪濾波器</a:t>
            </a:r>
            <a:endParaRPr lang="en-US" sz="2000" dirty="0"/>
          </a:p>
        </p:txBody>
      </p:sp>
      <p:sp>
        <p:nvSpPr>
          <p:cNvPr id="7" name="Shape 5"/>
          <p:cNvSpPr/>
          <p:nvPr/>
        </p:nvSpPr>
        <p:spPr>
          <a:xfrm>
            <a:off x="320040" y="1115568"/>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8" name="Shape 6"/>
          <p:cNvSpPr/>
          <p:nvPr/>
        </p:nvSpPr>
        <p:spPr>
          <a:xfrm>
            <a:off x="320040" y="1115568"/>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9" name="Text 7"/>
          <p:cNvSpPr/>
          <p:nvPr/>
        </p:nvSpPr>
        <p:spPr>
          <a:xfrm>
            <a:off x="420624" y="111556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cv2.blur(img, (k, k))</a:t>
            </a:r>
            <a:endParaRPr lang="en-US" sz="950" dirty="0"/>
          </a:p>
        </p:txBody>
      </p:sp>
      <p:sp>
        <p:nvSpPr>
          <p:cNvPr id="10" name="Text 8"/>
          <p:cNvSpPr/>
          <p:nvPr/>
        </p:nvSpPr>
        <p:spPr>
          <a:xfrm>
            <a:off x="6400800" y="111556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均值濾波（Mean）</a:t>
            </a:r>
            <a:endParaRPr lang="en-US" sz="950" dirty="0"/>
          </a:p>
        </p:txBody>
      </p:sp>
      <p:sp>
        <p:nvSpPr>
          <p:cNvPr id="11" name="Shape 9"/>
          <p:cNvSpPr/>
          <p:nvPr/>
        </p:nvSpPr>
        <p:spPr>
          <a:xfrm>
            <a:off x="320040" y="1499616"/>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12" name="Shape 10"/>
          <p:cNvSpPr/>
          <p:nvPr/>
        </p:nvSpPr>
        <p:spPr>
          <a:xfrm>
            <a:off x="320040" y="1499616"/>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13" name="Text 11"/>
          <p:cNvSpPr/>
          <p:nvPr/>
        </p:nvSpPr>
        <p:spPr>
          <a:xfrm>
            <a:off x="420624" y="1499616"/>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cv2.GaussianBlur(img, (k,k), sigmaX)</a:t>
            </a:r>
            <a:endParaRPr lang="en-US" sz="950" dirty="0"/>
          </a:p>
        </p:txBody>
      </p:sp>
      <p:sp>
        <p:nvSpPr>
          <p:cNvPr id="14" name="Text 12"/>
          <p:cNvSpPr/>
          <p:nvPr/>
        </p:nvSpPr>
        <p:spPr>
          <a:xfrm>
            <a:off x="6400800" y="1499616"/>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高斯濾波（推薦的平滑方式）</a:t>
            </a:r>
            <a:endParaRPr lang="en-US" sz="950" dirty="0"/>
          </a:p>
        </p:txBody>
      </p:sp>
      <p:sp>
        <p:nvSpPr>
          <p:cNvPr id="15" name="Shape 13"/>
          <p:cNvSpPr/>
          <p:nvPr/>
        </p:nvSpPr>
        <p:spPr>
          <a:xfrm>
            <a:off x="320040" y="1883664"/>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16" name="Shape 14"/>
          <p:cNvSpPr/>
          <p:nvPr/>
        </p:nvSpPr>
        <p:spPr>
          <a:xfrm>
            <a:off x="320040" y="1883664"/>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17" name="Text 15"/>
          <p:cNvSpPr/>
          <p:nvPr/>
        </p:nvSpPr>
        <p:spPr>
          <a:xfrm>
            <a:off x="420624" y="1883664"/>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cv2.GaussianBlur(img, (0,0), sigmaX=1.5)</a:t>
            </a:r>
            <a:endParaRPr lang="en-US" sz="950" dirty="0"/>
          </a:p>
        </p:txBody>
      </p:sp>
      <p:sp>
        <p:nvSpPr>
          <p:cNvPr id="18" name="Text 16"/>
          <p:cNvSpPr/>
          <p:nvPr/>
        </p:nvSpPr>
        <p:spPr>
          <a:xfrm>
            <a:off x="6400800" y="1883664"/>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核大小由 σ 自動決定</a:t>
            </a:r>
            <a:endParaRPr lang="en-US" sz="950" dirty="0"/>
          </a:p>
        </p:txBody>
      </p:sp>
      <p:sp>
        <p:nvSpPr>
          <p:cNvPr id="19" name="Shape 17"/>
          <p:cNvSpPr/>
          <p:nvPr/>
        </p:nvSpPr>
        <p:spPr>
          <a:xfrm>
            <a:off x="320040" y="2267712"/>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0" name="Shape 18"/>
          <p:cNvSpPr/>
          <p:nvPr/>
        </p:nvSpPr>
        <p:spPr>
          <a:xfrm>
            <a:off x="320040" y="2267712"/>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21" name="Text 19"/>
          <p:cNvSpPr/>
          <p:nvPr/>
        </p:nvSpPr>
        <p:spPr>
          <a:xfrm>
            <a:off x="420624" y="2267712"/>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cv2.medianBlur(img, ksize)</a:t>
            </a:r>
            <a:endParaRPr lang="en-US" sz="950" dirty="0"/>
          </a:p>
        </p:txBody>
      </p:sp>
      <p:sp>
        <p:nvSpPr>
          <p:cNvPr id="22" name="Text 20"/>
          <p:cNvSpPr/>
          <p:nvPr/>
        </p:nvSpPr>
        <p:spPr>
          <a:xfrm>
            <a:off x="6400800" y="2267712"/>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中值濾波（椒鹽雜訊最有效，ksize 須為奇數）</a:t>
            </a:r>
            <a:endParaRPr lang="en-US" sz="950" dirty="0"/>
          </a:p>
        </p:txBody>
      </p:sp>
      <p:sp>
        <p:nvSpPr>
          <p:cNvPr id="23" name="Shape 21"/>
          <p:cNvSpPr/>
          <p:nvPr/>
        </p:nvSpPr>
        <p:spPr>
          <a:xfrm>
            <a:off x="320040" y="2651760"/>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24" name="Shape 22"/>
          <p:cNvSpPr/>
          <p:nvPr/>
        </p:nvSpPr>
        <p:spPr>
          <a:xfrm>
            <a:off x="320040" y="2651760"/>
            <a:ext cx="64008" cy="347472"/>
          </a:xfrm>
          <a:prstGeom prst="rect">
            <a:avLst/>
          </a:prstGeom>
          <a:solidFill>
            <a:srgbClr val="C45C00"/>
          </a:solidFill>
          <a:ln w="12700">
            <a:solidFill>
              <a:srgbClr val="C45C00"/>
            </a:solidFill>
            <a:prstDash val="solid"/>
          </a:ln>
        </p:spPr>
        <p:txBody>
          <a:bodyPr/>
          <a:lstStyle/>
          <a:p>
            <a:endParaRPr lang="zh-TW" altLang="en-US"/>
          </a:p>
        </p:txBody>
      </p:sp>
      <p:sp>
        <p:nvSpPr>
          <p:cNvPr id="25" name="Text 23"/>
          <p:cNvSpPr/>
          <p:nvPr/>
        </p:nvSpPr>
        <p:spPr>
          <a:xfrm>
            <a:off x="420624" y="2651760"/>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cv2.bilateralFilter(img, d=9, sigmaColor=75, sigmaSpace=75)</a:t>
            </a:r>
            <a:endParaRPr lang="en-US" sz="950" dirty="0"/>
          </a:p>
        </p:txBody>
      </p:sp>
      <p:sp>
        <p:nvSpPr>
          <p:cNvPr id="26" name="Text 24"/>
          <p:cNvSpPr/>
          <p:nvPr/>
        </p:nvSpPr>
        <p:spPr>
          <a:xfrm>
            <a:off x="6400800" y="2651760"/>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雙邊濾波（保邊平滑）</a:t>
            </a:r>
            <a:endParaRPr lang="en-US" sz="95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16">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OpenCV 速查表 (5/5)</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參考：OpenCV 4.x 官方文件 docs.opencv.org</a:t>
            </a:r>
            <a:endParaRPr lang="en-US" sz="750" dirty="0"/>
          </a:p>
        </p:txBody>
      </p:sp>
      <p:sp>
        <p:nvSpPr>
          <p:cNvPr id="6" name="Text 4"/>
          <p:cNvSpPr/>
          <p:nvPr/>
        </p:nvSpPr>
        <p:spPr>
          <a:xfrm>
            <a:off x="320040" y="475488"/>
            <a:ext cx="8503920" cy="566928"/>
          </a:xfrm>
          <a:prstGeom prst="rect">
            <a:avLst/>
          </a:prstGeom>
          <a:noFill/>
          <a:ln/>
        </p:spPr>
        <p:txBody>
          <a:bodyPr wrap="square" rtlCol="0" anchor="ctr"/>
          <a:lstStyle/>
          <a:p>
            <a:pPr marL="0" indent="0" algn="l">
              <a:buNone/>
            </a:pPr>
            <a:r>
              <a:rPr lang="en-US" sz="2000" b="1" dirty="0">
                <a:solidFill>
                  <a:srgbClr val="1E3A5F"/>
                </a:solidFill>
                <a:latin typeface="Calibri" pitchFamily="34" charset="0"/>
                <a:ea typeface="Calibri" pitchFamily="34" charset="-122"/>
                <a:cs typeface="Calibri" pitchFamily="34" charset="-120"/>
              </a:rPr>
              <a:t>OpenCV API 速查表：銳化 / 自定義卷積</a:t>
            </a:r>
            <a:endParaRPr lang="en-US" sz="2000" dirty="0"/>
          </a:p>
        </p:txBody>
      </p:sp>
      <p:sp>
        <p:nvSpPr>
          <p:cNvPr id="7" name="Shape 5"/>
          <p:cNvSpPr/>
          <p:nvPr/>
        </p:nvSpPr>
        <p:spPr>
          <a:xfrm>
            <a:off x="320040" y="1115568"/>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8" name="Shape 6"/>
          <p:cNvSpPr/>
          <p:nvPr/>
        </p:nvSpPr>
        <p:spPr>
          <a:xfrm>
            <a:off x="320040" y="1115568"/>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9" name="Text 7"/>
          <p:cNvSpPr/>
          <p:nvPr/>
        </p:nvSpPr>
        <p:spPr>
          <a:xfrm>
            <a:off x="420624" y="111556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cv2.filter2D(img, -1, kernel)</a:t>
            </a:r>
            <a:endParaRPr lang="en-US" sz="950" dirty="0"/>
          </a:p>
        </p:txBody>
      </p:sp>
      <p:sp>
        <p:nvSpPr>
          <p:cNvPr id="10" name="Text 8"/>
          <p:cNvSpPr/>
          <p:nvPr/>
        </p:nvSpPr>
        <p:spPr>
          <a:xfrm>
            <a:off x="6400800" y="111556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套用自定義卷積核（通用接口）</a:t>
            </a:r>
            <a:endParaRPr lang="en-US" sz="950" dirty="0"/>
          </a:p>
        </p:txBody>
      </p:sp>
      <p:sp>
        <p:nvSpPr>
          <p:cNvPr id="11" name="Shape 9"/>
          <p:cNvSpPr/>
          <p:nvPr/>
        </p:nvSpPr>
        <p:spPr>
          <a:xfrm>
            <a:off x="320040" y="1499616"/>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12" name="Shape 10"/>
          <p:cNvSpPr/>
          <p:nvPr/>
        </p:nvSpPr>
        <p:spPr>
          <a:xfrm>
            <a:off x="320040" y="1499616"/>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13" name="Text 11"/>
          <p:cNvSpPr/>
          <p:nvPr/>
        </p:nvSpPr>
        <p:spPr>
          <a:xfrm>
            <a:off x="420624" y="1499616"/>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kernel = np.array([[-1,-1,-1],[-1,9,-1],[-1,-1,-1]])</a:t>
            </a:r>
            <a:endParaRPr lang="en-US" sz="950" dirty="0"/>
          </a:p>
        </p:txBody>
      </p:sp>
      <p:sp>
        <p:nvSpPr>
          <p:cNvPr id="14" name="Text 12"/>
          <p:cNvSpPr/>
          <p:nvPr/>
        </p:nvSpPr>
        <p:spPr>
          <a:xfrm>
            <a:off x="6400800" y="1499616"/>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銳化核（Sharpening Kernel）</a:t>
            </a:r>
            <a:endParaRPr lang="en-US" sz="950" dirty="0"/>
          </a:p>
        </p:txBody>
      </p:sp>
      <p:sp>
        <p:nvSpPr>
          <p:cNvPr id="15" name="Shape 13"/>
          <p:cNvSpPr/>
          <p:nvPr/>
        </p:nvSpPr>
        <p:spPr>
          <a:xfrm>
            <a:off x="320040" y="1883664"/>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16" name="Shape 14"/>
          <p:cNvSpPr/>
          <p:nvPr/>
        </p:nvSpPr>
        <p:spPr>
          <a:xfrm>
            <a:off x="320040" y="1883664"/>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17" name="Text 15"/>
          <p:cNvSpPr/>
          <p:nvPr/>
        </p:nvSpPr>
        <p:spPr>
          <a:xfrm>
            <a:off x="420624" y="1883664"/>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blurred = cv2.GaussianBlur(img, (5,5), 1.0)</a:t>
            </a:r>
            <a:endParaRPr lang="en-US" sz="950" dirty="0"/>
          </a:p>
        </p:txBody>
      </p:sp>
      <p:sp>
        <p:nvSpPr>
          <p:cNvPr id="18" name="Text 16"/>
          <p:cNvSpPr/>
          <p:nvPr/>
        </p:nvSpPr>
        <p:spPr>
          <a:xfrm>
            <a:off x="6400800" y="1883664"/>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Unsharp Mask Step 1：取模糊圖</a:t>
            </a:r>
            <a:endParaRPr lang="en-US" sz="950" dirty="0"/>
          </a:p>
        </p:txBody>
      </p:sp>
      <p:sp>
        <p:nvSpPr>
          <p:cNvPr id="19" name="Shape 17"/>
          <p:cNvSpPr/>
          <p:nvPr/>
        </p:nvSpPr>
        <p:spPr>
          <a:xfrm>
            <a:off x="320040" y="2267712"/>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0" name="Shape 18"/>
          <p:cNvSpPr/>
          <p:nvPr/>
        </p:nvSpPr>
        <p:spPr>
          <a:xfrm>
            <a:off x="320040" y="2267712"/>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21" name="Text 19"/>
          <p:cNvSpPr/>
          <p:nvPr/>
        </p:nvSpPr>
        <p:spPr>
          <a:xfrm>
            <a:off x="420624" y="2267712"/>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mask = cv2.subtract(img, blurred)</a:t>
            </a:r>
            <a:endParaRPr lang="en-US" sz="950" dirty="0"/>
          </a:p>
        </p:txBody>
      </p:sp>
      <p:sp>
        <p:nvSpPr>
          <p:cNvPr id="22" name="Text 20"/>
          <p:cNvSpPr/>
          <p:nvPr/>
        </p:nvSpPr>
        <p:spPr>
          <a:xfrm>
            <a:off x="6400800" y="2267712"/>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Unsharp Mask Step 2：取細節層</a:t>
            </a:r>
            <a:endParaRPr lang="en-US" sz="950" dirty="0"/>
          </a:p>
        </p:txBody>
      </p:sp>
      <p:sp>
        <p:nvSpPr>
          <p:cNvPr id="23" name="Shape 21"/>
          <p:cNvSpPr/>
          <p:nvPr/>
        </p:nvSpPr>
        <p:spPr>
          <a:xfrm>
            <a:off x="320040" y="2651760"/>
            <a:ext cx="8503920" cy="347472"/>
          </a:xfrm>
          <a:prstGeom prst="rect">
            <a:avLst/>
          </a:prstGeom>
          <a:solidFill>
            <a:srgbClr val="FFFFFF"/>
          </a:solidFill>
          <a:ln w="6350">
            <a:solidFill>
              <a:srgbClr val="D1C9BC"/>
            </a:solidFill>
            <a:prstDash val="solid"/>
          </a:ln>
        </p:spPr>
        <p:txBody>
          <a:bodyPr/>
          <a:lstStyle/>
          <a:p>
            <a:endParaRPr lang="zh-TW" altLang="en-US"/>
          </a:p>
        </p:txBody>
      </p:sp>
      <p:sp>
        <p:nvSpPr>
          <p:cNvPr id="24" name="Shape 22"/>
          <p:cNvSpPr/>
          <p:nvPr/>
        </p:nvSpPr>
        <p:spPr>
          <a:xfrm>
            <a:off x="320040" y="2651760"/>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25" name="Text 23"/>
          <p:cNvSpPr/>
          <p:nvPr/>
        </p:nvSpPr>
        <p:spPr>
          <a:xfrm>
            <a:off x="420624" y="2651760"/>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cv2.addWeighted(img, 1+k, blurred, -k, 0)</a:t>
            </a:r>
            <a:endParaRPr lang="en-US" sz="950" dirty="0"/>
          </a:p>
        </p:txBody>
      </p:sp>
      <p:sp>
        <p:nvSpPr>
          <p:cNvPr id="26" name="Text 24"/>
          <p:cNvSpPr/>
          <p:nvPr/>
        </p:nvSpPr>
        <p:spPr>
          <a:xfrm>
            <a:off x="6400800" y="2651760"/>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Unsharp Mask Step 3：套用（k=1 標準，k&gt;1 高增）</a:t>
            </a:r>
            <a:endParaRPr lang="en-US" sz="950" dirty="0"/>
          </a:p>
        </p:txBody>
      </p:sp>
      <p:sp>
        <p:nvSpPr>
          <p:cNvPr id="27" name="Shape 25"/>
          <p:cNvSpPr/>
          <p:nvPr/>
        </p:nvSpPr>
        <p:spPr>
          <a:xfrm>
            <a:off x="320040" y="3035808"/>
            <a:ext cx="8503920" cy="347472"/>
          </a:xfrm>
          <a:prstGeom prst="rect">
            <a:avLst/>
          </a:prstGeom>
          <a:solidFill>
            <a:srgbClr val="F5F0E8"/>
          </a:solidFill>
          <a:ln w="6350">
            <a:solidFill>
              <a:srgbClr val="D1C9BC"/>
            </a:solidFill>
            <a:prstDash val="solid"/>
          </a:ln>
        </p:spPr>
        <p:txBody>
          <a:bodyPr/>
          <a:lstStyle/>
          <a:p>
            <a:endParaRPr lang="zh-TW" altLang="en-US"/>
          </a:p>
        </p:txBody>
      </p:sp>
      <p:sp>
        <p:nvSpPr>
          <p:cNvPr id="28" name="Shape 26"/>
          <p:cNvSpPr/>
          <p:nvPr/>
        </p:nvSpPr>
        <p:spPr>
          <a:xfrm>
            <a:off x="320040" y="3035808"/>
            <a:ext cx="64008" cy="347472"/>
          </a:xfrm>
          <a:prstGeom prst="rect">
            <a:avLst/>
          </a:prstGeom>
          <a:solidFill>
            <a:srgbClr val="8B1A1A"/>
          </a:solidFill>
          <a:ln w="12700">
            <a:solidFill>
              <a:srgbClr val="8B1A1A"/>
            </a:solidFill>
            <a:prstDash val="solid"/>
          </a:ln>
        </p:spPr>
        <p:txBody>
          <a:bodyPr/>
          <a:lstStyle/>
          <a:p>
            <a:endParaRPr lang="zh-TW" altLang="en-US"/>
          </a:p>
        </p:txBody>
      </p:sp>
      <p:sp>
        <p:nvSpPr>
          <p:cNvPr id="29" name="Text 27"/>
          <p:cNvSpPr/>
          <p:nvPr/>
        </p:nvSpPr>
        <p:spPr>
          <a:xfrm>
            <a:off x="420624" y="3035808"/>
            <a:ext cx="5943600" cy="347472"/>
          </a:xfrm>
          <a:prstGeom prst="rect">
            <a:avLst/>
          </a:prstGeom>
          <a:noFill/>
          <a:ln/>
        </p:spPr>
        <p:txBody>
          <a:bodyPr wrap="square" lIns="0" tIns="0" rIns="0" bIns="0" rtlCol="0" anchor="ctr"/>
          <a:lstStyle/>
          <a:p>
            <a:pPr marL="0" indent="0" algn="l">
              <a:buNone/>
            </a:pPr>
            <a:r>
              <a:rPr lang="en-US" sz="950" dirty="0">
                <a:solidFill>
                  <a:srgbClr val="1A1A1A"/>
                </a:solidFill>
                <a:latin typeface="Courier New" pitchFamily="34" charset="0"/>
                <a:ea typeface="Courier New" pitchFamily="34" charset="-122"/>
                <a:cs typeface="Courier New" pitchFamily="34" charset="-120"/>
              </a:rPr>
              <a:t>cv2.Laplacian(img, cv2.CV_64F)</a:t>
            </a:r>
            <a:endParaRPr lang="en-US" sz="950" dirty="0"/>
          </a:p>
        </p:txBody>
      </p:sp>
      <p:sp>
        <p:nvSpPr>
          <p:cNvPr id="30" name="Text 28"/>
          <p:cNvSpPr/>
          <p:nvPr/>
        </p:nvSpPr>
        <p:spPr>
          <a:xfrm>
            <a:off x="6400800" y="3035808"/>
            <a:ext cx="2331720" cy="347472"/>
          </a:xfrm>
          <a:prstGeom prst="rect">
            <a:avLst/>
          </a:prstGeom>
          <a:noFill/>
          <a:ln/>
        </p:spPr>
        <p:txBody>
          <a:bodyPr wrap="square" lIns="0" tIns="0" rIns="0" bIns="0" rtlCol="0" anchor="ctr"/>
          <a:lstStyle/>
          <a:p>
            <a:pPr marL="0" indent="0" algn="l">
              <a:buNone/>
            </a:pPr>
            <a:r>
              <a:rPr lang="en-US" sz="950" dirty="0">
                <a:solidFill>
                  <a:srgbClr val="6B7280"/>
                </a:solidFill>
                <a:latin typeface="Calibri" pitchFamily="34" charset="0"/>
                <a:ea typeface="Calibri" pitchFamily="34" charset="-122"/>
                <a:cs typeface="Calibri" pitchFamily="34" charset="-120"/>
              </a:rPr>
              <a:t>Laplacian 邊緣偵測（高通核的一種）</a:t>
            </a:r>
            <a:endParaRPr lang="en-US" sz="95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17">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0"/>
            <a:ext cx="8503920" cy="45720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§7  Lab 實作題目總覽  |  Lab Assignments Overview</a:t>
            </a:r>
            <a:endParaRPr lang="en-US" sz="1100" dirty="0"/>
          </a:p>
        </p:txBody>
      </p:sp>
      <p:sp>
        <p:nvSpPr>
          <p:cNvPr id="4" name="Text 2"/>
          <p:cNvSpPr/>
          <p:nvPr/>
        </p:nvSpPr>
        <p:spPr>
          <a:xfrm>
            <a:off x="457200" y="594360"/>
            <a:ext cx="8229600" cy="502920"/>
          </a:xfrm>
          <a:prstGeom prst="rect">
            <a:avLst/>
          </a:prstGeom>
          <a:noFill/>
          <a:ln/>
        </p:spPr>
        <p:txBody>
          <a:bodyPr wrap="square" rtlCol="0" anchor="ctr"/>
          <a:lstStyle/>
          <a:p>
            <a:pPr marL="0" indent="0" algn="l">
              <a:buNone/>
            </a:pPr>
            <a:r>
              <a:rPr lang="en-US" sz="2400" b="1" dirty="0">
                <a:solidFill>
                  <a:srgbClr val="FFFFFF"/>
                </a:solidFill>
                <a:latin typeface="Calibri" pitchFamily="34" charset="0"/>
                <a:ea typeface="Calibri" pitchFamily="34" charset="-122"/>
                <a:cs typeface="Calibri" pitchFamily="34" charset="-120"/>
              </a:rPr>
              <a:t>本週 Lab 題目  ─  5 道情境導向實作</a:t>
            </a:r>
            <a:endParaRPr lang="en-US" sz="2400" dirty="0"/>
          </a:p>
        </p:txBody>
      </p:sp>
      <p:sp>
        <p:nvSpPr>
          <p:cNvPr id="6" name="Shape 4"/>
          <p:cNvSpPr/>
          <p:nvPr/>
        </p:nvSpPr>
        <p:spPr>
          <a:xfrm>
            <a:off x="457200" y="1508760"/>
            <a:ext cx="8229600" cy="548640"/>
          </a:xfrm>
          <a:prstGeom prst="rect">
            <a:avLst/>
          </a:prstGeom>
          <a:solidFill>
            <a:srgbClr val="162E4A"/>
          </a:solidFill>
          <a:ln w="12700">
            <a:solidFill>
              <a:srgbClr val="1E3A5F"/>
            </a:solidFill>
            <a:prstDash val="solid"/>
          </a:ln>
        </p:spPr>
        <p:txBody>
          <a:bodyPr/>
          <a:lstStyle/>
          <a:p>
            <a:endParaRPr lang="zh-TW" altLang="en-US"/>
          </a:p>
        </p:txBody>
      </p:sp>
      <p:sp>
        <p:nvSpPr>
          <p:cNvPr id="7" name="Text 5"/>
          <p:cNvSpPr/>
          <p:nvPr/>
        </p:nvSpPr>
        <p:spPr>
          <a:xfrm>
            <a:off x="548640" y="1508760"/>
            <a:ext cx="777240" cy="548640"/>
          </a:xfrm>
          <a:prstGeom prst="rect">
            <a:avLst/>
          </a:prstGeom>
          <a:noFill/>
          <a:ln/>
        </p:spPr>
        <p:txBody>
          <a:bodyPr wrap="square" lIns="0" tIns="0" rIns="0" bIns="0" rtlCol="0" anchor="ctr"/>
          <a:lstStyle/>
          <a:p>
            <a:pPr marL="0" indent="0" algn="ctr">
              <a:buNone/>
            </a:pPr>
            <a:r>
              <a:rPr lang="en-US" sz="1100" b="1" dirty="0">
                <a:solidFill>
                  <a:srgbClr val="1E3A5F"/>
                </a:solidFill>
                <a:latin typeface="Calibri" pitchFamily="34" charset="0"/>
                <a:ea typeface="Calibri" pitchFamily="34" charset="-122"/>
                <a:cs typeface="Calibri" pitchFamily="34" charset="-120"/>
              </a:rPr>
              <a:t>Lab 1</a:t>
            </a:r>
            <a:endParaRPr lang="en-US" sz="1100" dirty="0"/>
          </a:p>
        </p:txBody>
      </p:sp>
      <p:sp>
        <p:nvSpPr>
          <p:cNvPr id="8" name="Shape 6"/>
          <p:cNvSpPr/>
          <p:nvPr/>
        </p:nvSpPr>
        <p:spPr>
          <a:xfrm>
            <a:off x="1371600" y="1600200"/>
            <a:ext cx="0" cy="365760"/>
          </a:xfrm>
          <a:prstGeom prst="line">
            <a:avLst/>
          </a:prstGeom>
          <a:noFill/>
          <a:ln w="10160">
            <a:solidFill>
              <a:srgbClr val="1E3A5F"/>
            </a:solidFill>
            <a:prstDash val="solid"/>
          </a:ln>
        </p:spPr>
        <p:txBody>
          <a:bodyPr/>
          <a:lstStyle/>
          <a:p>
            <a:endParaRPr lang="zh-TW" altLang="en-US"/>
          </a:p>
        </p:txBody>
      </p:sp>
      <p:sp>
        <p:nvSpPr>
          <p:cNvPr id="9" name="Text 7"/>
          <p:cNvSpPr/>
          <p:nvPr/>
        </p:nvSpPr>
        <p:spPr>
          <a:xfrm>
            <a:off x="1463040" y="1508760"/>
            <a:ext cx="3657600" cy="5486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黑夜裡的監視器</a:t>
            </a:r>
            <a:endParaRPr lang="en-US" sz="1300" dirty="0"/>
          </a:p>
        </p:txBody>
      </p:sp>
      <p:sp>
        <p:nvSpPr>
          <p:cNvPr id="10" name="Text 8"/>
          <p:cNvSpPr/>
          <p:nvPr/>
        </p:nvSpPr>
        <p:spPr>
          <a:xfrm>
            <a:off x="5212080" y="1508760"/>
            <a:ext cx="2286000" cy="548640"/>
          </a:xfrm>
          <a:prstGeom prst="rect">
            <a:avLst/>
          </a:prstGeom>
          <a:noFill/>
          <a:ln/>
        </p:spPr>
        <p:txBody>
          <a:bodyPr wrap="square" lIns="0" tIns="0" rIns="0" bIns="0" rtlCol="0" anchor="ctr"/>
          <a:lstStyle/>
          <a:p>
            <a:pPr marL="0" indent="0" algn="l">
              <a:buNone/>
            </a:pPr>
            <a:r>
              <a:rPr lang="en-US" sz="1050" dirty="0">
                <a:solidFill>
                  <a:srgbClr val="D6E4F0"/>
                </a:solidFill>
                <a:latin typeface="Calibri" pitchFamily="34" charset="0"/>
                <a:ea typeface="Calibri" pitchFamily="34" charset="-122"/>
                <a:cs typeface="Calibri" pitchFamily="34" charset="-120"/>
              </a:rPr>
              <a:t>Gamma 矯正 + LUT 加速</a:t>
            </a:r>
            <a:endParaRPr lang="en-US" sz="1050" dirty="0"/>
          </a:p>
        </p:txBody>
      </p:sp>
      <p:sp>
        <p:nvSpPr>
          <p:cNvPr id="12" name="Shape 10"/>
          <p:cNvSpPr/>
          <p:nvPr/>
        </p:nvSpPr>
        <p:spPr>
          <a:xfrm>
            <a:off x="457200" y="2130552"/>
            <a:ext cx="8229600" cy="548640"/>
          </a:xfrm>
          <a:prstGeom prst="rect">
            <a:avLst/>
          </a:prstGeom>
          <a:solidFill>
            <a:srgbClr val="162E4A"/>
          </a:solidFill>
          <a:ln w="12700">
            <a:solidFill>
              <a:srgbClr val="1A6049"/>
            </a:solidFill>
            <a:prstDash val="solid"/>
          </a:ln>
        </p:spPr>
        <p:txBody>
          <a:bodyPr/>
          <a:lstStyle/>
          <a:p>
            <a:endParaRPr lang="zh-TW" altLang="en-US"/>
          </a:p>
        </p:txBody>
      </p:sp>
      <p:sp>
        <p:nvSpPr>
          <p:cNvPr id="13" name="Text 11"/>
          <p:cNvSpPr/>
          <p:nvPr/>
        </p:nvSpPr>
        <p:spPr>
          <a:xfrm>
            <a:off x="548640" y="2130552"/>
            <a:ext cx="777240" cy="548640"/>
          </a:xfrm>
          <a:prstGeom prst="rect">
            <a:avLst/>
          </a:prstGeom>
          <a:noFill/>
          <a:ln/>
        </p:spPr>
        <p:txBody>
          <a:bodyPr wrap="square" lIns="0" tIns="0" rIns="0" bIns="0" rtlCol="0" anchor="ctr"/>
          <a:lstStyle/>
          <a:p>
            <a:pPr marL="0" indent="0" algn="ctr">
              <a:buNone/>
            </a:pPr>
            <a:r>
              <a:rPr lang="en-US" sz="1100" b="1" dirty="0">
                <a:solidFill>
                  <a:srgbClr val="1A6049"/>
                </a:solidFill>
                <a:latin typeface="Calibri" pitchFamily="34" charset="0"/>
                <a:ea typeface="Calibri" pitchFamily="34" charset="-122"/>
                <a:cs typeface="Calibri" pitchFamily="34" charset="-120"/>
              </a:rPr>
              <a:t>Lab 2</a:t>
            </a:r>
            <a:endParaRPr lang="en-US" sz="1100" dirty="0"/>
          </a:p>
        </p:txBody>
      </p:sp>
      <p:sp>
        <p:nvSpPr>
          <p:cNvPr id="14" name="Shape 12"/>
          <p:cNvSpPr/>
          <p:nvPr/>
        </p:nvSpPr>
        <p:spPr>
          <a:xfrm>
            <a:off x="1371600" y="2221992"/>
            <a:ext cx="0" cy="365760"/>
          </a:xfrm>
          <a:prstGeom prst="line">
            <a:avLst/>
          </a:prstGeom>
          <a:noFill/>
          <a:ln w="10160">
            <a:solidFill>
              <a:srgbClr val="1A6049"/>
            </a:solidFill>
            <a:prstDash val="solid"/>
          </a:ln>
        </p:spPr>
        <p:txBody>
          <a:bodyPr/>
          <a:lstStyle/>
          <a:p>
            <a:endParaRPr lang="zh-TW" altLang="en-US"/>
          </a:p>
        </p:txBody>
      </p:sp>
      <p:sp>
        <p:nvSpPr>
          <p:cNvPr id="15" name="Text 13"/>
          <p:cNvSpPr/>
          <p:nvPr/>
        </p:nvSpPr>
        <p:spPr>
          <a:xfrm>
            <a:off x="1463040" y="2130552"/>
            <a:ext cx="3657600" cy="5486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工廠自動曝光修復機</a:t>
            </a:r>
            <a:endParaRPr lang="en-US" sz="1300" dirty="0"/>
          </a:p>
        </p:txBody>
      </p:sp>
      <p:sp>
        <p:nvSpPr>
          <p:cNvPr id="16" name="Text 14"/>
          <p:cNvSpPr/>
          <p:nvPr/>
        </p:nvSpPr>
        <p:spPr>
          <a:xfrm>
            <a:off x="5212080" y="2130552"/>
            <a:ext cx="2286000" cy="548640"/>
          </a:xfrm>
          <a:prstGeom prst="rect">
            <a:avLst/>
          </a:prstGeom>
          <a:noFill/>
          <a:ln/>
        </p:spPr>
        <p:txBody>
          <a:bodyPr wrap="square" lIns="0" tIns="0" rIns="0" bIns="0" rtlCol="0" anchor="ctr"/>
          <a:lstStyle/>
          <a:p>
            <a:pPr marL="0" indent="0" algn="l">
              <a:buNone/>
            </a:pPr>
            <a:r>
              <a:rPr lang="en-US" sz="1050" dirty="0">
                <a:solidFill>
                  <a:srgbClr val="D6E4F0"/>
                </a:solidFill>
                <a:latin typeface="Calibri" pitchFamily="34" charset="0"/>
                <a:ea typeface="Calibri" pitchFamily="34" charset="-122"/>
                <a:cs typeface="Calibri" pitchFamily="34" charset="-120"/>
              </a:rPr>
              <a:t>直方圖分析 + CLAHE</a:t>
            </a:r>
            <a:endParaRPr lang="en-US" sz="1050" dirty="0"/>
          </a:p>
        </p:txBody>
      </p:sp>
      <p:sp>
        <p:nvSpPr>
          <p:cNvPr id="18" name="Shape 16"/>
          <p:cNvSpPr/>
          <p:nvPr/>
        </p:nvSpPr>
        <p:spPr>
          <a:xfrm>
            <a:off x="457200" y="2752344"/>
            <a:ext cx="8229600" cy="548640"/>
          </a:xfrm>
          <a:prstGeom prst="rect">
            <a:avLst/>
          </a:prstGeom>
          <a:solidFill>
            <a:srgbClr val="162E4A"/>
          </a:solidFill>
          <a:ln w="12700">
            <a:solidFill>
              <a:srgbClr val="5A2D82"/>
            </a:solidFill>
            <a:prstDash val="solid"/>
          </a:ln>
        </p:spPr>
        <p:txBody>
          <a:bodyPr/>
          <a:lstStyle/>
          <a:p>
            <a:endParaRPr lang="zh-TW" altLang="en-US"/>
          </a:p>
        </p:txBody>
      </p:sp>
      <p:sp>
        <p:nvSpPr>
          <p:cNvPr id="19" name="Text 17"/>
          <p:cNvSpPr/>
          <p:nvPr/>
        </p:nvSpPr>
        <p:spPr>
          <a:xfrm>
            <a:off x="548640" y="2752344"/>
            <a:ext cx="777240" cy="548640"/>
          </a:xfrm>
          <a:prstGeom prst="rect">
            <a:avLst/>
          </a:prstGeom>
          <a:noFill/>
          <a:ln/>
        </p:spPr>
        <p:txBody>
          <a:bodyPr wrap="square" lIns="0" tIns="0" rIns="0" bIns="0" rtlCol="0" anchor="ctr"/>
          <a:lstStyle/>
          <a:p>
            <a:pPr marL="0" indent="0" algn="ctr">
              <a:buNone/>
            </a:pPr>
            <a:r>
              <a:rPr lang="en-US" sz="1100" b="1" dirty="0">
                <a:solidFill>
                  <a:srgbClr val="5A2D82"/>
                </a:solidFill>
                <a:latin typeface="Calibri" pitchFamily="34" charset="0"/>
                <a:ea typeface="Calibri" pitchFamily="34" charset="-122"/>
                <a:cs typeface="Calibri" pitchFamily="34" charset="-120"/>
              </a:rPr>
              <a:t>Lab 3</a:t>
            </a:r>
            <a:endParaRPr lang="en-US" sz="1100" dirty="0"/>
          </a:p>
        </p:txBody>
      </p:sp>
      <p:sp>
        <p:nvSpPr>
          <p:cNvPr id="20" name="Shape 18"/>
          <p:cNvSpPr/>
          <p:nvPr/>
        </p:nvSpPr>
        <p:spPr>
          <a:xfrm>
            <a:off x="1371600" y="2843784"/>
            <a:ext cx="0" cy="365760"/>
          </a:xfrm>
          <a:prstGeom prst="line">
            <a:avLst/>
          </a:prstGeom>
          <a:noFill/>
          <a:ln w="10160">
            <a:solidFill>
              <a:srgbClr val="5A2D82"/>
            </a:solidFill>
            <a:prstDash val="solid"/>
          </a:ln>
        </p:spPr>
        <p:txBody>
          <a:bodyPr/>
          <a:lstStyle/>
          <a:p>
            <a:endParaRPr lang="zh-TW" altLang="en-US"/>
          </a:p>
        </p:txBody>
      </p:sp>
      <p:sp>
        <p:nvSpPr>
          <p:cNvPr id="21" name="Text 19"/>
          <p:cNvSpPr/>
          <p:nvPr/>
        </p:nvSpPr>
        <p:spPr>
          <a:xfrm>
            <a:off x="1463040" y="2752344"/>
            <a:ext cx="3657600" cy="5486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皮帶上的瑕疵零件</a:t>
            </a:r>
            <a:endParaRPr lang="en-US" sz="1300" dirty="0"/>
          </a:p>
        </p:txBody>
      </p:sp>
      <p:sp>
        <p:nvSpPr>
          <p:cNvPr id="22" name="Text 20"/>
          <p:cNvSpPr/>
          <p:nvPr/>
        </p:nvSpPr>
        <p:spPr>
          <a:xfrm>
            <a:off x="5212080" y="2752344"/>
            <a:ext cx="2286000" cy="548640"/>
          </a:xfrm>
          <a:prstGeom prst="rect">
            <a:avLst/>
          </a:prstGeom>
          <a:noFill/>
          <a:ln/>
        </p:spPr>
        <p:txBody>
          <a:bodyPr wrap="square" lIns="0" tIns="0" rIns="0" bIns="0" rtlCol="0" anchor="ctr"/>
          <a:lstStyle/>
          <a:p>
            <a:pPr marL="0" indent="0" algn="l">
              <a:buNone/>
            </a:pPr>
            <a:r>
              <a:rPr lang="en-US" sz="1050" dirty="0">
                <a:solidFill>
                  <a:srgbClr val="D6E4F0"/>
                </a:solidFill>
                <a:latin typeface="Calibri" pitchFamily="34" charset="0"/>
                <a:ea typeface="Calibri" pitchFamily="34" charset="-122"/>
                <a:cs typeface="Calibri" pitchFamily="34" charset="-120"/>
              </a:rPr>
              <a:t>中值去噪 + Otsu 閾值</a:t>
            </a:r>
            <a:endParaRPr lang="en-US" sz="1050" dirty="0"/>
          </a:p>
        </p:txBody>
      </p:sp>
      <p:sp>
        <p:nvSpPr>
          <p:cNvPr id="24" name="Shape 22"/>
          <p:cNvSpPr/>
          <p:nvPr/>
        </p:nvSpPr>
        <p:spPr>
          <a:xfrm>
            <a:off x="457200" y="3374136"/>
            <a:ext cx="8229600" cy="548640"/>
          </a:xfrm>
          <a:prstGeom prst="rect">
            <a:avLst/>
          </a:prstGeom>
          <a:solidFill>
            <a:srgbClr val="162E4A"/>
          </a:solidFill>
          <a:ln w="12700">
            <a:solidFill>
              <a:srgbClr val="C45C00"/>
            </a:solidFill>
            <a:prstDash val="solid"/>
          </a:ln>
        </p:spPr>
        <p:txBody>
          <a:bodyPr/>
          <a:lstStyle/>
          <a:p>
            <a:endParaRPr lang="zh-TW" altLang="en-US"/>
          </a:p>
        </p:txBody>
      </p:sp>
      <p:sp>
        <p:nvSpPr>
          <p:cNvPr id="25" name="Text 23"/>
          <p:cNvSpPr/>
          <p:nvPr/>
        </p:nvSpPr>
        <p:spPr>
          <a:xfrm>
            <a:off x="548640" y="3374136"/>
            <a:ext cx="777240" cy="548640"/>
          </a:xfrm>
          <a:prstGeom prst="rect">
            <a:avLst/>
          </a:prstGeom>
          <a:noFill/>
          <a:ln/>
        </p:spPr>
        <p:txBody>
          <a:bodyPr wrap="square" lIns="0" tIns="0" rIns="0" bIns="0" rtlCol="0" anchor="ctr"/>
          <a:lstStyle/>
          <a:p>
            <a:pPr marL="0" indent="0" algn="ctr">
              <a:buNone/>
            </a:pPr>
            <a:r>
              <a:rPr lang="en-US" sz="1100" b="1" dirty="0">
                <a:solidFill>
                  <a:srgbClr val="C45C00"/>
                </a:solidFill>
                <a:latin typeface="Calibri" pitchFamily="34" charset="0"/>
                <a:ea typeface="Calibri" pitchFamily="34" charset="-122"/>
                <a:cs typeface="Calibri" pitchFamily="34" charset="-120"/>
              </a:rPr>
              <a:t>Lab 4</a:t>
            </a:r>
            <a:endParaRPr lang="en-US" sz="1100" dirty="0"/>
          </a:p>
        </p:txBody>
      </p:sp>
      <p:sp>
        <p:nvSpPr>
          <p:cNvPr id="26" name="Shape 24"/>
          <p:cNvSpPr/>
          <p:nvPr/>
        </p:nvSpPr>
        <p:spPr>
          <a:xfrm>
            <a:off x="1371600" y="3465576"/>
            <a:ext cx="0" cy="365760"/>
          </a:xfrm>
          <a:prstGeom prst="line">
            <a:avLst/>
          </a:prstGeom>
          <a:noFill/>
          <a:ln w="10160">
            <a:solidFill>
              <a:srgbClr val="C45C00"/>
            </a:solidFill>
            <a:prstDash val="solid"/>
          </a:ln>
        </p:spPr>
        <p:txBody>
          <a:bodyPr/>
          <a:lstStyle/>
          <a:p>
            <a:endParaRPr lang="zh-TW" altLang="en-US"/>
          </a:p>
        </p:txBody>
      </p:sp>
      <p:sp>
        <p:nvSpPr>
          <p:cNvPr id="27" name="Text 25"/>
          <p:cNvSpPr/>
          <p:nvPr/>
        </p:nvSpPr>
        <p:spPr>
          <a:xfrm>
            <a:off x="1463040" y="3374136"/>
            <a:ext cx="3657600" cy="5486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逃逸車牌去碼還原</a:t>
            </a:r>
            <a:endParaRPr lang="en-US" sz="1300" dirty="0"/>
          </a:p>
        </p:txBody>
      </p:sp>
      <p:sp>
        <p:nvSpPr>
          <p:cNvPr id="28" name="Text 26"/>
          <p:cNvSpPr/>
          <p:nvPr/>
        </p:nvSpPr>
        <p:spPr>
          <a:xfrm>
            <a:off x="5212080" y="3374136"/>
            <a:ext cx="2286000" cy="548640"/>
          </a:xfrm>
          <a:prstGeom prst="rect">
            <a:avLst/>
          </a:prstGeom>
          <a:noFill/>
          <a:ln/>
        </p:spPr>
        <p:txBody>
          <a:bodyPr wrap="square" lIns="0" tIns="0" rIns="0" bIns="0" rtlCol="0" anchor="ctr"/>
          <a:lstStyle/>
          <a:p>
            <a:pPr marL="0" indent="0" algn="l">
              <a:buNone/>
            </a:pPr>
            <a:r>
              <a:rPr lang="en-US" sz="1050" dirty="0">
                <a:solidFill>
                  <a:srgbClr val="D6E4F0"/>
                </a:solidFill>
                <a:latin typeface="Calibri" pitchFamily="34" charset="0"/>
                <a:ea typeface="Calibri" pitchFamily="34" charset="-122"/>
                <a:cs typeface="Calibri" pitchFamily="34" charset="-120"/>
              </a:rPr>
              <a:t>自定義核 + Unsharp Mask</a:t>
            </a:r>
            <a:endParaRPr lang="en-US" sz="1050" dirty="0"/>
          </a:p>
        </p:txBody>
      </p:sp>
      <p:sp>
        <p:nvSpPr>
          <p:cNvPr id="30" name="Shape 28"/>
          <p:cNvSpPr/>
          <p:nvPr/>
        </p:nvSpPr>
        <p:spPr>
          <a:xfrm>
            <a:off x="457200" y="3995928"/>
            <a:ext cx="8229600" cy="548640"/>
          </a:xfrm>
          <a:prstGeom prst="rect">
            <a:avLst/>
          </a:prstGeom>
          <a:solidFill>
            <a:srgbClr val="162E4A"/>
          </a:solidFill>
          <a:ln w="12700">
            <a:solidFill>
              <a:srgbClr val="8B1A1A"/>
            </a:solidFill>
            <a:prstDash val="solid"/>
          </a:ln>
        </p:spPr>
        <p:txBody>
          <a:bodyPr/>
          <a:lstStyle/>
          <a:p>
            <a:endParaRPr lang="zh-TW" altLang="en-US"/>
          </a:p>
        </p:txBody>
      </p:sp>
      <p:sp>
        <p:nvSpPr>
          <p:cNvPr id="31" name="Text 29"/>
          <p:cNvSpPr/>
          <p:nvPr/>
        </p:nvSpPr>
        <p:spPr>
          <a:xfrm>
            <a:off x="548640" y="3995928"/>
            <a:ext cx="777240" cy="548640"/>
          </a:xfrm>
          <a:prstGeom prst="rect">
            <a:avLst/>
          </a:prstGeom>
          <a:noFill/>
          <a:ln/>
        </p:spPr>
        <p:txBody>
          <a:bodyPr wrap="square" lIns="0" tIns="0" rIns="0" bIns="0" rtlCol="0" anchor="ctr"/>
          <a:lstStyle/>
          <a:p>
            <a:pPr marL="0" indent="0" algn="ctr">
              <a:buNone/>
            </a:pPr>
            <a:r>
              <a:rPr lang="en-US" sz="1100" b="1" dirty="0">
                <a:solidFill>
                  <a:srgbClr val="8B1A1A"/>
                </a:solidFill>
                <a:latin typeface="Calibri" pitchFamily="34" charset="0"/>
                <a:ea typeface="Calibri" pitchFamily="34" charset="-122"/>
                <a:cs typeface="Calibri" pitchFamily="34" charset="-120"/>
              </a:rPr>
              <a:t>Lab 5</a:t>
            </a:r>
            <a:endParaRPr lang="en-US" sz="1100" dirty="0"/>
          </a:p>
        </p:txBody>
      </p:sp>
      <p:sp>
        <p:nvSpPr>
          <p:cNvPr id="32" name="Shape 30"/>
          <p:cNvSpPr/>
          <p:nvPr/>
        </p:nvSpPr>
        <p:spPr>
          <a:xfrm>
            <a:off x="1371600" y="4087368"/>
            <a:ext cx="0" cy="365760"/>
          </a:xfrm>
          <a:prstGeom prst="line">
            <a:avLst/>
          </a:prstGeom>
          <a:noFill/>
          <a:ln w="10160">
            <a:solidFill>
              <a:srgbClr val="8B1A1A"/>
            </a:solidFill>
            <a:prstDash val="solid"/>
          </a:ln>
        </p:spPr>
        <p:txBody>
          <a:bodyPr/>
          <a:lstStyle/>
          <a:p>
            <a:endParaRPr lang="zh-TW" altLang="en-US"/>
          </a:p>
        </p:txBody>
      </p:sp>
      <p:sp>
        <p:nvSpPr>
          <p:cNvPr id="33" name="Text 31"/>
          <p:cNvSpPr/>
          <p:nvPr/>
        </p:nvSpPr>
        <p:spPr>
          <a:xfrm>
            <a:off x="1463040" y="3995928"/>
            <a:ext cx="3657600" cy="548640"/>
          </a:xfrm>
          <a:prstGeom prst="rect">
            <a:avLst/>
          </a:prstGeom>
          <a:noFill/>
          <a:ln/>
        </p:spPr>
        <p:txBody>
          <a:bodyPr wrap="square" lIns="0" tIns="0" rIns="0" bIns="0" rtlCol="0" anchor="ctr"/>
          <a:lstStyle/>
          <a:p>
            <a:pPr marL="0" indent="0" algn="l">
              <a:buNone/>
            </a:pPr>
            <a:r>
              <a:rPr lang="en-US" sz="1300" b="1" dirty="0">
                <a:solidFill>
                  <a:srgbClr val="FFFFFF"/>
                </a:solidFill>
                <a:latin typeface="Calibri" pitchFamily="34" charset="0"/>
                <a:ea typeface="Calibri" pitchFamily="34" charset="-122"/>
                <a:cs typeface="Calibri" pitchFamily="34" charset="-120"/>
              </a:rPr>
              <a:t>即時保邊美顏濾鏡</a:t>
            </a:r>
            <a:endParaRPr lang="en-US" sz="1300" dirty="0"/>
          </a:p>
        </p:txBody>
      </p:sp>
      <p:sp>
        <p:nvSpPr>
          <p:cNvPr id="34" name="Text 32"/>
          <p:cNvSpPr/>
          <p:nvPr/>
        </p:nvSpPr>
        <p:spPr>
          <a:xfrm>
            <a:off x="5212080" y="3995928"/>
            <a:ext cx="2286000" cy="548640"/>
          </a:xfrm>
          <a:prstGeom prst="rect">
            <a:avLst/>
          </a:prstGeom>
          <a:noFill/>
          <a:ln/>
        </p:spPr>
        <p:txBody>
          <a:bodyPr wrap="square" lIns="0" tIns="0" rIns="0" bIns="0" rtlCol="0" anchor="ctr"/>
          <a:lstStyle/>
          <a:p>
            <a:pPr marL="0" indent="0" algn="l">
              <a:buNone/>
            </a:pPr>
            <a:r>
              <a:rPr lang="en-US" sz="1050" dirty="0">
                <a:solidFill>
                  <a:srgbClr val="D6E4F0"/>
                </a:solidFill>
                <a:latin typeface="Calibri" pitchFamily="34" charset="0"/>
                <a:ea typeface="Calibri" pitchFamily="34" charset="-122"/>
                <a:cs typeface="Calibri" pitchFamily="34" charset="-120"/>
              </a:rPr>
              <a:t>串流影片 + 雙邊濾波</a:t>
            </a:r>
            <a:endParaRPr lang="en-US" sz="105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18">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Lab 1  ┃  實作題目</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實作題目</a:t>
            </a:r>
            <a:endParaRPr lang="en-US" sz="750" dirty="0"/>
          </a:p>
        </p:txBody>
      </p:sp>
      <p:sp>
        <p:nvSpPr>
          <p:cNvPr id="6" name="Shape 4"/>
          <p:cNvSpPr/>
          <p:nvPr/>
        </p:nvSpPr>
        <p:spPr>
          <a:xfrm>
            <a:off x="320040" y="475488"/>
            <a:ext cx="8503920" cy="640080"/>
          </a:xfrm>
          <a:prstGeom prst="rect">
            <a:avLst/>
          </a:prstGeom>
          <a:solidFill>
            <a:srgbClr val="1E3A5F"/>
          </a:solidFill>
          <a:ln w="12700">
            <a:solidFill>
              <a:srgbClr val="1E3A5F"/>
            </a:solidFill>
            <a:prstDash val="solid"/>
          </a:ln>
        </p:spPr>
        <p:txBody>
          <a:bodyPr/>
          <a:lstStyle/>
          <a:p>
            <a:endParaRPr lang="zh-TW" altLang="en-US"/>
          </a:p>
        </p:txBody>
      </p:sp>
      <p:sp>
        <p:nvSpPr>
          <p:cNvPr id="7" name="Text 5"/>
          <p:cNvSpPr/>
          <p:nvPr/>
        </p:nvSpPr>
        <p:spPr>
          <a:xfrm>
            <a:off x="411480" y="475488"/>
            <a:ext cx="8321040" cy="640080"/>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Lab 1：黑夜裡的監視器  </a:t>
            </a:r>
            <a:r>
              <a:rPr lang="en-US" sz="1200" dirty="0">
                <a:solidFill>
                  <a:srgbClr val="F5E6D3"/>
                </a:solidFill>
                <a:latin typeface="Calibri" pitchFamily="34" charset="0"/>
                <a:ea typeface="Calibri" pitchFamily="34" charset="-122"/>
                <a:cs typeface="Calibri" pitchFamily="34" charset="-120"/>
              </a:rPr>
              <a:t>⭐ 基礎</a:t>
            </a:r>
            <a:endParaRPr lang="en-US" sz="1700" dirty="0"/>
          </a:p>
        </p:txBody>
      </p:sp>
      <p:sp>
        <p:nvSpPr>
          <p:cNvPr id="8" name="Text 6"/>
          <p:cNvSpPr/>
          <p:nvPr/>
        </p:nvSpPr>
        <p:spPr>
          <a:xfrm>
            <a:off x="411480" y="786384"/>
            <a:ext cx="8321040" cy="292608"/>
          </a:xfrm>
          <a:prstGeom prst="rect">
            <a:avLst/>
          </a:prstGeom>
          <a:noFill/>
          <a:ln/>
        </p:spPr>
        <p:txBody>
          <a:bodyPr wrap="square" lIns="0" tIns="0" rIns="0" bIns="0" rtlCol="0" anchor="b"/>
          <a:lstStyle/>
          <a:p>
            <a:pPr marL="0" indent="0" algn="l">
              <a:buNone/>
            </a:pPr>
            <a:r>
              <a:rPr lang="en-US" sz="1050" i="1" dirty="0">
                <a:solidFill>
                  <a:srgbClr val="F5E6D3"/>
                </a:solidFill>
                <a:latin typeface="Calibri" pitchFamily="34" charset="0"/>
                <a:ea typeface="Calibri" pitchFamily="34" charset="-122"/>
                <a:cs typeface="Calibri" pitchFamily="34" charset="-120"/>
              </a:rPr>
              <a:t>Gamma 矯正 + LUT 加速</a:t>
            </a:r>
            <a:endParaRPr lang="en-US" sz="1050" dirty="0"/>
          </a:p>
        </p:txBody>
      </p:sp>
      <p:sp>
        <p:nvSpPr>
          <p:cNvPr id="9" name="Shape 7"/>
          <p:cNvSpPr/>
          <p:nvPr/>
        </p:nvSpPr>
        <p:spPr>
          <a:xfrm>
            <a:off x="320040" y="1170432"/>
            <a:ext cx="8503920" cy="256032"/>
          </a:xfrm>
          <a:prstGeom prst="rect">
            <a:avLst/>
          </a:prstGeom>
          <a:solidFill>
            <a:srgbClr val="F5E6D3"/>
          </a:solidFill>
          <a:ln w="12700">
            <a:solidFill>
              <a:srgbClr val="F5E6D3"/>
            </a:solidFill>
            <a:prstDash val="solid"/>
          </a:ln>
        </p:spPr>
        <p:txBody>
          <a:bodyPr/>
          <a:lstStyle/>
          <a:p>
            <a:endParaRPr lang="zh-TW" altLang="en-US"/>
          </a:p>
        </p:txBody>
      </p:sp>
      <p:sp>
        <p:nvSpPr>
          <p:cNvPr id="10" name="Text 8"/>
          <p:cNvSpPr/>
          <p:nvPr/>
        </p:nvSpPr>
        <p:spPr>
          <a:xfrm>
            <a:off x="384048" y="1170432"/>
            <a:ext cx="1463040" cy="256032"/>
          </a:xfrm>
          <a:prstGeom prst="rect">
            <a:avLst/>
          </a:prstGeom>
          <a:noFill/>
          <a:ln/>
        </p:spPr>
        <p:txBody>
          <a:bodyPr wrap="square" lIns="0" tIns="0" rIns="0" bIns="0" rtlCol="0" anchor="ctr"/>
          <a:lstStyle/>
          <a:p>
            <a:pPr marL="0" indent="0" algn="l">
              <a:buNone/>
            </a:pPr>
            <a:r>
              <a:rPr lang="en-US" sz="1000" b="1" dirty="0">
                <a:solidFill>
                  <a:srgbClr val="C45C00"/>
                </a:solidFill>
                <a:latin typeface="Calibri" pitchFamily="34" charset="0"/>
                <a:ea typeface="Calibri" pitchFamily="34" charset="-122"/>
                <a:cs typeface="Calibri" pitchFamily="34" charset="-120"/>
              </a:rPr>
              <a:t>📖 情境背景：</a:t>
            </a:r>
            <a:endParaRPr lang="en-US" sz="1000" dirty="0"/>
          </a:p>
        </p:txBody>
      </p:sp>
      <p:sp>
        <p:nvSpPr>
          <p:cNvPr id="11" name="Text 9"/>
          <p:cNvSpPr/>
          <p:nvPr/>
        </p:nvSpPr>
        <p:spPr>
          <a:xfrm>
            <a:off x="1783080" y="1170432"/>
            <a:ext cx="6949440" cy="256032"/>
          </a:xfrm>
          <a:prstGeom prst="rect">
            <a:avLst/>
          </a:prstGeom>
          <a:noFill/>
          <a:ln/>
        </p:spPr>
        <p:txBody>
          <a:bodyPr wrap="square" lIns="0" tIns="0" rIns="0" bIns="0" rtlCol="0" anchor="ctr"/>
          <a:lstStyle/>
          <a:p>
            <a:pPr marL="0" indent="0" algn="l">
              <a:buNone/>
            </a:pPr>
            <a:r>
              <a:rPr lang="en-US" sz="950" dirty="0">
                <a:solidFill>
                  <a:srgbClr val="1A1A1A"/>
                </a:solidFill>
                <a:latin typeface="Calibri" pitchFamily="34" charset="0"/>
                <a:ea typeface="Calibri" pitchFamily="34" charset="-122"/>
                <a:cs typeface="Calibri" pitchFamily="34" charset="-120"/>
              </a:rPr>
              <a:t>你負責維護社區安防系統，某支監視器在夜間拍出的畫面幾乎全黑，只有極微弱的路燈光影。請勿使用單純加法（會讓背景雜訊泛白），必須使用 Gamma Correction 非線性地提亮暗部細節，找出畫面中隱藏的人物輪廓。</a:t>
            </a:r>
            <a:endParaRPr lang="en-US" sz="950" dirty="0"/>
          </a:p>
        </p:txBody>
      </p:sp>
      <p:sp>
        <p:nvSpPr>
          <p:cNvPr id="12" name="Text 10"/>
          <p:cNvSpPr/>
          <p:nvPr/>
        </p:nvSpPr>
        <p:spPr>
          <a:xfrm>
            <a:off x="320040" y="1499616"/>
            <a:ext cx="18288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實作任務</a:t>
            </a:r>
            <a:endParaRPr lang="en-US" sz="1100" dirty="0"/>
          </a:p>
        </p:txBody>
      </p:sp>
      <p:sp>
        <p:nvSpPr>
          <p:cNvPr id="13" name="Text 11"/>
          <p:cNvSpPr/>
          <p:nvPr/>
        </p:nvSpPr>
        <p:spPr>
          <a:xfrm>
            <a:off x="320040" y="1783080"/>
            <a:ext cx="8503920" cy="132588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1. 讀入欠曝影像，計算並顯示直方圖，確認直方圖極度左偏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2. 實作 Gamma 矯正函式（注意 float32 轉換與 uint8 截斷）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3. 試驗 γ = 0.1, 0.3, 0.5, 0.7，比較各 γ 值的視覺效果與直方圖變化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4. 建立 LUT 版本（cv2.LUT），用 time.perf_counter() 測量速度差異
</a:t>
            </a:r>
            <a:endParaRPr lang="en-US" sz="1150" dirty="0"/>
          </a:p>
        </p:txBody>
      </p:sp>
      <p:sp>
        <p:nvSpPr>
          <p:cNvPr id="14" name="Shape 12"/>
          <p:cNvSpPr/>
          <p:nvPr/>
        </p:nvSpPr>
        <p:spPr>
          <a:xfrm>
            <a:off x="320040" y="3172968"/>
            <a:ext cx="8503920" cy="256032"/>
          </a:xfrm>
          <a:prstGeom prst="rect">
            <a:avLst/>
          </a:prstGeom>
          <a:solidFill>
            <a:srgbClr val="D6E4F0"/>
          </a:solidFill>
          <a:ln w="12700">
            <a:solidFill>
              <a:srgbClr val="D6E4F0"/>
            </a:solidFill>
            <a:prstDash val="solid"/>
          </a:ln>
        </p:spPr>
        <p:txBody>
          <a:bodyPr/>
          <a:lstStyle/>
          <a:p>
            <a:endParaRPr lang="zh-TW" altLang="en-US"/>
          </a:p>
        </p:txBody>
      </p:sp>
      <p:sp>
        <p:nvSpPr>
          <p:cNvPr id="15" name="Text 13"/>
          <p:cNvSpPr/>
          <p:nvPr/>
        </p:nvSpPr>
        <p:spPr>
          <a:xfrm>
            <a:off x="384048" y="3172968"/>
            <a:ext cx="1920240" cy="256032"/>
          </a:xfrm>
          <a:prstGeom prst="rect">
            <a:avLst/>
          </a:prstGeom>
          <a:noFill/>
          <a:ln/>
        </p:spPr>
        <p:txBody>
          <a:bodyPr wrap="square" lIns="0" tIns="0" rIns="0" bIns="0"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 預期學習目標：</a:t>
            </a:r>
            <a:endParaRPr lang="en-US" sz="1000" dirty="0"/>
          </a:p>
        </p:txBody>
      </p:sp>
      <p:sp>
        <p:nvSpPr>
          <p:cNvPr id="16" name="Text 14"/>
          <p:cNvSpPr/>
          <p:nvPr/>
        </p:nvSpPr>
        <p:spPr>
          <a:xfrm>
            <a:off x="2331720" y="3172968"/>
            <a:ext cx="6400800" cy="256032"/>
          </a:xfrm>
          <a:prstGeom prst="rect">
            <a:avLst/>
          </a:prstGeom>
          <a:noFill/>
          <a:ln/>
        </p:spPr>
        <p:txBody>
          <a:bodyPr wrap="square" lIns="0" tIns="0" rIns="0" bIns="0" rtlCol="0" anchor="ctr"/>
          <a:lstStyle/>
          <a:p>
            <a:pPr marL="0" indent="0" algn="l">
              <a:buNone/>
            </a:pPr>
            <a:r>
              <a:rPr lang="en-US" sz="900" dirty="0">
                <a:solidFill>
                  <a:srgbClr val="1A1A1A"/>
                </a:solidFill>
                <a:latin typeface="Calibri" pitchFamily="34" charset="0"/>
                <a:ea typeface="Calibri" pitchFamily="34" charset="-122"/>
                <a:cs typeface="Calibri" pitchFamily="34" charset="-120"/>
              </a:rPr>
              <a:t>1. 理解 uint8 截斷（Clipping）問題與正確的 float32 計算流程   |   2. 掌握非線性映射（γ &lt; 1）對暗部細節的保留優勢 vs 線性加法   |   3. 學會 LUT 加速技巧，體驗嵌入式實作優化的重要性</a:t>
            </a:r>
            <a:endParaRPr lang="en-US" sz="900" dirty="0"/>
          </a:p>
        </p:txBody>
      </p:sp>
      <p:sp>
        <p:nvSpPr>
          <p:cNvPr id="17" name="Shape 15"/>
          <p:cNvSpPr/>
          <p:nvPr/>
        </p:nvSpPr>
        <p:spPr>
          <a:xfrm>
            <a:off x="320040" y="3520440"/>
            <a:ext cx="8503920" cy="777240"/>
          </a:xfrm>
          <a:prstGeom prst="rect">
            <a:avLst/>
          </a:prstGeom>
          <a:solidFill>
            <a:srgbClr val="FFF3E0"/>
          </a:solidFill>
          <a:ln w="12700">
            <a:solidFill>
              <a:srgbClr val="C45C00"/>
            </a:solidFill>
            <a:prstDash val="solid"/>
          </a:ln>
        </p:spPr>
        <p:txBody>
          <a:bodyPr/>
          <a:lstStyle/>
          <a:p>
            <a:endParaRPr lang="zh-TW" altLang="en-US"/>
          </a:p>
        </p:txBody>
      </p:sp>
      <p:sp>
        <p:nvSpPr>
          <p:cNvPr id="18" name="Text 16"/>
          <p:cNvSpPr/>
          <p:nvPr/>
        </p:nvSpPr>
        <p:spPr>
          <a:xfrm>
            <a:off x="411480" y="3520440"/>
            <a:ext cx="8321040" cy="777240"/>
          </a:xfrm>
          <a:prstGeom prst="rect">
            <a:avLst/>
          </a:prstGeom>
          <a:noFill/>
          <a:ln/>
        </p:spPr>
        <p:txBody>
          <a:bodyPr wrap="square" lIns="0" tIns="0" rIns="0" bIns="0" rtlCol="0" anchor="ctr"/>
          <a:lstStyle/>
          <a:p>
            <a:pPr marL="0" indent="0" algn="l">
              <a:buNone/>
            </a:pPr>
            <a:r>
              <a:rPr lang="en-US" sz="1100" i="1" dirty="0">
                <a:solidFill>
                  <a:srgbClr val="C45C00"/>
                </a:solidFill>
                <a:latin typeface="Calibri" pitchFamily="34" charset="0"/>
                <a:ea typeface="Calibri" pitchFamily="34" charset="-122"/>
                <a:cs typeface="Calibri" pitchFamily="34" charset="-120"/>
              </a:rPr>
              <a:t>💡  提示：先建 LUT = [((i/255)^γ)*255 for i in range(256)]，再 cv2.LUT(img, lut)；試試 γ = 0.3 vs γ = 0.5 的直方圖差異！</a:t>
            </a:r>
            <a:endParaRPr lang="en-US" sz="110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19">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Lab 2  ┃  實作題目</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實作題目</a:t>
            </a:r>
            <a:endParaRPr lang="en-US" sz="750" dirty="0"/>
          </a:p>
        </p:txBody>
      </p:sp>
      <p:sp>
        <p:nvSpPr>
          <p:cNvPr id="6" name="Shape 4"/>
          <p:cNvSpPr/>
          <p:nvPr/>
        </p:nvSpPr>
        <p:spPr>
          <a:xfrm>
            <a:off x="320040" y="475488"/>
            <a:ext cx="8503920" cy="640080"/>
          </a:xfrm>
          <a:prstGeom prst="rect">
            <a:avLst/>
          </a:prstGeom>
          <a:solidFill>
            <a:srgbClr val="1A6049"/>
          </a:solidFill>
          <a:ln w="12700">
            <a:solidFill>
              <a:srgbClr val="1A6049"/>
            </a:solidFill>
            <a:prstDash val="solid"/>
          </a:ln>
        </p:spPr>
        <p:txBody>
          <a:bodyPr/>
          <a:lstStyle/>
          <a:p>
            <a:endParaRPr lang="zh-TW" altLang="en-US"/>
          </a:p>
        </p:txBody>
      </p:sp>
      <p:sp>
        <p:nvSpPr>
          <p:cNvPr id="7" name="Text 5"/>
          <p:cNvSpPr/>
          <p:nvPr/>
        </p:nvSpPr>
        <p:spPr>
          <a:xfrm>
            <a:off x="411480" y="475488"/>
            <a:ext cx="8321040" cy="640080"/>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Lab 2：工廠自動曝光修復機</a:t>
            </a:r>
            <a:endParaRPr lang="en-US" sz="1700" dirty="0"/>
          </a:p>
        </p:txBody>
      </p:sp>
      <p:sp>
        <p:nvSpPr>
          <p:cNvPr id="8" name="Text 6"/>
          <p:cNvSpPr/>
          <p:nvPr/>
        </p:nvSpPr>
        <p:spPr>
          <a:xfrm>
            <a:off x="411480" y="770128"/>
            <a:ext cx="8321040" cy="292608"/>
          </a:xfrm>
          <a:prstGeom prst="rect">
            <a:avLst/>
          </a:prstGeom>
          <a:noFill/>
          <a:ln/>
        </p:spPr>
        <p:txBody>
          <a:bodyPr wrap="square" lIns="0" tIns="0" rIns="0" bIns="0" rtlCol="0" anchor="b"/>
          <a:lstStyle/>
          <a:p>
            <a:pPr marL="0" indent="0" algn="l">
              <a:buNone/>
            </a:pPr>
            <a:r>
              <a:rPr lang="en-US" sz="1050" i="1" dirty="0">
                <a:solidFill>
                  <a:srgbClr val="F5E6D3"/>
                </a:solidFill>
                <a:latin typeface="Calibri" pitchFamily="34" charset="0"/>
                <a:ea typeface="Calibri" pitchFamily="34" charset="-122"/>
                <a:cs typeface="Calibri" pitchFamily="34" charset="-120"/>
              </a:rPr>
              <a:t>直方圖分析 + equalizeHist + CLAHE</a:t>
            </a:r>
            <a:endParaRPr lang="en-US" sz="1050" dirty="0"/>
          </a:p>
        </p:txBody>
      </p:sp>
      <p:sp>
        <p:nvSpPr>
          <p:cNvPr id="9" name="Shape 7"/>
          <p:cNvSpPr/>
          <p:nvPr/>
        </p:nvSpPr>
        <p:spPr>
          <a:xfrm>
            <a:off x="320040" y="1170432"/>
            <a:ext cx="8503920" cy="256032"/>
          </a:xfrm>
          <a:prstGeom prst="rect">
            <a:avLst/>
          </a:prstGeom>
          <a:solidFill>
            <a:srgbClr val="F5E6D3"/>
          </a:solidFill>
          <a:ln w="12700">
            <a:solidFill>
              <a:srgbClr val="F5E6D3"/>
            </a:solidFill>
            <a:prstDash val="solid"/>
          </a:ln>
        </p:spPr>
        <p:txBody>
          <a:bodyPr/>
          <a:lstStyle/>
          <a:p>
            <a:endParaRPr lang="zh-TW" altLang="en-US"/>
          </a:p>
        </p:txBody>
      </p:sp>
      <p:sp>
        <p:nvSpPr>
          <p:cNvPr id="10" name="Text 8"/>
          <p:cNvSpPr/>
          <p:nvPr/>
        </p:nvSpPr>
        <p:spPr>
          <a:xfrm>
            <a:off x="384048" y="1170432"/>
            <a:ext cx="1463040" cy="256032"/>
          </a:xfrm>
          <a:prstGeom prst="rect">
            <a:avLst/>
          </a:prstGeom>
          <a:noFill/>
          <a:ln/>
        </p:spPr>
        <p:txBody>
          <a:bodyPr wrap="square" lIns="0" tIns="0" rIns="0" bIns="0" rtlCol="0" anchor="ctr"/>
          <a:lstStyle/>
          <a:p>
            <a:pPr marL="0" indent="0" algn="l">
              <a:buNone/>
            </a:pPr>
            <a:r>
              <a:rPr lang="en-US" sz="1000" b="1" dirty="0">
                <a:solidFill>
                  <a:srgbClr val="C45C00"/>
                </a:solidFill>
                <a:latin typeface="Calibri" pitchFamily="34" charset="0"/>
                <a:ea typeface="Calibri" pitchFamily="34" charset="-122"/>
                <a:cs typeface="Calibri" pitchFamily="34" charset="-120"/>
              </a:rPr>
              <a:t>📖 情境背景：</a:t>
            </a:r>
            <a:endParaRPr lang="en-US" sz="1000" dirty="0"/>
          </a:p>
        </p:txBody>
      </p:sp>
      <p:sp>
        <p:nvSpPr>
          <p:cNvPr id="11" name="Text 9"/>
          <p:cNvSpPr/>
          <p:nvPr/>
        </p:nvSpPr>
        <p:spPr>
          <a:xfrm>
            <a:off x="1783080" y="1170432"/>
            <a:ext cx="6949440" cy="256032"/>
          </a:xfrm>
          <a:prstGeom prst="rect">
            <a:avLst/>
          </a:prstGeom>
          <a:noFill/>
          <a:ln/>
        </p:spPr>
        <p:txBody>
          <a:bodyPr wrap="square" lIns="0" tIns="0" rIns="0" bIns="0" rtlCol="0" anchor="ctr"/>
          <a:lstStyle/>
          <a:p>
            <a:pPr marL="0" indent="0" algn="l">
              <a:buNone/>
            </a:pPr>
            <a:r>
              <a:rPr lang="en-US" sz="950" dirty="0">
                <a:solidFill>
                  <a:srgbClr val="1A1A1A"/>
                </a:solidFill>
                <a:latin typeface="Calibri" pitchFamily="34" charset="0"/>
                <a:ea typeface="Calibri" pitchFamily="34" charset="-122"/>
                <a:cs typeface="Calibri" pitchFamily="34" charset="-120"/>
              </a:rPr>
              <a:t>產線視覺檢測機台因廠房環境光源不穩定，導致拍出來的零件圖片時而過曝、時而曝光不足、時而低對比。請設計一套自動影像品質診斷與修復程式。</a:t>
            </a:r>
            <a:endParaRPr lang="en-US" sz="950" dirty="0"/>
          </a:p>
        </p:txBody>
      </p:sp>
      <p:sp>
        <p:nvSpPr>
          <p:cNvPr id="12" name="Text 10"/>
          <p:cNvSpPr/>
          <p:nvPr/>
        </p:nvSpPr>
        <p:spPr>
          <a:xfrm>
            <a:off x="320040" y="1499616"/>
            <a:ext cx="18288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實作任務</a:t>
            </a:r>
            <a:endParaRPr lang="en-US" sz="1100" dirty="0"/>
          </a:p>
        </p:txBody>
      </p:sp>
      <p:sp>
        <p:nvSpPr>
          <p:cNvPr id="13" name="Text 11"/>
          <p:cNvSpPr/>
          <p:nvPr/>
        </p:nvSpPr>
        <p:spPr>
          <a:xfrm>
            <a:off x="320040" y="1783080"/>
            <a:ext cx="8503920" cy="132588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1. 讀入三種病態影像（過曝、欠曝、低對比）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2. 計算每張影像的直方圖並繪製，寫出文字診斷結果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3. 分別套用 cv2.equalizeHist() 和 CLAHE，比較兩者的效果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4. 刻意把 CLAHE 的 clipLimit 設為 40，觀察雜訊放大的後果，再調回 2.0
</a:t>
            </a:r>
            <a:endParaRPr lang="en-US" sz="1150" dirty="0"/>
          </a:p>
        </p:txBody>
      </p:sp>
      <p:sp>
        <p:nvSpPr>
          <p:cNvPr id="14" name="Shape 12"/>
          <p:cNvSpPr/>
          <p:nvPr/>
        </p:nvSpPr>
        <p:spPr>
          <a:xfrm>
            <a:off x="320040" y="3172968"/>
            <a:ext cx="8503920" cy="256032"/>
          </a:xfrm>
          <a:prstGeom prst="rect">
            <a:avLst/>
          </a:prstGeom>
          <a:solidFill>
            <a:srgbClr val="D6E4F0"/>
          </a:solidFill>
          <a:ln w="12700">
            <a:solidFill>
              <a:srgbClr val="D6E4F0"/>
            </a:solidFill>
            <a:prstDash val="solid"/>
          </a:ln>
        </p:spPr>
        <p:txBody>
          <a:bodyPr/>
          <a:lstStyle/>
          <a:p>
            <a:endParaRPr lang="zh-TW" altLang="en-US"/>
          </a:p>
        </p:txBody>
      </p:sp>
      <p:sp>
        <p:nvSpPr>
          <p:cNvPr id="15" name="Text 13"/>
          <p:cNvSpPr/>
          <p:nvPr/>
        </p:nvSpPr>
        <p:spPr>
          <a:xfrm>
            <a:off x="384048" y="3172968"/>
            <a:ext cx="1920240" cy="256032"/>
          </a:xfrm>
          <a:prstGeom prst="rect">
            <a:avLst/>
          </a:prstGeom>
          <a:noFill/>
          <a:ln/>
        </p:spPr>
        <p:txBody>
          <a:bodyPr wrap="square" lIns="0" tIns="0" rIns="0" bIns="0"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 預期學習目標：</a:t>
            </a:r>
            <a:endParaRPr lang="en-US" sz="1000" dirty="0"/>
          </a:p>
        </p:txBody>
      </p:sp>
      <p:sp>
        <p:nvSpPr>
          <p:cNvPr id="16" name="Text 14"/>
          <p:cNvSpPr/>
          <p:nvPr/>
        </p:nvSpPr>
        <p:spPr>
          <a:xfrm>
            <a:off x="2331720" y="3172968"/>
            <a:ext cx="6400800" cy="256032"/>
          </a:xfrm>
          <a:prstGeom prst="rect">
            <a:avLst/>
          </a:prstGeom>
          <a:noFill/>
          <a:ln/>
        </p:spPr>
        <p:txBody>
          <a:bodyPr wrap="square" lIns="0" tIns="0" rIns="0" bIns="0" rtlCol="0" anchor="ctr"/>
          <a:lstStyle/>
          <a:p>
            <a:pPr marL="0" indent="0" algn="l">
              <a:buNone/>
            </a:pPr>
            <a:r>
              <a:rPr lang="en-US" sz="900" dirty="0">
                <a:solidFill>
                  <a:srgbClr val="1A1A1A"/>
                </a:solidFill>
                <a:latin typeface="Calibri" pitchFamily="34" charset="0"/>
                <a:ea typeface="Calibri" pitchFamily="34" charset="-122"/>
                <a:cs typeface="Calibri" pitchFamily="34" charset="-120"/>
              </a:rPr>
              <a:t>1. 學會 cv2.calcHist() 與直方圖視覺化診斷技術   |   2. 理解直方圖等化的數學原理（CDF 映射）   |   3. 體驗 CLAHE 的 clipLimit 參數如何控制雜訊放大</a:t>
            </a:r>
            <a:endParaRPr lang="en-US" sz="900" dirty="0"/>
          </a:p>
        </p:txBody>
      </p:sp>
      <p:sp>
        <p:nvSpPr>
          <p:cNvPr id="17" name="Shape 15"/>
          <p:cNvSpPr/>
          <p:nvPr/>
        </p:nvSpPr>
        <p:spPr>
          <a:xfrm>
            <a:off x="320040" y="3520440"/>
            <a:ext cx="8503920" cy="777240"/>
          </a:xfrm>
          <a:prstGeom prst="rect">
            <a:avLst/>
          </a:prstGeom>
          <a:solidFill>
            <a:srgbClr val="FFF3E0"/>
          </a:solidFill>
          <a:ln w="12700">
            <a:solidFill>
              <a:srgbClr val="C45C00"/>
            </a:solidFill>
            <a:prstDash val="solid"/>
          </a:ln>
        </p:spPr>
        <p:txBody>
          <a:bodyPr/>
          <a:lstStyle/>
          <a:p>
            <a:endParaRPr lang="zh-TW" altLang="en-US"/>
          </a:p>
        </p:txBody>
      </p:sp>
      <p:sp>
        <p:nvSpPr>
          <p:cNvPr id="18" name="Text 16"/>
          <p:cNvSpPr/>
          <p:nvPr/>
        </p:nvSpPr>
        <p:spPr>
          <a:xfrm>
            <a:off x="411480" y="3520440"/>
            <a:ext cx="8321040" cy="777240"/>
          </a:xfrm>
          <a:prstGeom prst="rect">
            <a:avLst/>
          </a:prstGeom>
          <a:noFill/>
          <a:ln/>
        </p:spPr>
        <p:txBody>
          <a:bodyPr wrap="square" lIns="0" tIns="0" rIns="0" bIns="0" rtlCol="0" anchor="ctr"/>
          <a:lstStyle/>
          <a:p>
            <a:pPr marL="0" indent="0" algn="l">
              <a:buNone/>
            </a:pPr>
            <a:r>
              <a:rPr lang="en-US" sz="1100" i="1" dirty="0">
                <a:solidFill>
                  <a:srgbClr val="C45C00"/>
                </a:solidFill>
                <a:latin typeface="Calibri" pitchFamily="34" charset="0"/>
                <a:ea typeface="Calibri" pitchFamily="34" charset="-122"/>
                <a:cs typeface="Calibri" pitchFamily="34" charset="-120"/>
              </a:rPr>
              <a:t>💡  提示：用 plt.subplot(2,4,i) 製作一個「原圖+直方圖+等化+CLAHE」的 2×4 對比圖，一眼看出差異！</a:t>
            </a:r>
            <a:endParaRPr lang="en-US" sz="110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20">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Lab 3  ┃  實作題目</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實作題目</a:t>
            </a:r>
            <a:endParaRPr lang="en-US" sz="750" dirty="0"/>
          </a:p>
        </p:txBody>
      </p:sp>
      <p:sp>
        <p:nvSpPr>
          <p:cNvPr id="6" name="Shape 4"/>
          <p:cNvSpPr/>
          <p:nvPr/>
        </p:nvSpPr>
        <p:spPr>
          <a:xfrm>
            <a:off x="320040" y="475488"/>
            <a:ext cx="8503920" cy="640080"/>
          </a:xfrm>
          <a:prstGeom prst="rect">
            <a:avLst/>
          </a:prstGeom>
          <a:solidFill>
            <a:srgbClr val="5A2D82"/>
          </a:solidFill>
          <a:ln w="12700">
            <a:solidFill>
              <a:srgbClr val="5A2D82"/>
            </a:solidFill>
            <a:prstDash val="solid"/>
          </a:ln>
        </p:spPr>
        <p:txBody>
          <a:bodyPr/>
          <a:lstStyle/>
          <a:p>
            <a:endParaRPr lang="zh-TW" altLang="en-US"/>
          </a:p>
        </p:txBody>
      </p:sp>
      <p:sp>
        <p:nvSpPr>
          <p:cNvPr id="7" name="Text 5"/>
          <p:cNvSpPr/>
          <p:nvPr/>
        </p:nvSpPr>
        <p:spPr>
          <a:xfrm>
            <a:off x="411480" y="475488"/>
            <a:ext cx="8321040" cy="640080"/>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Lab 3：皮帶上的瑕疵零件</a:t>
            </a:r>
            <a:endParaRPr lang="en-US" sz="1700" dirty="0"/>
          </a:p>
        </p:txBody>
      </p:sp>
      <p:sp>
        <p:nvSpPr>
          <p:cNvPr id="8" name="Text 6"/>
          <p:cNvSpPr/>
          <p:nvPr/>
        </p:nvSpPr>
        <p:spPr>
          <a:xfrm>
            <a:off x="384048" y="786384"/>
            <a:ext cx="8321040" cy="292608"/>
          </a:xfrm>
          <a:prstGeom prst="rect">
            <a:avLst/>
          </a:prstGeom>
          <a:noFill/>
          <a:ln/>
        </p:spPr>
        <p:txBody>
          <a:bodyPr wrap="square" lIns="0" tIns="0" rIns="0" bIns="0" rtlCol="0" anchor="b"/>
          <a:lstStyle/>
          <a:p>
            <a:pPr marL="0" indent="0" algn="l">
              <a:buNone/>
            </a:pPr>
            <a:r>
              <a:rPr lang="en-US" sz="1050" i="1" dirty="0">
                <a:solidFill>
                  <a:srgbClr val="F5E6D3"/>
                </a:solidFill>
                <a:latin typeface="Calibri" pitchFamily="34" charset="0"/>
                <a:ea typeface="Calibri" pitchFamily="34" charset="-122"/>
                <a:cs typeface="Calibri" pitchFamily="34" charset="-120"/>
              </a:rPr>
              <a:t>去噪前處理 + Otsu 自動二值化</a:t>
            </a:r>
            <a:endParaRPr lang="en-US" sz="1050" dirty="0"/>
          </a:p>
        </p:txBody>
      </p:sp>
      <p:sp>
        <p:nvSpPr>
          <p:cNvPr id="9" name="Shape 7"/>
          <p:cNvSpPr/>
          <p:nvPr/>
        </p:nvSpPr>
        <p:spPr>
          <a:xfrm>
            <a:off x="320040" y="1170432"/>
            <a:ext cx="8503920" cy="256032"/>
          </a:xfrm>
          <a:prstGeom prst="rect">
            <a:avLst/>
          </a:prstGeom>
          <a:solidFill>
            <a:srgbClr val="F5E6D3"/>
          </a:solidFill>
          <a:ln w="12700">
            <a:solidFill>
              <a:srgbClr val="F5E6D3"/>
            </a:solidFill>
            <a:prstDash val="solid"/>
          </a:ln>
        </p:spPr>
        <p:txBody>
          <a:bodyPr/>
          <a:lstStyle/>
          <a:p>
            <a:endParaRPr lang="zh-TW" altLang="en-US"/>
          </a:p>
        </p:txBody>
      </p:sp>
      <p:sp>
        <p:nvSpPr>
          <p:cNvPr id="10" name="Text 8"/>
          <p:cNvSpPr/>
          <p:nvPr/>
        </p:nvSpPr>
        <p:spPr>
          <a:xfrm>
            <a:off x="384048" y="1170432"/>
            <a:ext cx="1463040" cy="256032"/>
          </a:xfrm>
          <a:prstGeom prst="rect">
            <a:avLst/>
          </a:prstGeom>
          <a:noFill/>
          <a:ln/>
        </p:spPr>
        <p:txBody>
          <a:bodyPr wrap="square" lIns="0" tIns="0" rIns="0" bIns="0" rtlCol="0" anchor="ctr"/>
          <a:lstStyle/>
          <a:p>
            <a:pPr marL="0" indent="0" algn="l">
              <a:buNone/>
            </a:pPr>
            <a:r>
              <a:rPr lang="en-US" sz="1000" b="1" dirty="0">
                <a:solidFill>
                  <a:srgbClr val="C45C00"/>
                </a:solidFill>
                <a:latin typeface="Calibri" pitchFamily="34" charset="0"/>
                <a:ea typeface="Calibri" pitchFamily="34" charset="-122"/>
                <a:cs typeface="Calibri" pitchFamily="34" charset="-120"/>
              </a:rPr>
              <a:t>📖 情境背景：</a:t>
            </a:r>
            <a:endParaRPr lang="en-US" sz="1000" dirty="0"/>
          </a:p>
        </p:txBody>
      </p:sp>
      <p:sp>
        <p:nvSpPr>
          <p:cNvPr id="11" name="Text 9"/>
          <p:cNvSpPr/>
          <p:nvPr/>
        </p:nvSpPr>
        <p:spPr>
          <a:xfrm>
            <a:off x="1783080" y="1170432"/>
            <a:ext cx="6949440" cy="256032"/>
          </a:xfrm>
          <a:prstGeom prst="rect">
            <a:avLst/>
          </a:prstGeom>
          <a:noFill/>
          <a:ln/>
        </p:spPr>
        <p:txBody>
          <a:bodyPr wrap="square" lIns="0" tIns="0" rIns="0" bIns="0" rtlCol="0" anchor="ctr"/>
          <a:lstStyle/>
          <a:p>
            <a:pPr marL="0" indent="0" algn="l">
              <a:buNone/>
            </a:pPr>
            <a:r>
              <a:rPr lang="en-US" sz="950" dirty="0">
                <a:solidFill>
                  <a:srgbClr val="1A1A1A"/>
                </a:solidFill>
                <a:latin typeface="Calibri" pitchFamily="34" charset="0"/>
                <a:ea typeface="Calibri" pitchFamily="34" charset="-122"/>
                <a:cs typeface="Calibri" pitchFamily="34" charset="-120"/>
              </a:rPr>
              <a:t>工業攝影機拍下了一張輸送帶上的金屬零件圖，但廠房有嚴重的電磁干擾，導致畫面充滿了雪花般的椒鹽雜訊。請設計一個自動切割前景零件的管線。</a:t>
            </a:r>
            <a:endParaRPr lang="en-US" sz="950" dirty="0"/>
          </a:p>
        </p:txBody>
      </p:sp>
      <p:sp>
        <p:nvSpPr>
          <p:cNvPr id="12" name="Text 10"/>
          <p:cNvSpPr/>
          <p:nvPr/>
        </p:nvSpPr>
        <p:spPr>
          <a:xfrm>
            <a:off x="320040" y="1499616"/>
            <a:ext cx="18288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實作任務</a:t>
            </a:r>
            <a:endParaRPr lang="en-US" sz="1100" dirty="0"/>
          </a:p>
        </p:txBody>
      </p:sp>
      <p:sp>
        <p:nvSpPr>
          <p:cNvPr id="13" name="Text 11"/>
          <p:cNvSpPr/>
          <p:nvPr/>
        </p:nvSpPr>
        <p:spPr>
          <a:xfrm>
            <a:off x="320040" y="1783080"/>
            <a:ext cx="8503920" cy="132588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1. 對含雜訊影像，分別測試：不濾波直接 Otsu、高斯後 Otsu、中值後 Otsu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2. 記錄三種情況下 Otsu 自動找到的 T 值，分析其穩定性差異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3. 輸出最終二值化結果，計算前景像素的連通區域數量（零件數）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4. 挑戰：改變雜訊密度（5%, 10%, 20%），找到中值核大小的最佳設定
</a:t>
            </a:r>
            <a:endParaRPr lang="en-US" sz="1150" dirty="0"/>
          </a:p>
        </p:txBody>
      </p:sp>
      <p:sp>
        <p:nvSpPr>
          <p:cNvPr id="14" name="Shape 12"/>
          <p:cNvSpPr/>
          <p:nvPr/>
        </p:nvSpPr>
        <p:spPr>
          <a:xfrm>
            <a:off x="320040" y="3061063"/>
            <a:ext cx="8503920" cy="459377"/>
          </a:xfrm>
          <a:prstGeom prst="rect">
            <a:avLst/>
          </a:prstGeom>
          <a:solidFill>
            <a:srgbClr val="D6E4F0"/>
          </a:solidFill>
          <a:ln w="12700">
            <a:solidFill>
              <a:srgbClr val="D6E4F0"/>
            </a:solidFill>
            <a:prstDash val="solid"/>
          </a:ln>
        </p:spPr>
        <p:txBody>
          <a:bodyPr/>
          <a:lstStyle/>
          <a:p>
            <a:endParaRPr lang="zh-TW" altLang="en-US"/>
          </a:p>
        </p:txBody>
      </p:sp>
      <p:sp>
        <p:nvSpPr>
          <p:cNvPr id="15" name="Text 13"/>
          <p:cNvSpPr/>
          <p:nvPr/>
        </p:nvSpPr>
        <p:spPr>
          <a:xfrm>
            <a:off x="384048" y="3172968"/>
            <a:ext cx="1920240" cy="256032"/>
          </a:xfrm>
          <a:prstGeom prst="rect">
            <a:avLst/>
          </a:prstGeom>
          <a:noFill/>
          <a:ln/>
        </p:spPr>
        <p:txBody>
          <a:bodyPr wrap="square" lIns="0" tIns="0" rIns="0" bIns="0"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 預期學習目標：</a:t>
            </a:r>
            <a:endParaRPr lang="en-US" sz="1000" dirty="0"/>
          </a:p>
        </p:txBody>
      </p:sp>
      <p:sp>
        <p:nvSpPr>
          <p:cNvPr id="16" name="Text 14"/>
          <p:cNvSpPr/>
          <p:nvPr/>
        </p:nvSpPr>
        <p:spPr>
          <a:xfrm>
            <a:off x="1474606" y="3162953"/>
            <a:ext cx="3881846" cy="256032"/>
          </a:xfrm>
          <a:prstGeom prst="rect">
            <a:avLst/>
          </a:prstGeom>
          <a:noFill/>
          <a:ln/>
        </p:spPr>
        <p:txBody>
          <a:bodyPr wrap="square" lIns="0" tIns="0" rIns="0" bIns="0" rtlCol="0" anchor="ctr"/>
          <a:lstStyle/>
          <a:p>
            <a:pPr marL="228600" indent="-228600" algn="l">
              <a:buAutoNum type="arabicPeriod"/>
            </a:pPr>
            <a:r>
              <a:rPr lang="en-US" sz="900" dirty="0" err="1">
                <a:solidFill>
                  <a:srgbClr val="1A1A1A"/>
                </a:solidFill>
                <a:latin typeface="Calibri" pitchFamily="34" charset="0"/>
                <a:ea typeface="Calibri" pitchFamily="34" charset="-122"/>
                <a:cs typeface="Calibri" pitchFamily="34" charset="-120"/>
              </a:rPr>
              <a:t>體驗去噪前處理對</a:t>
            </a:r>
            <a:r>
              <a:rPr lang="en-US" sz="900" dirty="0">
                <a:solidFill>
                  <a:srgbClr val="1A1A1A"/>
                </a:solidFill>
                <a:latin typeface="Calibri" pitchFamily="34" charset="0"/>
                <a:ea typeface="Calibri" pitchFamily="34" charset="-122"/>
                <a:cs typeface="Calibri" pitchFamily="34" charset="-120"/>
              </a:rPr>
              <a:t> Otsu T </a:t>
            </a:r>
            <a:r>
              <a:rPr lang="en-US" sz="900" dirty="0" err="1">
                <a:solidFill>
                  <a:srgbClr val="1A1A1A"/>
                </a:solidFill>
                <a:latin typeface="Calibri" pitchFamily="34" charset="0"/>
                <a:ea typeface="Calibri" pitchFamily="34" charset="-122"/>
                <a:cs typeface="Calibri" pitchFamily="34" charset="-120"/>
              </a:rPr>
              <a:t>值穩定性的決定性影響</a:t>
            </a:r>
            <a:endParaRPr lang="en-US" sz="900" dirty="0">
              <a:solidFill>
                <a:srgbClr val="1A1A1A"/>
              </a:solidFill>
              <a:latin typeface="Calibri" pitchFamily="34" charset="0"/>
              <a:ea typeface="Calibri" pitchFamily="34" charset="-122"/>
              <a:cs typeface="Calibri" pitchFamily="34" charset="-120"/>
            </a:endParaRPr>
          </a:p>
          <a:p>
            <a:pPr marL="228600" indent="-228600" algn="l">
              <a:buAutoNum type="arabicPeriod"/>
            </a:pPr>
            <a:r>
              <a:rPr lang="en-US" sz="900" dirty="0" err="1">
                <a:solidFill>
                  <a:srgbClr val="1A1A1A"/>
                </a:solidFill>
                <a:latin typeface="Calibri" pitchFamily="34" charset="0"/>
                <a:ea typeface="Calibri" pitchFamily="34" charset="-122"/>
                <a:cs typeface="Calibri" pitchFamily="34" charset="-120"/>
              </a:rPr>
              <a:t>理解為何中值濾波比高斯更適合椒鹽雜訊（拒絕極端值</a:t>
            </a:r>
            <a:r>
              <a:rPr lang="en-US" sz="900" dirty="0">
                <a:solidFill>
                  <a:srgbClr val="1A1A1A"/>
                </a:solidFill>
                <a:latin typeface="Calibri" pitchFamily="34" charset="0"/>
                <a:ea typeface="Calibri" pitchFamily="34" charset="-122"/>
                <a:cs typeface="Calibri" pitchFamily="34" charset="-120"/>
              </a:rPr>
              <a:t> vs 稀釋極端值）   </a:t>
            </a:r>
          </a:p>
          <a:p>
            <a:pPr marL="228600" indent="-228600" algn="l">
              <a:buAutoNum type="arabicPeriod"/>
            </a:pPr>
            <a:r>
              <a:rPr lang="en-US" sz="900" dirty="0" err="1">
                <a:solidFill>
                  <a:srgbClr val="1A1A1A"/>
                </a:solidFill>
                <a:latin typeface="Calibri" pitchFamily="34" charset="0"/>
                <a:ea typeface="Calibri" pitchFamily="34" charset="-122"/>
                <a:cs typeface="Calibri" pitchFamily="34" charset="-120"/>
              </a:rPr>
              <a:t>學會</a:t>
            </a:r>
            <a:r>
              <a:rPr lang="en-US" sz="900" dirty="0">
                <a:solidFill>
                  <a:srgbClr val="1A1A1A"/>
                </a:solidFill>
                <a:latin typeface="Calibri" pitchFamily="34" charset="0"/>
                <a:ea typeface="Calibri" pitchFamily="34" charset="-122"/>
                <a:cs typeface="Calibri" pitchFamily="34" charset="-120"/>
              </a:rPr>
              <a:t> cv2.THRESH_OTSU 的呼叫方式與 T 值的解讀</a:t>
            </a:r>
            <a:endParaRPr lang="en-US" sz="900" dirty="0"/>
          </a:p>
        </p:txBody>
      </p:sp>
      <p:sp>
        <p:nvSpPr>
          <p:cNvPr id="17" name="Shape 15"/>
          <p:cNvSpPr/>
          <p:nvPr/>
        </p:nvSpPr>
        <p:spPr>
          <a:xfrm>
            <a:off x="320040" y="3520440"/>
            <a:ext cx="8503920" cy="777240"/>
          </a:xfrm>
          <a:prstGeom prst="rect">
            <a:avLst/>
          </a:prstGeom>
          <a:solidFill>
            <a:srgbClr val="FFF3E0"/>
          </a:solidFill>
          <a:ln w="12700">
            <a:solidFill>
              <a:srgbClr val="C45C00"/>
            </a:solidFill>
            <a:prstDash val="solid"/>
          </a:ln>
        </p:spPr>
        <p:txBody>
          <a:bodyPr/>
          <a:lstStyle/>
          <a:p>
            <a:endParaRPr lang="zh-TW" altLang="en-US"/>
          </a:p>
        </p:txBody>
      </p:sp>
      <p:sp>
        <p:nvSpPr>
          <p:cNvPr id="18" name="Text 16"/>
          <p:cNvSpPr/>
          <p:nvPr/>
        </p:nvSpPr>
        <p:spPr>
          <a:xfrm>
            <a:off x="411480" y="3520440"/>
            <a:ext cx="8321040" cy="777240"/>
          </a:xfrm>
          <a:prstGeom prst="rect">
            <a:avLst/>
          </a:prstGeom>
          <a:noFill/>
          <a:ln/>
        </p:spPr>
        <p:txBody>
          <a:bodyPr wrap="square" lIns="0" tIns="0" rIns="0" bIns="0" rtlCol="0" anchor="ctr"/>
          <a:lstStyle/>
          <a:p>
            <a:pPr marL="0" indent="0" algn="l">
              <a:buNone/>
            </a:pPr>
            <a:r>
              <a:rPr lang="en-US" sz="1100" i="1" dirty="0">
                <a:solidFill>
                  <a:srgbClr val="C45C00"/>
                </a:solidFill>
                <a:latin typeface="Calibri" pitchFamily="34" charset="0"/>
                <a:ea typeface="Calibri" pitchFamily="34" charset="-122"/>
                <a:cs typeface="Calibri" pitchFamily="34" charset="-120"/>
              </a:rPr>
              <a:t>💡  提示：用 cv2.connectedComponentsWithStats() 計算並標記每個前景區域；threshold() 回傳的第一個值就是 Otsu 找到的 T！</a:t>
            </a:r>
            <a:endParaRPr lang="en-US" sz="1100" dirty="0"/>
          </a:p>
        </p:txBody>
      </p:sp>
      <p:pic>
        <p:nvPicPr>
          <p:cNvPr id="3076" name="Picture 4">
            <a:extLst>
              <a:ext uri="{FF2B5EF4-FFF2-40B4-BE49-F238E27FC236}">
                <a16:creationId xmlns:a16="http://schemas.microsoft.com/office/drawing/2014/main" id="{132E224A-A32F-C32A-9EC7-A6E9CFBCA1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10234" y="1481328"/>
            <a:ext cx="2233410" cy="227555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21">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Lab 4  ┃  實作題目</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實作題目</a:t>
            </a:r>
            <a:endParaRPr lang="en-US" sz="750" dirty="0"/>
          </a:p>
        </p:txBody>
      </p:sp>
      <p:sp>
        <p:nvSpPr>
          <p:cNvPr id="6" name="Shape 4"/>
          <p:cNvSpPr/>
          <p:nvPr/>
        </p:nvSpPr>
        <p:spPr>
          <a:xfrm>
            <a:off x="320040" y="475488"/>
            <a:ext cx="8503920" cy="640080"/>
          </a:xfrm>
          <a:prstGeom prst="rect">
            <a:avLst/>
          </a:prstGeom>
          <a:solidFill>
            <a:srgbClr val="C45C00"/>
          </a:solidFill>
          <a:ln w="12700">
            <a:solidFill>
              <a:srgbClr val="C45C00"/>
            </a:solidFill>
            <a:prstDash val="solid"/>
          </a:ln>
        </p:spPr>
        <p:txBody>
          <a:bodyPr/>
          <a:lstStyle/>
          <a:p>
            <a:endParaRPr lang="zh-TW" altLang="en-US"/>
          </a:p>
        </p:txBody>
      </p:sp>
      <p:sp>
        <p:nvSpPr>
          <p:cNvPr id="7" name="Text 5"/>
          <p:cNvSpPr/>
          <p:nvPr/>
        </p:nvSpPr>
        <p:spPr>
          <a:xfrm>
            <a:off x="411480" y="475488"/>
            <a:ext cx="8321040" cy="640080"/>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Lab</a:t>
            </a:r>
            <a:r>
              <a:rPr lang="zh-TW" altLang="en-US" sz="1700" b="1" dirty="0">
                <a:solidFill>
                  <a:srgbClr val="FFFFFF"/>
                </a:solidFill>
                <a:latin typeface="Calibri" pitchFamily="34" charset="0"/>
                <a:ea typeface="Calibri" pitchFamily="34" charset="-122"/>
                <a:cs typeface="Calibri" pitchFamily="34" charset="-120"/>
              </a:rPr>
              <a:t> </a:t>
            </a:r>
            <a:r>
              <a:rPr lang="en-US" altLang="zh-TW" sz="1700" b="1" dirty="0">
                <a:solidFill>
                  <a:srgbClr val="FFFFFF"/>
                </a:solidFill>
                <a:latin typeface="Calibri" pitchFamily="34" charset="0"/>
                <a:ea typeface="Calibri" pitchFamily="34" charset="-122"/>
                <a:cs typeface="Calibri" pitchFamily="34" charset="-120"/>
              </a:rPr>
              <a:t>4</a:t>
            </a:r>
            <a:r>
              <a:rPr lang="en-US" sz="1700" b="1" dirty="0">
                <a:solidFill>
                  <a:srgbClr val="FFFFFF"/>
                </a:solidFill>
                <a:latin typeface="Calibri" pitchFamily="34" charset="0"/>
                <a:ea typeface="Calibri" pitchFamily="34" charset="-122"/>
                <a:cs typeface="Calibri" pitchFamily="34" charset="-120"/>
              </a:rPr>
              <a:t> ：</a:t>
            </a:r>
            <a:r>
              <a:rPr lang="en-US" sz="1700" b="1" dirty="0" err="1">
                <a:solidFill>
                  <a:srgbClr val="FFFFFF"/>
                </a:solidFill>
                <a:latin typeface="Calibri" pitchFamily="34" charset="0"/>
                <a:ea typeface="Calibri" pitchFamily="34" charset="-122"/>
                <a:cs typeface="Calibri" pitchFamily="34" charset="-120"/>
              </a:rPr>
              <a:t>逃逸車牌去碼還原</a:t>
            </a:r>
            <a:endParaRPr lang="en-US" sz="1700" dirty="0"/>
          </a:p>
        </p:txBody>
      </p:sp>
      <p:sp>
        <p:nvSpPr>
          <p:cNvPr id="8" name="Text 6"/>
          <p:cNvSpPr/>
          <p:nvPr/>
        </p:nvSpPr>
        <p:spPr>
          <a:xfrm>
            <a:off x="384048" y="802640"/>
            <a:ext cx="8321040" cy="292608"/>
          </a:xfrm>
          <a:prstGeom prst="rect">
            <a:avLst/>
          </a:prstGeom>
          <a:noFill/>
          <a:ln/>
        </p:spPr>
        <p:txBody>
          <a:bodyPr wrap="square" lIns="0" tIns="0" rIns="0" bIns="0" rtlCol="0" anchor="b"/>
          <a:lstStyle/>
          <a:p>
            <a:pPr marL="0" indent="0" algn="l">
              <a:buNone/>
            </a:pPr>
            <a:r>
              <a:rPr lang="en-US" sz="1050" i="1" dirty="0">
                <a:solidFill>
                  <a:srgbClr val="F5E6D3"/>
                </a:solidFill>
                <a:latin typeface="Calibri" pitchFamily="34" charset="0"/>
                <a:ea typeface="Calibri" pitchFamily="34" charset="-122"/>
                <a:cs typeface="Calibri" pitchFamily="34" charset="-120"/>
              </a:rPr>
              <a:t>自定義卷積核 + Unsharp Masking</a:t>
            </a:r>
            <a:endParaRPr lang="en-US" sz="1050" dirty="0"/>
          </a:p>
        </p:txBody>
      </p:sp>
      <p:sp>
        <p:nvSpPr>
          <p:cNvPr id="9" name="Shape 7"/>
          <p:cNvSpPr/>
          <p:nvPr/>
        </p:nvSpPr>
        <p:spPr>
          <a:xfrm>
            <a:off x="320040" y="1170432"/>
            <a:ext cx="8503920" cy="256032"/>
          </a:xfrm>
          <a:prstGeom prst="rect">
            <a:avLst/>
          </a:prstGeom>
          <a:solidFill>
            <a:srgbClr val="F5E6D3"/>
          </a:solidFill>
          <a:ln w="12700">
            <a:solidFill>
              <a:srgbClr val="F5E6D3"/>
            </a:solidFill>
            <a:prstDash val="solid"/>
          </a:ln>
        </p:spPr>
        <p:txBody>
          <a:bodyPr/>
          <a:lstStyle/>
          <a:p>
            <a:endParaRPr lang="zh-TW" altLang="en-US"/>
          </a:p>
        </p:txBody>
      </p:sp>
      <p:sp>
        <p:nvSpPr>
          <p:cNvPr id="10" name="Text 8"/>
          <p:cNvSpPr/>
          <p:nvPr/>
        </p:nvSpPr>
        <p:spPr>
          <a:xfrm>
            <a:off x="384048" y="1170432"/>
            <a:ext cx="1463040" cy="256032"/>
          </a:xfrm>
          <a:prstGeom prst="rect">
            <a:avLst/>
          </a:prstGeom>
          <a:noFill/>
          <a:ln/>
        </p:spPr>
        <p:txBody>
          <a:bodyPr wrap="square" lIns="0" tIns="0" rIns="0" bIns="0" rtlCol="0" anchor="ctr"/>
          <a:lstStyle/>
          <a:p>
            <a:pPr marL="0" indent="0" algn="l">
              <a:buNone/>
            </a:pPr>
            <a:r>
              <a:rPr lang="en-US" sz="1000" b="1" dirty="0">
                <a:solidFill>
                  <a:srgbClr val="C45C00"/>
                </a:solidFill>
                <a:latin typeface="Calibri" pitchFamily="34" charset="0"/>
                <a:ea typeface="Calibri" pitchFamily="34" charset="-122"/>
                <a:cs typeface="Calibri" pitchFamily="34" charset="-120"/>
              </a:rPr>
              <a:t>📖 情境背景：</a:t>
            </a:r>
            <a:endParaRPr lang="en-US" sz="1000" dirty="0"/>
          </a:p>
        </p:txBody>
      </p:sp>
      <p:sp>
        <p:nvSpPr>
          <p:cNvPr id="11" name="Text 9"/>
          <p:cNvSpPr/>
          <p:nvPr/>
        </p:nvSpPr>
        <p:spPr>
          <a:xfrm>
            <a:off x="1783080" y="1170432"/>
            <a:ext cx="6949440" cy="256032"/>
          </a:xfrm>
          <a:prstGeom prst="rect">
            <a:avLst/>
          </a:prstGeom>
          <a:noFill/>
          <a:ln/>
        </p:spPr>
        <p:txBody>
          <a:bodyPr wrap="square" lIns="0" tIns="0" rIns="0" bIns="0" rtlCol="0" anchor="ctr"/>
          <a:lstStyle/>
          <a:p>
            <a:pPr marL="0" indent="0" algn="l">
              <a:buNone/>
            </a:pPr>
            <a:r>
              <a:rPr lang="en-US" sz="950" dirty="0">
                <a:solidFill>
                  <a:srgbClr val="1A1A1A"/>
                </a:solidFill>
                <a:latin typeface="Calibri" pitchFamily="34" charset="0"/>
                <a:ea typeface="Calibri" pitchFamily="34" charset="-122"/>
                <a:cs typeface="Calibri" pitchFamily="34" charset="-120"/>
              </a:rPr>
              <a:t>你拿到了一張失焦模糊的逃逸車輛照片，車牌數字因為鏡頭失焦而模糊難以辨識。請實作從模糊到銳化的完整流程，並理解每一步的數學原理。</a:t>
            </a:r>
            <a:endParaRPr lang="en-US" sz="950" dirty="0"/>
          </a:p>
        </p:txBody>
      </p:sp>
      <p:sp>
        <p:nvSpPr>
          <p:cNvPr id="12" name="Text 10"/>
          <p:cNvSpPr/>
          <p:nvPr/>
        </p:nvSpPr>
        <p:spPr>
          <a:xfrm>
            <a:off x="320040" y="1499616"/>
            <a:ext cx="18288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實作任務</a:t>
            </a:r>
            <a:endParaRPr lang="en-US" sz="1100" dirty="0"/>
          </a:p>
        </p:txBody>
      </p:sp>
      <p:sp>
        <p:nvSpPr>
          <p:cNvPr id="13" name="Text 11"/>
          <p:cNvSpPr/>
          <p:nvPr/>
        </p:nvSpPr>
        <p:spPr>
          <a:xfrm>
            <a:off x="320040" y="1783080"/>
            <a:ext cx="8503920" cy="132588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1. 自己定義 3×3 Mean Filter 矩陣，用 cv2.filter2D 對清晰車牌做模糊（模擬失焦）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2. 手動實作 Unsharp Masking 公式：g = f + k*(f - GaussianBlur(f))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3. 試驗 k = 0.5, 1, 2, 5（對應 Highboost Filtering），比較銳化強度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4. 挑戰：只用矩陣運算自己推導並建立銳化核（[[-1,-1,-1],[-1,9,-1],[-1,-1,-1]]），驗證 filter2D 效果
</a:t>
            </a:r>
            <a:endParaRPr lang="en-US" sz="1150" dirty="0"/>
          </a:p>
        </p:txBody>
      </p:sp>
      <p:sp>
        <p:nvSpPr>
          <p:cNvPr id="14" name="Shape 12"/>
          <p:cNvSpPr/>
          <p:nvPr/>
        </p:nvSpPr>
        <p:spPr>
          <a:xfrm>
            <a:off x="320040" y="3172968"/>
            <a:ext cx="8503920" cy="256032"/>
          </a:xfrm>
          <a:prstGeom prst="rect">
            <a:avLst/>
          </a:prstGeom>
          <a:solidFill>
            <a:srgbClr val="D6E4F0"/>
          </a:solidFill>
          <a:ln w="12700">
            <a:solidFill>
              <a:srgbClr val="D6E4F0"/>
            </a:solidFill>
            <a:prstDash val="solid"/>
          </a:ln>
        </p:spPr>
        <p:txBody>
          <a:bodyPr/>
          <a:lstStyle/>
          <a:p>
            <a:endParaRPr lang="zh-TW" altLang="en-US"/>
          </a:p>
        </p:txBody>
      </p:sp>
      <p:sp>
        <p:nvSpPr>
          <p:cNvPr id="15" name="Text 13"/>
          <p:cNvSpPr/>
          <p:nvPr/>
        </p:nvSpPr>
        <p:spPr>
          <a:xfrm>
            <a:off x="384048" y="3172968"/>
            <a:ext cx="1920240" cy="256032"/>
          </a:xfrm>
          <a:prstGeom prst="rect">
            <a:avLst/>
          </a:prstGeom>
          <a:noFill/>
          <a:ln/>
        </p:spPr>
        <p:txBody>
          <a:bodyPr wrap="square" lIns="0" tIns="0" rIns="0" bIns="0"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 預期學習目標：</a:t>
            </a:r>
            <a:endParaRPr lang="en-US" sz="1000" dirty="0"/>
          </a:p>
        </p:txBody>
      </p:sp>
      <p:sp>
        <p:nvSpPr>
          <p:cNvPr id="16" name="Text 14"/>
          <p:cNvSpPr/>
          <p:nvPr/>
        </p:nvSpPr>
        <p:spPr>
          <a:xfrm>
            <a:off x="2331720" y="3172968"/>
            <a:ext cx="6400800" cy="256032"/>
          </a:xfrm>
          <a:prstGeom prst="rect">
            <a:avLst/>
          </a:prstGeom>
          <a:noFill/>
          <a:ln/>
        </p:spPr>
        <p:txBody>
          <a:bodyPr wrap="square" lIns="0" tIns="0" rIns="0" bIns="0" rtlCol="0" anchor="ctr"/>
          <a:lstStyle/>
          <a:p>
            <a:pPr marL="0" indent="0" algn="l">
              <a:buNone/>
            </a:pPr>
            <a:r>
              <a:rPr lang="en-US" sz="900" dirty="0">
                <a:solidFill>
                  <a:srgbClr val="1A1A1A"/>
                </a:solidFill>
                <a:latin typeface="Calibri" pitchFamily="34" charset="0"/>
                <a:ea typeface="Calibri" pitchFamily="34" charset="-122"/>
                <a:cs typeface="Calibri" pitchFamily="34" charset="-120"/>
              </a:rPr>
              <a:t>1. 理解 cv2.filter2D() 的使用方式和 kernel 設計原理   |   2. 掌握「原圖 − 模糊圖 = 細節層」的線性系統疊加概念   |   3. 體驗 k 值對 Highboost 銳化強度的非線性影響</a:t>
            </a:r>
            <a:endParaRPr lang="en-US" sz="900" dirty="0"/>
          </a:p>
        </p:txBody>
      </p:sp>
      <p:sp>
        <p:nvSpPr>
          <p:cNvPr id="17" name="Shape 15"/>
          <p:cNvSpPr/>
          <p:nvPr/>
        </p:nvSpPr>
        <p:spPr>
          <a:xfrm>
            <a:off x="320040" y="3520440"/>
            <a:ext cx="8503920" cy="777240"/>
          </a:xfrm>
          <a:prstGeom prst="rect">
            <a:avLst/>
          </a:prstGeom>
          <a:solidFill>
            <a:srgbClr val="FFF3E0"/>
          </a:solidFill>
          <a:ln w="12700">
            <a:solidFill>
              <a:srgbClr val="C45C00"/>
            </a:solidFill>
            <a:prstDash val="solid"/>
          </a:ln>
        </p:spPr>
        <p:txBody>
          <a:bodyPr/>
          <a:lstStyle/>
          <a:p>
            <a:endParaRPr lang="zh-TW" altLang="en-US"/>
          </a:p>
        </p:txBody>
      </p:sp>
      <p:sp>
        <p:nvSpPr>
          <p:cNvPr id="18" name="Text 16"/>
          <p:cNvSpPr/>
          <p:nvPr/>
        </p:nvSpPr>
        <p:spPr>
          <a:xfrm>
            <a:off x="411480" y="3520440"/>
            <a:ext cx="8321040" cy="777240"/>
          </a:xfrm>
          <a:prstGeom prst="rect">
            <a:avLst/>
          </a:prstGeom>
          <a:noFill/>
          <a:ln/>
        </p:spPr>
        <p:txBody>
          <a:bodyPr wrap="square" lIns="0" tIns="0" rIns="0" bIns="0" rtlCol="0" anchor="ctr"/>
          <a:lstStyle/>
          <a:p>
            <a:pPr marL="0" indent="0" algn="l">
              <a:buNone/>
            </a:pPr>
            <a:r>
              <a:rPr lang="en-US" sz="1100" i="1" dirty="0">
                <a:solidFill>
                  <a:srgbClr val="C45C00"/>
                </a:solidFill>
                <a:latin typeface="Calibri" pitchFamily="34" charset="0"/>
                <a:ea typeface="Calibri" pitchFamily="34" charset="-122"/>
                <a:cs typeface="Calibri" pitchFamily="34" charset="-120"/>
              </a:rPr>
              <a:t>💡  提示：k = 1 是標準 Unsharp Mask；k &gt; 1 就是 Highboost Filtering；把 k 設到 5 看看車牌數字是否更清晰，或是雜訊也被放大了？</a:t>
            </a:r>
            <a:endParaRPr lang="en-US" sz="110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22">
    <p:bg>
      <p:bgPr>
        <a:solidFill>
          <a:srgbClr val="FAFAF5"/>
        </a:solidFill>
        <a:effectLst/>
      </p:bgPr>
    </p:bg>
    <p:spTree>
      <p:nvGrpSpPr>
        <p:cNvPr id="1" name=""/>
        <p:cNvGrpSpPr/>
        <p:nvPr/>
      </p:nvGrpSpPr>
      <p:grpSpPr>
        <a:xfrm>
          <a:off x="0" y="0"/>
          <a:ext cx="0" cy="0"/>
          <a:chOff x="0" y="0"/>
          <a:chExt cx="0" cy="0"/>
        </a:xfrm>
      </p:grpSpPr>
      <p:sp>
        <p:nvSpPr>
          <p:cNvPr id="2" name="Shape 0"/>
          <p:cNvSpPr/>
          <p:nvPr/>
        </p:nvSpPr>
        <p:spPr>
          <a:xfrm>
            <a:off x="320040" y="109728"/>
            <a:ext cx="2194560" cy="274320"/>
          </a:xfrm>
          <a:prstGeom prst="roundRect">
            <a:avLst>
              <a:gd name="adj" fmla="val 26667"/>
            </a:avLst>
          </a:prstGeom>
          <a:solidFill>
            <a:srgbClr val="1E3A5F"/>
          </a:solidFill>
          <a:ln w="12700">
            <a:solidFill>
              <a:srgbClr val="1E3A5F"/>
            </a:solidFill>
            <a:prstDash val="solid"/>
          </a:ln>
        </p:spPr>
        <p:txBody>
          <a:bodyPr/>
          <a:lstStyle/>
          <a:p>
            <a:endParaRPr lang="zh-TW" altLang="en-US"/>
          </a:p>
        </p:txBody>
      </p:sp>
      <p:sp>
        <p:nvSpPr>
          <p:cNvPr id="3" name="Text 1"/>
          <p:cNvSpPr/>
          <p:nvPr/>
        </p:nvSpPr>
        <p:spPr>
          <a:xfrm>
            <a:off x="320040" y="109728"/>
            <a:ext cx="2194560"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§7  Lab 5  ┃  實作題目</a:t>
            </a:r>
            <a:endParaRPr lang="en-US" sz="850" dirty="0"/>
          </a:p>
        </p:txBody>
      </p:sp>
      <p:sp>
        <p:nvSpPr>
          <p:cNvPr id="4" name="Shape 2"/>
          <p:cNvSpPr/>
          <p:nvPr/>
        </p:nvSpPr>
        <p:spPr>
          <a:xfrm>
            <a:off x="320040" y="429768"/>
            <a:ext cx="8503920" cy="0"/>
          </a:xfrm>
          <a:prstGeom prst="line">
            <a:avLst/>
          </a:prstGeom>
          <a:noFill/>
          <a:ln w="10160">
            <a:solidFill>
              <a:srgbClr val="D1C9BC"/>
            </a:solidFill>
            <a:prstDash val="solid"/>
          </a:ln>
        </p:spPr>
        <p:txBody>
          <a:bodyPr/>
          <a:lstStyle/>
          <a:p>
            <a:endParaRPr lang="zh-TW" altLang="en-US"/>
          </a:p>
        </p:txBody>
      </p:sp>
      <p:sp>
        <p:nvSpPr>
          <p:cNvPr id="5" name="Text 3"/>
          <p:cNvSpPr/>
          <p:nvPr/>
        </p:nvSpPr>
        <p:spPr>
          <a:xfrm>
            <a:off x="320040" y="4828032"/>
            <a:ext cx="8503920" cy="182880"/>
          </a:xfrm>
          <a:prstGeom prst="rect">
            <a:avLst/>
          </a:prstGeom>
          <a:noFill/>
          <a:ln/>
        </p:spPr>
        <p:txBody>
          <a:bodyPr wrap="square" lIns="0" tIns="0" rIns="0" bIns="0" rtlCol="0" anchor="ctr"/>
          <a:lstStyle/>
          <a:p>
            <a:pPr marL="0" indent="0" algn="l">
              <a:buNone/>
            </a:pPr>
            <a:r>
              <a:rPr lang="en-US" sz="750" i="1" dirty="0">
                <a:solidFill>
                  <a:srgbClr val="6B7280"/>
                </a:solidFill>
                <a:latin typeface="Calibri" pitchFamily="34" charset="0"/>
                <a:ea typeface="Calibri" pitchFamily="34" charset="-122"/>
                <a:cs typeface="Calibri" pitchFamily="34" charset="-120"/>
              </a:rPr>
              <a:t>實作題目</a:t>
            </a:r>
            <a:endParaRPr lang="en-US" sz="750" dirty="0"/>
          </a:p>
        </p:txBody>
      </p:sp>
      <p:sp>
        <p:nvSpPr>
          <p:cNvPr id="6" name="Shape 4"/>
          <p:cNvSpPr/>
          <p:nvPr/>
        </p:nvSpPr>
        <p:spPr>
          <a:xfrm>
            <a:off x="320040" y="480568"/>
            <a:ext cx="8503920" cy="640080"/>
          </a:xfrm>
          <a:prstGeom prst="rect">
            <a:avLst/>
          </a:prstGeom>
          <a:solidFill>
            <a:srgbClr val="8B1A1A"/>
          </a:solidFill>
          <a:ln w="12700">
            <a:solidFill>
              <a:srgbClr val="8B1A1A"/>
            </a:solidFill>
            <a:prstDash val="solid"/>
          </a:ln>
        </p:spPr>
        <p:txBody>
          <a:bodyPr/>
          <a:lstStyle/>
          <a:p>
            <a:endParaRPr lang="zh-TW" altLang="en-US"/>
          </a:p>
        </p:txBody>
      </p:sp>
      <p:sp>
        <p:nvSpPr>
          <p:cNvPr id="7" name="Text 5"/>
          <p:cNvSpPr/>
          <p:nvPr/>
        </p:nvSpPr>
        <p:spPr>
          <a:xfrm>
            <a:off x="411480" y="475488"/>
            <a:ext cx="8321040" cy="640080"/>
          </a:xfrm>
          <a:prstGeom prst="rect">
            <a:avLst/>
          </a:prstGeom>
          <a:noFill/>
          <a:ln/>
        </p:spPr>
        <p:txBody>
          <a:bodyPr wrap="square" lIns="0" tIns="0" rIns="0" bIns="0" rtlCol="0" anchor="ctr"/>
          <a:lstStyle/>
          <a:p>
            <a:pPr marL="0" indent="0" algn="l">
              <a:buNone/>
            </a:pPr>
            <a:r>
              <a:rPr lang="en-US" sz="1700" b="1" dirty="0">
                <a:solidFill>
                  <a:srgbClr val="FFFFFF"/>
                </a:solidFill>
                <a:latin typeface="Calibri" pitchFamily="34" charset="0"/>
                <a:ea typeface="Calibri" pitchFamily="34" charset="-122"/>
                <a:cs typeface="Calibri" pitchFamily="34" charset="-120"/>
              </a:rPr>
              <a:t>Lab 5：即時保邊美顏濾鏡</a:t>
            </a:r>
            <a:endParaRPr lang="en-US" sz="1700" dirty="0"/>
          </a:p>
        </p:txBody>
      </p:sp>
      <p:sp>
        <p:nvSpPr>
          <p:cNvPr id="8" name="Text 6"/>
          <p:cNvSpPr/>
          <p:nvPr/>
        </p:nvSpPr>
        <p:spPr>
          <a:xfrm>
            <a:off x="411480" y="768096"/>
            <a:ext cx="8321040" cy="292608"/>
          </a:xfrm>
          <a:prstGeom prst="rect">
            <a:avLst/>
          </a:prstGeom>
          <a:noFill/>
          <a:ln/>
        </p:spPr>
        <p:txBody>
          <a:bodyPr wrap="square" lIns="0" tIns="0" rIns="0" bIns="0" rtlCol="0" anchor="b"/>
          <a:lstStyle/>
          <a:p>
            <a:pPr marL="0" indent="0" algn="l">
              <a:buNone/>
            </a:pPr>
            <a:r>
              <a:rPr lang="en-US" sz="1050" i="1" dirty="0">
                <a:solidFill>
                  <a:srgbClr val="F5E6D3"/>
                </a:solidFill>
                <a:latin typeface="Calibri" pitchFamily="34" charset="0"/>
                <a:ea typeface="Calibri" pitchFamily="34" charset="-122"/>
                <a:cs typeface="Calibri" pitchFamily="34" charset="-120"/>
              </a:rPr>
              <a:t>影片串流 + 雙邊濾波 + 效能分析</a:t>
            </a:r>
            <a:endParaRPr lang="en-US" sz="1050" dirty="0"/>
          </a:p>
        </p:txBody>
      </p:sp>
      <p:sp>
        <p:nvSpPr>
          <p:cNvPr id="9" name="Shape 7"/>
          <p:cNvSpPr/>
          <p:nvPr/>
        </p:nvSpPr>
        <p:spPr>
          <a:xfrm>
            <a:off x="320040" y="1170432"/>
            <a:ext cx="8503920" cy="256032"/>
          </a:xfrm>
          <a:prstGeom prst="rect">
            <a:avLst/>
          </a:prstGeom>
          <a:solidFill>
            <a:srgbClr val="F5E6D3"/>
          </a:solidFill>
          <a:ln w="12700">
            <a:solidFill>
              <a:srgbClr val="F5E6D3"/>
            </a:solidFill>
            <a:prstDash val="solid"/>
          </a:ln>
        </p:spPr>
        <p:txBody>
          <a:bodyPr/>
          <a:lstStyle/>
          <a:p>
            <a:endParaRPr lang="zh-TW" altLang="en-US"/>
          </a:p>
        </p:txBody>
      </p:sp>
      <p:sp>
        <p:nvSpPr>
          <p:cNvPr id="10" name="Text 8"/>
          <p:cNvSpPr/>
          <p:nvPr/>
        </p:nvSpPr>
        <p:spPr>
          <a:xfrm>
            <a:off x="384048" y="1170432"/>
            <a:ext cx="1463040" cy="256032"/>
          </a:xfrm>
          <a:prstGeom prst="rect">
            <a:avLst/>
          </a:prstGeom>
          <a:noFill/>
          <a:ln/>
        </p:spPr>
        <p:txBody>
          <a:bodyPr wrap="square" lIns="0" tIns="0" rIns="0" bIns="0" rtlCol="0" anchor="ctr"/>
          <a:lstStyle/>
          <a:p>
            <a:pPr marL="0" indent="0" algn="l">
              <a:buNone/>
            </a:pPr>
            <a:r>
              <a:rPr lang="en-US" sz="1000" b="1" dirty="0">
                <a:solidFill>
                  <a:srgbClr val="C45C00"/>
                </a:solidFill>
                <a:latin typeface="Calibri" pitchFamily="34" charset="0"/>
                <a:ea typeface="Calibri" pitchFamily="34" charset="-122"/>
                <a:cs typeface="Calibri" pitchFamily="34" charset="-120"/>
              </a:rPr>
              <a:t>📖 情境背景：</a:t>
            </a:r>
            <a:endParaRPr lang="en-US" sz="1000" dirty="0"/>
          </a:p>
        </p:txBody>
      </p:sp>
      <p:sp>
        <p:nvSpPr>
          <p:cNvPr id="11" name="Text 9"/>
          <p:cNvSpPr/>
          <p:nvPr/>
        </p:nvSpPr>
        <p:spPr>
          <a:xfrm>
            <a:off x="1783080" y="1170432"/>
            <a:ext cx="6949440" cy="256032"/>
          </a:xfrm>
          <a:prstGeom prst="rect">
            <a:avLst/>
          </a:prstGeom>
          <a:noFill/>
          <a:ln/>
        </p:spPr>
        <p:txBody>
          <a:bodyPr wrap="square" lIns="0" tIns="0" rIns="0" bIns="0" rtlCol="0" anchor="ctr"/>
          <a:lstStyle/>
          <a:p>
            <a:pPr marL="0" indent="0" algn="l">
              <a:buNone/>
            </a:pPr>
            <a:r>
              <a:rPr lang="en-US" sz="950" dirty="0">
                <a:solidFill>
                  <a:srgbClr val="1A1A1A"/>
                </a:solidFill>
                <a:latin typeface="Calibri" pitchFamily="34" charset="0"/>
                <a:ea typeface="Calibri" pitchFamily="34" charset="-122"/>
                <a:cs typeface="Calibri" pitchFamily="34" charset="-120"/>
              </a:rPr>
              <a:t>你正在為一款直播 App 開發即時濾鏡。客戶反映普通高斯濾波讓皮膚平滑了，但眼睛睫毛和嘴唇邊緣也變模糊了。請開發一個保邊的即時美顏濾鏡，並分析其效能瓶頸。</a:t>
            </a:r>
            <a:endParaRPr lang="en-US" sz="950" dirty="0"/>
          </a:p>
        </p:txBody>
      </p:sp>
      <p:sp>
        <p:nvSpPr>
          <p:cNvPr id="12" name="Text 10"/>
          <p:cNvSpPr/>
          <p:nvPr/>
        </p:nvSpPr>
        <p:spPr>
          <a:xfrm>
            <a:off x="320040" y="1499616"/>
            <a:ext cx="1828800" cy="274320"/>
          </a:xfrm>
          <a:prstGeom prst="rect">
            <a:avLst/>
          </a:prstGeom>
          <a:noFill/>
          <a:ln/>
        </p:spPr>
        <p:txBody>
          <a:bodyPr wrap="square" rtlCol="0" anchor="ctr"/>
          <a:lstStyle/>
          <a:p>
            <a:pPr marL="0" indent="0">
              <a:buNone/>
            </a:pPr>
            <a:r>
              <a:rPr lang="en-US" sz="1100" b="1" dirty="0">
                <a:solidFill>
                  <a:srgbClr val="1E3A5F"/>
                </a:solidFill>
                <a:latin typeface="Calibri" pitchFamily="34" charset="0"/>
                <a:ea typeface="Calibri" pitchFamily="34" charset="-122"/>
                <a:cs typeface="Calibri" pitchFamily="34" charset="-120"/>
              </a:rPr>
              <a:t>🎯 實作任務</a:t>
            </a:r>
            <a:endParaRPr lang="en-US" sz="1100" dirty="0"/>
          </a:p>
        </p:txBody>
      </p:sp>
      <p:sp>
        <p:nvSpPr>
          <p:cNvPr id="13" name="Text 11"/>
          <p:cNvSpPr/>
          <p:nvPr/>
        </p:nvSpPr>
        <p:spPr>
          <a:xfrm>
            <a:off x="320040" y="1783080"/>
            <a:ext cx="8503920" cy="1325880"/>
          </a:xfrm>
          <a:prstGeom prst="rect">
            <a:avLst/>
          </a:prstGeom>
          <a:noFill/>
          <a:ln/>
        </p:spPr>
        <p:txBody>
          <a:bodyPr wrap="square" rtlCol="0" anchor="t"/>
          <a:lstStyle/>
          <a:p>
            <a:pPr marL="0" indent="0">
              <a:buNone/>
            </a:pPr>
            <a:r>
              <a:rPr lang="en-US" sz="1150" dirty="0">
                <a:solidFill>
                  <a:srgbClr val="1A1A1A"/>
                </a:solidFill>
                <a:latin typeface="Calibri" pitchFamily="34" charset="0"/>
                <a:ea typeface="Calibri" pitchFamily="34" charset="-122"/>
                <a:cs typeface="Calibri" pitchFamily="34" charset="-120"/>
              </a:rPr>
              <a:t>1. 開啟 Webcam（或讀取 MP4），建立即時處理迴圈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2. 分別對每幀影像套用：GaussianBlur vs bilateralFilter，並排顯示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3. 用 time.perf_counter() 測量每幀的處理時間，計算可達到的 FPS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4. 調整 bilateral 的 d 參數（5 vs 9 vs 15），分析品質與速度的取捨
</a:t>
            </a:r>
            <a:r>
              <a:rPr lang="en-US" sz="200" dirty="0">
                <a:solidFill>
                  <a:srgbClr val="000000"/>
                </a:solidFill>
                <a:latin typeface="Calibri" pitchFamily="34" charset="0"/>
                <a:ea typeface="Calibri" pitchFamily="34" charset="-122"/>
                <a:cs typeface="Calibri" pitchFamily="34" charset="-120"/>
              </a:rPr>
              <a:t>
</a:t>
            </a:r>
            <a:endParaRPr lang="en-US" sz="1150" dirty="0"/>
          </a:p>
          <a:p>
            <a:pPr marL="0" indent="0">
              <a:buNone/>
            </a:pPr>
            <a:r>
              <a:rPr lang="en-US" sz="1150" dirty="0">
                <a:solidFill>
                  <a:srgbClr val="1A1A1A"/>
                </a:solidFill>
                <a:latin typeface="Calibri" pitchFamily="34" charset="0"/>
                <a:ea typeface="Calibri" pitchFamily="34" charset="-122"/>
                <a:cs typeface="Calibri" pitchFamily="34" charset="-120"/>
              </a:rPr>
              <a:t>5. 挑戰：降低解析度至 640×480 後再 upscale，看是否能在維持品質的同時提升 FPS
</a:t>
            </a:r>
            <a:endParaRPr lang="en-US" sz="1150" dirty="0"/>
          </a:p>
        </p:txBody>
      </p:sp>
      <p:sp>
        <p:nvSpPr>
          <p:cNvPr id="14" name="Shape 12"/>
          <p:cNvSpPr/>
          <p:nvPr/>
        </p:nvSpPr>
        <p:spPr>
          <a:xfrm>
            <a:off x="320040" y="3172968"/>
            <a:ext cx="8503920" cy="256032"/>
          </a:xfrm>
          <a:prstGeom prst="rect">
            <a:avLst/>
          </a:prstGeom>
          <a:solidFill>
            <a:srgbClr val="D6E4F0"/>
          </a:solidFill>
          <a:ln w="12700">
            <a:solidFill>
              <a:srgbClr val="D6E4F0"/>
            </a:solidFill>
            <a:prstDash val="solid"/>
          </a:ln>
        </p:spPr>
        <p:txBody>
          <a:bodyPr/>
          <a:lstStyle/>
          <a:p>
            <a:endParaRPr lang="zh-TW" altLang="en-US"/>
          </a:p>
        </p:txBody>
      </p:sp>
      <p:sp>
        <p:nvSpPr>
          <p:cNvPr id="15" name="Text 13"/>
          <p:cNvSpPr/>
          <p:nvPr/>
        </p:nvSpPr>
        <p:spPr>
          <a:xfrm>
            <a:off x="384048" y="3172968"/>
            <a:ext cx="1920240" cy="256032"/>
          </a:xfrm>
          <a:prstGeom prst="rect">
            <a:avLst/>
          </a:prstGeom>
          <a:noFill/>
          <a:ln/>
        </p:spPr>
        <p:txBody>
          <a:bodyPr wrap="square" lIns="0" tIns="0" rIns="0" bIns="0" rtlCol="0" anchor="ctr"/>
          <a:lstStyle/>
          <a:p>
            <a:pPr marL="0" indent="0" algn="l">
              <a:buNone/>
            </a:pPr>
            <a:r>
              <a:rPr lang="en-US" sz="1000" b="1" dirty="0">
                <a:solidFill>
                  <a:srgbClr val="1E3A5F"/>
                </a:solidFill>
                <a:latin typeface="Calibri" pitchFamily="34" charset="0"/>
                <a:ea typeface="Calibri" pitchFamily="34" charset="-122"/>
                <a:cs typeface="Calibri" pitchFamily="34" charset="-120"/>
              </a:rPr>
              <a:t>✅ 預期學習目標：</a:t>
            </a:r>
            <a:endParaRPr lang="en-US" sz="1000" dirty="0"/>
          </a:p>
        </p:txBody>
      </p:sp>
      <p:sp>
        <p:nvSpPr>
          <p:cNvPr id="16" name="Text 14"/>
          <p:cNvSpPr/>
          <p:nvPr/>
        </p:nvSpPr>
        <p:spPr>
          <a:xfrm>
            <a:off x="2331720" y="3172968"/>
            <a:ext cx="6400800" cy="256032"/>
          </a:xfrm>
          <a:prstGeom prst="rect">
            <a:avLst/>
          </a:prstGeom>
          <a:noFill/>
          <a:ln/>
        </p:spPr>
        <p:txBody>
          <a:bodyPr wrap="square" lIns="0" tIns="0" rIns="0" bIns="0" rtlCol="0" anchor="ctr"/>
          <a:lstStyle/>
          <a:p>
            <a:pPr marL="0" indent="0" algn="l">
              <a:buNone/>
            </a:pPr>
            <a:r>
              <a:rPr lang="en-US" sz="900" dirty="0">
                <a:solidFill>
                  <a:srgbClr val="1A1A1A"/>
                </a:solidFill>
                <a:latin typeface="Calibri" pitchFamily="34" charset="0"/>
                <a:ea typeface="Calibri" pitchFamily="34" charset="-122"/>
                <a:cs typeface="Calibri" pitchFamily="34" charset="-120"/>
              </a:rPr>
              <a:t>1. 結合影片 I/O 與濾波器處理，建立即時視訊處理管線   |   2. 量化理解雙邊濾波計算量遠大於高斯的原因（O(d²) per pixel, d large）   |   3. 體驗「保邊平滑」在真實人臉上的視覺效果差異</a:t>
            </a:r>
            <a:endParaRPr lang="en-US" sz="900" dirty="0"/>
          </a:p>
        </p:txBody>
      </p:sp>
      <p:sp>
        <p:nvSpPr>
          <p:cNvPr id="17" name="Shape 15"/>
          <p:cNvSpPr/>
          <p:nvPr/>
        </p:nvSpPr>
        <p:spPr>
          <a:xfrm>
            <a:off x="320040" y="3520440"/>
            <a:ext cx="8503920" cy="777240"/>
          </a:xfrm>
          <a:prstGeom prst="rect">
            <a:avLst/>
          </a:prstGeom>
          <a:solidFill>
            <a:srgbClr val="FFF3E0"/>
          </a:solidFill>
          <a:ln w="12700">
            <a:solidFill>
              <a:srgbClr val="C45C00"/>
            </a:solidFill>
            <a:prstDash val="solid"/>
          </a:ln>
        </p:spPr>
        <p:txBody>
          <a:bodyPr/>
          <a:lstStyle/>
          <a:p>
            <a:endParaRPr lang="zh-TW" altLang="en-US"/>
          </a:p>
        </p:txBody>
      </p:sp>
      <p:sp>
        <p:nvSpPr>
          <p:cNvPr id="18" name="Text 16"/>
          <p:cNvSpPr/>
          <p:nvPr/>
        </p:nvSpPr>
        <p:spPr>
          <a:xfrm>
            <a:off x="411480" y="3520440"/>
            <a:ext cx="8321040" cy="777240"/>
          </a:xfrm>
          <a:prstGeom prst="rect">
            <a:avLst/>
          </a:prstGeom>
          <a:noFill/>
          <a:ln/>
        </p:spPr>
        <p:txBody>
          <a:bodyPr wrap="square" lIns="0" tIns="0" rIns="0" bIns="0" rtlCol="0" anchor="ctr"/>
          <a:lstStyle/>
          <a:p>
            <a:pPr marL="0" indent="0" algn="l">
              <a:buNone/>
            </a:pPr>
            <a:r>
              <a:rPr lang="en-US" sz="1100" i="1" dirty="0">
                <a:solidFill>
                  <a:srgbClr val="C45C00"/>
                </a:solidFill>
                <a:latin typeface="Calibri" pitchFamily="34" charset="0"/>
                <a:ea typeface="Calibri" pitchFamily="34" charset="-122"/>
                <a:cs typeface="Calibri" pitchFamily="34" charset="-120"/>
              </a:rPr>
              <a:t>💡  提示：在 while 迴圈中加 cv2.putText(frame, f'FPS: {fps:.1f}') 顯示即時 FPS；bilateral Filter 的 d=5 比 d=9 快約 3 倍！</a:t>
            </a:r>
            <a:endParaRPr lang="en-US" sz="110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23">
    <p:bg>
      <p:bgPr>
        <a:solidFill>
          <a:srgbClr val="1E3A5F"/>
        </a:solidFill>
        <a:effectLst/>
      </p:bgPr>
    </p:bg>
    <p:spTree>
      <p:nvGrpSpPr>
        <p:cNvPr id="1" name=""/>
        <p:cNvGrpSpPr/>
        <p:nvPr/>
      </p:nvGrpSpPr>
      <p:grpSpPr>
        <a:xfrm>
          <a:off x="0" y="0"/>
          <a:ext cx="0" cy="0"/>
          <a:chOff x="0" y="0"/>
          <a:chExt cx="0" cy="0"/>
        </a:xfrm>
      </p:grpSpPr>
      <p:sp>
        <p:nvSpPr>
          <p:cNvPr id="2" name="Shape 0"/>
          <p:cNvSpPr/>
          <p:nvPr/>
        </p:nvSpPr>
        <p:spPr>
          <a:xfrm>
            <a:off x="0" y="0"/>
            <a:ext cx="9144000" cy="457200"/>
          </a:xfrm>
          <a:prstGeom prst="rect">
            <a:avLst/>
          </a:prstGeom>
          <a:solidFill>
            <a:srgbClr val="C45C00"/>
          </a:solidFill>
          <a:ln w="12700">
            <a:solidFill>
              <a:srgbClr val="C45C00"/>
            </a:solidFill>
            <a:prstDash val="solid"/>
          </a:ln>
        </p:spPr>
        <p:txBody>
          <a:bodyPr/>
          <a:lstStyle/>
          <a:p>
            <a:endParaRPr lang="zh-TW" altLang="en-US"/>
          </a:p>
        </p:txBody>
      </p:sp>
      <p:sp>
        <p:nvSpPr>
          <p:cNvPr id="3" name="Text 1"/>
          <p:cNvSpPr/>
          <p:nvPr/>
        </p:nvSpPr>
        <p:spPr>
          <a:xfrm>
            <a:off x="320040" y="0"/>
            <a:ext cx="8503920" cy="457200"/>
          </a:xfrm>
          <a:prstGeom prst="rect">
            <a:avLst/>
          </a:prstGeom>
          <a:noFill/>
          <a:ln/>
        </p:spPr>
        <p:txBody>
          <a:bodyPr wrap="square" lIns="0" tIns="0" rIns="0" bIns="0" rtlCol="0" anchor="ctr"/>
          <a:lstStyle/>
          <a:p>
            <a:pPr marL="0" indent="0" algn="l">
              <a:buNone/>
            </a:pPr>
            <a:r>
              <a:rPr lang="en-US" sz="1100" b="1" dirty="0">
                <a:solidFill>
                  <a:srgbClr val="FFFFFF"/>
                </a:solidFill>
                <a:latin typeface="Calibri" pitchFamily="34" charset="0"/>
                <a:ea typeface="Calibri" pitchFamily="34" charset="-122"/>
                <a:cs typeface="Calibri" pitchFamily="34" charset="-120"/>
              </a:rPr>
              <a:t>嵌入式電腦視覺系統  •  Week 03  End</a:t>
            </a:r>
            <a:endParaRPr lang="en-US" sz="1100" dirty="0"/>
          </a:p>
        </p:txBody>
      </p:sp>
      <p:sp>
        <p:nvSpPr>
          <p:cNvPr id="4" name="Shape 2"/>
          <p:cNvSpPr/>
          <p:nvPr/>
        </p:nvSpPr>
        <p:spPr>
          <a:xfrm>
            <a:off x="457200" y="914400"/>
            <a:ext cx="109728" cy="2743200"/>
          </a:xfrm>
          <a:prstGeom prst="rect">
            <a:avLst/>
          </a:prstGeom>
          <a:solidFill>
            <a:srgbClr val="C45C00"/>
          </a:solidFill>
          <a:ln w="12700">
            <a:solidFill>
              <a:srgbClr val="C45C00"/>
            </a:solidFill>
            <a:prstDash val="solid"/>
          </a:ln>
        </p:spPr>
        <p:txBody>
          <a:bodyPr/>
          <a:lstStyle/>
          <a:p>
            <a:endParaRPr lang="zh-TW" altLang="en-US"/>
          </a:p>
        </p:txBody>
      </p:sp>
      <p:sp>
        <p:nvSpPr>
          <p:cNvPr id="5" name="Text 3"/>
          <p:cNvSpPr/>
          <p:nvPr/>
        </p:nvSpPr>
        <p:spPr>
          <a:xfrm>
            <a:off x="685800" y="914400"/>
            <a:ext cx="7315200" cy="914400"/>
          </a:xfrm>
          <a:prstGeom prst="rect">
            <a:avLst/>
          </a:prstGeom>
          <a:noFill/>
          <a:ln/>
        </p:spPr>
        <p:txBody>
          <a:bodyPr wrap="square" rtlCol="0" anchor="ctr"/>
          <a:lstStyle/>
          <a:p>
            <a:pPr marL="0" indent="0" algn="l">
              <a:buNone/>
            </a:pPr>
            <a:r>
              <a:rPr lang="en-US" sz="5000" b="1" dirty="0">
                <a:solidFill>
                  <a:srgbClr val="FFFFFF"/>
                </a:solidFill>
                <a:latin typeface="Calibri" pitchFamily="34" charset="0"/>
                <a:ea typeface="Calibri" pitchFamily="34" charset="-122"/>
                <a:cs typeface="Calibri" pitchFamily="34" charset="-120"/>
              </a:rPr>
              <a:t>Q &amp; A</a:t>
            </a:r>
            <a:endParaRPr lang="en-US" sz="5000" dirty="0"/>
          </a:p>
        </p:txBody>
      </p:sp>
      <p:sp>
        <p:nvSpPr>
          <p:cNvPr id="6" name="Text 4"/>
          <p:cNvSpPr/>
          <p:nvPr/>
        </p:nvSpPr>
        <p:spPr>
          <a:xfrm>
            <a:off x="685800" y="1920240"/>
            <a:ext cx="7315200" cy="502920"/>
          </a:xfrm>
          <a:prstGeom prst="rect">
            <a:avLst/>
          </a:prstGeom>
          <a:noFill/>
          <a:ln/>
        </p:spPr>
        <p:txBody>
          <a:bodyPr wrap="square" rtlCol="0" anchor="ctr"/>
          <a:lstStyle/>
          <a:p>
            <a:pPr marL="0" indent="0" algn="l">
              <a:buNone/>
            </a:pPr>
            <a:r>
              <a:rPr lang="en-US" sz="2200" b="1" dirty="0" err="1">
                <a:solidFill>
                  <a:srgbClr val="C45C00"/>
                </a:solidFill>
                <a:latin typeface="Calibri" pitchFamily="34" charset="0"/>
                <a:ea typeface="Calibri" pitchFamily="34" charset="-122"/>
                <a:cs typeface="Calibri" pitchFamily="34" charset="-120"/>
              </a:rPr>
              <a:t>下週預告：像素的</a:t>
            </a:r>
            <a:r>
              <a:rPr lang="zh-TW" altLang="en-US" sz="2200" b="1" dirty="0">
                <a:solidFill>
                  <a:srgbClr val="C45C00"/>
                </a:solidFill>
                <a:latin typeface="Calibri" pitchFamily="34" charset="0"/>
                <a:ea typeface="Calibri" pitchFamily="34" charset="-122"/>
                <a:cs typeface="Calibri" pitchFamily="34" charset="-120"/>
              </a:rPr>
              <a:t>幾何技術</a:t>
            </a:r>
            <a:endParaRPr lang="en-US" sz="2200" dirty="0"/>
          </a:p>
        </p:txBody>
      </p:sp>
      <p:sp>
        <p:nvSpPr>
          <p:cNvPr id="7" name="Text 5"/>
          <p:cNvSpPr/>
          <p:nvPr/>
        </p:nvSpPr>
        <p:spPr>
          <a:xfrm>
            <a:off x="685800" y="2468880"/>
            <a:ext cx="7772400" cy="777240"/>
          </a:xfrm>
          <a:prstGeom prst="rect">
            <a:avLst/>
          </a:prstGeom>
          <a:noFill/>
          <a:ln/>
        </p:spPr>
        <p:txBody>
          <a:bodyPr wrap="square" rtlCol="0" anchor="ctr"/>
          <a:lstStyle/>
          <a:p>
            <a:pPr marL="0" indent="0" algn="l">
              <a:buNone/>
            </a:pPr>
            <a:r>
              <a:rPr lang="en-US" sz="1300" dirty="0">
                <a:solidFill>
                  <a:srgbClr val="D6E4F0"/>
                </a:solidFill>
                <a:latin typeface="Calibri" pitchFamily="34" charset="0"/>
                <a:ea typeface="Calibri" pitchFamily="34" charset="-122"/>
                <a:cs typeface="Calibri" pitchFamily="34" charset="-120"/>
              </a:rPr>
              <a:t>Week 04  —  仿射轉換（Affine Transform）與幾何變形</a:t>
            </a:r>
            <a:endParaRPr lang="en-US" sz="1300" dirty="0"/>
          </a:p>
          <a:p>
            <a:pPr marL="0" indent="0" algn="l">
              <a:buNone/>
            </a:pPr>
            <a:r>
              <a:rPr lang="en-US" sz="1300" dirty="0">
                <a:solidFill>
                  <a:srgbClr val="D6E4F0"/>
                </a:solidFill>
                <a:latin typeface="Calibri" pitchFamily="34" charset="0"/>
                <a:ea typeface="Calibri" pitchFamily="34" charset="-122"/>
                <a:cs typeface="Calibri" pitchFamily="34" charset="-120"/>
              </a:rPr>
              <a:t>旋轉 / 縮放 / 平移 / 透視矯正  •  書本掃描 / 車牌校正 / 影像拼接</a:t>
            </a:r>
            <a:endParaRPr lang="en-US" sz="1300" dirty="0"/>
          </a:p>
        </p:txBody>
      </p:sp>
      <p:sp>
        <p:nvSpPr>
          <p:cNvPr id="8" name="Shape 6"/>
          <p:cNvSpPr/>
          <p:nvPr/>
        </p:nvSpPr>
        <p:spPr>
          <a:xfrm>
            <a:off x="457200" y="3383280"/>
            <a:ext cx="8229600" cy="1188720"/>
          </a:xfrm>
          <a:prstGeom prst="rect">
            <a:avLst/>
          </a:prstGeom>
          <a:solidFill>
            <a:srgbClr val="162E4A"/>
          </a:solidFill>
          <a:ln w="12700">
            <a:solidFill>
              <a:srgbClr val="C45C00"/>
            </a:solidFill>
            <a:prstDash val="solid"/>
          </a:ln>
        </p:spPr>
        <p:txBody>
          <a:bodyPr/>
          <a:lstStyle/>
          <a:p>
            <a:endParaRPr lang="zh-TW" altLang="en-US"/>
          </a:p>
        </p:txBody>
      </p:sp>
      <p:sp>
        <p:nvSpPr>
          <p:cNvPr id="9" name="Text 7"/>
          <p:cNvSpPr/>
          <p:nvPr/>
        </p:nvSpPr>
        <p:spPr>
          <a:xfrm>
            <a:off x="594360" y="3410712"/>
            <a:ext cx="7955280" cy="292608"/>
          </a:xfrm>
          <a:prstGeom prst="rect">
            <a:avLst/>
          </a:prstGeom>
          <a:noFill/>
          <a:ln/>
        </p:spPr>
        <p:txBody>
          <a:bodyPr wrap="square" rtlCol="0" anchor="ctr"/>
          <a:lstStyle/>
          <a:p>
            <a:pPr marL="0" indent="0">
              <a:buNone/>
            </a:pPr>
            <a:r>
              <a:rPr lang="en-US" sz="1100" b="1" dirty="0">
                <a:solidFill>
                  <a:srgbClr val="C45C00"/>
                </a:solidFill>
                <a:latin typeface="Calibri" pitchFamily="34" charset="0"/>
                <a:ea typeface="Calibri" pitchFamily="34" charset="-122"/>
                <a:cs typeface="Calibri" pitchFamily="34" charset="-120"/>
              </a:rPr>
              <a:t>本週關鍵字回顧</a:t>
            </a:r>
            <a:endParaRPr lang="en-US" sz="1100" dirty="0"/>
          </a:p>
        </p:txBody>
      </p:sp>
      <p:sp>
        <p:nvSpPr>
          <p:cNvPr id="10" name="Text 8"/>
          <p:cNvSpPr/>
          <p:nvPr/>
        </p:nvSpPr>
        <p:spPr>
          <a:xfrm>
            <a:off x="594360" y="3712464"/>
            <a:ext cx="7955280" cy="777240"/>
          </a:xfrm>
          <a:prstGeom prst="rect">
            <a:avLst/>
          </a:prstGeom>
          <a:noFill/>
          <a:ln/>
        </p:spPr>
        <p:txBody>
          <a:bodyPr wrap="square" rtlCol="0" anchor="ctr"/>
          <a:lstStyle/>
          <a:p>
            <a:pPr marL="0" indent="0" algn="l">
              <a:buNone/>
            </a:pPr>
            <a:r>
              <a:rPr lang="en-US" sz="1100" dirty="0">
                <a:solidFill>
                  <a:srgbClr val="D6E4F0"/>
                </a:solidFill>
                <a:latin typeface="Calibri" pitchFamily="34" charset="0"/>
                <a:ea typeface="Calibri" pitchFamily="34" charset="-122"/>
                <a:cs typeface="Calibri" pitchFamily="34" charset="-120"/>
              </a:rPr>
              <a:t>JPEG · PNG · H.264  •  Clipping · Gamma · LUT  •  Histogram · CLAHE · Otsu</a:t>
            </a:r>
            <a:endParaRPr lang="en-US" sz="1100" dirty="0"/>
          </a:p>
          <a:p>
            <a:pPr marL="0" indent="0" algn="l">
              <a:buNone/>
            </a:pPr>
            <a:r>
              <a:rPr lang="en-US" sz="1100" dirty="0">
                <a:solidFill>
                  <a:srgbClr val="D6E4F0"/>
                </a:solidFill>
                <a:latin typeface="Calibri" pitchFamily="34" charset="0"/>
                <a:ea typeface="Calibri" pitchFamily="34" charset="-122"/>
                <a:cs typeface="Calibri" pitchFamily="34" charset="-120"/>
              </a:rPr>
              <a:t>Padding · Mean · Gaussian · Median · Bilateral  •  Convolution · Unsharp Mask  •  Low-pass / High-pass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22431</TotalTime>
  <Words>14950</Words>
  <Application>Microsoft Office PowerPoint</Application>
  <PresentationFormat>如螢幕大小 (16:9)</PresentationFormat>
  <Paragraphs>1579</Paragraphs>
  <Slides>153</Slides>
  <Notes>132</Notes>
  <HiddenSlides>0</HiddenSlides>
  <MMClips>0</MMClips>
  <ScaleCrop>false</ScaleCrop>
  <HeadingPairs>
    <vt:vector size="6" baseType="variant">
      <vt:variant>
        <vt:lpstr>使用字型</vt:lpstr>
      </vt:variant>
      <vt:variant>
        <vt:i4>7</vt:i4>
      </vt:variant>
      <vt:variant>
        <vt:lpstr>佈景主題</vt:lpstr>
      </vt:variant>
      <vt:variant>
        <vt:i4>1</vt:i4>
      </vt:variant>
      <vt:variant>
        <vt:lpstr>投影片標題</vt:lpstr>
      </vt:variant>
      <vt:variant>
        <vt:i4>153</vt:i4>
      </vt:variant>
    </vt:vector>
  </HeadingPairs>
  <TitlesOfParts>
    <vt:vector size="161" baseType="lpstr">
      <vt:lpstr>Arial,Italic</vt:lpstr>
      <vt:lpstr>DFKaiShu-SB-Estd-BF</vt:lpstr>
      <vt:lpstr>Arial</vt:lpstr>
      <vt:lpstr>Calibri</vt:lpstr>
      <vt:lpstr>Cambria Math</vt:lpstr>
      <vt:lpstr>Consolas</vt:lpstr>
      <vt:lpstr>Courier New</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Mean filtering</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What about the borders?  </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                            頻率域濾波</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謝昇憲 HSIEH SHENG HSIEN</cp:lastModifiedBy>
  <cp:revision>6</cp:revision>
  <dcterms:created xsi:type="dcterms:W3CDTF">2026-03-19T08:57:33Z</dcterms:created>
  <dcterms:modified xsi:type="dcterms:W3CDTF">2026-04-09T12:20:49Z</dcterms:modified>
</cp:coreProperties>
</file>