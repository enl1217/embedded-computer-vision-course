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76" r:id="rId3"/>
    <p:sldId id="257" r:id="rId4"/>
    <p:sldId id="277" r:id="rId5"/>
    <p:sldId id="258" r:id="rId6"/>
    <p:sldId id="278" r:id="rId7"/>
    <p:sldId id="287" r:id="rId8"/>
    <p:sldId id="279" r:id="rId9"/>
    <p:sldId id="288" r:id="rId10"/>
    <p:sldId id="280" r:id="rId11"/>
    <p:sldId id="289" r:id="rId12"/>
    <p:sldId id="282" r:id="rId13"/>
    <p:sldId id="259" r:id="rId14"/>
    <p:sldId id="291" r:id="rId15"/>
    <p:sldId id="292" r:id="rId16"/>
    <p:sldId id="293" r:id="rId17"/>
    <p:sldId id="260" r:id="rId18"/>
    <p:sldId id="290" r:id="rId19"/>
    <p:sldId id="296" r:id="rId20"/>
    <p:sldId id="295" r:id="rId21"/>
    <p:sldId id="297" r:id="rId22"/>
    <p:sldId id="261" r:id="rId23"/>
    <p:sldId id="262" r:id="rId24"/>
    <p:sldId id="263" r:id="rId25"/>
    <p:sldId id="303" r:id="rId26"/>
    <p:sldId id="298" r:id="rId27"/>
    <p:sldId id="304" r:id="rId28"/>
    <p:sldId id="305" r:id="rId29"/>
    <p:sldId id="306" r:id="rId30"/>
    <p:sldId id="264" r:id="rId31"/>
    <p:sldId id="307" r:id="rId32"/>
    <p:sldId id="266" r:id="rId33"/>
    <p:sldId id="299" r:id="rId34"/>
    <p:sldId id="308" r:id="rId35"/>
    <p:sldId id="265" r:id="rId36"/>
    <p:sldId id="285" r:id="rId37"/>
    <p:sldId id="267" r:id="rId38"/>
    <p:sldId id="309" r:id="rId39"/>
    <p:sldId id="300" r:id="rId40"/>
    <p:sldId id="268" r:id="rId41"/>
    <p:sldId id="310" r:id="rId42"/>
    <p:sldId id="311" r:id="rId43"/>
    <p:sldId id="269" r:id="rId44"/>
    <p:sldId id="301" r:id="rId45"/>
    <p:sldId id="302" r:id="rId46"/>
    <p:sldId id="270" r:id="rId47"/>
    <p:sldId id="271" r:id="rId48"/>
    <p:sldId id="272" r:id="rId49"/>
    <p:sldId id="273" r:id="rId50"/>
    <p:sldId id="275" r:id="rId5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2672"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94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699131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rgbClr val="336699"/>
                </a:solidFill>
              </a:defRPr>
            </a:lvl1pPr>
          </a:lstStyle>
          <a:p>
            <a:r>
              <a:rPr lang="zh-TW" altLang="en-US" dirty="0"/>
              <a:t>按一下以編輯母片標題樣式</a:t>
            </a:r>
          </a:p>
        </p:txBody>
      </p:sp>
      <p:sp>
        <p:nvSpPr>
          <p:cNvPr id="9" name="Rectangle 3"/>
          <p:cNvSpPr>
            <a:spLocks noGrp="1" noChangeArrowheads="1"/>
          </p:cNvSpPr>
          <p:nvPr>
            <p:ph idx="1"/>
          </p:nvPr>
        </p:nvSpPr>
        <p:spPr bwMode="auto">
          <a:xfrm>
            <a:off x="323850" y="897731"/>
            <a:ext cx="8135938" cy="3780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2pPr marL="1191" indent="534591">
              <a:defRPr/>
            </a:lvl2pPr>
            <a:lvl3pPr marL="0" indent="2381">
              <a:defRPr/>
            </a:lvl3pPr>
          </a:lstStyle>
          <a:p>
            <a:pPr lvl="0"/>
            <a:r>
              <a:rPr lang="en-US" altLang="zh-TW" noProof="0" dirty="0"/>
              <a:t>1-1-1</a:t>
            </a:r>
            <a:r>
              <a:rPr lang="zh-TW" altLang="en-US" noProof="0" dirty="0"/>
              <a:t>第一層第一層第一層第一層第一層第一層第一層</a:t>
            </a:r>
          </a:p>
          <a:p>
            <a:pPr lvl="1"/>
            <a:r>
              <a:rPr lang="zh-TW" altLang="en-US" noProof="0" dirty="0"/>
              <a:t>第二層內文第二層內文第二層內文第二層內文第二層內文第二層內文</a:t>
            </a:r>
            <a:endParaRPr lang="en-US" altLang="zh-TW" noProof="0" dirty="0"/>
          </a:p>
          <a:p>
            <a:pPr lvl="2"/>
            <a:r>
              <a:rPr lang="zh-TW" altLang="en-US" noProof="0" dirty="0"/>
              <a:t>第三層題目第三層題目第三層題目第三層題目第三層題目第三層題目</a:t>
            </a:r>
            <a:endParaRPr lang="en-US" altLang="zh-TW" noProof="0" dirty="0"/>
          </a:p>
          <a:p>
            <a:pPr lvl="3"/>
            <a:r>
              <a:rPr lang="en-US" altLang="zh-TW" noProof="0" dirty="0"/>
              <a:t>(1)</a:t>
            </a:r>
            <a:r>
              <a:rPr lang="zh-TW" altLang="en-US" noProof="0" dirty="0"/>
              <a:t>第四層第四層第四層第四層第四層第四層第四層第四層</a:t>
            </a:r>
            <a:endParaRPr lang="en-US" altLang="zh-TW" noProof="0" dirty="0"/>
          </a:p>
          <a:p>
            <a:pPr lvl="4"/>
            <a:r>
              <a:rPr lang="zh-TW" altLang="en-US" noProof="0" dirty="0"/>
              <a:t>第五層解答設逐行動畫第五層解答設逐行動畫第五層解答設逐行動畫</a:t>
            </a:r>
          </a:p>
        </p:txBody>
      </p:sp>
    </p:spTree>
    <p:extLst>
      <p:ext uri="{BB962C8B-B14F-4D97-AF65-F5344CB8AC3E}">
        <p14:creationId xmlns:p14="http://schemas.microsoft.com/office/powerpoint/2010/main" val="693723016"/>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xLWVj5uOJPM"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457200" y="45720"/>
            <a:ext cx="8229600" cy="411480"/>
          </a:xfrm>
          <a:prstGeom prst="rect">
            <a:avLst/>
          </a:prstGeom>
          <a:noFill/>
          <a:ln/>
        </p:spPr>
        <p:txBody>
          <a:bodyPr wrap="square" rtlCol="0" anchor="ctr"/>
          <a:lstStyle/>
          <a:p>
            <a:pPr marL="0" indent="0">
              <a:buNone/>
            </a:pPr>
            <a:r>
              <a:rPr lang="en-US" sz="1600" dirty="0">
                <a:solidFill>
                  <a:srgbClr val="FAFAF5"/>
                </a:solidFill>
                <a:latin typeface="Calibri" pitchFamily="34" charset="0"/>
                <a:ea typeface="Calibri" pitchFamily="34" charset="-122"/>
                <a:cs typeface="Calibri" pitchFamily="34" charset="-120"/>
              </a:rPr>
              <a:t>第二週</a:t>
            </a:r>
            <a:endParaRPr lang="en-US" sz="1600" dirty="0"/>
          </a:p>
        </p:txBody>
      </p:sp>
      <p:sp>
        <p:nvSpPr>
          <p:cNvPr id="4" name="Text 2"/>
          <p:cNvSpPr/>
          <p:nvPr/>
        </p:nvSpPr>
        <p:spPr>
          <a:xfrm>
            <a:off x="457200" y="384048"/>
            <a:ext cx="8229600" cy="96012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Camera 如何把世界</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轉成可被計算的資料</a:t>
            </a:r>
            <a:endParaRPr lang="en-US" sz="3600" dirty="0"/>
          </a:p>
        </p:txBody>
      </p:sp>
      <p:sp>
        <p:nvSpPr>
          <p:cNvPr id="5" name="Shape 3"/>
          <p:cNvSpPr/>
          <p:nvPr/>
        </p:nvSpPr>
        <p:spPr>
          <a:xfrm>
            <a:off x="365760" y="1737360"/>
            <a:ext cx="4206240" cy="530352"/>
          </a:xfrm>
          <a:prstGeom prst="roundRect">
            <a:avLst>
              <a:gd name="adj" fmla="val 8621"/>
            </a:avLst>
          </a:prstGeom>
          <a:solidFill>
            <a:srgbClr val="FFFFFF">
              <a:alpha val="12000"/>
            </a:srgbClr>
          </a:solidFill>
          <a:ln w="12700">
            <a:solidFill>
              <a:srgbClr val="C45C00"/>
            </a:solidFill>
            <a:prstDash val="solid"/>
          </a:ln>
        </p:spPr>
        <p:txBody>
          <a:bodyPr/>
          <a:lstStyle/>
          <a:p>
            <a:endParaRPr lang="zh-TW" altLang="en-US"/>
          </a:p>
        </p:txBody>
      </p:sp>
      <p:sp>
        <p:nvSpPr>
          <p:cNvPr id="6" name="Text 4"/>
          <p:cNvSpPr/>
          <p:nvPr/>
        </p:nvSpPr>
        <p:spPr>
          <a:xfrm>
            <a:off x="502920" y="1783080"/>
            <a:ext cx="3931920" cy="43891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Ch1　為什麼先懂 Camera</a:t>
            </a:r>
            <a:endParaRPr lang="en-US" sz="1300" dirty="0"/>
          </a:p>
        </p:txBody>
      </p:sp>
      <p:sp>
        <p:nvSpPr>
          <p:cNvPr id="7" name="Shape 5"/>
          <p:cNvSpPr/>
          <p:nvPr/>
        </p:nvSpPr>
        <p:spPr>
          <a:xfrm>
            <a:off x="365760" y="2423160"/>
            <a:ext cx="4206240" cy="530352"/>
          </a:xfrm>
          <a:prstGeom prst="roundRect">
            <a:avLst>
              <a:gd name="adj" fmla="val 8621"/>
            </a:avLst>
          </a:prstGeom>
          <a:solidFill>
            <a:srgbClr val="FFFFFF">
              <a:alpha val="12000"/>
            </a:srgbClr>
          </a:solidFill>
          <a:ln w="12700">
            <a:solidFill>
              <a:srgbClr val="C45C00"/>
            </a:solidFill>
            <a:prstDash val="solid"/>
          </a:ln>
        </p:spPr>
        <p:txBody>
          <a:bodyPr/>
          <a:lstStyle/>
          <a:p>
            <a:endParaRPr lang="zh-TW" altLang="en-US"/>
          </a:p>
        </p:txBody>
      </p:sp>
      <p:sp>
        <p:nvSpPr>
          <p:cNvPr id="8" name="Text 6"/>
          <p:cNvSpPr/>
          <p:nvPr/>
        </p:nvSpPr>
        <p:spPr>
          <a:xfrm>
            <a:off x="502920" y="2468880"/>
            <a:ext cx="3931920" cy="43891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Ch2　光學成像與曝光</a:t>
            </a:r>
            <a:endParaRPr lang="en-US" sz="1300" dirty="0"/>
          </a:p>
        </p:txBody>
      </p:sp>
      <p:sp>
        <p:nvSpPr>
          <p:cNvPr id="9" name="Shape 7"/>
          <p:cNvSpPr/>
          <p:nvPr/>
        </p:nvSpPr>
        <p:spPr>
          <a:xfrm>
            <a:off x="365760" y="3108960"/>
            <a:ext cx="4206240" cy="530352"/>
          </a:xfrm>
          <a:prstGeom prst="roundRect">
            <a:avLst>
              <a:gd name="adj" fmla="val 8621"/>
            </a:avLst>
          </a:prstGeom>
          <a:solidFill>
            <a:srgbClr val="FFFFFF">
              <a:alpha val="12000"/>
            </a:srgbClr>
          </a:solidFill>
          <a:ln w="12700">
            <a:solidFill>
              <a:srgbClr val="C45C00"/>
            </a:solidFill>
            <a:prstDash val="solid"/>
          </a:ln>
        </p:spPr>
        <p:txBody>
          <a:bodyPr/>
          <a:lstStyle/>
          <a:p>
            <a:endParaRPr lang="zh-TW" altLang="en-US"/>
          </a:p>
        </p:txBody>
      </p:sp>
      <p:sp>
        <p:nvSpPr>
          <p:cNvPr id="10" name="Text 8"/>
          <p:cNvSpPr/>
          <p:nvPr/>
        </p:nvSpPr>
        <p:spPr>
          <a:xfrm>
            <a:off x="502920" y="3154680"/>
            <a:ext cx="3931920" cy="43891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Ch3　Sensor 把光變成資料</a:t>
            </a:r>
            <a:endParaRPr lang="en-US" sz="1300" dirty="0"/>
          </a:p>
        </p:txBody>
      </p:sp>
      <p:sp>
        <p:nvSpPr>
          <p:cNvPr id="11" name="Shape 9"/>
          <p:cNvSpPr/>
          <p:nvPr/>
        </p:nvSpPr>
        <p:spPr>
          <a:xfrm>
            <a:off x="4846320" y="1737360"/>
            <a:ext cx="4206240" cy="530352"/>
          </a:xfrm>
          <a:prstGeom prst="roundRect">
            <a:avLst>
              <a:gd name="adj" fmla="val 8621"/>
            </a:avLst>
          </a:prstGeom>
          <a:solidFill>
            <a:srgbClr val="FFFFFF">
              <a:alpha val="12000"/>
            </a:srgbClr>
          </a:solidFill>
          <a:ln w="12700">
            <a:solidFill>
              <a:srgbClr val="C45C00"/>
            </a:solidFill>
            <a:prstDash val="solid"/>
          </a:ln>
        </p:spPr>
        <p:txBody>
          <a:bodyPr/>
          <a:lstStyle/>
          <a:p>
            <a:endParaRPr lang="zh-TW" altLang="en-US"/>
          </a:p>
        </p:txBody>
      </p:sp>
      <p:sp>
        <p:nvSpPr>
          <p:cNvPr id="12" name="Text 10"/>
          <p:cNvSpPr/>
          <p:nvPr/>
        </p:nvSpPr>
        <p:spPr>
          <a:xfrm>
            <a:off x="4983480" y="1783080"/>
            <a:ext cx="3931920" cy="43891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Ch4　Color / Raw / ISP Pipeline</a:t>
            </a:r>
            <a:endParaRPr lang="en-US" sz="1300" dirty="0"/>
          </a:p>
        </p:txBody>
      </p:sp>
      <p:sp>
        <p:nvSpPr>
          <p:cNvPr id="13" name="Shape 11"/>
          <p:cNvSpPr/>
          <p:nvPr/>
        </p:nvSpPr>
        <p:spPr>
          <a:xfrm>
            <a:off x="4846320" y="2423160"/>
            <a:ext cx="4206240" cy="530352"/>
          </a:xfrm>
          <a:prstGeom prst="roundRect">
            <a:avLst>
              <a:gd name="adj" fmla="val 8621"/>
            </a:avLst>
          </a:prstGeom>
          <a:solidFill>
            <a:srgbClr val="FFFFFF">
              <a:alpha val="12000"/>
            </a:srgbClr>
          </a:solidFill>
          <a:ln w="12700">
            <a:solidFill>
              <a:srgbClr val="C45C00"/>
            </a:solidFill>
            <a:prstDash val="solid"/>
          </a:ln>
        </p:spPr>
        <p:txBody>
          <a:bodyPr/>
          <a:lstStyle/>
          <a:p>
            <a:endParaRPr lang="zh-TW" altLang="en-US"/>
          </a:p>
        </p:txBody>
      </p:sp>
      <p:sp>
        <p:nvSpPr>
          <p:cNvPr id="14" name="Text 12"/>
          <p:cNvSpPr/>
          <p:nvPr/>
        </p:nvSpPr>
        <p:spPr>
          <a:xfrm>
            <a:off x="4983480" y="2468880"/>
            <a:ext cx="3931920" cy="43891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Ch5　Camera 介面與平台對應</a:t>
            </a:r>
            <a:endParaRPr lang="en-US" sz="1300" dirty="0"/>
          </a:p>
        </p:txBody>
      </p:sp>
      <p:sp>
        <p:nvSpPr>
          <p:cNvPr id="15" name="Shape 13"/>
          <p:cNvSpPr/>
          <p:nvPr/>
        </p:nvSpPr>
        <p:spPr>
          <a:xfrm>
            <a:off x="4846320" y="3108960"/>
            <a:ext cx="4206240" cy="530352"/>
          </a:xfrm>
          <a:prstGeom prst="roundRect">
            <a:avLst>
              <a:gd name="adj" fmla="val 8621"/>
            </a:avLst>
          </a:prstGeom>
          <a:solidFill>
            <a:srgbClr val="FFFFFF">
              <a:alpha val="12000"/>
            </a:srgbClr>
          </a:solidFill>
          <a:ln w="12700">
            <a:solidFill>
              <a:srgbClr val="C45C00"/>
            </a:solidFill>
            <a:prstDash val="solid"/>
          </a:ln>
        </p:spPr>
        <p:txBody>
          <a:bodyPr/>
          <a:lstStyle/>
          <a:p>
            <a:endParaRPr lang="zh-TW" altLang="en-US"/>
          </a:p>
        </p:txBody>
      </p:sp>
      <p:sp>
        <p:nvSpPr>
          <p:cNvPr id="16" name="Text 14"/>
          <p:cNvSpPr/>
          <p:nvPr/>
        </p:nvSpPr>
        <p:spPr>
          <a:xfrm>
            <a:off x="4983480" y="3154680"/>
            <a:ext cx="3931920" cy="43891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Ch6　銜接第三週 Pixel Processing</a:t>
            </a:r>
            <a:endParaRPr lang="en-US" sz="1300" dirty="0"/>
          </a:p>
        </p:txBody>
      </p:sp>
      <p:sp>
        <p:nvSpPr>
          <p:cNvPr id="17" name="Text 15"/>
          <p:cNvSpPr/>
          <p:nvPr/>
        </p:nvSpPr>
        <p:spPr>
          <a:xfrm>
            <a:off x="0" y="4754880"/>
            <a:ext cx="9144000" cy="384048"/>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嵌入式電腦視覺系統課程</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3">
            <a:extLst>
              <a:ext uri="{FF2B5EF4-FFF2-40B4-BE49-F238E27FC236}">
                <a16:creationId xmlns:a16="http://schemas.microsoft.com/office/drawing/2014/main" id="{AF4753C0-9BB0-9432-FCDF-94EF56EE6605}"/>
              </a:ext>
            </a:extLst>
          </p:cNvPr>
          <p:cNvSpPr/>
          <p:nvPr/>
        </p:nvSpPr>
        <p:spPr>
          <a:xfrm>
            <a:off x="365760" y="2071878"/>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3" name="Text 24">
            <a:extLst>
              <a:ext uri="{FF2B5EF4-FFF2-40B4-BE49-F238E27FC236}">
                <a16:creationId xmlns:a16="http://schemas.microsoft.com/office/drawing/2014/main" id="{6C9AC8FE-8670-93B6-A705-E06730A60767}"/>
              </a:ext>
            </a:extLst>
          </p:cNvPr>
          <p:cNvSpPr/>
          <p:nvPr/>
        </p:nvSpPr>
        <p:spPr>
          <a:xfrm>
            <a:off x="365760" y="2071878"/>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4" name="Text 25">
            <a:extLst>
              <a:ext uri="{FF2B5EF4-FFF2-40B4-BE49-F238E27FC236}">
                <a16:creationId xmlns:a16="http://schemas.microsoft.com/office/drawing/2014/main" id="{EFA058A3-9B6C-B2A5-ABF0-F5CFE845B522}"/>
              </a:ext>
            </a:extLst>
          </p:cNvPr>
          <p:cNvSpPr/>
          <p:nvPr/>
        </p:nvSpPr>
        <p:spPr>
          <a:xfrm>
            <a:off x="914400" y="2071878"/>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同一個模型，為什麼換一顆 camera、換一個場景，結果就變差？</a:t>
            </a:r>
            <a:endParaRPr lang="en-US" sz="1000" dirty="0"/>
          </a:p>
        </p:txBody>
      </p:sp>
      <p:sp>
        <p:nvSpPr>
          <p:cNvPr id="5" name="Shape 26">
            <a:extLst>
              <a:ext uri="{FF2B5EF4-FFF2-40B4-BE49-F238E27FC236}">
                <a16:creationId xmlns:a16="http://schemas.microsoft.com/office/drawing/2014/main" id="{02813A65-A4C2-665F-CAC0-1C29253CF34A}"/>
              </a:ext>
            </a:extLst>
          </p:cNvPr>
          <p:cNvSpPr/>
          <p:nvPr/>
        </p:nvSpPr>
        <p:spPr>
          <a:xfrm>
            <a:off x="365760" y="2382774"/>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6" name="Text 27">
            <a:extLst>
              <a:ext uri="{FF2B5EF4-FFF2-40B4-BE49-F238E27FC236}">
                <a16:creationId xmlns:a16="http://schemas.microsoft.com/office/drawing/2014/main" id="{26AC4C67-7441-B876-C129-E277FEA0EE19}"/>
              </a:ext>
            </a:extLst>
          </p:cNvPr>
          <p:cNvSpPr/>
          <p:nvPr/>
        </p:nvSpPr>
        <p:spPr>
          <a:xfrm>
            <a:off x="365760" y="2382774"/>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7" name="Text 28">
            <a:extLst>
              <a:ext uri="{FF2B5EF4-FFF2-40B4-BE49-F238E27FC236}">
                <a16:creationId xmlns:a16="http://schemas.microsoft.com/office/drawing/2014/main" id="{FAC7FC28-6C20-7E3E-7870-12D5E99FEBB2}"/>
              </a:ext>
            </a:extLst>
          </p:cNvPr>
          <p:cNvSpPr/>
          <p:nvPr/>
        </p:nvSpPr>
        <p:spPr>
          <a:xfrm>
            <a:off x="914400" y="2382774"/>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很多人以為 CV 問題都在模型，但真正第一個 bug 常常在 camera。</a:t>
            </a:r>
            <a:endParaRPr lang="en-US" sz="1000" dirty="0"/>
          </a:p>
        </p:txBody>
      </p:sp>
    </p:spTree>
    <p:extLst>
      <p:ext uri="{BB962C8B-B14F-4D97-AF65-F5344CB8AC3E}">
        <p14:creationId xmlns:p14="http://schemas.microsoft.com/office/powerpoint/2010/main" val="2561203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Ch1 ｜ 第一章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為什麼 CV 課程一開始要先懂 Camera？</a:t>
            </a:r>
            <a:endParaRPr lang="en-US" sz="2200" dirty="0"/>
          </a:p>
        </p:txBody>
      </p:sp>
      <p:sp>
        <p:nvSpPr>
          <p:cNvPr id="7" name="Shape 5"/>
          <p:cNvSpPr/>
          <p:nvPr/>
        </p:nvSpPr>
        <p:spPr>
          <a:xfrm>
            <a:off x="1865811" y="1481328"/>
            <a:ext cx="4754880" cy="80467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Shape 6"/>
          <p:cNvSpPr/>
          <p:nvPr/>
        </p:nvSpPr>
        <p:spPr>
          <a:xfrm>
            <a:off x="1865811" y="1481328"/>
            <a:ext cx="109728" cy="804672"/>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2066979" y="1527048"/>
            <a:ext cx="4480560" cy="274320"/>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電腦視覺 ≠ 直接理解世界</a:t>
            </a:r>
            <a:endParaRPr lang="en-US" sz="1300" dirty="0"/>
          </a:p>
        </p:txBody>
      </p:sp>
      <p:sp>
        <p:nvSpPr>
          <p:cNvPr id="10" name="Text 8"/>
          <p:cNvSpPr/>
          <p:nvPr/>
        </p:nvSpPr>
        <p:spPr>
          <a:xfrm>
            <a:off x="2066979" y="1810512"/>
            <a:ext cx="4480560" cy="38404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理解的是相機輸出的資料，而非真實場景本身</a:t>
            </a:r>
            <a:endParaRPr lang="en-US" sz="1100" dirty="0"/>
          </a:p>
        </p:txBody>
      </p:sp>
      <p:sp>
        <p:nvSpPr>
          <p:cNvPr id="11" name="Shape 9"/>
          <p:cNvSpPr/>
          <p:nvPr/>
        </p:nvSpPr>
        <p:spPr>
          <a:xfrm>
            <a:off x="1865811" y="2414016"/>
            <a:ext cx="4754880" cy="80467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2" name="Shape 10"/>
          <p:cNvSpPr/>
          <p:nvPr/>
        </p:nvSpPr>
        <p:spPr>
          <a:xfrm>
            <a:off x="1865811" y="2414016"/>
            <a:ext cx="109728" cy="804672"/>
          </a:xfrm>
          <a:prstGeom prst="rect">
            <a:avLst/>
          </a:prstGeom>
          <a:solidFill>
            <a:srgbClr val="C45C00"/>
          </a:solidFill>
          <a:ln w="12700">
            <a:solidFill>
              <a:srgbClr val="C45C00"/>
            </a:solidFill>
            <a:prstDash val="solid"/>
          </a:ln>
        </p:spPr>
        <p:txBody>
          <a:bodyPr/>
          <a:lstStyle/>
          <a:p>
            <a:endParaRPr lang="zh-TW" altLang="en-US"/>
          </a:p>
        </p:txBody>
      </p:sp>
      <p:sp>
        <p:nvSpPr>
          <p:cNvPr id="13" name="Text 11"/>
          <p:cNvSpPr/>
          <p:nvPr/>
        </p:nvSpPr>
        <p:spPr>
          <a:xfrm>
            <a:off x="2066979" y="2459736"/>
            <a:ext cx="4480560" cy="274320"/>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Garbage In, Garbage Out</a:t>
            </a:r>
            <a:endParaRPr lang="en-US" sz="1300" dirty="0"/>
          </a:p>
        </p:txBody>
      </p:sp>
      <p:sp>
        <p:nvSpPr>
          <p:cNvPr id="14" name="Text 12"/>
          <p:cNvSpPr/>
          <p:nvPr/>
        </p:nvSpPr>
        <p:spPr>
          <a:xfrm>
            <a:off x="2066979" y="2743200"/>
            <a:ext cx="4480560" cy="38404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過曝、模糊、低照、rolling shutter 都影響後續辨識</a:t>
            </a:r>
            <a:endParaRPr lang="en-US" sz="1100" dirty="0"/>
          </a:p>
        </p:txBody>
      </p:sp>
      <p:sp>
        <p:nvSpPr>
          <p:cNvPr id="15" name="Shape 13"/>
          <p:cNvSpPr/>
          <p:nvPr/>
        </p:nvSpPr>
        <p:spPr>
          <a:xfrm>
            <a:off x="1865811" y="3346704"/>
            <a:ext cx="4754880" cy="80467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6" name="Shape 14"/>
          <p:cNvSpPr/>
          <p:nvPr/>
        </p:nvSpPr>
        <p:spPr>
          <a:xfrm>
            <a:off x="1865811" y="3346704"/>
            <a:ext cx="109728" cy="804672"/>
          </a:xfrm>
          <a:prstGeom prst="rect">
            <a:avLst/>
          </a:prstGeom>
          <a:solidFill>
            <a:srgbClr val="C45C00"/>
          </a:solidFill>
          <a:ln w="12700">
            <a:solidFill>
              <a:srgbClr val="C45C00"/>
            </a:solidFill>
            <a:prstDash val="solid"/>
          </a:ln>
        </p:spPr>
        <p:txBody>
          <a:bodyPr/>
          <a:lstStyle/>
          <a:p>
            <a:endParaRPr lang="zh-TW" altLang="en-US"/>
          </a:p>
        </p:txBody>
      </p:sp>
      <p:sp>
        <p:nvSpPr>
          <p:cNvPr id="17" name="Text 15"/>
          <p:cNvSpPr/>
          <p:nvPr/>
        </p:nvSpPr>
        <p:spPr>
          <a:xfrm>
            <a:off x="2066979" y="3392424"/>
            <a:ext cx="4480560" cy="274320"/>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Pixel 從哪裡來？</a:t>
            </a:r>
            <a:endParaRPr lang="en-US" sz="1300" dirty="0"/>
          </a:p>
        </p:txBody>
      </p:sp>
      <p:sp>
        <p:nvSpPr>
          <p:cNvPr id="18" name="Text 16"/>
          <p:cNvSpPr/>
          <p:nvPr/>
        </p:nvSpPr>
        <p:spPr>
          <a:xfrm>
            <a:off x="2066979" y="3675888"/>
            <a:ext cx="4480560" cy="38404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第二週回答這個根本問題</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hape 23"/>
          <p:cNvSpPr/>
          <p:nvPr/>
        </p:nvSpPr>
        <p:spPr>
          <a:xfrm>
            <a:off x="365760" y="1990888"/>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26" name="Text 24"/>
          <p:cNvSpPr/>
          <p:nvPr/>
        </p:nvSpPr>
        <p:spPr>
          <a:xfrm>
            <a:off x="365760" y="1990888"/>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27" name="Text 25"/>
          <p:cNvSpPr/>
          <p:nvPr/>
        </p:nvSpPr>
        <p:spPr>
          <a:xfrm>
            <a:off x="914400" y="1990888"/>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照片裡的顏色，是物體本身有的，還是後來被量測與編碼出來的？</a:t>
            </a:r>
            <a:endParaRPr lang="en-US" sz="1000" dirty="0"/>
          </a:p>
        </p:txBody>
      </p:sp>
      <p:sp>
        <p:nvSpPr>
          <p:cNvPr id="28" name="Shape 26"/>
          <p:cNvSpPr/>
          <p:nvPr/>
        </p:nvSpPr>
        <p:spPr>
          <a:xfrm>
            <a:off x="365760" y="2301784"/>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29" name="Text 27"/>
          <p:cNvSpPr/>
          <p:nvPr/>
        </p:nvSpPr>
        <p:spPr>
          <a:xfrm>
            <a:off x="365760" y="2301784"/>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30" name="Text 28"/>
          <p:cNvSpPr/>
          <p:nvPr/>
        </p:nvSpPr>
        <p:spPr>
          <a:xfrm>
            <a:off x="914400" y="2301784"/>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相機不是複製世界，而是在做一連串近似與轉換。</a:t>
            </a:r>
            <a:endParaRPr lang="en-US" sz="1000" dirty="0"/>
          </a:p>
        </p:txBody>
      </p:sp>
    </p:spTree>
    <p:extLst>
      <p:ext uri="{BB962C8B-B14F-4D97-AF65-F5344CB8AC3E}">
        <p14:creationId xmlns:p14="http://schemas.microsoft.com/office/powerpoint/2010/main" val="2699134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Ch1 ｜ 第一章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Camera 不是在「看世界」，而是在「把光變成資料」</a:t>
            </a:r>
            <a:endParaRPr lang="en-US" sz="2200" dirty="0"/>
          </a:p>
        </p:txBody>
      </p:sp>
      <p:sp>
        <p:nvSpPr>
          <p:cNvPr id="7" name="Shape 5"/>
          <p:cNvSpPr/>
          <p:nvPr/>
        </p:nvSpPr>
        <p:spPr>
          <a:xfrm>
            <a:off x="274320" y="1417320"/>
            <a:ext cx="1188720" cy="822960"/>
          </a:xfrm>
          <a:prstGeom prst="rect">
            <a:avLst/>
          </a:prstGeom>
          <a:solidFill>
            <a:srgbClr val="F5C842"/>
          </a:solidFill>
          <a:ln w="12700">
            <a:solidFill>
              <a:srgbClr val="F5C842"/>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Text 6"/>
          <p:cNvSpPr/>
          <p:nvPr/>
        </p:nvSpPr>
        <p:spPr>
          <a:xfrm>
            <a:off x="274320" y="1417320"/>
            <a:ext cx="118872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Light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9" name="Shape 7"/>
          <p:cNvSpPr/>
          <p:nvPr/>
        </p:nvSpPr>
        <p:spPr>
          <a:xfrm>
            <a:off x="1463040" y="1764792"/>
            <a:ext cx="201168" cy="109728"/>
          </a:xfrm>
          <a:prstGeom prst="rect">
            <a:avLst/>
          </a:prstGeom>
          <a:solidFill>
            <a:srgbClr val="888888"/>
          </a:solidFill>
          <a:ln w="12700">
            <a:solidFill>
              <a:srgbClr val="888888"/>
            </a:solidFill>
            <a:prstDash val="solid"/>
          </a:ln>
        </p:spPr>
        <p:txBody>
          <a:bodyPr/>
          <a:lstStyle/>
          <a:p>
            <a:endParaRPr lang="zh-TW" altLang="en-US"/>
          </a:p>
        </p:txBody>
      </p:sp>
      <p:sp>
        <p:nvSpPr>
          <p:cNvPr id="10" name="Shape 8"/>
          <p:cNvSpPr/>
          <p:nvPr/>
        </p:nvSpPr>
        <p:spPr>
          <a:xfrm>
            <a:off x="1664208" y="1417320"/>
            <a:ext cx="1188720" cy="822960"/>
          </a:xfrm>
          <a:prstGeom prst="rect">
            <a:avLst/>
          </a:prstGeom>
          <a:solidFill>
            <a:srgbClr val="E07B39"/>
          </a:solidFill>
          <a:ln w="12700">
            <a:solidFill>
              <a:srgbClr val="E07B39"/>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1" name="Text 9"/>
          <p:cNvSpPr/>
          <p:nvPr/>
        </p:nvSpPr>
        <p:spPr>
          <a:xfrm>
            <a:off x="1664208" y="1417320"/>
            <a:ext cx="118872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Object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反射</a:t>
            </a:r>
            <a:endParaRPr lang="en-US" sz="1200" dirty="0"/>
          </a:p>
        </p:txBody>
      </p:sp>
      <p:sp>
        <p:nvSpPr>
          <p:cNvPr id="12" name="Shape 10"/>
          <p:cNvSpPr/>
          <p:nvPr/>
        </p:nvSpPr>
        <p:spPr>
          <a:xfrm>
            <a:off x="2852928" y="1764792"/>
            <a:ext cx="201168" cy="109728"/>
          </a:xfrm>
          <a:prstGeom prst="rect">
            <a:avLst/>
          </a:prstGeom>
          <a:solidFill>
            <a:srgbClr val="888888"/>
          </a:solidFill>
          <a:ln w="12700">
            <a:solidFill>
              <a:srgbClr val="888888"/>
            </a:solidFill>
            <a:prstDash val="solid"/>
          </a:ln>
        </p:spPr>
        <p:txBody>
          <a:bodyPr/>
          <a:lstStyle/>
          <a:p>
            <a:endParaRPr lang="zh-TW" altLang="en-US"/>
          </a:p>
        </p:txBody>
      </p:sp>
      <p:sp>
        <p:nvSpPr>
          <p:cNvPr id="13" name="Shape 11"/>
          <p:cNvSpPr/>
          <p:nvPr/>
        </p:nvSpPr>
        <p:spPr>
          <a:xfrm>
            <a:off x="3054096" y="1417320"/>
            <a:ext cx="1188720" cy="822960"/>
          </a:xfrm>
          <a:prstGeom prst="rect">
            <a:avLst/>
          </a:prstGeom>
          <a:solidFill>
            <a:srgbClr val="5B9BD5"/>
          </a:solidFill>
          <a:ln w="1270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4" name="Text 12"/>
          <p:cNvSpPr/>
          <p:nvPr/>
        </p:nvSpPr>
        <p:spPr>
          <a:xfrm>
            <a:off x="3054096" y="1417320"/>
            <a:ext cx="118872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Lens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鏡頭</a:t>
            </a:r>
            <a:endParaRPr lang="en-US" sz="1200" dirty="0"/>
          </a:p>
        </p:txBody>
      </p:sp>
      <p:sp>
        <p:nvSpPr>
          <p:cNvPr id="15" name="Shape 13"/>
          <p:cNvSpPr/>
          <p:nvPr/>
        </p:nvSpPr>
        <p:spPr>
          <a:xfrm>
            <a:off x="4242816" y="1764792"/>
            <a:ext cx="201168" cy="109728"/>
          </a:xfrm>
          <a:prstGeom prst="rect">
            <a:avLst/>
          </a:prstGeom>
          <a:solidFill>
            <a:srgbClr val="888888"/>
          </a:solidFill>
          <a:ln w="12700">
            <a:solidFill>
              <a:srgbClr val="888888"/>
            </a:solidFill>
            <a:prstDash val="solid"/>
          </a:ln>
        </p:spPr>
        <p:txBody>
          <a:bodyPr/>
          <a:lstStyle/>
          <a:p>
            <a:endParaRPr lang="zh-TW" altLang="en-US"/>
          </a:p>
        </p:txBody>
      </p:sp>
      <p:sp>
        <p:nvSpPr>
          <p:cNvPr id="16" name="Shape 14"/>
          <p:cNvSpPr/>
          <p:nvPr/>
        </p:nvSpPr>
        <p:spPr>
          <a:xfrm>
            <a:off x="4443984" y="1417320"/>
            <a:ext cx="1188720" cy="82296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7" name="Text 15"/>
          <p:cNvSpPr/>
          <p:nvPr/>
        </p:nvSpPr>
        <p:spPr>
          <a:xfrm>
            <a:off x="4443984" y="1417320"/>
            <a:ext cx="118872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Sensor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感測</a:t>
            </a:r>
            <a:endParaRPr lang="en-US" sz="1200" dirty="0"/>
          </a:p>
        </p:txBody>
      </p:sp>
      <p:sp>
        <p:nvSpPr>
          <p:cNvPr id="18" name="Shape 16"/>
          <p:cNvSpPr/>
          <p:nvPr/>
        </p:nvSpPr>
        <p:spPr>
          <a:xfrm>
            <a:off x="5632704" y="1764792"/>
            <a:ext cx="201168" cy="109728"/>
          </a:xfrm>
          <a:prstGeom prst="rect">
            <a:avLst/>
          </a:prstGeom>
          <a:solidFill>
            <a:srgbClr val="888888"/>
          </a:solidFill>
          <a:ln w="12700">
            <a:solidFill>
              <a:srgbClr val="888888"/>
            </a:solidFill>
            <a:prstDash val="solid"/>
          </a:ln>
        </p:spPr>
        <p:txBody>
          <a:bodyPr/>
          <a:lstStyle/>
          <a:p>
            <a:endParaRPr lang="zh-TW" altLang="en-US"/>
          </a:p>
        </p:txBody>
      </p:sp>
      <p:sp>
        <p:nvSpPr>
          <p:cNvPr id="19" name="Shape 17"/>
          <p:cNvSpPr/>
          <p:nvPr/>
        </p:nvSpPr>
        <p:spPr>
          <a:xfrm>
            <a:off x="5833872" y="1417320"/>
            <a:ext cx="1188720" cy="822960"/>
          </a:xfrm>
          <a:prstGeom prst="rect">
            <a:avLst/>
          </a:prstGeom>
          <a:solidFill>
            <a:srgbClr val="7030A0"/>
          </a:solidFill>
          <a:ln w="12700">
            <a:solidFill>
              <a:srgbClr val="7030A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0" name="Text 18"/>
          <p:cNvSpPr/>
          <p:nvPr/>
        </p:nvSpPr>
        <p:spPr>
          <a:xfrm>
            <a:off x="5833872" y="1417320"/>
            <a:ext cx="118872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ISP</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處理</a:t>
            </a:r>
            <a:endParaRPr lang="en-US" sz="1200" dirty="0"/>
          </a:p>
        </p:txBody>
      </p:sp>
      <p:sp>
        <p:nvSpPr>
          <p:cNvPr id="21" name="Shape 19"/>
          <p:cNvSpPr/>
          <p:nvPr/>
        </p:nvSpPr>
        <p:spPr>
          <a:xfrm>
            <a:off x="7022592" y="1764792"/>
            <a:ext cx="201168" cy="109728"/>
          </a:xfrm>
          <a:prstGeom prst="rect">
            <a:avLst/>
          </a:prstGeom>
          <a:solidFill>
            <a:srgbClr val="888888"/>
          </a:solidFill>
          <a:ln w="12700">
            <a:solidFill>
              <a:srgbClr val="888888"/>
            </a:solidFill>
            <a:prstDash val="solid"/>
          </a:ln>
        </p:spPr>
        <p:txBody>
          <a:bodyPr/>
          <a:lstStyle/>
          <a:p>
            <a:endParaRPr lang="zh-TW" altLang="en-US"/>
          </a:p>
        </p:txBody>
      </p:sp>
      <p:sp>
        <p:nvSpPr>
          <p:cNvPr id="22" name="Shape 20"/>
          <p:cNvSpPr/>
          <p:nvPr/>
        </p:nvSpPr>
        <p:spPr>
          <a:xfrm>
            <a:off x="7223760" y="1417320"/>
            <a:ext cx="1188720" cy="822960"/>
          </a:xfrm>
          <a:prstGeom prst="rect">
            <a:avLst/>
          </a:prstGeom>
          <a:solidFill>
            <a:srgbClr val="C45C00"/>
          </a:solidFill>
          <a:ln w="12700">
            <a:solidFill>
              <a:srgbClr val="C45C0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3" name="Text 21"/>
          <p:cNvSpPr/>
          <p:nvPr/>
        </p:nvSpPr>
        <p:spPr>
          <a:xfrm>
            <a:off x="7223760" y="1417320"/>
            <a:ext cx="118872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影像</a:t>
            </a:r>
            <a:endParaRPr lang="en-US" sz="1200" dirty="0"/>
          </a:p>
        </p:txBody>
      </p:sp>
      <p:sp>
        <p:nvSpPr>
          <p:cNvPr id="24" name="Text 22"/>
          <p:cNvSpPr/>
          <p:nvPr/>
        </p:nvSpPr>
        <p:spPr>
          <a:xfrm>
            <a:off x="320040" y="2468880"/>
            <a:ext cx="8503920" cy="1371600"/>
          </a:xfrm>
          <a:prstGeom prst="rect">
            <a:avLst/>
          </a:prstGeom>
          <a:noFill/>
          <a:ln/>
        </p:spPr>
        <p:txBody>
          <a:bodyPr wrap="square" rtlCol="0" anchor="ctr"/>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世界裡先有的是光，不是 pixel</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物體改變光　→　鏡頭整理光　→　sensor 接收光　→　數位資料</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本週主線：光 → lens → sensor → raw → image/video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5CF597C-8DAD-A3F8-1437-EC2277A16381}"/>
              </a:ext>
            </a:extLst>
          </p:cNvPr>
          <p:cNvPicPr>
            <a:picLocks noChangeAspect="1"/>
          </p:cNvPicPr>
          <p:nvPr/>
        </p:nvPicPr>
        <p:blipFill>
          <a:blip r:embed="rId2"/>
          <a:stretch>
            <a:fillRect/>
          </a:stretch>
        </p:blipFill>
        <p:spPr>
          <a:xfrm>
            <a:off x="174399" y="752381"/>
            <a:ext cx="8795202" cy="3638737"/>
          </a:xfrm>
          <a:prstGeom prst="rect">
            <a:avLst/>
          </a:prstGeom>
        </p:spPr>
      </p:pic>
    </p:spTree>
    <p:extLst>
      <p:ext uri="{BB962C8B-B14F-4D97-AF65-F5344CB8AC3E}">
        <p14:creationId xmlns:p14="http://schemas.microsoft.com/office/powerpoint/2010/main" val="1618669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1.kknews.cc/VJZC_aW9NBvy07m1eG_b_Is3P_Tu3qeYQ3ILNeo/0.jpg">
            <a:extLst>
              <a:ext uri="{FF2B5EF4-FFF2-40B4-BE49-F238E27FC236}">
                <a16:creationId xmlns:a16="http://schemas.microsoft.com/office/drawing/2014/main" id="{C1E3A731-0C81-460F-B523-74C3F2B6B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96580"/>
            <a:ext cx="4572000" cy="275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406408"/>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AA4B6D5-DB2D-B388-A73A-665708AD9D35}"/>
              </a:ext>
            </a:extLst>
          </p:cNvPr>
          <p:cNvPicPr>
            <a:picLocks noChangeAspect="1"/>
          </p:cNvPicPr>
          <p:nvPr/>
        </p:nvPicPr>
        <p:blipFill>
          <a:blip r:embed="rId2"/>
          <a:stretch>
            <a:fillRect/>
          </a:stretch>
        </p:blipFill>
        <p:spPr>
          <a:xfrm>
            <a:off x="215676" y="555521"/>
            <a:ext cx="8712648" cy="4032457"/>
          </a:xfrm>
          <a:prstGeom prst="rect">
            <a:avLst/>
          </a:prstGeom>
        </p:spPr>
      </p:pic>
    </p:spTree>
    <p:extLst>
      <p:ext uri="{BB962C8B-B14F-4D97-AF65-F5344CB8AC3E}">
        <p14:creationId xmlns:p14="http://schemas.microsoft.com/office/powerpoint/2010/main" val="2919049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D:\03多媒體\66429多媒體製作\圖\CH3\3-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39652" y="835102"/>
            <a:ext cx="2538282" cy="3011550"/>
          </a:xfrm>
          <a:prstGeom prst="rect">
            <a:avLst/>
          </a:prstGeom>
          <a:noFill/>
          <a:extLst>
            <a:ext uri="{909E8E84-426E-40DD-AFC4-6F175D3DCCD1}">
              <a14:hiddenFill xmlns:a14="http://schemas.microsoft.com/office/drawing/2010/main">
                <a:solidFill>
                  <a:srgbClr val="FFFFFF"/>
                </a:solidFill>
              </a14:hiddenFill>
            </a:ext>
          </a:extLst>
        </p:spPr>
      </p:pic>
      <p:pic>
        <p:nvPicPr>
          <p:cNvPr id="38915" name="Picture 3" descr="D:\03多媒體\66429多媒體製作\圖\CH3\3-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1970" y="835103"/>
            <a:ext cx="2538282" cy="30066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A0B7A84-686A-C620-C3B4-5E87B82977E8}"/>
              </a:ext>
            </a:extLst>
          </p:cNvPr>
          <p:cNvPicPr>
            <a:picLocks noChangeAspect="1"/>
          </p:cNvPicPr>
          <p:nvPr/>
        </p:nvPicPr>
        <p:blipFill>
          <a:blip r:embed="rId2"/>
          <a:stretch>
            <a:fillRect/>
          </a:stretch>
        </p:blipFill>
        <p:spPr>
          <a:xfrm>
            <a:off x="425237" y="704754"/>
            <a:ext cx="8293526" cy="3733992"/>
          </a:xfrm>
          <a:prstGeom prst="rect">
            <a:avLst/>
          </a:prstGeom>
        </p:spPr>
      </p:pic>
    </p:spTree>
    <p:extLst>
      <p:ext uri="{BB962C8B-B14F-4D97-AF65-F5344CB8AC3E}">
        <p14:creationId xmlns:p14="http://schemas.microsoft.com/office/powerpoint/2010/main" val="289062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FE生活網- 火影中能力最噁心變態的眼睛排行！！博人的「淨眼」居然不在排名之內？！（#5是白眼的剋星，卻沒什麼人知道">
            <a:extLst>
              <a:ext uri="{FF2B5EF4-FFF2-40B4-BE49-F238E27FC236}">
                <a16:creationId xmlns:a16="http://schemas.microsoft.com/office/drawing/2014/main" id="{658E1682-3B04-44D4-BBB0-6B1F0A3C8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4988" y="807244"/>
            <a:ext cx="5629275" cy="318611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FDC2B749-F175-4794-8240-718767F82244}"/>
              </a:ext>
            </a:extLst>
          </p:cNvPr>
          <p:cNvSpPr/>
          <p:nvPr/>
        </p:nvSpPr>
        <p:spPr>
          <a:xfrm>
            <a:off x="3423420" y="4419213"/>
            <a:ext cx="2101655" cy="300082"/>
          </a:xfrm>
          <a:prstGeom prst="rect">
            <a:avLst/>
          </a:prstGeom>
        </p:spPr>
        <p:txBody>
          <a:bodyPr wrap="square">
            <a:spAutoFit/>
          </a:bodyPr>
          <a:lstStyle/>
          <a:p>
            <a:r>
              <a:rPr lang="zh-TW" altLang="en-US" sz="1350" dirty="0">
                <a:hlinkClick r:id="rId3"/>
              </a:rPr>
              <a:t>眼睛裡面是什麼樣的呢</a:t>
            </a:r>
            <a:endParaRPr lang="zh-TW" altLang="en-US" sz="1350" dirty="0"/>
          </a:p>
        </p:txBody>
      </p:sp>
    </p:spTree>
    <p:extLst>
      <p:ext uri="{BB962C8B-B14F-4D97-AF65-F5344CB8AC3E}">
        <p14:creationId xmlns:p14="http://schemas.microsoft.com/office/powerpoint/2010/main" val="1371812662"/>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31"/>
          <p:cNvSpPr/>
          <p:nvPr/>
        </p:nvSpPr>
        <p:spPr>
          <a:xfrm>
            <a:off x="571500" y="2106604"/>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34" name="Text 32"/>
          <p:cNvSpPr/>
          <p:nvPr/>
        </p:nvSpPr>
        <p:spPr>
          <a:xfrm>
            <a:off x="571500" y="2106604"/>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35" name="Text 33"/>
          <p:cNvSpPr/>
          <p:nvPr/>
        </p:nvSpPr>
        <p:spPr>
          <a:xfrm>
            <a:off x="1120140" y="2106604"/>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紅色蘋果在紅光、白光、藍光下看起來會一樣嗎？</a:t>
            </a:r>
            <a:endParaRPr lang="en-US" sz="1000" dirty="0"/>
          </a:p>
        </p:txBody>
      </p:sp>
      <p:sp>
        <p:nvSpPr>
          <p:cNvPr id="36" name="Shape 34"/>
          <p:cNvSpPr/>
          <p:nvPr/>
        </p:nvSpPr>
        <p:spPr>
          <a:xfrm>
            <a:off x="571500" y="2417500"/>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37" name="Text 35"/>
          <p:cNvSpPr/>
          <p:nvPr/>
        </p:nvSpPr>
        <p:spPr>
          <a:xfrm>
            <a:off x="571500" y="2417500"/>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p:nvPr/>
        </p:nvSpPr>
        <p:spPr>
          <a:xfrm>
            <a:off x="1120140" y="2417500"/>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顏色不是物體貼標籤，而是光與材料交互作用後的結果。</a:t>
            </a:r>
            <a:endParaRPr lang="en-US" sz="1000" dirty="0"/>
          </a:p>
        </p:txBody>
      </p:sp>
    </p:spTree>
    <p:extLst>
      <p:ext uri="{BB962C8B-B14F-4D97-AF65-F5344CB8AC3E}">
        <p14:creationId xmlns:p14="http://schemas.microsoft.com/office/powerpoint/2010/main" val="3426353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Ch2 ｜ 第二章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先有光，才有影像：可見光、反射與顏色</a:t>
            </a:r>
            <a:endParaRPr lang="en-US" sz="2200" dirty="0"/>
          </a:p>
        </p:txBody>
      </p:sp>
      <p:sp>
        <p:nvSpPr>
          <p:cNvPr id="22" name="Shape 20"/>
          <p:cNvSpPr/>
          <p:nvPr/>
        </p:nvSpPr>
        <p:spPr>
          <a:xfrm>
            <a:off x="372292" y="3430306"/>
            <a:ext cx="2743200" cy="137160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3" name="Text 21"/>
          <p:cNvSpPr/>
          <p:nvPr/>
        </p:nvSpPr>
        <p:spPr>
          <a:xfrm>
            <a:off x="463732" y="3521746"/>
            <a:ext cx="2560320" cy="34747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顏色 = 波長分布</a:t>
            </a:r>
            <a:endParaRPr lang="en-US" sz="1300" dirty="0"/>
          </a:p>
        </p:txBody>
      </p:sp>
      <p:sp>
        <p:nvSpPr>
          <p:cNvPr id="24" name="Text 22"/>
          <p:cNvSpPr/>
          <p:nvPr/>
        </p:nvSpPr>
        <p:spPr>
          <a:xfrm>
            <a:off x="463732" y="3905794"/>
            <a:ext cx="256032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不同波長的光讓人眼感受到不同顏色</a:t>
            </a:r>
            <a:endParaRPr lang="en-US" sz="1100" dirty="0"/>
          </a:p>
        </p:txBody>
      </p:sp>
      <p:sp>
        <p:nvSpPr>
          <p:cNvPr id="25" name="Shape 23"/>
          <p:cNvSpPr/>
          <p:nvPr/>
        </p:nvSpPr>
        <p:spPr>
          <a:xfrm>
            <a:off x="3316660" y="3430306"/>
            <a:ext cx="2743200" cy="137160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6" name="Text 24"/>
          <p:cNvSpPr/>
          <p:nvPr/>
        </p:nvSpPr>
        <p:spPr>
          <a:xfrm>
            <a:off x="3408100" y="3521746"/>
            <a:ext cx="2560320" cy="34747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物體顏色 = 反射特性</a:t>
            </a:r>
            <a:endParaRPr lang="en-US" sz="1300" dirty="0"/>
          </a:p>
        </p:txBody>
      </p:sp>
      <p:sp>
        <p:nvSpPr>
          <p:cNvPr id="27" name="Text 25"/>
          <p:cNvSpPr/>
          <p:nvPr/>
        </p:nvSpPr>
        <p:spPr>
          <a:xfrm>
            <a:off x="3408100" y="3905794"/>
            <a:ext cx="256032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紅蘋果吸收藍綠光，反射紅光</a:t>
            </a:r>
            <a:endParaRPr lang="en-US" sz="1100" dirty="0"/>
          </a:p>
        </p:txBody>
      </p:sp>
      <p:sp>
        <p:nvSpPr>
          <p:cNvPr id="28" name="Shape 26"/>
          <p:cNvSpPr/>
          <p:nvPr/>
        </p:nvSpPr>
        <p:spPr>
          <a:xfrm>
            <a:off x="6261028" y="3430306"/>
            <a:ext cx="2743200" cy="137160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9" name="Text 27"/>
          <p:cNvSpPr/>
          <p:nvPr/>
        </p:nvSpPr>
        <p:spPr>
          <a:xfrm>
            <a:off x="6352468" y="3521746"/>
            <a:ext cx="2560320" cy="34747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光源改變 → 影像改變</a:t>
            </a:r>
            <a:endParaRPr lang="en-US" sz="1300" dirty="0"/>
          </a:p>
        </p:txBody>
      </p:sp>
      <p:sp>
        <p:nvSpPr>
          <p:cNvPr id="30" name="Text 28"/>
          <p:cNvSpPr/>
          <p:nvPr/>
        </p:nvSpPr>
        <p:spPr>
          <a:xfrm>
            <a:off x="6352468" y="3905794"/>
            <a:ext cx="256032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相機接收光源 × 物體反射率的結合結果</a:t>
            </a:r>
            <a:endParaRPr lang="en-US" sz="1100" dirty="0"/>
          </a:p>
        </p:txBody>
      </p:sp>
      <p:pic>
        <p:nvPicPr>
          <p:cNvPr id="40" name="圖片 39">
            <a:extLst>
              <a:ext uri="{FF2B5EF4-FFF2-40B4-BE49-F238E27FC236}">
                <a16:creationId xmlns:a16="http://schemas.microsoft.com/office/drawing/2014/main" id="{23CD0FAE-7E42-CEB7-42EF-F3A2DB0978D4}"/>
              </a:ext>
            </a:extLst>
          </p:cNvPr>
          <p:cNvPicPr>
            <a:picLocks noChangeAspect="1"/>
          </p:cNvPicPr>
          <p:nvPr/>
        </p:nvPicPr>
        <p:blipFill>
          <a:blip r:embed="rId3"/>
          <a:stretch>
            <a:fillRect/>
          </a:stretch>
        </p:blipFill>
        <p:spPr>
          <a:xfrm>
            <a:off x="1232263" y="1042416"/>
            <a:ext cx="6753497" cy="217634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D88CA19-D741-A7E1-5588-0D71D5C66667}"/>
              </a:ext>
            </a:extLst>
          </p:cNvPr>
          <p:cNvPicPr>
            <a:picLocks noChangeAspect="1"/>
          </p:cNvPicPr>
          <p:nvPr/>
        </p:nvPicPr>
        <p:blipFill>
          <a:blip r:embed="rId2"/>
          <a:stretch>
            <a:fillRect/>
          </a:stretch>
        </p:blipFill>
        <p:spPr>
          <a:xfrm>
            <a:off x="1972739" y="867948"/>
            <a:ext cx="5198521" cy="3748502"/>
          </a:xfrm>
          <a:prstGeom prst="rect">
            <a:avLst/>
          </a:prstGeom>
        </p:spPr>
      </p:pic>
    </p:spTree>
    <p:extLst>
      <p:ext uri="{BB962C8B-B14F-4D97-AF65-F5344CB8AC3E}">
        <p14:creationId xmlns:p14="http://schemas.microsoft.com/office/powerpoint/2010/main" val="3766483719"/>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0847C0B-54C9-55BC-EF43-C9E072EDD9A9}"/>
              </a:ext>
            </a:extLst>
          </p:cNvPr>
          <p:cNvPicPr>
            <a:picLocks noChangeAspect="1"/>
          </p:cNvPicPr>
          <p:nvPr/>
        </p:nvPicPr>
        <p:blipFill>
          <a:blip r:embed="rId2"/>
          <a:stretch>
            <a:fillRect/>
          </a:stretch>
        </p:blipFill>
        <p:spPr>
          <a:xfrm>
            <a:off x="596695" y="155451"/>
            <a:ext cx="7950609" cy="4832598"/>
          </a:xfrm>
          <a:prstGeom prst="rect">
            <a:avLst/>
          </a:prstGeom>
        </p:spPr>
      </p:pic>
    </p:spTree>
    <p:extLst>
      <p:ext uri="{BB962C8B-B14F-4D97-AF65-F5344CB8AC3E}">
        <p14:creationId xmlns:p14="http://schemas.microsoft.com/office/powerpoint/2010/main" val="630970949"/>
      </p:ext>
    </p:extLst>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21"/>
          <p:cNvSpPr/>
          <p:nvPr/>
        </p:nvSpPr>
        <p:spPr>
          <a:xfrm>
            <a:off x="447040" y="2172462"/>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24" name="Text 22"/>
          <p:cNvSpPr/>
          <p:nvPr/>
        </p:nvSpPr>
        <p:spPr>
          <a:xfrm>
            <a:off x="447040" y="2172462"/>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25" name="Text 23"/>
          <p:cNvSpPr/>
          <p:nvPr/>
        </p:nvSpPr>
        <p:spPr>
          <a:xfrm>
            <a:off x="995680" y="2172462"/>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小孔越小越清楚，那為什麼大家不把孔做得無限小？</a:t>
            </a:r>
            <a:endParaRPr lang="en-US" sz="1000" dirty="0"/>
          </a:p>
        </p:txBody>
      </p:sp>
      <p:sp>
        <p:nvSpPr>
          <p:cNvPr id="26" name="Shape 24"/>
          <p:cNvSpPr/>
          <p:nvPr/>
        </p:nvSpPr>
        <p:spPr>
          <a:xfrm>
            <a:off x="447040" y="2483358"/>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27" name="Text 25"/>
          <p:cNvSpPr/>
          <p:nvPr/>
        </p:nvSpPr>
        <p:spPr>
          <a:xfrm>
            <a:off x="447040" y="2483358"/>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28" name="Text 26"/>
          <p:cNvSpPr/>
          <p:nvPr/>
        </p:nvSpPr>
        <p:spPr>
          <a:xfrm>
            <a:off x="995680" y="2483358"/>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成像的第一個 trade-off：清楚與亮度，不可能免費同時拿到。</a:t>
            </a:r>
            <a:endParaRPr lang="en-US" sz="1000" dirty="0"/>
          </a:p>
        </p:txBody>
      </p:sp>
    </p:spTree>
    <p:extLst>
      <p:ext uri="{BB962C8B-B14F-4D97-AF65-F5344CB8AC3E}">
        <p14:creationId xmlns:p14="http://schemas.microsoft.com/office/powerpoint/2010/main" val="902840146"/>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Ch2 ｜ 第二章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沒有鏡頭也能成像：Pinhole Camera 的直觀</a:t>
            </a:r>
            <a:endParaRPr lang="en-US" sz="2200" dirty="0"/>
          </a:p>
        </p:txBody>
      </p:sp>
      <p:sp>
        <p:nvSpPr>
          <p:cNvPr id="7" name="Shape 5"/>
          <p:cNvSpPr/>
          <p:nvPr/>
        </p:nvSpPr>
        <p:spPr>
          <a:xfrm>
            <a:off x="320040" y="914400"/>
            <a:ext cx="2697480" cy="2331720"/>
          </a:xfrm>
          <a:prstGeom prst="rect">
            <a:avLst/>
          </a:prstGeom>
          <a:solidFill>
            <a:srgbClr val="F2E0E0"/>
          </a:solidFill>
          <a:ln w="19050">
            <a:solidFill>
              <a:srgbClr val="CC6666"/>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Text 6"/>
          <p:cNvSpPr/>
          <p:nvPr/>
        </p:nvSpPr>
        <p:spPr>
          <a:xfrm>
            <a:off x="411480" y="987552"/>
            <a:ext cx="2514600" cy="384048"/>
          </a:xfrm>
          <a:prstGeom prst="rect">
            <a:avLst/>
          </a:prstGeom>
          <a:noFill/>
          <a:ln/>
        </p:spPr>
        <p:txBody>
          <a:bodyPr wrap="square" rtlCol="0" anchor="ctr"/>
          <a:lstStyle/>
          <a:p>
            <a:pPr marL="0" indent="0" algn="ctr">
              <a:buNone/>
            </a:pPr>
            <a:r>
              <a:rPr lang="en-US" sz="1400" b="1" dirty="0">
                <a:solidFill>
                  <a:srgbClr val="CC6666"/>
                </a:solidFill>
                <a:latin typeface="Calibri" pitchFamily="34" charset="0"/>
                <a:ea typeface="Calibri" pitchFamily="34" charset="-122"/>
                <a:cs typeface="Calibri" pitchFamily="34" charset="-120"/>
              </a:rPr>
              <a:t>無遮擋</a:t>
            </a:r>
            <a:endParaRPr lang="en-US" sz="1400" dirty="0"/>
          </a:p>
        </p:txBody>
      </p:sp>
      <p:sp>
        <p:nvSpPr>
          <p:cNvPr id="9" name="Shape 7"/>
          <p:cNvSpPr/>
          <p:nvPr/>
        </p:nvSpPr>
        <p:spPr>
          <a:xfrm>
            <a:off x="1143000" y="1463040"/>
            <a:ext cx="1051560" cy="822960"/>
          </a:xfrm>
          <a:prstGeom prst="ellipse">
            <a:avLst/>
          </a:prstGeom>
          <a:solidFill>
            <a:srgbClr val="CC6666">
              <a:alpha val="40000"/>
            </a:srgbClr>
          </a:solidFill>
          <a:ln w="12700">
            <a:solidFill>
              <a:srgbClr val="CC6666"/>
            </a:solidFill>
            <a:prstDash val="solid"/>
          </a:ln>
        </p:spPr>
        <p:txBody>
          <a:bodyPr/>
          <a:lstStyle/>
          <a:p>
            <a:endParaRPr lang="zh-TW" altLang="en-US"/>
          </a:p>
        </p:txBody>
      </p:sp>
      <p:sp>
        <p:nvSpPr>
          <p:cNvPr id="10" name="Text 8"/>
          <p:cNvSpPr/>
          <p:nvPr/>
        </p:nvSpPr>
        <p:spPr>
          <a:xfrm>
            <a:off x="411480" y="2377440"/>
            <a:ext cx="2514600" cy="77724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所有光線直接投射</a:t>
            </a:r>
            <a:endParaRPr lang="en-US" sz="1100" dirty="0"/>
          </a:p>
          <a:p>
            <a:pPr marL="0" indent="0" algn="ctr">
              <a:buNone/>
            </a:pPr>
            <a:r>
              <a:rPr lang="en-US" sz="1100" dirty="0">
                <a:solidFill>
                  <a:srgbClr val="1A1A1A"/>
                </a:solidFill>
                <a:latin typeface="Calibri" pitchFamily="34" charset="0"/>
                <a:ea typeface="Calibri" pitchFamily="34" charset="-122"/>
                <a:cs typeface="Calibri" pitchFamily="34" charset="-120"/>
              </a:rPr>
              <a:t>影像模糊不清</a:t>
            </a:r>
            <a:endParaRPr lang="en-US" sz="1100" dirty="0"/>
          </a:p>
        </p:txBody>
      </p:sp>
      <p:sp>
        <p:nvSpPr>
          <p:cNvPr id="11" name="Shape 9"/>
          <p:cNvSpPr/>
          <p:nvPr/>
        </p:nvSpPr>
        <p:spPr>
          <a:xfrm>
            <a:off x="3172968" y="914400"/>
            <a:ext cx="2697480" cy="2331720"/>
          </a:xfrm>
          <a:prstGeom prst="rect">
            <a:avLst/>
          </a:prstGeom>
          <a:solidFill>
            <a:srgbClr val="E8F0E8"/>
          </a:solidFill>
          <a:ln w="19050">
            <a:solidFill>
              <a:srgbClr val="7CB97C"/>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2" name="Text 10"/>
          <p:cNvSpPr/>
          <p:nvPr/>
        </p:nvSpPr>
        <p:spPr>
          <a:xfrm>
            <a:off x="3264408" y="987552"/>
            <a:ext cx="2514600" cy="384048"/>
          </a:xfrm>
          <a:prstGeom prst="rect">
            <a:avLst/>
          </a:prstGeom>
          <a:noFill/>
          <a:ln/>
        </p:spPr>
        <p:txBody>
          <a:bodyPr wrap="square" rtlCol="0" anchor="ctr"/>
          <a:lstStyle/>
          <a:p>
            <a:pPr marL="0" indent="0" algn="ctr">
              <a:buNone/>
            </a:pPr>
            <a:r>
              <a:rPr lang="en-US" sz="1400" b="1" dirty="0">
                <a:solidFill>
                  <a:srgbClr val="7CB97C"/>
                </a:solidFill>
                <a:latin typeface="Calibri" pitchFamily="34" charset="0"/>
                <a:ea typeface="Calibri" pitchFamily="34" charset="-122"/>
                <a:cs typeface="Calibri" pitchFamily="34" charset="-120"/>
              </a:rPr>
              <a:t>小孔遮擋</a:t>
            </a:r>
            <a:endParaRPr lang="en-US" sz="1400" dirty="0"/>
          </a:p>
        </p:txBody>
      </p:sp>
      <p:sp>
        <p:nvSpPr>
          <p:cNvPr id="13" name="Shape 11"/>
          <p:cNvSpPr/>
          <p:nvPr/>
        </p:nvSpPr>
        <p:spPr>
          <a:xfrm>
            <a:off x="3995928" y="1463040"/>
            <a:ext cx="1051560" cy="822960"/>
          </a:xfrm>
          <a:prstGeom prst="ellipse">
            <a:avLst/>
          </a:prstGeom>
          <a:solidFill>
            <a:srgbClr val="7CB97C">
              <a:alpha val="40000"/>
            </a:srgbClr>
          </a:solidFill>
          <a:ln w="12700">
            <a:solidFill>
              <a:srgbClr val="7CB97C"/>
            </a:solidFill>
            <a:prstDash val="solid"/>
          </a:ln>
        </p:spPr>
        <p:txBody>
          <a:bodyPr/>
          <a:lstStyle/>
          <a:p>
            <a:endParaRPr lang="zh-TW" altLang="en-US"/>
          </a:p>
        </p:txBody>
      </p:sp>
      <p:sp>
        <p:nvSpPr>
          <p:cNvPr id="14" name="Text 12"/>
          <p:cNvSpPr/>
          <p:nvPr/>
        </p:nvSpPr>
        <p:spPr>
          <a:xfrm>
            <a:off x="3264408" y="2377440"/>
            <a:ext cx="2514600" cy="77724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barrier 阻擋大部分光線</a:t>
            </a:r>
            <a:endParaRPr lang="en-US" sz="1100" dirty="0"/>
          </a:p>
          <a:p>
            <a:pPr marL="0" indent="0" algn="ctr">
              <a:buNone/>
            </a:pPr>
            <a:r>
              <a:rPr lang="en-US" sz="1100" dirty="0">
                <a:solidFill>
                  <a:srgbClr val="1A1A1A"/>
                </a:solidFill>
                <a:latin typeface="Calibri" pitchFamily="34" charset="0"/>
                <a:ea typeface="Calibri" pitchFamily="34" charset="-122"/>
                <a:cs typeface="Calibri" pitchFamily="34" charset="-120"/>
              </a:rPr>
              <a:t>僅允許特定光路</a:t>
            </a:r>
            <a:endParaRPr lang="en-US" sz="1100" dirty="0"/>
          </a:p>
        </p:txBody>
      </p:sp>
      <p:sp>
        <p:nvSpPr>
          <p:cNvPr id="15" name="Shape 13"/>
          <p:cNvSpPr/>
          <p:nvPr/>
        </p:nvSpPr>
        <p:spPr>
          <a:xfrm>
            <a:off x="6025896" y="914400"/>
            <a:ext cx="2697480" cy="2331720"/>
          </a:xfrm>
          <a:prstGeom prst="rect">
            <a:avLst/>
          </a:prstGeom>
          <a:solidFill>
            <a:srgbClr val="E8EEF8"/>
          </a:solidFill>
          <a:ln w="1905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6" name="Text 14"/>
          <p:cNvSpPr/>
          <p:nvPr/>
        </p:nvSpPr>
        <p:spPr>
          <a:xfrm>
            <a:off x="6117336" y="987552"/>
            <a:ext cx="2514600" cy="384048"/>
          </a:xfrm>
          <a:prstGeom prst="rect">
            <a:avLst/>
          </a:prstGeom>
          <a:noFill/>
          <a:ln/>
        </p:spPr>
        <p:txBody>
          <a:bodyPr wrap="square" rtlCol="0" anchor="ctr"/>
          <a:lstStyle/>
          <a:p>
            <a:pPr marL="0" indent="0" algn="ctr">
              <a:buNone/>
            </a:pPr>
            <a:r>
              <a:rPr lang="en-US" sz="1400" b="1" dirty="0">
                <a:solidFill>
                  <a:srgbClr val="5B9BD5"/>
                </a:solidFill>
                <a:latin typeface="Calibri" pitchFamily="34" charset="0"/>
                <a:ea typeface="Calibri" pitchFamily="34" charset="-122"/>
                <a:cs typeface="Calibri" pitchFamily="34" charset="-120"/>
              </a:rPr>
              <a:t>倒立成像</a:t>
            </a:r>
            <a:endParaRPr lang="en-US" sz="1400" dirty="0"/>
          </a:p>
        </p:txBody>
      </p:sp>
      <p:sp>
        <p:nvSpPr>
          <p:cNvPr id="17" name="Shape 15"/>
          <p:cNvSpPr/>
          <p:nvPr/>
        </p:nvSpPr>
        <p:spPr>
          <a:xfrm>
            <a:off x="6848856" y="1463040"/>
            <a:ext cx="1051560" cy="822960"/>
          </a:xfrm>
          <a:prstGeom prst="ellipse">
            <a:avLst/>
          </a:prstGeom>
          <a:solidFill>
            <a:srgbClr val="5B9BD5">
              <a:alpha val="40000"/>
            </a:srgbClr>
          </a:solidFill>
          <a:ln w="12700">
            <a:solidFill>
              <a:srgbClr val="5B9BD5"/>
            </a:solidFill>
            <a:prstDash val="solid"/>
          </a:ln>
        </p:spPr>
        <p:txBody>
          <a:bodyPr/>
          <a:lstStyle/>
          <a:p>
            <a:endParaRPr lang="zh-TW" altLang="en-US"/>
          </a:p>
        </p:txBody>
      </p:sp>
      <p:sp>
        <p:nvSpPr>
          <p:cNvPr id="18" name="Text 16"/>
          <p:cNvSpPr/>
          <p:nvPr/>
        </p:nvSpPr>
        <p:spPr>
          <a:xfrm>
            <a:off x="6117336" y="2377440"/>
            <a:ext cx="2514600" cy="777240"/>
          </a:xfrm>
          <a:prstGeom prst="rect">
            <a:avLst/>
          </a:prstGeom>
          <a:noFill/>
          <a:ln/>
        </p:spPr>
        <p:txBody>
          <a:bodyPr wrap="square" rtlCol="0" anchor="ctr"/>
          <a:lstStyle/>
          <a:p>
            <a:pPr marL="0" indent="0" algn="ctr">
              <a:buNone/>
            </a:pPr>
            <a:r>
              <a:rPr lang="en-US" sz="1100" dirty="0">
                <a:solidFill>
                  <a:srgbClr val="1A1A1A"/>
                </a:solidFill>
                <a:latin typeface="Calibri" pitchFamily="34" charset="0"/>
                <a:ea typeface="Calibri" pitchFamily="34" charset="-122"/>
                <a:cs typeface="Calibri" pitchFamily="34" charset="-120"/>
              </a:rPr>
              <a:t>小孔另一側形成清晰</a:t>
            </a:r>
            <a:endParaRPr lang="en-US" sz="1100" dirty="0"/>
          </a:p>
          <a:p>
            <a:pPr marL="0" indent="0" algn="ctr">
              <a:buNone/>
            </a:pPr>
            <a:r>
              <a:rPr lang="en-US" sz="1100" dirty="0">
                <a:solidFill>
                  <a:srgbClr val="1A1A1A"/>
                </a:solidFill>
                <a:latin typeface="Calibri" pitchFamily="34" charset="0"/>
                <a:ea typeface="Calibri" pitchFamily="34" charset="-122"/>
                <a:cs typeface="Calibri" pitchFamily="34" charset="-120"/>
              </a:rPr>
              <a:t>倒立影像（幾何光學）</a:t>
            </a:r>
            <a:endParaRPr lang="en-US" sz="1100" dirty="0"/>
          </a:p>
        </p:txBody>
      </p:sp>
      <p:sp>
        <p:nvSpPr>
          <p:cNvPr id="19" name="Shape 17"/>
          <p:cNvSpPr/>
          <p:nvPr/>
        </p:nvSpPr>
        <p:spPr>
          <a:xfrm>
            <a:off x="3017520" y="2029968"/>
            <a:ext cx="155448" cy="109728"/>
          </a:xfrm>
          <a:prstGeom prst="rect">
            <a:avLst/>
          </a:prstGeom>
          <a:solidFill>
            <a:srgbClr val="C45C00"/>
          </a:solidFill>
          <a:ln w="12700">
            <a:solidFill>
              <a:srgbClr val="C45C00"/>
            </a:solidFill>
            <a:prstDash val="solid"/>
          </a:ln>
        </p:spPr>
        <p:txBody>
          <a:bodyPr/>
          <a:lstStyle/>
          <a:p>
            <a:endParaRPr lang="zh-TW" altLang="en-US"/>
          </a:p>
        </p:txBody>
      </p:sp>
      <p:sp>
        <p:nvSpPr>
          <p:cNvPr id="20" name="Shape 18"/>
          <p:cNvSpPr/>
          <p:nvPr/>
        </p:nvSpPr>
        <p:spPr>
          <a:xfrm>
            <a:off x="5870448" y="2029968"/>
            <a:ext cx="155448" cy="109728"/>
          </a:xfrm>
          <a:prstGeom prst="rect">
            <a:avLst/>
          </a:prstGeom>
          <a:solidFill>
            <a:srgbClr val="C45C00"/>
          </a:solidFill>
          <a:ln w="12700">
            <a:solidFill>
              <a:srgbClr val="C45C00"/>
            </a:solidFill>
            <a:prstDash val="solid"/>
          </a:ln>
        </p:spPr>
        <p:txBody>
          <a:bodyPr/>
          <a:lstStyle/>
          <a:p>
            <a:endParaRPr lang="zh-TW" altLang="en-US"/>
          </a:p>
        </p:txBody>
      </p:sp>
      <p:sp>
        <p:nvSpPr>
          <p:cNvPr id="21" name="Shape 19"/>
          <p:cNvSpPr/>
          <p:nvPr/>
        </p:nvSpPr>
        <p:spPr>
          <a:xfrm>
            <a:off x="320040" y="3364992"/>
            <a:ext cx="8503920" cy="475488"/>
          </a:xfrm>
          <a:prstGeom prst="rect">
            <a:avLst/>
          </a:prstGeom>
          <a:solidFill>
            <a:srgbClr val="F0E6D8"/>
          </a:solidFill>
          <a:ln w="12700">
            <a:solidFill>
              <a:srgbClr val="E0C8A0"/>
            </a:solidFill>
            <a:prstDash val="solid"/>
          </a:ln>
        </p:spPr>
        <p:txBody>
          <a:bodyPr/>
          <a:lstStyle/>
          <a:p>
            <a:endParaRPr lang="zh-TW" altLang="en-US"/>
          </a:p>
        </p:txBody>
      </p:sp>
      <p:sp>
        <p:nvSpPr>
          <p:cNvPr id="22" name="Text 20"/>
          <p:cNvSpPr/>
          <p:nvPr/>
        </p:nvSpPr>
        <p:spPr>
          <a:xfrm>
            <a:off x="457200" y="3364992"/>
            <a:ext cx="8321040" cy="47548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成像的第一個 Trade-off：aperture 越小越清晰，但進光量也越少 — 清楚與亮度不能免費同時兼得</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4018A44-A954-EAED-C002-EA874BB849D2}"/>
              </a:ext>
            </a:extLst>
          </p:cNvPr>
          <p:cNvPicPr>
            <a:picLocks noChangeAspect="1"/>
          </p:cNvPicPr>
          <p:nvPr/>
        </p:nvPicPr>
        <p:blipFill>
          <a:blip r:embed="rId2"/>
          <a:stretch>
            <a:fillRect/>
          </a:stretch>
        </p:blipFill>
        <p:spPr>
          <a:xfrm>
            <a:off x="914595" y="250984"/>
            <a:ext cx="6978455" cy="4416265"/>
          </a:xfrm>
          <a:prstGeom prst="rect">
            <a:avLst/>
          </a:prstGeom>
        </p:spPr>
      </p:pic>
    </p:spTree>
    <p:extLst>
      <p:ext uri="{BB962C8B-B14F-4D97-AF65-F5344CB8AC3E}">
        <p14:creationId xmlns:p14="http://schemas.microsoft.com/office/powerpoint/2010/main" val="551310560"/>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515BB-E5DA-355A-4F6B-111CB27556D8}"/>
            </a:ext>
          </a:extLst>
        </p:cNvPr>
        <p:cNvGrpSpPr/>
        <p:nvPr/>
      </p:nvGrpSpPr>
      <p:grpSpPr>
        <a:xfrm>
          <a:off x="0" y="0"/>
          <a:ext cx="0" cy="0"/>
          <a:chOff x="0" y="0"/>
          <a:chExt cx="0" cy="0"/>
        </a:xfrm>
      </p:grpSpPr>
      <p:pic>
        <p:nvPicPr>
          <p:cNvPr id="3" name="圖片 2">
            <a:extLst>
              <a:ext uri="{FF2B5EF4-FFF2-40B4-BE49-F238E27FC236}">
                <a16:creationId xmlns:a16="http://schemas.microsoft.com/office/drawing/2014/main" id="{69BA483B-A40B-717E-19B9-5A2994AA403D}"/>
              </a:ext>
            </a:extLst>
          </p:cNvPr>
          <p:cNvPicPr>
            <a:picLocks noChangeAspect="1"/>
          </p:cNvPicPr>
          <p:nvPr/>
        </p:nvPicPr>
        <p:blipFill>
          <a:blip r:embed="rId2"/>
          <a:stretch>
            <a:fillRect/>
          </a:stretch>
        </p:blipFill>
        <p:spPr>
          <a:xfrm>
            <a:off x="1037640" y="0"/>
            <a:ext cx="7068720" cy="5143500"/>
          </a:xfrm>
          <a:prstGeom prst="rect">
            <a:avLst/>
          </a:prstGeom>
        </p:spPr>
      </p:pic>
    </p:spTree>
    <p:extLst>
      <p:ext uri="{BB962C8B-B14F-4D97-AF65-F5344CB8AC3E}">
        <p14:creationId xmlns:p14="http://schemas.microsoft.com/office/powerpoint/2010/main" val="1480381184"/>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8DF8-C97A-57D5-3E34-718D6900F02F}"/>
            </a:ext>
          </a:extLst>
        </p:cNvPr>
        <p:cNvGrpSpPr/>
        <p:nvPr/>
      </p:nvGrpSpPr>
      <p:grpSpPr>
        <a:xfrm>
          <a:off x="0" y="0"/>
          <a:ext cx="0" cy="0"/>
          <a:chOff x="0" y="0"/>
          <a:chExt cx="0" cy="0"/>
        </a:xfrm>
      </p:grpSpPr>
      <p:pic>
        <p:nvPicPr>
          <p:cNvPr id="3" name="圖片 2">
            <a:extLst>
              <a:ext uri="{FF2B5EF4-FFF2-40B4-BE49-F238E27FC236}">
                <a16:creationId xmlns:a16="http://schemas.microsoft.com/office/drawing/2014/main" id="{B73719F6-21A3-7CE5-97EE-3A8477BF1F0B}"/>
              </a:ext>
            </a:extLst>
          </p:cNvPr>
          <p:cNvPicPr>
            <a:picLocks noChangeAspect="1"/>
          </p:cNvPicPr>
          <p:nvPr/>
        </p:nvPicPr>
        <p:blipFill>
          <a:blip r:embed="rId2"/>
          <a:stretch>
            <a:fillRect/>
          </a:stretch>
        </p:blipFill>
        <p:spPr>
          <a:xfrm>
            <a:off x="730052" y="380887"/>
            <a:ext cx="7683895" cy="4381725"/>
          </a:xfrm>
          <a:prstGeom prst="rect">
            <a:avLst/>
          </a:prstGeom>
        </p:spPr>
      </p:pic>
    </p:spTree>
    <p:extLst>
      <p:ext uri="{BB962C8B-B14F-4D97-AF65-F5344CB8AC3E}">
        <p14:creationId xmlns:p14="http://schemas.microsoft.com/office/powerpoint/2010/main" val="3555666679"/>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3E33E71B-D98B-8378-9D3A-CCE600A2B2E3}"/>
              </a:ext>
            </a:extLst>
          </p:cNvPr>
          <p:cNvPicPr>
            <a:picLocks noChangeAspect="1"/>
          </p:cNvPicPr>
          <p:nvPr/>
        </p:nvPicPr>
        <p:blipFill>
          <a:blip r:embed="rId2"/>
          <a:stretch>
            <a:fillRect/>
          </a:stretch>
        </p:blipFill>
        <p:spPr>
          <a:xfrm>
            <a:off x="349033" y="37970"/>
            <a:ext cx="8445934" cy="5067560"/>
          </a:xfrm>
          <a:prstGeom prst="rect">
            <a:avLst/>
          </a:prstGeom>
        </p:spPr>
      </p:pic>
    </p:spTree>
    <p:extLst>
      <p:ext uri="{BB962C8B-B14F-4D97-AF65-F5344CB8AC3E}">
        <p14:creationId xmlns:p14="http://schemas.microsoft.com/office/powerpoint/2010/main" val="2628632710"/>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name="Slide 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Ch2 ｜ 第二章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Aperture 與 Lens：亮度、清晰與景深的交換</a:t>
            </a:r>
            <a:endParaRPr lang="en-US" sz="2200" dirty="0"/>
          </a:p>
        </p:txBody>
      </p:sp>
      <p:sp>
        <p:nvSpPr>
          <p:cNvPr id="7" name="Shape 5"/>
          <p:cNvSpPr/>
          <p:nvPr/>
        </p:nvSpPr>
        <p:spPr>
          <a:xfrm>
            <a:off x="320040" y="914400"/>
            <a:ext cx="4389120" cy="71323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Shape 6"/>
          <p:cNvSpPr/>
          <p:nvPr/>
        </p:nvSpPr>
        <p:spPr>
          <a:xfrm>
            <a:off x="320040" y="914400"/>
            <a:ext cx="109728" cy="713232"/>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30352" y="969264"/>
            <a:ext cx="4114800" cy="25603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Aperture</a:t>
            </a:r>
            <a:endParaRPr lang="en-US" sz="1300" dirty="0"/>
          </a:p>
        </p:txBody>
      </p:sp>
      <p:sp>
        <p:nvSpPr>
          <p:cNvPr id="10" name="Text 8"/>
          <p:cNvSpPr/>
          <p:nvPr/>
        </p:nvSpPr>
        <p:spPr>
          <a:xfrm>
            <a:off x="530352" y="126187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控制進光量；大孔=亮但景深淺</a:t>
            </a:r>
            <a:endParaRPr lang="en-US" sz="1100" dirty="0"/>
          </a:p>
        </p:txBody>
      </p:sp>
      <p:sp>
        <p:nvSpPr>
          <p:cNvPr id="11" name="Shape 9"/>
          <p:cNvSpPr/>
          <p:nvPr/>
        </p:nvSpPr>
        <p:spPr>
          <a:xfrm>
            <a:off x="320040" y="1755648"/>
            <a:ext cx="4389120" cy="71323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2" name="Shape 10"/>
          <p:cNvSpPr/>
          <p:nvPr/>
        </p:nvSpPr>
        <p:spPr>
          <a:xfrm>
            <a:off x="320040" y="1755648"/>
            <a:ext cx="109728" cy="713232"/>
          </a:xfrm>
          <a:prstGeom prst="rect">
            <a:avLst/>
          </a:prstGeom>
          <a:solidFill>
            <a:srgbClr val="C45C00"/>
          </a:solidFill>
          <a:ln w="12700">
            <a:solidFill>
              <a:srgbClr val="C45C00"/>
            </a:solidFill>
            <a:prstDash val="solid"/>
          </a:ln>
        </p:spPr>
        <p:txBody>
          <a:bodyPr/>
          <a:lstStyle/>
          <a:p>
            <a:endParaRPr lang="zh-TW" altLang="en-US"/>
          </a:p>
        </p:txBody>
      </p:sp>
      <p:sp>
        <p:nvSpPr>
          <p:cNvPr id="13" name="Text 11"/>
          <p:cNvSpPr/>
          <p:nvPr/>
        </p:nvSpPr>
        <p:spPr>
          <a:xfrm>
            <a:off x="530352" y="1810512"/>
            <a:ext cx="4114800" cy="25603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Lens 焦距</a:t>
            </a:r>
            <a:endParaRPr lang="en-US" sz="1300" dirty="0"/>
          </a:p>
        </p:txBody>
      </p:sp>
      <p:sp>
        <p:nvSpPr>
          <p:cNvPr id="14" name="Text 12"/>
          <p:cNvSpPr/>
          <p:nvPr/>
        </p:nvSpPr>
        <p:spPr>
          <a:xfrm>
            <a:off x="530352" y="210312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特定距離物體在 sensor 上清晰成像</a:t>
            </a:r>
            <a:endParaRPr lang="en-US" sz="1100" dirty="0"/>
          </a:p>
        </p:txBody>
      </p:sp>
      <p:sp>
        <p:nvSpPr>
          <p:cNvPr id="15" name="Shape 13"/>
          <p:cNvSpPr/>
          <p:nvPr/>
        </p:nvSpPr>
        <p:spPr>
          <a:xfrm>
            <a:off x="320040" y="2596896"/>
            <a:ext cx="4389120" cy="71323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6" name="Shape 14"/>
          <p:cNvSpPr/>
          <p:nvPr/>
        </p:nvSpPr>
        <p:spPr>
          <a:xfrm>
            <a:off x="320040" y="2596896"/>
            <a:ext cx="109728" cy="713232"/>
          </a:xfrm>
          <a:prstGeom prst="rect">
            <a:avLst/>
          </a:prstGeom>
          <a:solidFill>
            <a:srgbClr val="C45C00"/>
          </a:solidFill>
          <a:ln w="12700">
            <a:solidFill>
              <a:srgbClr val="C45C00"/>
            </a:solidFill>
            <a:prstDash val="solid"/>
          </a:ln>
        </p:spPr>
        <p:txBody>
          <a:bodyPr/>
          <a:lstStyle/>
          <a:p>
            <a:endParaRPr lang="zh-TW" altLang="en-US"/>
          </a:p>
        </p:txBody>
      </p:sp>
      <p:sp>
        <p:nvSpPr>
          <p:cNvPr id="17" name="Text 15"/>
          <p:cNvSpPr/>
          <p:nvPr/>
        </p:nvSpPr>
        <p:spPr>
          <a:xfrm>
            <a:off x="530352" y="2651760"/>
            <a:ext cx="4114800" cy="25603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Circle of Confusion</a:t>
            </a:r>
            <a:endParaRPr lang="en-US" sz="1300" dirty="0"/>
          </a:p>
        </p:txBody>
      </p:sp>
      <p:sp>
        <p:nvSpPr>
          <p:cNvPr id="18" name="Text 16"/>
          <p:cNvSpPr/>
          <p:nvPr/>
        </p:nvSpPr>
        <p:spPr>
          <a:xfrm>
            <a:off x="530352" y="294436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失焦造成光點擴散，出現模糊</a:t>
            </a:r>
            <a:endParaRPr lang="en-US" sz="1100" dirty="0"/>
          </a:p>
        </p:txBody>
      </p:sp>
      <p:sp>
        <p:nvSpPr>
          <p:cNvPr id="19" name="Shape 17"/>
          <p:cNvSpPr/>
          <p:nvPr/>
        </p:nvSpPr>
        <p:spPr>
          <a:xfrm>
            <a:off x="320040" y="3438144"/>
            <a:ext cx="4389120" cy="713232"/>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0" name="Shape 18"/>
          <p:cNvSpPr/>
          <p:nvPr/>
        </p:nvSpPr>
        <p:spPr>
          <a:xfrm>
            <a:off x="320040" y="3438144"/>
            <a:ext cx="109728" cy="713232"/>
          </a:xfrm>
          <a:prstGeom prst="rect">
            <a:avLst/>
          </a:prstGeom>
          <a:solidFill>
            <a:srgbClr val="C45C00"/>
          </a:solidFill>
          <a:ln w="12700">
            <a:solidFill>
              <a:srgbClr val="C45C00"/>
            </a:solidFill>
            <a:prstDash val="solid"/>
          </a:ln>
        </p:spPr>
        <p:txBody>
          <a:bodyPr/>
          <a:lstStyle/>
          <a:p>
            <a:endParaRPr lang="zh-TW" altLang="en-US"/>
          </a:p>
        </p:txBody>
      </p:sp>
      <p:sp>
        <p:nvSpPr>
          <p:cNvPr id="21" name="Text 19"/>
          <p:cNvSpPr/>
          <p:nvPr/>
        </p:nvSpPr>
        <p:spPr>
          <a:xfrm>
            <a:off x="530352" y="3493008"/>
            <a:ext cx="4114800" cy="256032"/>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Depth of Field</a:t>
            </a:r>
            <a:endParaRPr lang="en-US" sz="1300" dirty="0"/>
          </a:p>
        </p:txBody>
      </p:sp>
      <p:sp>
        <p:nvSpPr>
          <p:cNvPr id="22" name="Text 20"/>
          <p:cNvSpPr/>
          <p:nvPr/>
        </p:nvSpPr>
        <p:spPr>
          <a:xfrm>
            <a:off x="530352" y="378561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光圈大 → 景深淺；光圈小 → 景深深</a:t>
            </a:r>
            <a:endParaRPr lang="en-US" sz="1100" dirty="0"/>
          </a:p>
        </p:txBody>
      </p:sp>
      <p:sp>
        <p:nvSpPr>
          <p:cNvPr id="23" name="Shape 21"/>
          <p:cNvSpPr/>
          <p:nvPr/>
        </p:nvSpPr>
        <p:spPr>
          <a:xfrm>
            <a:off x="5074920" y="914400"/>
            <a:ext cx="3749040" cy="3337560"/>
          </a:xfrm>
          <a:prstGeom prst="rect">
            <a:avLst/>
          </a:prstGeom>
          <a:solidFill>
            <a:srgbClr val="F3EFE7"/>
          </a:solidFill>
          <a:ln w="12700">
            <a:solidFill>
              <a:srgbClr val="E8E0D0"/>
            </a:solidFill>
            <a:prstDash val="solid"/>
          </a:ln>
        </p:spPr>
        <p:txBody>
          <a:bodyPr/>
          <a:lstStyle/>
          <a:p>
            <a:endParaRPr lang="zh-TW" altLang="en-US"/>
          </a:p>
        </p:txBody>
      </p:sp>
      <p:sp>
        <p:nvSpPr>
          <p:cNvPr id="24" name="Text 22"/>
          <p:cNvSpPr/>
          <p:nvPr/>
        </p:nvSpPr>
        <p:spPr>
          <a:xfrm>
            <a:off x="5166360" y="987552"/>
            <a:ext cx="3566160" cy="347472"/>
          </a:xfrm>
          <a:prstGeom prst="rect">
            <a:avLst/>
          </a:prstGeom>
          <a:noFill/>
          <a:ln/>
        </p:spPr>
        <p:txBody>
          <a:bodyPr wrap="square" rtlCol="0" anchor="ctr"/>
          <a:lstStyle/>
          <a:p>
            <a:pPr marL="0" indent="0" algn="ctr">
              <a:buNone/>
            </a:pPr>
            <a:r>
              <a:rPr lang="en-US" sz="1300" b="1" dirty="0">
                <a:solidFill>
                  <a:srgbClr val="C45C00"/>
                </a:solidFill>
                <a:latin typeface="Calibri" pitchFamily="34" charset="0"/>
                <a:ea typeface="Calibri" pitchFamily="34" charset="-122"/>
                <a:cs typeface="Calibri" pitchFamily="34" charset="-120"/>
              </a:rPr>
              <a:t>光圈大小比較</a:t>
            </a:r>
            <a:endParaRPr lang="en-US" sz="1300" dirty="0"/>
          </a:p>
        </p:txBody>
      </p:sp>
      <p:sp>
        <p:nvSpPr>
          <p:cNvPr id="25" name="Shape 23"/>
          <p:cNvSpPr/>
          <p:nvPr/>
        </p:nvSpPr>
        <p:spPr>
          <a:xfrm>
            <a:off x="5577840" y="1051560"/>
            <a:ext cx="914400" cy="914400"/>
          </a:xfrm>
          <a:prstGeom prst="ellipse">
            <a:avLst/>
          </a:prstGeom>
          <a:solidFill>
            <a:srgbClr val="1E3A5F"/>
          </a:solidFill>
          <a:ln w="12700">
            <a:solidFill>
              <a:srgbClr val="C45C00"/>
            </a:solidFill>
            <a:prstDash val="solid"/>
          </a:ln>
        </p:spPr>
        <p:txBody>
          <a:bodyPr/>
          <a:lstStyle/>
          <a:p>
            <a:endParaRPr lang="zh-TW" altLang="en-US"/>
          </a:p>
        </p:txBody>
      </p:sp>
      <p:sp>
        <p:nvSpPr>
          <p:cNvPr id="26" name="Text 24"/>
          <p:cNvSpPr/>
          <p:nvPr/>
        </p:nvSpPr>
        <p:spPr>
          <a:xfrm>
            <a:off x="6675120" y="1307592"/>
            <a:ext cx="1737360" cy="256032"/>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f/1.8</a:t>
            </a:r>
            <a:endParaRPr lang="en-US" sz="1200" dirty="0"/>
          </a:p>
        </p:txBody>
      </p:sp>
      <p:sp>
        <p:nvSpPr>
          <p:cNvPr id="27" name="Text 25"/>
          <p:cNvSpPr/>
          <p:nvPr/>
        </p:nvSpPr>
        <p:spPr>
          <a:xfrm>
            <a:off x="6675120" y="1563624"/>
            <a:ext cx="2011680" cy="256032"/>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大光圈 — 景深淺，背景模糊</a:t>
            </a:r>
            <a:endParaRPr lang="en-US" sz="1000" dirty="0"/>
          </a:p>
        </p:txBody>
      </p:sp>
      <p:sp>
        <p:nvSpPr>
          <p:cNvPr id="28" name="Shape 26"/>
          <p:cNvSpPr/>
          <p:nvPr/>
        </p:nvSpPr>
        <p:spPr>
          <a:xfrm>
            <a:off x="5783580" y="2171700"/>
            <a:ext cx="502920" cy="502920"/>
          </a:xfrm>
          <a:prstGeom prst="ellipse">
            <a:avLst/>
          </a:prstGeom>
          <a:solidFill>
            <a:srgbClr val="1E3A5F"/>
          </a:solidFill>
          <a:ln w="12700">
            <a:solidFill>
              <a:srgbClr val="C45C00"/>
            </a:solidFill>
            <a:prstDash val="solid"/>
          </a:ln>
        </p:spPr>
        <p:txBody>
          <a:bodyPr/>
          <a:lstStyle/>
          <a:p>
            <a:endParaRPr lang="zh-TW" altLang="en-US"/>
          </a:p>
        </p:txBody>
      </p:sp>
      <p:sp>
        <p:nvSpPr>
          <p:cNvPr id="29" name="Text 27"/>
          <p:cNvSpPr/>
          <p:nvPr/>
        </p:nvSpPr>
        <p:spPr>
          <a:xfrm>
            <a:off x="6675120" y="2221992"/>
            <a:ext cx="1737360" cy="256032"/>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f/8</a:t>
            </a:r>
            <a:endParaRPr lang="en-US" sz="1200" dirty="0"/>
          </a:p>
        </p:txBody>
      </p:sp>
      <p:sp>
        <p:nvSpPr>
          <p:cNvPr id="30" name="Text 28"/>
          <p:cNvSpPr/>
          <p:nvPr/>
        </p:nvSpPr>
        <p:spPr>
          <a:xfrm>
            <a:off x="6675120" y="2478024"/>
            <a:ext cx="2011680" cy="256032"/>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中光圈</a:t>
            </a:r>
            <a:endParaRPr lang="en-US" sz="1000" dirty="0"/>
          </a:p>
        </p:txBody>
      </p:sp>
      <p:sp>
        <p:nvSpPr>
          <p:cNvPr id="31" name="Shape 29"/>
          <p:cNvSpPr/>
          <p:nvPr/>
        </p:nvSpPr>
        <p:spPr>
          <a:xfrm>
            <a:off x="5907024" y="3209544"/>
            <a:ext cx="256032" cy="256032"/>
          </a:xfrm>
          <a:prstGeom prst="ellipse">
            <a:avLst/>
          </a:prstGeom>
          <a:solidFill>
            <a:srgbClr val="1E3A5F"/>
          </a:solidFill>
          <a:ln w="12700">
            <a:solidFill>
              <a:srgbClr val="C45C00"/>
            </a:solidFill>
            <a:prstDash val="solid"/>
          </a:ln>
        </p:spPr>
        <p:txBody>
          <a:bodyPr/>
          <a:lstStyle/>
          <a:p>
            <a:endParaRPr lang="zh-TW" altLang="en-US"/>
          </a:p>
        </p:txBody>
      </p:sp>
      <p:sp>
        <p:nvSpPr>
          <p:cNvPr id="32" name="Text 30"/>
          <p:cNvSpPr/>
          <p:nvPr/>
        </p:nvSpPr>
        <p:spPr>
          <a:xfrm>
            <a:off x="6675120" y="3136392"/>
            <a:ext cx="1737360" cy="256032"/>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f/22</a:t>
            </a:r>
            <a:endParaRPr lang="en-US" sz="1200" dirty="0"/>
          </a:p>
        </p:txBody>
      </p:sp>
      <p:sp>
        <p:nvSpPr>
          <p:cNvPr id="33" name="Text 31"/>
          <p:cNvSpPr/>
          <p:nvPr/>
        </p:nvSpPr>
        <p:spPr>
          <a:xfrm>
            <a:off x="6675120" y="3392424"/>
            <a:ext cx="2011680" cy="256032"/>
          </a:xfrm>
          <a:prstGeom prst="rect">
            <a:avLst/>
          </a:prstGeom>
          <a:noFill/>
          <a:ln/>
        </p:spPr>
        <p:txBody>
          <a:bodyPr wrap="square" rtlCol="0" anchor="ctr"/>
          <a:lstStyle/>
          <a:p>
            <a:pPr marL="0" indent="0">
              <a:buNone/>
            </a:pPr>
            <a:r>
              <a:rPr lang="en-US" sz="1000" dirty="0">
                <a:solidFill>
                  <a:srgbClr val="888888"/>
                </a:solidFill>
                <a:latin typeface="Calibri" pitchFamily="34" charset="0"/>
                <a:ea typeface="Calibri" pitchFamily="34" charset="-122"/>
                <a:cs typeface="Calibri" pitchFamily="34" charset="-120"/>
              </a:rPr>
              <a:t>小光圈 — 景深深，全景清晰</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Ch2 ｜ 第二章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曝光不是攝影美學，而是 CV 輸入條件</a:t>
            </a:r>
            <a:endParaRPr lang="en-US" sz="2200" dirty="0"/>
          </a:p>
        </p:txBody>
      </p:sp>
      <p:sp>
        <p:nvSpPr>
          <p:cNvPr id="7" name="Shape 5"/>
          <p:cNvSpPr/>
          <p:nvPr/>
        </p:nvSpPr>
        <p:spPr>
          <a:xfrm>
            <a:off x="320040" y="960120"/>
            <a:ext cx="2743200" cy="1417320"/>
          </a:xfrm>
          <a:prstGeom prst="rect">
            <a:avLst/>
          </a:prstGeom>
          <a:solidFill>
            <a:srgbClr val="E07B39"/>
          </a:solidFill>
          <a:ln w="12700">
            <a:solidFill>
              <a:srgbClr val="E07B39"/>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Text 6"/>
          <p:cNvSpPr/>
          <p:nvPr/>
        </p:nvSpPr>
        <p:spPr>
          <a:xfrm>
            <a:off x="411480" y="1051560"/>
            <a:ext cx="25603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Exposure Time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曝光時間</a:t>
            </a:r>
            <a:endParaRPr lang="en-US" sz="1400" dirty="0"/>
          </a:p>
        </p:txBody>
      </p:sp>
      <p:sp>
        <p:nvSpPr>
          <p:cNvPr id="9" name="Text 7"/>
          <p:cNvSpPr/>
          <p:nvPr/>
        </p:nvSpPr>
        <p:spPr>
          <a:xfrm>
            <a:off x="411480" y="1783080"/>
            <a:ext cx="2560320" cy="502920"/>
          </a:xfrm>
          <a:prstGeom prst="rect">
            <a:avLst/>
          </a:prstGeom>
          <a:noFill/>
          <a:ln/>
        </p:spPr>
        <p:txBody>
          <a:bodyPr wrap="square" rtlCol="0" anchor="ctr"/>
          <a:lstStyle/>
          <a:p>
            <a:pPr marL="0" indent="0" algn="ctr">
              <a:buNone/>
            </a:pPr>
            <a:r>
              <a:rPr lang="en-US" sz="1100" dirty="0">
                <a:solidFill>
                  <a:srgbClr val="FFFDE0"/>
                </a:solidFill>
                <a:latin typeface="Calibri" pitchFamily="34" charset="0"/>
                <a:ea typeface="Calibri" pitchFamily="34" charset="-122"/>
                <a:cs typeface="Calibri" pitchFamily="34" charset="-120"/>
              </a:rPr>
              <a:t>長 → 亮，但易模糊</a:t>
            </a:r>
            <a:endParaRPr lang="en-US" sz="1100" dirty="0"/>
          </a:p>
        </p:txBody>
      </p:sp>
      <p:sp>
        <p:nvSpPr>
          <p:cNvPr id="10" name="Shape 8"/>
          <p:cNvSpPr/>
          <p:nvPr/>
        </p:nvSpPr>
        <p:spPr>
          <a:xfrm>
            <a:off x="3246120" y="960120"/>
            <a:ext cx="2743200" cy="1417320"/>
          </a:xfrm>
          <a:prstGeom prst="rect">
            <a:avLst/>
          </a:prstGeom>
          <a:solidFill>
            <a:srgbClr val="5B9BD5"/>
          </a:solidFill>
          <a:ln w="1270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1" name="Text 9"/>
          <p:cNvSpPr/>
          <p:nvPr/>
        </p:nvSpPr>
        <p:spPr>
          <a:xfrm>
            <a:off x="3337560" y="1051560"/>
            <a:ext cx="25603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Aperture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光圈</a:t>
            </a:r>
            <a:endParaRPr lang="en-US" sz="1400" dirty="0"/>
          </a:p>
        </p:txBody>
      </p:sp>
      <p:sp>
        <p:nvSpPr>
          <p:cNvPr id="12" name="Text 10"/>
          <p:cNvSpPr/>
          <p:nvPr/>
        </p:nvSpPr>
        <p:spPr>
          <a:xfrm>
            <a:off x="3337560" y="1783080"/>
            <a:ext cx="2560320" cy="502920"/>
          </a:xfrm>
          <a:prstGeom prst="rect">
            <a:avLst/>
          </a:prstGeom>
          <a:noFill/>
          <a:ln/>
        </p:spPr>
        <p:txBody>
          <a:bodyPr wrap="square" rtlCol="0" anchor="ctr"/>
          <a:lstStyle/>
          <a:p>
            <a:pPr marL="0" indent="0" algn="ctr">
              <a:buNone/>
            </a:pPr>
            <a:r>
              <a:rPr lang="en-US" sz="1100" dirty="0">
                <a:solidFill>
                  <a:srgbClr val="FFFDE0"/>
                </a:solidFill>
                <a:latin typeface="Calibri" pitchFamily="34" charset="0"/>
                <a:ea typeface="Calibri" pitchFamily="34" charset="-122"/>
                <a:cs typeface="Calibri" pitchFamily="34" charset="-120"/>
              </a:rPr>
              <a:t>大 → 亮，但景深淺</a:t>
            </a:r>
            <a:endParaRPr lang="en-US" sz="1100" dirty="0"/>
          </a:p>
        </p:txBody>
      </p:sp>
      <p:sp>
        <p:nvSpPr>
          <p:cNvPr id="13" name="Shape 11"/>
          <p:cNvSpPr/>
          <p:nvPr/>
        </p:nvSpPr>
        <p:spPr>
          <a:xfrm>
            <a:off x="6172200" y="960120"/>
            <a:ext cx="2743200" cy="141732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4" name="Text 12"/>
          <p:cNvSpPr/>
          <p:nvPr/>
        </p:nvSpPr>
        <p:spPr>
          <a:xfrm>
            <a:off x="6263640" y="1051560"/>
            <a:ext cx="25603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Gain / ISO</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增益</a:t>
            </a:r>
            <a:endParaRPr lang="en-US" sz="1400" dirty="0"/>
          </a:p>
        </p:txBody>
      </p:sp>
      <p:sp>
        <p:nvSpPr>
          <p:cNvPr id="15" name="Text 13"/>
          <p:cNvSpPr/>
          <p:nvPr/>
        </p:nvSpPr>
        <p:spPr>
          <a:xfrm>
            <a:off x="6263640" y="1783080"/>
            <a:ext cx="2560320" cy="502920"/>
          </a:xfrm>
          <a:prstGeom prst="rect">
            <a:avLst/>
          </a:prstGeom>
          <a:noFill/>
          <a:ln/>
        </p:spPr>
        <p:txBody>
          <a:bodyPr wrap="square" rtlCol="0" anchor="ctr"/>
          <a:lstStyle/>
          <a:p>
            <a:pPr marL="0" indent="0" algn="ctr">
              <a:buNone/>
            </a:pPr>
            <a:r>
              <a:rPr lang="en-US" sz="1100" dirty="0">
                <a:solidFill>
                  <a:srgbClr val="FFFDE0"/>
                </a:solidFill>
                <a:latin typeface="Calibri" pitchFamily="34" charset="0"/>
                <a:ea typeface="Calibri" pitchFamily="34" charset="-122"/>
                <a:cs typeface="Calibri" pitchFamily="34" charset="-120"/>
              </a:rPr>
              <a:t>高 → 亮，但噪聲增加</a:t>
            </a:r>
            <a:endParaRPr lang="en-US" sz="1100" dirty="0"/>
          </a:p>
        </p:txBody>
      </p:sp>
      <p:sp>
        <p:nvSpPr>
          <p:cNvPr id="16" name="Shape 14"/>
          <p:cNvSpPr/>
          <p:nvPr/>
        </p:nvSpPr>
        <p:spPr>
          <a:xfrm>
            <a:off x="320040" y="2606040"/>
            <a:ext cx="2743200" cy="1188720"/>
          </a:xfrm>
          <a:prstGeom prst="rect">
            <a:avLst/>
          </a:prstGeom>
          <a:solidFill>
            <a:srgbClr val="1A1A1A"/>
          </a:solidFill>
          <a:ln w="12700">
            <a:solidFill>
              <a:srgbClr val="888888"/>
            </a:solidFill>
            <a:prstDash val="solid"/>
          </a:ln>
        </p:spPr>
        <p:txBody>
          <a:bodyPr/>
          <a:lstStyle/>
          <a:p>
            <a:endParaRPr lang="zh-TW" altLang="en-US"/>
          </a:p>
        </p:txBody>
      </p:sp>
      <p:sp>
        <p:nvSpPr>
          <p:cNvPr id="17" name="Text 15"/>
          <p:cNvSpPr/>
          <p:nvPr/>
        </p:nvSpPr>
        <p:spPr>
          <a:xfrm>
            <a:off x="320040" y="2679192"/>
            <a:ext cx="27432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短曝光</a:t>
            </a:r>
            <a:endParaRPr lang="en-US" sz="1200" dirty="0"/>
          </a:p>
        </p:txBody>
      </p:sp>
      <p:sp>
        <p:nvSpPr>
          <p:cNvPr id="18" name="Text 16"/>
          <p:cNvSpPr/>
          <p:nvPr/>
        </p:nvSpPr>
        <p:spPr>
          <a:xfrm>
            <a:off x="320040" y="3054096"/>
            <a:ext cx="2743200" cy="566928"/>
          </a:xfrm>
          <a:prstGeom prst="rect">
            <a:avLst/>
          </a:prstGeom>
          <a:noFill/>
          <a:ln/>
        </p:spPr>
        <p:txBody>
          <a:bodyPr wrap="square" rtlCol="0" anchor="ctr"/>
          <a:lstStyle/>
          <a:p>
            <a:pPr marL="0" indent="0" algn="ctr">
              <a:buNone/>
            </a:pPr>
            <a:r>
              <a:rPr lang="en-US" sz="1100" dirty="0">
                <a:solidFill>
                  <a:srgbClr val="AAAAAA"/>
                </a:solidFill>
                <a:latin typeface="Calibri" pitchFamily="34" charset="0"/>
                <a:ea typeface="Calibri" pitchFamily="34" charset="-122"/>
                <a:cs typeface="Calibri" pitchFamily="34" charset="-120"/>
              </a:rPr>
              <a:t>暗 — 資訊不足</a:t>
            </a:r>
            <a:endParaRPr lang="en-US" sz="1100" dirty="0"/>
          </a:p>
        </p:txBody>
      </p:sp>
      <p:sp>
        <p:nvSpPr>
          <p:cNvPr id="19" name="Shape 17"/>
          <p:cNvSpPr/>
          <p:nvPr/>
        </p:nvSpPr>
        <p:spPr>
          <a:xfrm>
            <a:off x="3246120" y="2606040"/>
            <a:ext cx="2743200" cy="1188720"/>
          </a:xfrm>
          <a:prstGeom prst="rect">
            <a:avLst/>
          </a:prstGeom>
          <a:solidFill>
            <a:srgbClr val="2E2E4E"/>
          </a:solidFill>
          <a:ln w="12700">
            <a:solidFill>
              <a:srgbClr val="888888"/>
            </a:solidFill>
            <a:prstDash val="solid"/>
          </a:ln>
        </p:spPr>
        <p:txBody>
          <a:bodyPr/>
          <a:lstStyle/>
          <a:p>
            <a:endParaRPr lang="zh-TW" altLang="en-US"/>
          </a:p>
        </p:txBody>
      </p:sp>
      <p:sp>
        <p:nvSpPr>
          <p:cNvPr id="20" name="Text 18"/>
          <p:cNvSpPr/>
          <p:nvPr/>
        </p:nvSpPr>
        <p:spPr>
          <a:xfrm>
            <a:off x="3246120" y="2679192"/>
            <a:ext cx="27432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長曝光</a:t>
            </a:r>
            <a:endParaRPr lang="en-US" sz="1200" dirty="0"/>
          </a:p>
        </p:txBody>
      </p:sp>
      <p:sp>
        <p:nvSpPr>
          <p:cNvPr id="21" name="Text 19"/>
          <p:cNvSpPr/>
          <p:nvPr/>
        </p:nvSpPr>
        <p:spPr>
          <a:xfrm>
            <a:off x="3246120" y="3054096"/>
            <a:ext cx="2743200" cy="566928"/>
          </a:xfrm>
          <a:prstGeom prst="rect">
            <a:avLst/>
          </a:prstGeom>
          <a:noFill/>
          <a:ln/>
        </p:spPr>
        <p:txBody>
          <a:bodyPr wrap="square" rtlCol="0" anchor="ctr"/>
          <a:lstStyle/>
          <a:p>
            <a:pPr marL="0" indent="0" algn="ctr">
              <a:buNone/>
            </a:pPr>
            <a:r>
              <a:rPr lang="en-US" sz="1100" dirty="0">
                <a:solidFill>
                  <a:srgbClr val="9090CC"/>
                </a:solidFill>
                <a:latin typeface="Calibri" pitchFamily="34" charset="0"/>
                <a:ea typeface="Calibri" pitchFamily="34" charset="-122"/>
                <a:cs typeface="Calibri" pitchFamily="34" charset="-120"/>
              </a:rPr>
              <a:t>糊 — 時序積分</a:t>
            </a:r>
            <a:endParaRPr lang="en-US" sz="1100" dirty="0"/>
          </a:p>
        </p:txBody>
      </p:sp>
      <p:sp>
        <p:nvSpPr>
          <p:cNvPr id="22" name="Shape 20"/>
          <p:cNvSpPr/>
          <p:nvPr/>
        </p:nvSpPr>
        <p:spPr>
          <a:xfrm>
            <a:off x="6172200" y="2606040"/>
            <a:ext cx="2743200" cy="1188720"/>
          </a:xfrm>
          <a:prstGeom prst="rect">
            <a:avLst/>
          </a:prstGeom>
          <a:solidFill>
            <a:srgbClr val="3A2A2A"/>
          </a:solidFill>
          <a:ln w="12700">
            <a:solidFill>
              <a:srgbClr val="888888"/>
            </a:solidFill>
            <a:prstDash val="solid"/>
          </a:ln>
        </p:spPr>
        <p:txBody>
          <a:bodyPr/>
          <a:lstStyle/>
          <a:p>
            <a:endParaRPr lang="zh-TW" altLang="en-US"/>
          </a:p>
        </p:txBody>
      </p:sp>
      <p:sp>
        <p:nvSpPr>
          <p:cNvPr id="23" name="Text 21"/>
          <p:cNvSpPr/>
          <p:nvPr/>
        </p:nvSpPr>
        <p:spPr>
          <a:xfrm>
            <a:off x="6172200" y="2679192"/>
            <a:ext cx="27432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高 Gain</a:t>
            </a:r>
            <a:endParaRPr lang="en-US" sz="1200" dirty="0"/>
          </a:p>
        </p:txBody>
      </p:sp>
      <p:sp>
        <p:nvSpPr>
          <p:cNvPr id="24" name="Text 22"/>
          <p:cNvSpPr/>
          <p:nvPr/>
        </p:nvSpPr>
        <p:spPr>
          <a:xfrm>
            <a:off x="6172200" y="3054096"/>
            <a:ext cx="2743200" cy="566928"/>
          </a:xfrm>
          <a:prstGeom prst="rect">
            <a:avLst/>
          </a:prstGeom>
          <a:noFill/>
          <a:ln/>
        </p:spPr>
        <p:txBody>
          <a:bodyPr wrap="square" rtlCol="0" anchor="ctr"/>
          <a:lstStyle/>
          <a:p>
            <a:pPr marL="0" indent="0" algn="ctr">
              <a:buNone/>
            </a:pPr>
            <a:r>
              <a:rPr lang="en-US" sz="1100" dirty="0">
                <a:solidFill>
                  <a:srgbClr val="CC9090"/>
                </a:solidFill>
                <a:latin typeface="Calibri" pitchFamily="34" charset="0"/>
                <a:ea typeface="Calibri" pitchFamily="34" charset="-122"/>
                <a:cs typeface="Calibri" pitchFamily="34" charset="-120"/>
              </a:rPr>
              <a:t>髒 — 噪聲放大</a:t>
            </a:r>
            <a:endParaRPr lang="en-US" sz="1100" dirty="0"/>
          </a:p>
        </p:txBody>
      </p:sp>
      <p:sp>
        <p:nvSpPr>
          <p:cNvPr id="25" name="Shape 23"/>
          <p:cNvSpPr/>
          <p:nvPr/>
        </p:nvSpPr>
        <p:spPr>
          <a:xfrm>
            <a:off x="320040" y="4096512"/>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26" name="Text 24"/>
          <p:cNvSpPr/>
          <p:nvPr/>
        </p:nvSpPr>
        <p:spPr>
          <a:xfrm>
            <a:off x="320040" y="4096512"/>
            <a:ext cx="502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提問</a:t>
            </a:r>
            <a:endParaRPr lang="en-US" sz="900" dirty="0"/>
          </a:p>
        </p:txBody>
      </p:sp>
      <p:sp>
        <p:nvSpPr>
          <p:cNvPr id="27" name="Text 25"/>
          <p:cNvSpPr/>
          <p:nvPr/>
        </p:nvSpPr>
        <p:spPr>
          <a:xfrm>
            <a:off x="868680" y="4096512"/>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低照環境下，要拉長曝光還是拉高 gain？代價各是什麼？</a:t>
            </a:r>
            <a:endParaRPr lang="en-US" sz="1000" dirty="0"/>
          </a:p>
        </p:txBody>
      </p:sp>
      <p:sp>
        <p:nvSpPr>
          <p:cNvPr id="28" name="Shape 26"/>
          <p:cNvSpPr/>
          <p:nvPr/>
        </p:nvSpPr>
        <p:spPr>
          <a:xfrm>
            <a:off x="320040" y="4407408"/>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29" name="Text 27"/>
          <p:cNvSpPr/>
          <p:nvPr/>
        </p:nvSpPr>
        <p:spPr>
          <a:xfrm>
            <a:off x="320040" y="4407408"/>
            <a:ext cx="502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話術</a:t>
            </a:r>
            <a:endParaRPr lang="en-US" sz="900" dirty="0"/>
          </a:p>
        </p:txBody>
      </p:sp>
      <p:sp>
        <p:nvSpPr>
          <p:cNvPr id="30" name="Text 28"/>
          <p:cNvSpPr/>
          <p:nvPr/>
        </p:nvSpPr>
        <p:spPr>
          <a:xfrm>
            <a:off x="868680" y="4407408"/>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影像變亮不代表資訊變多，有時只是把噪聲一起放大。</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Ch2 ｜ 第二章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為什麼移動中的畫面會糊？Motion Blur 的來源</a:t>
            </a:r>
            <a:endParaRPr lang="en-US" sz="2200" dirty="0"/>
          </a:p>
        </p:txBody>
      </p:sp>
      <p:sp>
        <p:nvSpPr>
          <p:cNvPr id="7" name="Text 5"/>
          <p:cNvSpPr/>
          <p:nvPr/>
        </p:nvSpPr>
        <p:spPr>
          <a:xfrm>
            <a:off x="320040" y="914400"/>
            <a:ext cx="8503920" cy="384048"/>
          </a:xfrm>
          <a:prstGeom prst="rect">
            <a:avLst/>
          </a:prstGeom>
          <a:noFill/>
          <a:ln/>
        </p:spPr>
        <p:txBody>
          <a:bodyPr wrap="square" rtlCol="0" anchor="ctr"/>
          <a:lstStyle/>
          <a:p>
            <a:pPr marL="0" indent="0" algn="ctr">
              <a:buNone/>
            </a:pPr>
            <a:r>
              <a:rPr lang="en-US" sz="1600" b="1" dirty="0">
                <a:solidFill>
                  <a:srgbClr val="C45C00"/>
                </a:solidFill>
                <a:latin typeface="Calibri" pitchFamily="34" charset="0"/>
                <a:ea typeface="Calibri" pitchFamily="34" charset="-122"/>
                <a:cs typeface="Calibri" pitchFamily="34" charset="-120"/>
              </a:rPr>
              <a:t>曝光時間 × 移動速度 = 模糊程度</a:t>
            </a:r>
            <a:endParaRPr lang="en-US" sz="1600" dirty="0"/>
          </a:p>
        </p:txBody>
      </p:sp>
      <p:sp>
        <p:nvSpPr>
          <p:cNvPr id="8" name="Text 6"/>
          <p:cNvSpPr/>
          <p:nvPr/>
        </p:nvSpPr>
        <p:spPr>
          <a:xfrm>
            <a:off x="320040" y="1444752"/>
            <a:ext cx="2377440" cy="34747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短曝光 (1ms)</a:t>
            </a:r>
            <a:endParaRPr lang="en-US" sz="1200" dirty="0"/>
          </a:p>
        </p:txBody>
      </p:sp>
      <p:sp>
        <p:nvSpPr>
          <p:cNvPr id="9" name="Shape 7"/>
          <p:cNvSpPr/>
          <p:nvPr/>
        </p:nvSpPr>
        <p:spPr>
          <a:xfrm>
            <a:off x="2788920" y="1490472"/>
            <a:ext cx="411480" cy="256032"/>
          </a:xfrm>
          <a:prstGeom prst="rect">
            <a:avLst/>
          </a:prstGeom>
          <a:solidFill>
            <a:srgbClr val="70AD47"/>
          </a:solidFill>
          <a:ln w="12700">
            <a:solidFill>
              <a:srgbClr val="70AD47"/>
            </a:solidFill>
            <a:prstDash val="solid"/>
          </a:ln>
        </p:spPr>
        <p:txBody>
          <a:bodyPr/>
          <a:lstStyle/>
          <a:p>
            <a:endParaRPr lang="zh-TW" altLang="en-US"/>
          </a:p>
        </p:txBody>
      </p:sp>
      <p:sp>
        <p:nvSpPr>
          <p:cNvPr id="10" name="Text 8"/>
          <p:cNvSpPr/>
          <p:nvPr/>
        </p:nvSpPr>
        <p:spPr>
          <a:xfrm>
            <a:off x="3246120" y="1444752"/>
            <a:ext cx="2743200" cy="347472"/>
          </a:xfrm>
          <a:prstGeom prst="rect">
            <a:avLst/>
          </a:prstGeom>
          <a:noFill/>
          <a:ln/>
        </p:spPr>
        <p:txBody>
          <a:bodyPr wrap="square" rtlCol="0" anchor="ctr"/>
          <a:lstStyle/>
          <a:p>
            <a:pPr marL="0" indent="0">
              <a:buNone/>
            </a:pPr>
            <a:r>
              <a:rPr lang="en-US" sz="1100" dirty="0">
                <a:solidFill>
                  <a:srgbClr val="888888"/>
                </a:solidFill>
                <a:latin typeface="Calibri" pitchFamily="34" charset="0"/>
                <a:ea typeface="Calibri" pitchFamily="34" charset="-122"/>
                <a:cs typeface="Calibri" pitchFamily="34" charset="-120"/>
              </a:rPr>
              <a:t>清晰 ✅</a:t>
            </a:r>
            <a:endParaRPr lang="en-US" sz="1100" dirty="0"/>
          </a:p>
        </p:txBody>
      </p:sp>
      <p:sp>
        <p:nvSpPr>
          <p:cNvPr id="11" name="Text 9"/>
          <p:cNvSpPr/>
          <p:nvPr/>
        </p:nvSpPr>
        <p:spPr>
          <a:xfrm>
            <a:off x="320040" y="2249424"/>
            <a:ext cx="2377440" cy="34747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中等曝光 (10ms)</a:t>
            </a:r>
            <a:endParaRPr lang="en-US" sz="1200" dirty="0"/>
          </a:p>
        </p:txBody>
      </p:sp>
      <p:sp>
        <p:nvSpPr>
          <p:cNvPr id="12" name="Shape 10"/>
          <p:cNvSpPr/>
          <p:nvPr/>
        </p:nvSpPr>
        <p:spPr>
          <a:xfrm>
            <a:off x="2788920" y="2295144"/>
            <a:ext cx="1371600" cy="256032"/>
          </a:xfrm>
          <a:prstGeom prst="rect">
            <a:avLst/>
          </a:prstGeom>
          <a:solidFill>
            <a:srgbClr val="F5C842"/>
          </a:solidFill>
          <a:ln w="12700">
            <a:solidFill>
              <a:srgbClr val="F5C842"/>
            </a:solidFill>
            <a:prstDash val="solid"/>
          </a:ln>
        </p:spPr>
        <p:txBody>
          <a:bodyPr/>
          <a:lstStyle/>
          <a:p>
            <a:endParaRPr lang="zh-TW" altLang="en-US"/>
          </a:p>
        </p:txBody>
      </p:sp>
      <p:sp>
        <p:nvSpPr>
          <p:cNvPr id="13" name="Text 11"/>
          <p:cNvSpPr/>
          <p:nvPr/>
        </p:nvSpPr>
        <p:spPr>
          <a:xfrm>
            <a:off x="4206240" y="2249424"/>
            <a:ext cx="2743200" cy="347472"/>
          </a:xfrm>
          <a:prstGeom prst="rect">
            <a:avLst/>
          </a:prstGeom>
          <a:noFill/>
          <a:ln/>
        </p:spPr>
        <p:txBody>
          <a:bodyPr wrap="square" rtlCol="0" anchor="ctr"/>
          <a:lstStyle/>
          <a:p>
            <a:pPr marL="0" indent="0">
              <a:buNone/>
            </a:pPr>
            <a:r>
              <a:rPr lang="en-US" sz="1100" dirty="0">
                <a:solidFill>
                  <a:srgbClr val="888888"/>
                </a:solidFill>
                <a:latin typeface="Calibri" pitchFamily="34" charset="0"/>
                <a:ea typeface="Calibri" pitchFamily="34" charset="-122"/>
                <a:cs typeface="Calibri" pitchFamily="34" charset="-120"/>
              </a:rPr>
              <a:t>輕微拖影</a:t>
            </a:r>
            <a:endParaRPr lang="en-US" sz="1100" dirty="0"/>
          </a:p>
        </p:txBody>
      </p:sp>
      <p:sp>
        <p:nvSpPr>
          <p:cNvPr id="14" name="Text 12"/>
          <p:cNvSpPr/>
          <p:nvPr/>
        </p:nvSpPr>
        <p:spPr>
          <a:xfrm>
            <a:off x="320040" y="3054096"/>
            <a:ext cx="2377440" cy="34747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長曝光 (50ms)</a:t>
            </a:r>
            <a:endParaRPr lang="en-US" sz="1200" dirty="0"/>
          </a:p>
        </p:txBody>
      </p:sp>
      <p:sp>
        <p:nvSpPr>
          <p:cNvPr id="15" name="Shape 13"/>
          <p:cNvSpPr/>
          <p:nvPr/>
        </p:nvSpPr>
        <p:spPr>
          <a:xfrm>
            <a:off x="2788920" y="3099816"/>
            <a:ext cx="4389120" cy="256032"/>
          </a:xfrm>
          <a:prstGeom prst="rect">
            <a:avLst/>
          </a:prstGeom>
          <a:solidFill>
            <a:srgbClr val="CC4444"/>
          </a:solidFill>
          <a:ln w="12700">
            <a:solidFill>
              <a:srgbClr val="CC4444"/>
            </a:solidFill>
            <a:prstDash val="solid"/>
          </a:ln>
        </p:spPr>
        <p:txBody>
          <a:bodyPr/>
          <a:lstStyle/>
          <a:p>
            <a:endParaRPr lang="zh-TW" altLang="en-US"/>
          </a:p>
        </p:txBody>
      </p:sp>
      <p:sp>
        <p:nvSpPr>
          <p:cNvPr id="16" name="Text 14"/>
          <p:cNvSpPr/>
          <p:nvPr/>
        </p:nvSpPr>
        <p:spPr>
          <a:xfrm>
            <a:off x="7223760" y="3054096"/>
            <a:ext cx="2743200" cy="347472"/>
          </a:xfrm>
          <a:prstGeom prst="rect">
            <a:avLst/>
          </a:prstGeom>
          <a:noFill/>
          <a:ln/>
        </p:spPr>
        <p:txBody>
          <a:bodyPr wrap="square" rtlCol="0" anchor="ctr"/>
          <a:lstStyle/>
          <a:p>
            <a:pPr marL="0" indent="0">
              <a:buNone/>
            </a:pPr>
            <a:r>
              <a:rPr lang="en-US" sz="1100" dirty="0">
                <a:solidFill>
                  <a:srgbClr val="888888"/>
                </a:solidFill>
                <a:latin typeface="Calibri" pitchFamily="34" charset="0"/>
                <a:ea typeface="Calibri" pitchFamily="34" charset="-122"/>
                <a:cs typeface="Calibri" pitchFamily="34" charset="-120"/>
              </a:rPr>
              <a:t>嚴重模糊 ❌</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7F212-A59A-5ECA-7159-F297CC8E951A}"/>
            </a:ext>
          </a:extLst>
        </p:cNvPr>
        <p:cNvGrpSpPr/>
        <p:nvPr/>
      </p:nvGrpSpPr>
      <p:grpSpPr>
        <a:xfrm>
          <a:off x="0" y="0"/>
          <a:ext cx="0" cy="0"/>
          <a:chOff x="0" y="0"/>
          <a:chExt cx="0" cy="0"/>
        </a:xfrm>
      </p:grpSpPr>
      <p:pic>
        <p:nvPicPr>
          <p:cNvPr id="3" name="圖片 2">
            <a:extLst>
              <a:ext uri="{FF2B5EF4-FFF2-40B4-BE49-F238E27FC236}">
                <a16:creationId xmlns:a16="http://schemas.microsoft.com/office/drawing/2014/main" id="{F6F57FCA-68ED-DB69-99FB-7F078053EFF6}"/>
              </a:ext>
            </a:extLst>
          </p:cNvPr>
          <p:cNvPicPr>
            <a:picLocks noChangeAspect="1"/>
          </p:cNvPicPr>
          <p:nvPr/>
        </p:nvPicPr>
        <p:blipFill>
          <a:blip r:embed="rId2"/>
          <a:stretch>
            <a:fillRect/>
          </a:stretch>
        </p:blipFill>
        <p:spPr>
          <a:xfrm>
            <a:off x="841183" y="187202"/>
            <a:ext cx="7461633" cy="4769095"/>
          </a:xfrm>
          <a:prstGeom prst="rect">
            <a:avLst/>
          </a:prstGeom>
        </p:spPr>
      </p:pic>
    </p:spTree>
    <p:extLst>
      <p:ext uri="{BB962C8B-B14F-4D97-AF65-F5344CB8AC3E}">
        <p14:creationId xmlns:p14="http://schemas.microsoft.com/office/powerpoint/2010/main" val="859493708"/>
      </p:ext>
    </p:extLst>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hape 24"/>
          <p:cNvSpPr/>
          <p:nvPr/>
        </p:nvSpPr>
        <p:spPr>
          <a:xfrm>
            <a:off x="320040" y="2382012"/>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27" name="Text 25"/>
          <p:cNvSpPr/>
          <p:nvPr/>
        </p:nvSpPr>
        <p:spPr>
          <a:xfrm>
            <a:off x="320040" y="2382012"/>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28" name="Text 26"/>
          <p:cNvSpPr/>
          <p:nvPr/>
        </p:nvSpPr>
        <p:spPr>
          <a:xfrm>
            <a:off x="868680" y="2382012"/>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為什麼大 sensor 通常低光表現較好？</a:t>
            </a:r>
            <a:endParaRPr lang="en-US" sz="1000" dirty="0"/>
          </a:p>
        </p:txBody>
      </p:sp>
      <p:sp>
        <p:nvSpPr>
          <p:cNvPr id="29" name="Shape 27"/>
          <p:cNvSpPr/>
          <p:nvPr/>
        </p:nvSpPr>
        <p:spPr>
          <a:xfrm>
            <a:off x="320040" y="2692908"/>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30" name="Text 28"/>
          <p:cNvSpPr/>
          <p:nvPr/>
        </p:nvSpPr>
        <p:spPr>
          <a:xfrm>
            <a:off x="320040" y="2692908"/>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31" name="Text 29"/>
          <p:cNvSpPr/>
          <p:nvPr/>
        </p:nvSpPr>
        <p:spPr>
          <a:xfrm>
            <a:off x="868680" y="2692908"/>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不是像素越多就一定越好，收光能力同樣關鍵。</a:t>
            </a:r>
            <a:endParaRPr lang="en-US" sz="1000" dirty="0"/>
          </a:p>
        </p:txBody>
      </p:sp>
    </p:spTree>
    <p:extLst>
      <p:ext uri="{BB962C8B-B14F-4D97-AF65-F5344CB8AC3E}">
        <p14:creationId xmlns:p14="http://schemas.microsoft.com/office/powerpoint/2010/main" val="495859965"/>
      </p:ext>
    </p:extLst>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48BF29B9-3573-4964-4EC9-42BFDB1CD2BE}"/>
              </a:ext>
            </a:extLst>
          </p:cNvPr>
          <p:cNvPicPr>
            <a:picLocks noChangeAspect="1"/>
          </p:cNvPicPr>
          <p:nvPr/>
        </p:nvPicPr>
        <p:blipFill>
          <a:blip r:embed="rId2"/>
          <a:stretch>
            <a:fillRect/>
          </a:stretch>
        </p:blipFill>
        <p:spPr>
          <a:xfrm>
            <a:off x="412536" y="577747"/>
            <a:ext cx="8318928" cy="3988005"/>
          </a:xfrm>
          <a:prstGeom prst="rect">
            <a:avLst/>
          </a:prstGeom>
        </p:spPr>
      </p:pic>
    </p:spTree>
    <p:extLst>
      <p:ext uri="{BB962C8B-B14F-4D97-AF65-F5344CB8AC3E}">
        <p14:creationId xmlns:p14="http://schemas.microsoft.com/office/powerpoint/2010/main" val="2972160103"/>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C567F4B-4D7E-C7C2-8C20-CCBEDB96F27C}"/>
              </a:ext>
            </a:extLst>
          </p:cNvPr>
          <p:cNvPicPr>
            <a:picLocks noChangeAspect="1"/>
          </p:cNvPicPr>
          <p:nvPr/>
        </p:nvPicPr>
        <p:blipFill>
          <a:blip r:embed="rId2"/>
          <a:stretch>
            <a:fillRect/>
          </a:stretch>
        </p:blipFill>
        <p:spPr>
          <a:xfrm>
            <a:off x="742753" y="199903"/>
            <a:ext cx="7658494" cy="4743694"/>
          </a:xfrm>
          <a:prstGeom prst="rect">
            <a:avLst/>
          </a:prstGeom>
        </p:spPr>
      </p:pic>
    </p:spTree>
    <p:extLst>
      <p:ext uri="{BB962C8B-B14F-4D97-AF65-F5344CB8AC3E}">
        <p14:creationId xmlns:p14="http://schemas.microsoft.com/office/powerpoint/2010/main" val="4154536444"/>
      </p:ext>
    </p:extLst>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EC9FD5EA-7719-9335-821C-448E9EF5FC2F}"/>
              </a:ext>
            </a:extLst>
          </p:cNvPr>
          <p:cNvPicPr>
            <a:picLocks noChangeAspect="1"/>
          </p:cNvPicPr>
          <p:nvPr/>
        </p:nvPicPr>
        <p:blipFill>
          <a:blip r:embed="rId2"/>
          <a:stretch>
            <a:fillRect/>
          </a:stretch>
        </p:blipFill>
        <p:spPr>
          <a:xfrm>
            <a:off x="307756" y="311034"/>
            <a:ext cx="8528488" cy="4521432"/>
          </a:xfrm>
          <a:prstGeom prst="rect">
            <a:avLst/>
          </a:prstGeom>
        </p:spPr>
      </p:pic>
    </p:spTree>
    <p:extLst>
      <p:ext uri="{BB962C8B-B14F-4D97-AF65-F5344CB8AC3E}">
        <p14:creationId xmlns:p14="http://schemas.microsoft.com/office/powerpoint/2010/main" val="1307311405"/>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name="Slide 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Ch3 ｜ 第三章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Sensor ：</a:t>
            </a:r>
            <a:r>
              <a:rPr lang="en-US" sz="2200" b="1" dirty="0" err="1">
                <a:solidFill>
                  <a:srgbClr val="1A1A1A"/>
                </a:solidFill>
                <a:latin typeface="Calibri" pitchFamily="34" charset="0"/>
                <a:ea typeface="Calibri" pitchFamily="34" charset="-122"/>
                <a:cs typeface="Calibri" pitchFamily="34" charset="-120"/>
              </a:rPr>
              <a:t>pixel、fill</a:t>
            </a:r>
            <a:r>
              <a:rPr lang="en-US" sz="2200" b="1" dirty="0">
                <a:solidFill>
                  <a:srgbClr val="1A1A1A"/>
                </a:solidFill>
                <a:latin typeface="Calibri" pitchFamily="34" charset="0"/>
                <a:ea typeface="Calibri" pitchFamily="34" charset="-122"/>
                <a:cs typeface="Calibri" pitchFamily="34" charset="-120"/>
              </a:rPr>
              <a:t> factor、SNR</a:t>
            </a:r>
            <a:endParaRPr lang="en-US" sz="2200" dirty="0"/>
          </a:p>
        </p:txBody>
      </p:sp>
      <p:sp>
        <p:nvSpPr>
          <p:cNvPr id="7" name="Shape 5"/>
          <p:cNvSpPr/>
          <p:nvPr/>
        </p:nvSpPr>
        <p:spPr>
          <a:xfrm>
            <a:off x="320040" y="914400"/>
            <a:ext cx="4114800" cy="2926080"/>
          </a:xfrm>
          <a:prstGeom prst="rect">
            <a:avLst/>
          </a:prstGeom>
          <a:solidFill>
            <a:srgbClr val="F3EFE7"/>
          </a:solidFill>
          <a:ln w="12700">
            <a:solidFill>
              <a:srgbClr val="E8E0D0"/>
            </a:solidFill>
            <a:prstDash val="solid"/>
          </a:ln>
        </p:spPr>
        <p:txBody>
          <a:bodyPr/>
          <a:lstStyle/>
          <a:p>
            <a:endParaRPr lang="zh-TW" altLang="en-US"/>
          </a:p>
        </p:txBody>
      </p:sp>
      <p:sp>
        <p:nvSpPr>
          <p:cNvPr id="8" name="Text 6"/>
          <p:cNvSpPr/>
          <p:nvPr/>
        </p:nvSpPr>
        <p:spPr>
          <a:xfrm>
            <a:off x="411480" y="987552"/>
            <a:ext cx="3931920" cy="320040"/>
          </a:xfrm>
          <a:prstGeom prst="rect">
            <a:avLst/>
          </a:prstGeom>
          <a:noFill/>
          <a:ln/>
        </p:spPr>
        <p:txBody>
          <a:bodyPr wrap="square" rtlCol="0" anchor="ctr"/>
          <a:lstStyle/>
          <a:p>
            <a:pPr marL="0" indent="0" algn="ctr">
              <a:buNone/>
            </a:pPr>
            <a:r>
              <a:rPr lang="en-US" sz="1300" b="1" dirty="0">
                <a:solidFill>
                  <a:srgbClr val="C45C00"/>
                </a:solidFill>
                <a:latin typeface="Calibri" pitchFamily="34" charset="0"/>
                <a:ea typeface="Calibri" pitchFamily="34" charset="-122"/>
                <a:cs typeface="Calibri" pitchFamily="34" charset="-120"/>
              </a:rPr>
              <a:t>Pixel 剖面示意</a:t>
            </a:r>
            <a:endParaRPr lang="en-US" sz="1300" dirty="0"/>
          </a:p>
        </p:txBody>
      </p:sp>
      <p:sp>
        <p:nvSpPr>
          <p:cNvPr id="9" name="Shape 7"/>
          <p:cNvSpPr/>
          <p:nvPr/>
        </p:nvSpPr>
        <p:spPr>
          <a:xfrm>
            <a:off x="731520" y="1463040"/>
            <a:ext cx="2011680" cy="1097280"/>
          </a:xfrm>
          <a:prstGeom prst="rect">
            <a:avLst/>
          </a:prstGeom>
          <a:solidFill>
            <a:srgbClr val="5B9BD5"/>
          </a:solidFill>
          <a:ln w="12700">
            <a:solidFill>
              <a:srgbClr val="2E6EAA"/>
            </a:solidFill>
            <a:prstDash val="solid"/>
          </a:ln>
        </p:spPr>
        <p:txBody>
          <a:bodyPr/>
          <a:lstStyle/>
          <a:p>
            <a:endParaRPr lang="zh-TW" altLang="en-US"/>
          </a:p>
        </p:txBody>
      </p:sp>
      <p:sp>
        <p:nvSpPr>
          <p:cNvPr id="10" name="Text 8"/>
          <p:cNvSpPr/>
          <p:nvPr/>
        </p:nvSpPr>
        <p:spPr>
          <a:xfrm>
            <a:off x="731520" y="1463040"/>
            <a:ext cx="2011680" cy="109728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Photodiode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(感光區)</a:t>
            </a:r>
            <a:endParaRPr lang="en-US" sz="1100" dirty="0"/>
          </a:p>
        </p:txBody>
      </p:sp>
      <p:sp>
        <p:nvSpPr>
          <p:cNvPr id="11" name="Shape 9"/>
          <p:cNvSpPr/>
          <p:nvPr/>
        </p:nvSpPr>
        <p:spPr>
          <a:xfrm>
            <a:off x="2834640" y="1463040"/>
            <a:ext cx="1280160" cy="1097280"/>
          </a:xfrm>
          <a:prstGeom prst="rect">
            <a:avLst/>
          </a:prstGeom>
          <a:solidFill>
            <a:srgbClr val="888888"/>
          </a:solidFill>
          <a:ln w="12700">
            <a:solidFill>
              <a:srgbClr val="555555"/>
            </a:solidFill>
            <a:prstDash val="solid"/>
          </a:ln>
        </p:spPr>
        <p:txBody>
          <a:bodyPr/>
          <a:lstStyle/>
          <a:p>
            <a:endParaRPr lang="zh-TW" altLang="en-US"/>
          </a:p>
        </p:txBody>
      </p:sp>
      <p:sp>
        <p:nvSpPr>
          <p:cNvPr id="12" name="Text 10"/>
          <p:cNvSpPr/>
          <p:nvPr/>
        </p:nvSpPr>
        <p:spPr>
          <a:xfrm>
            <a:off x="2834640" y="1463040"/>
            <a:ext cx="128016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Readout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電路</a:t>
            </a:r>
            <a:endParaRPr lang="en-US" sz="1000" dirty="0"/>
          </a:p>
        </p:txBody>
      </p:sp>
      <p:sp>
        <p:nvSpPr>
          <p:cNvPr id="13" name="Text 11"/>
          <p:cNvSpPr/>
          <p:nvPr/>
        </p:nvSpPr>
        <p:spPr>
          <a:xfrm>
            <a:off x="411480" y="2633472"/>
            <a:ext cx="3931920" cy="274320"/>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 Fill Factor = 感光面積比例 →</a:t>
            </a:r>
            <a:endParaRPr lang="en-US" sz="1000" dirty="0"/>
          </a:p>
        </p:txBody>
      </p:sp>
      <p:sp>
        <p:nvSpPr>
          <p:cNvPr id="14" name="Shape 12"/>
          <p:cNvSpPr/>
          <p:nvPr/>
        </p:nvSpPr>
        <p:spPr>
          <a:xfrm>
            <a:off x="4754880" y="914400"/>
            <a:ext cx="4069080" cy="82296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5" name="Shape 13"/>
          <p:cNvSpPr/>
          <p:nvPr/>
        </p:nvSpPr>
        <p:spPr>
          <a:xfrm>
            <a:off x="4754880" y="914400"/>
            <a:ext cx="109728" cy="822960"/>
          </a:xfrm>
          <a:prstGeom prst="rect">
            <a:avLst/>
          </a:prstGeom>
          <a:solidFill>
            <a:srgbClr val="1E3A5F"/>
          </a:solidFill>
          <a:ln w="12700">
            <a:solidFill>
              <a:srgbClr val="1E3A5F"/>
            </a:solidFill>
            <a:prstDash val="solid"/>
          </a:ln>
        </p:spPr>
        <p:txBody>
          <a:bodyPr/>
          <a:lstStyle/>
          <a:p>
            <a:endParaRPr lang="zh-TW" altLang="en-US"/>
          </a:p>
        </p:txBody>
      </p:sp>
      <p:sp>
        <p:nvSpPr>
          <p:cNvPr id="16" name="Text 14"/>
          <p:cNvSpPr/>
          <p:nvPr/>
        </p:nvSpPr>
        <p:spPr>
          <a:xfrm>
            <a:off x="4965192" y="969264"/>
            <a:ext cx="3749040" cy="27432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Fill Factor</a:t>
            </a:r>
            <a:endParaRPr lang="en-US" sz="1300" dirty="0"/>
          </a:p>
        </p:txBody>
      </p:sp>
      <p:sp>
        <p:nvSpPr>
          <p:cNvPr id="17" name="Text 15"/>
          <p:cNvSpPr/>
          <p:nvPr/>
        </p:nvSpPr>
        <p:spPr>
          <a:xfrm>
            <a:off x="4965192" y="1298448"/>
            <a:ext cx="37490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並非全部 pixel 面積都在感光，其餘是讀取電路</a:t>
            </a:r>
            <a:endParaRPr lang="en-US" sz="1100" dirty="0"/>
          </a:p>
        </p:txBody>
      </p:sp>
      <p:sp>
        <p:nvSpPr>
          <p:cNvPr id="18" name="Shape 16"/>
          <p:cNvSpPr/>
          <p:nvPr/>
        </p:nvSpPr>
        <p:spPr>
          <a:xfrm>
            <a:off x="4754880" y="1901952"/>
            <a:ext cx="4069080" cy="82296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9" name="Shape 17"/>
          <p:cNvSpPr/>
          <p:nvPr/>
        </p:nvSpPr>
        <p:spPr>
          <a:xfrm>
            <a:off x="4754880" y="1901952"/>
            <a:ext cx="109728" cy="822960"/>
          </a:xfrm>
          <a:prstGeom prst="rect">
            <a:avLst/>
          </a:prstGeom>
          <a:solidFill>
            <a:srgbClr val="1E3A5F"/>
          </a:solidFill>
          <a:ln w="12700">
            <a:solidFill>
              <a:srgbClr val="1E3A5F"/>
            </a:solidFill>
            <a:prstDash val="solid"/>
          </a:ln>
        </p:spPr>
        <p:txBody>
          <a:bodyPr/>
          <a:lstStyle/>
          <a:p>
            <a:endParaRPr lang="zh-TW" altLang="en-US"/>
          </a:p>
        </p:txBody>
      </p:sp>
      <p:sp>
        <p:nvSpPr>
          <p:cNvPr id="20" name="Text 18"/>
          <p:cNvSpPr/>
          <p:nvPr/>
        </p:nvSpPr>
        <p:spPr>
          <a:xfrm>
            <a:off x="4965192" y="1956816"/>
            <a:ext cx="3749040" cy="27432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SNR 信噪比</a:t>
            </a:r>
            <a:endParaRPr lang="en-US" sz="1300" dirty="0"/>
          </a:p>
        </p:txBody>
      </p:sp>
      <p:sp>
        <p:nvSpPr>
          <p:cNvPr id="21" name="Text 19"/>
          <p:cNvSpPr/>
          <p:nvPr/>
        </p:nvSpPr>
        <p:spPr>
          <a:xfrm>
            <a:off x="4965192" y="2286000"/>
            <a:ext cx="37490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光越多，SNR 越好；噪聲是感測過程必然產生的</a:t>
            </a:r>
            <a:endParaRPr lang="en-US" sz="1100" dirty="0"/>
          </a:p>
        </p:txBody>
      </p:sp>
      <p:sp>
        <p:nvSpPr>
          <p:cNvPr id="22" name="Shape 20"/>
          <p:cNvSpPr/>
          <p:nvPr/>
        </p:nvSpPr>
        <p:spPr>
          <a:xfrm>
            <a:off x="4754880" y="2889504"/>
            <a:ext cx="4069080" cy="82296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3" name="Shape 21"/>
          <p:cNvSpPr/>
          <p:nvPr/>
        </p:nvSpPr>
        <p:spPr>
          <a:xfrm>
            <a:off x="4754880" y="2889504"/>
            <a:ext cx="109728" cy="822960"/>
          </a:xfrm>
          <a:prstGeom prst="rect">
            <a:avLst/>
          </a:prstGeom>
          <a:solidFill>
            <a:srgbClr val="1E3A5F"/>
          </a:solidFill>
          <a:ln w="12700">
            <a:solidFill>
              <a:srgbClr val="1E3A5F"/>
            </a:solidFill>
            <a:prstDash val="solid"/>
          </a:ln>
        </p:spPr>
        <p:txBody>
          <a:bodyPr/>
          <a:lstStyle/>
          <a:p>
            <a:endParaRPr lang="zh-TW" altLang="en-US"/>
          </a:p>
        </p:txBody>
      </p:sp>
      <p:sp>
        <p:nvSpPr>
          <p:cNvPr id="24" name="Text 22"/>
          <p:cNvSpPr/>
          <p:nvPr/>
        </p:nvSpPr>
        <p:spPr>
          <a:xfrm>
            <a:off x="4965192" y="2944368"/>
            <a:ext cx="3749040" cy="27432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大 Sensor 優勢</a:t>
            </a:r>
            <a:endParaRPr lang="en-US" sz="1300" dirty="0"/>
          </a:p>
        </p:txBody>
      </p:sp>
      <p:sp>
        <p:nvSpPr>
          <p:cNvPr id="25" name="Text 23"/>
          <p:cNvSpPr/>
          <p:nvPr/>
        </p:nvSpPr>
        <p:spPr>
          <a:xfrm>
            <a:off x="4965192" y="3273552"/>
            <a:ext cx="3749040" cy="34747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更大的感光單元能在低光下收集更多光子</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35F54A08-D342-CB44-2665-CEA710E2F3B6}"/>
              </a:ext>
            </a:extLst>
          </p:cNvPr>
          <p:cNvPicPr>
            <a:picLocks noChangeAspect="1"/>
          </p:cNvPicPr>
          <p:nvPr/>
        </p:nvPicPr>
        <p:blipFill>
          <a:blip r:embed="rId2"/>
          <a:stretch>
            <a:fillRect/>
          </a:stretch>
        </p:blipFill>
        <p:spPr>
          <a:xfrm>
            <a:off x="469689" y="88772"/>
            <a:ext cx="8204622" cy="4965955"/>
          </a:xfrm>
          <a:prstGeom prst="rect">
            <a:avLst/>
          </a:prstGeom>
        </p:spPr>
      </p:pic>
    </p:spTree>
    <p:extLst>
      <p:ext uri="{BB962C8B-B14F-4D97-AF65-F5344CB8AC3E}">
        <p14:creationId xmlns:p14="http://schemas.microsoft.com/office/powerpoint/2010/main" val="2156359576"/>
      </p:ext>
    </p:extLst>
  </p:cSld>
  <p:clrMapOvr>
    <a:masterClrMapping/>
  </p:clrMapOvr>
  <p:transition>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Ch3 ｜ 第三章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Rolling Shutter vs Global Shutter：為什麼高速物體會歪？</a:t>
            </a:r>
            <a:endParaRPr lang="en-US" sz="2200" dirty="0"/>
          </a:p>
        </p:txBody>
      </p:sp>
      <p:sp>
        <p:nvSpPr>
          <p:cNvPr id="7" name="Shape 5"/>
          <p:cNvSpPr/>
          <p:nvPr/>
        </p:nvSpPr>
        <p:spPr>
          <a:xfrm>
            <a:off x="320040" y="914400"/>
            <a:ext cx="4023360" cy="2743200"/>
          </a:xfrm>
          <a:prstGeom prst="rect">
            <a:avLst/>
          </a:prstGeom>
          <a:solidFill>
            <a:srgbClr val="E8F0E8"/>
          </a:solidFill>
          <a:ln w="19050">
            <a:solidFill>
              <a:srgbClr val="7CB97C"/>
            </a:solidFill>
            <a:prstDash val="solid"/>
          </a:ln>
        </p:spPr>
        <p:txBody>
          <a:bodyPr/>
          <a:lstStyle/>
          <a:p>
            <a:endParaRPr lang="zh-TW" altLang="en-US"/>
          </a:p>
        </p:txBody>
      </p:sp>
      <p:sp>
        <p:nvSpPr>
          <p:cNvPr id="8" name="Text 6"/>
          <p:cNvSpPr/>
          <p:nvPr/>
        </p:nvSpPr>
        <p:spPr>
          <a:xfrm>
            <a:off x="411480" y="987552"/>
            <a:ext cx="3840480" cy="384048"/>
          </a:xfrm>
          <a:prstGeom prst="rect">
            <a:avLst/>
          </a:prstGeom>
          <a:noFill/>
          <a:ln/>
        </p:spPr>
        <p:txBody>
          <a:bodyPr wrap="square" rtlCol="0" anchor="ctr"/>
          <a:lstStyle/>
          <a:p>
            <a:pPr marL="0" indent="0" algn="ctr">
              <a:buNone/>
            </a:pPr>
            <a:r>
              <a:rPr lang="en-US" sz="1400" b="1" dirty="0">
                <a:solidFill>
                  <a:srgbClr val="2A6B2A"/>
                </a:solidFill>
                <a:latin typeface="Calibri" pitchFamily="34" charset="0"/>
                <a:ea typeface="Calibri" pitchFamily="34" charset="-122"/>
                <a:cs typeface="Calibri" pitchFamily="34" charset="-120"/>
              </a:rPr>
              <a:t>Global Shutter ✅</a:t>
            </a:r>
            <a:endParaRPr lang="en-US" sz="1400" dirty="0"/>
          </a:p>
        </p:txBody>
      </p:sp>
      <p:sp>
        <p:nvSpPr>
          <p:cNvPr id="9" name="Shape 7"/>
          <p:cNvSpPr/>
          <p:nvPr/>
        </p:nvSpPr>
        <p:spPr>
          <a:xfrm>
            <a:off x="640080" y="1508760"/>
            <a:ext cx="3383280" cy="237744"/>
          </a:xfrm>
          <a:prstGeom prst="rect">
            <a:avLst/>
          </a:prstGeom>
          <a:solidFill>
            <a:srgbClr val="70AD47"/>
          </a:solidFill>
          <a:ln w="12700">
            <a:solidFill>
              <a:srgbClr val="70AD47"/>
            </a:solidFill>
            <a:prstDash val="solid"/>
          </a:ln>
        </p:spPr>
        <p:txBody>
          <a:bodyPr/>
          <a:lstStyle/>
          <a:p>
            <a:endParaRPr lang="zh-TW" altLang="en-US"/>
          </a:p>
        </p:txBody>
      </p:sp>
      <p:sp>
        <p:nvSpPr>
          <p:cNvPr id="10" name="Shape 8"/>
          <p:cNvSpPr/>
          <p:nvPr/>
        </p:nvSpPr>
        <p:spPr>
          <a:xfrm>
            <a:off x="640080" y="1837944"/>
            <a:ext cx="3383280" cy="237744"/>
          </a:xfrm>
          <a:prstGeom prst="rect">
            <a:avLst/>
          </a:prstGeom>
          <a:solidFill>
            <a:srgbClr val="70AD47"/>
          </a:solidFill>
          <a:ln w="12700">
            <a:solidFill>
              <a:srgbClr val="70AD47"/>
            </a:solidFill>
            <a:prstDash val="solid"/>
          </a:ln>
        </p:spPr>
        <p:txBody>
          <a:bodyPr/>
          <a:lstStyle/>
          <a:p>
            <a:endParaRPr lang="zh-TW" altLang="en-US"/>
          </a:p>
        </p:txBody>
      </p:sp>
      <p:sp>
        <p:nvSpPr>
          <p:cNvPr id="11" name="Shape 9"/>
          <p:cNvSpPr/>
          <p:nvPr/>
        </p:nvSpPr>
        <p:spPr>
          <a:xfrm>
            <a:off x="640080" y="2167128"/>
            <a:ext cx="3383280" cy="237744"/>
          </a:xfrm>
          <a:prstGeom prst="rect">
            <a:avLst/>
          </a:prstGeom>
          <a:solidFill>
            <a:srgbClr val="70AD47"/>
          </a:solidFill>
          <a:ln w="12700">
            <a:solidFill>
              <a:srgbClr val="70AD47"/>
            </a:solidFill>
            <a:prstDash val="solid"/>
          </a:ln>
        </p:spPr>
        <p:txBody>
          <a:bodyPr/>
          <a:lstStyle/>
          <a:p>
            <a:endParaRPr lang="zh-TW" altLang="en-US"/>
          </a:p>
        </p:txBody>
      </p:sp>
      <p:sp>
        <p:nvSpPr>
          <p:cNvPr id="12" name="Shape 10"/>
          <p:cNvSpPr/>
          <p:nvPr/>
        </p:nvSpPr>
        <p:spPr>
          <a:xfrm>
            <a:off x="640080" y="2496312"/>
            <a:ext cx="3383280" cy="237744"/>
          </a:xfrm>
          <a:prstGeom prst="rect">
            <a:avLst/>
          </a:prstGeom>
          <a:solidFill>
            <a:srgbClr val="70AD47"/>
          </a:solidFill>
          <a:ln w="12700">
            <a:solidFill>
              <a:srgbClr val="70AD47"/>
            </a:solidFill>
            <a:prstDash val="solid"/>
          </a:ln>
        </p:spPr>
        <p:txBody>
          <a:bodyPr/>
          <a:lstStyle/>
          <a:p>
            <a:endParaRPr lang="zh-TW" altLang="en-US"/>
          </a:p>
        </p:txBody>
      </p:sp>
      <p:sp>
        <p:nvSpPr>
          <p:cNvPr id="13" name="Shape 11"/>
          <p:cNvSpPr/>
          <p:nvPr/>
        </p:nvSpPr>
        <p:spPr>
          <a:xfrm>
            <a:off x="640080" y="2825496"/>
            <a:ext cx="3383280" cy="237744"/>
          </a:xfrm>
          <a:prstGeom prst="rect">
            <a:avLst/>
          </a:prstGeom>
          <a:solidFill>
            <a:srgbClr val="70AD47"/>
          </a:solidFill>
          <a:ln w="12700">
            <a:solidFill>
              <a:srgbClr val="70AD47"/>
            </a:solidFill>
            <a:prstDash val="solid"/>
          </a:ln>
        </p:spPr>
        <p:txBody>
          <a:bodyPr/>
          <a:lstStyle/>
          <a:p>
            <a:endParaRPr lang="zh-TW" altLang="en-US"/>
          </a:p>
        </p:txBody>
      </p:sp>
      <p:sp>
        <p:nvSpPr>
          <p:cNvPr id="14" name="Text 12"/>
          <p:cNvSpPr/>
          <p:nvPr/>
        </p:nvSpPr>
        <p:spPr>
          <a:xfrm>
            <a:off x="411480" y="3182112"/>
            <a:ext cx="3840480" cy="384048"/>
          </a:xfrm>
          <a:prstGeom prst="rect">
            <a:avLst/>
          </a:prstGeom>
          <a:noFill/>
          <a:ln/>
        </p:spPr>
        <p:txBody>
          <a:bodyPr wrap="square" rtlCol="0" anchor="ctr"/>
          <a:lstStyle/>
          <a:p>
            <a:pPr marL="0" indent="0" algn="ctr">
              <a:buNone/>
            </a:pPr>
            <a:r>
              <a:rPr lang="en-US" sz="1100" dirty="0">
                <a:solidFill>
                  <a:srgbClr val="2A6B2A"/>
                </a:solidFill>
                <a:latin typeface="Calibri" pitchFamily="34" charset="0"/>
                <a:ea typeface="Calibri" pitchFamily="34" charset="-122"/>
                <a:cs typeface="Calibri" pitchFamily="34" charset="-120"/>
              </a:rPr>
              <a:t>全畫面同時曝光</a:t>
            </a:r>
            <a:endParaRPr lang="en-US" sz="1100" dirty="0"/>
          </a:p>
          <a:p>
            <a:pPr marL="0" indent="0" algn="ctr">
              <a:buNone/>
            </a:pPr>
            <a:r>
              <a:rPr lang="en-US" sz="1100" dirty="0">
                <a:solidFill>
                  <a:srgbClr val="2A6B2A"/>
                </a:solidFill>
                <a:latin typeface="Calibri" pitchFamily="34" charset="0"/>
                <a:ea typeface="Calibri" pitchFamily="34" charset="-122"/>
                <a:cs typeface="Calibri" pitchFamily="34" charset="-120"/>
              </a:rPr>
              <a:t>無時序差異</a:t>
            </a:r>
            <a:endParaRPr lang="en-US" sz="1100" dirty="0"/>
          </a:p>
        </p:txBody>
      </p:sp>
      <p:sp>
        <p:nvSpPr>
          <p:cNvPr id="15" name="Shape 13"/>
          <p:cNvSpPr/>
          <p:nvPr/>
        </p:nvSpPr>
        <p:spPr>
          <a:xfrm>
            <a:off x="4800600" y="914400"/>
            <a:ext cx="4023360" cy="2743200"/>
          </a:xfrm>
          <a:prstGeom prst="rect">
            <a:avLst/>
          </a:prstGeom>
          <a:solidFill>
            <a:srgbClr val="F2E0E0"/>
          </a:solidFill>
          <a:ln w="19050">
            <a:solidFill>
              <a:srgbClr val="CC6666"/>
            </a:solidFill>
            <a:prstDash val="solid"/>
          </a:ln>
        </p:spPr>
        <p:txBody>
          <a:bodyPr/>
          <a:lstStyle/>
          <a:p>
            <a:endParaRPr lang="zh-TW" altLang="en-US"/>
          </a:p>
        </p:txBody>
      </p:sp>
      <p:sp>
        <p:nvSpPr>
          <p:cNvPr id="16" name="Text 14"/>
          <p:cNvSpPr/>
          <p:nvPr/>
        </p:nvSpPr>
        <p:spPr>
          <a:xfrm>
            <a:off x="4892040" y="987552"/>
            <a:ext cx="3840480" cy="384048"/>
          </a:xfrm>
          <a:prstGeom prst="rect">
            <a:avLst/>
          </a:prstGeom>
          <a:noFill/>
          <a:ln/>
        </p:spPr>
        <p:txBody>
          <a:bodyPr wrap="square" rtlCol="0" anchor="ctr"/>
          <a:lstStyle/>
          <a:p>
            <a:pPr marL="0" indent="0" algn="ctr">
              <a:buNone/>
            </a:pPr>
            <a:r>
              <a:rPr lang="en-US" sz="1400" b="1" dirty="0">
                <a:solidFill>
                  <a:srgbClr val="882222"/>
                </a:solidFill>
                <a:latin typeface="Calibri" pitchFamily="34" charset="0"/>
                <a:ea typeface="Calibri" pitchFamily="34" charset="-122"/>
                <a:cs typeface="Calibri" pitchFamily="34" charset="-120"/>
              </a:rPr>
              <a:t>Rolling Shutter ⚠️</a:t>
            </a:r>
            <a:endParaRPr lang="en-US" sz="1400" dirty="0"/>
          </a:p>
        </p:txBody>
      </p:sp>
      <p:sp>
        <p:nvSpPr>
          <p:cNvPr id="17" name="Shape 15"/>
          <p:cNvSpPr/>
          <p:nvPr/>
        </p:nvSpPr>
        <p:spPr>
          <a:xfrm>
            <a:off x="5029200" y="1508760"/>
            <a:ext cx="3017520" cy="237744"/>
          </a:xfrm>
          <a:prstGeom prst="rect">
            <a:avLst/>
          </a:prstGeom>
          <a:solidFill>
            <a:srgbClr val="CC6666"/>
          </a:solidFill>
          <a:ln w="12700">
            <a:solidFill>
              <a:srgbClr val="CC6666"/>
            </a:solidFill>
            <a:prstDash val="solid"/>
          </a:ln>
        </p:spPr>
        <p:txBody>
          <a:bodyPr/>
          <a:lstStyle/>
          <a:p>
            <a:endParaRPr lang="zh-TW" altLang="en-US"/>
          </a:p>
        </p:txBody>
      </p:sp>
      <p:sp>
        <p:nvSpPr>
          <p:cNvPr id="18" name="Shape 16"/>
          <p:cNvSpPr/>
          <p:nvPr/>
        </p:nvSpPr>
        <p:spPr>
          <a:xfrm>
            <a:off x="5138928" y="1837944"/>
            <a:ext cx="2926080" cy="237744"/>
          </a:xfrm>
          <a:prstGeom prst="rect">
            <a:avLst/>
          </a:prstGeom>
          <a:solidFill>
            <a:srgbClr val="CC6666"/>
          </a:solidFill>
          <a:ln w="12700">
            <a:solidFill>
              <a:srgbClr val="CC6666"/>
            </a:solidFill>
            <a:prstDash val="solid"/>
          </a:ln>
        </p:spPr>
        <p:txBody>
          <a:bodyPr/>
          <a:lstStyle/>
          <a:p>
            <a:endParaRPr lang="zh-TW" altLang="en-US"/>
          </a:p>
        </p:txBody>
      </p:sp>
      <p:sp>
        <p:nvSpPr>
          <p:cNvPr id="19" name="Shape 17"/>
          <p:cNvSpPr/>
          <p:nvPr/>
        </p:nvSpPr>
        <p:spPr>
          <a:xfrm>
            <a:off x="5248656" y="2167128"/>
            <a:ext cx="2834640" cy="237744"/>
          </a:xfrm>
          <a:prstGeom prst="rect">
            <a:avLst/>
          </a:prstGeom>
          <a:solidFill>
            <a:srgbClr val="CC6666"/>
          </a:solidFill>
          <a:ln w="12700">
            <a:solidFill>
              <a:srgbClr val="CC6666"/>
            </a:solidFill>
            <a:prstDash val="solid"/>
          </a:ln>
        </p:spPr>
        <p:txBody>
          <a:bodyPr/>
          <a:lstStyle/>
          <a:p>
            <a:endParaRPr lang="zh-TW" altLang="en-US"/>
          </a:p>
        </p:txBody>
      </p:sp>
      <p:sp>
        <p:nvSpPr>
          <p:cNvPr id="20" name="Shape 18"/>
          <p:cNvSpPr/>
          <p:nvPr/>
        </p:nvSpPr>
        <p:spPr>
          <a:xfrm>
            <a:off x="5358384" y="2496312"/>
            <a:ext cx="2743200" cy="237744"/>
          </a:xfrm>
          <a:prstGeom prst="rect">
            <a:avLst/>
          </a:prstGeom>
          <a:solidFill>
            <a:srgbClr val="CC6666"/>
          </a:solidFill>
          <a:ln w="12700">
            <a:solidFill>
              <a:srgbClr val="CC6666"/>
            </a:solidFill>
            <a:prstDash val="solid"/>
          </a:ln>
        </p:spPr>
        <p:txBody>
          <a:bodyPr/>
          <a:lstStyle/>
          <a:p>
            <a:endParaRPr lang="zh-TW" altLang="en-US"/>
          </a:p>
        </p:txBody>
      </p:sp>
      <p:sp>
        <p:nvSpPr>
          <p:cNvPr id="21" name="Shape 19"/>
          <p:cNvSpPr/>
          <p:nvPr/>
        </p:nvSpPr>
        <p:spPr>
          <a:xfrm>
            <a:off x="5468112" y="2825496"/>
            <a:ext cx="2651760" cy="237744"/>
          </a:xfrm>
          <a:prstGeom prst="rect">
            <a:avLst/>
          </a:prstGeom>
          <a:solidFill>
            <a:srgbClr val="CC6666"/>
          </a:solidFill>
          <a:ln w="12700">
            <a:solidFill>
              <a:srgbClr val="CC6666"/>
            </a:solidFill>
            <a:prstDash val="solid"/>
          </a:ln>
        </p:spPr>
        <p:txBody>
          <a:bodyPr/>
          <a:lstStyle/>
          <a:p>
            <a:endParaRPr lang="zh-TW" altLang="en-US"/>
          </a:p>
        </p:txBody>
      </p:sp>
      <p:sp>
        <p:nvSpPr>
          <p:cNvPr id="22" name="Text 20"/>
          <p:cNvSpPr/>
          <p:nvPr/>
        </p:nvSpPr>
        <p:spPr>
          <a:xfrm>
            <a:off x="4892040" y="3182112"/>
            <a:ext cx="3840480" cy="384048"/>
          </a:xfrm>
          <a:prstGeom prst="rect">
            <a:avLst/>
          </a:prstGeom>
          <a:noFill/>
          <a:ln/>
        </p:spPr>
        <p:txBody>
          <a:bodyPr wrap="square" rtlCol="0" anchor="ctr"/>
          <a:lstStyle/>
          <a:p>
            <a:pPr marL="0" indent="0" algn="ctr">
              <a:buNone/>
            </a:pPr>
            <a:r>
              <a:rPr lang="en-US" sz="1100" dirty="0">
                <a:solidFill>
                  <a:srgbClr val="882222"/>
                </a:solidFill>
                <a:latin typeface="Calibri" pitchFamily="34" charset="0"/>
                <a:ea typeface="Calibri" pitchFamily="34" charset="-122"/>
                <a:cs typeface="Calibri" pitchFamily="34" charset="-120"/>
              </a:rPr>
              <a:t>逐行曝光 — 移動物體</a:t>
            </a:r>
            <a:endParaRPr lang="en-US" sz="1100" dirty="0"/>
          </a:p>
          <a:p>
            <a:pPr marL="0" indent="0" algn="ctr">
              <a:buNone/>
            </a:pPr>
            <a:r>
              <a:rPr lang="en-US" sz="1100" dirty="0">
                <a:solidFill>
                  <a:srgbClr val="882222"/>
                </a:solidFill>
                <a:latin typeface="Calibri" pitchFamily="34" charset="0"/>
                <a:ea typeface="Calibri" pitchFamily="34" charset="-122"/>
                <a:cs typeface="Calibri" pitchFamily="34" charset="-120"/>
              </a:rPr>
              <a:t>產生傾斜/果凍失真</a:t>
            </a:r>
            <a:endParaRPr lang="en-US" sz="1100" dirty="0"/>
          </a:p>
        </p:txBody>
      </p:sp>
    </p:spTree>
    <p:extLst>
      <p:ext uri="{BB962C8B-B14F-4D97-AF65-F5344CB8AC3E}">
        <p14:creationId xmlns:p14="http://schemas.microsoft.com/office/powerpoint/2010/main" val="1339313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1B09C6B5-3130-D44C-D15F-BD827396448C}"/>
              </a:ext>
            </a:extLst>
          </p:cNvPr>
          <p:cNvPicPr>
            <a:picLocks noChangeAspect="1"/>
          </p:cNvPicPr>
          <p:nvPr/>
        </p:nvPicPr>
        <p:blipFill>
          <a:blip r:embed="rId2"/>
          <a:stretch>
            <a:fillRect/>
          </a:stretch>
        </p:blipFill>
        <p:spPr>
          <a:xfrm>
            <a:off x="406186" y="936541"/>
            <a:ext cx="8331628" cy="3270418"/>
          </a:xfrm>
          <a:prstGeom prst="rect">
            <a:avLst/>
          </a:prstGeom>
        </p:spPr>
      </p:pic>
    </p:spTree>
    <p:extLst>
      <p:ext uri="{BB962C8B-B14F-4D97-AF65-F5344CB8AC3E}">
        <p14:creationId xmlns:p14="http://schemas.microsoft.com/office/powerpoint/2010/main" val="2889311519"/>
      </p:ext>
    </p:extLst>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zh-TW" altLang="zh-TW" dirty="0">
                <a:solidFill>
                  <a:srgbClr val="0000CC"/>
                </a:solidFill>
              </a:rPr>
              <a:t>取樣</a:t>
            </a:r>
            <a:r>
              <a:rPr lang="en-US" altLang="zh-TW" dirty="0"/>
              <a:t> </a:t>
            </a:r>
            <a:r>
              <a:rPr lang="en-US" altLang="zh-TW" dirty="0">
                <a:solidFill>
                  <a:srgbClr val="0000CC"/>
                </a:solidFill>
              </a:rPr>
              <a:t>(sampling) </a:t>
            </a:r>
            <a:r>
              <a:rPr lang="zh-TW" altLang="zh-TW" dirty="0"/>
              <a:t>指的是將連續函數數位化的過程</a:t>
            </a:r>
            <a:r>
              <a:rPr lang="zh-TW" altLang="en-US" dirty="0"/>
              <a:t>。</a:t>
            </a:r>
            <a:endParaRPr lang="en-US" altLang="zh-TW" dirty="0"/>
          </a:p>
          <a:p>
            <a:endParaRPr lang="en-US" altLang="zh-TW" dirty="0"/>
          </a:p>
          <a:p>
            <a:pPr>
              <a:lnSpc>
                <a:spcPts val="1500"/>
              </a:lnSpc>
            </a:pPr>
            <a:endParaRPr lang="en-US" altLang="zh-TW" dirty="0"/>
          </a:p>
          <a:p>
            <a:r>
              <a:rPr lang="zh-TW" altLang="zh-TW" dirty="0">
                <a:solidFill>
                  <a:srgbClr val="0000CC"/>
                </a:solidFill>
              </a:rPr>
              <a:t>低度取樣</a:t>
            </a:r>
            <a:r>
              <a:rPr lang="en-US" altLang="zh-TW" dirty="0">
                <a:solidFill>
                  <a:srgbClr val="0000CC"/>
                </a:solidFill>
              </a:rPr>
              <a:t> (</a:t>
            </a:r>
            <a:r>
              <a:rPr lang="en-US" altLang="zh-TW" dirty="0" err="1">
                <a:solidFill>
                  <a:srgbClr val="0000CC"/>
                </a:solidFill>
              </a:rPr>
              <a:t>undersampling</a:t>
            </a:r>
            <a:r>
              <a:rPr lang="en-US" altLang="zh-TW" dirty="0">
                <a:solidFill>
                  <a:srgbClr val="0000CC"/>
                </a:solidFill>
              </a:rPr>
              <a:t>)</a:t>
            </a:r>
            <a:r>
              <a:rPr lang="zh-TW" altLang="zh-TW" dirty="0"/>
              <a:t>，取樣點數不足以重新建構該函數。</a:t>
            </a:r>
            <a:endParaRPr lang="en-US" altLang="zh-TW" dirty="0"/>
          </a:p>
        </p:txBody>
      </p:sp>
      <p:graphicFrame>
        <p:nvGraphicFramePr>
          <p:cNvPr id="4" name="物件 3"/>
          <p:cNvGraphicFramePr>
            <a:graphicFrameLocks noChangeAspect="1"/>
          </p:cNvGraphicFramePr>
          <p:nvPr>
            <p:extLst>
              <p:ext uri="{D42A27DB-BD31-4B8C-83A1-F6EECF244321}">
                <p14:modId xmlns:p14="http://schemas.microsoft.com/office/powerpoint/2010/main" val="2161663249"/>
              </p:ext>
            </p:extLst>
          </p:nvPr>
        </p:nvGraphicFramePr>
        <p:xfrm>
          <a:off x="2632471" y="1509316"/>
          <a:ext cx="1939529" cy="566738"/>
        </p:xfrm>
        <a:graphic>
          <a:graphicData uri="http://schemas.openxmlformats.org/presentationml/2006/ole">
            <mc:AlternateContent xmlns:mc="http://schemas.openxmlformats.org/markup-compatibility/2006">
              <mc:Choice xmlns:v="urn:schemas-microsoft-com:vml" Requires="v">
                <p:oleObj name="Equation" r:id="rId2" imgW="1346040" imgH="393480" progId="Equation.DSMT4">
                  <p:embed/>
                </p:oleObj>
              </mc:Choice>
              <mc:Fallback>
                <p:oleObj name="Equation" r:id="rId2" imgW="1346040" imgH="393480" progId="Equation.DSMT4">
                  <p:embed/>
                  <p:pic>
                    <p:nvPicPr>
                      <p:cNvPr id="4" name="物件 3"/>
                      <p:cNvPicPr/>
                      <p:nvPr/>
                    </p:nvPicPr>
                    <p:blipFill>
                      <a:blip r:embed="rId3"/>
                      <a:stretch>
                        <a:fillRect/>
                      </a:stretch>
                    </p:blipFill>
                    <p:spPr>
                      <a:xfrm>
                        <a:off x="2632471" y="1509316"/>
                        <a:ext cx="1939529" cy="566738"/>
                      </a:xfrm>
                      <a:prstGeom prst="rect">
                        <a:avLst/>
                      </a:prstGeom>
                    </p:spPr>
                  </p:pic>
                </p:oleObj>
              </mc:Fallback>
            </mc:AlternateContent>
          </a:graphicData>
        </a:graphic>
      </p:graphicFrame>
    </p:spTree>
    <p:extLst>
      <p:ext uri="{BB962C8B-B14F-4D97-AF65-F5344CB8AC3E}">
        <p14:creationId xmlns:p14="http://schemas.microsoft.com/office/powerpoint/2010/main" val="2862714559"/>
      </p:ext>
    </p:extLst>
  </p:cSld>
  <p:clrMapOvr>
    <a:masterClrMapping/>
  </p:clrMapOvr>
  <p:transition>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47FF7C7-689D-9040-D2DC-426BE68EB14A}"/>
              </a:ext>
            </a:extLst>
          </p:cNvPr>
          <p:cNvPicPr>
            <a:picLocks noChangeAspect="1"/>
          </p:cNvPicPr>
          <p:nvPr/>
        </p:nvPicPr>
        <p:blipFill>
          <a:blip r:embed="rId2"/>
          <a:stretch>
            <a:fillRect/>
          </a:stretch>
        </p:blipFill>
        <p:spPr>
          <a:xfrm>
            <a:off x="288705" y="460266"/>
            <a:ext cx="8566590" cy="4222967"/>
          </a:xfrm>
          <a:prstGeom prst="rect">
            <a:avLst/>
          </a:prstGeom>
        </p:spPr>
      </p:pic>
    </p:spTree>
    <p:extLst>
      <p:ext uri="{BB962C8B-B14F-4D97-AF65-F5344CB8AC3E}">
        <p14:creationId xmlns:p14="http://schemas.microsoft.com/office/powerpoint/2010/main" val="3121657469"/>
      </p:ext>
    </p:extLst>
  </p:cSld>
  <p:clrMapOvr>
    <a:masterClrMapping/>
  </p:clrMapOvr>
  <p:transition>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rohm.com.tw/documents/11409/3788201/ADC2-3-tw.jpg/df772c22-915c-4a4f-b57c-e759f01d8843?t=14503878422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217" y="577985"/>
            <a:ext cx="4640745" cy="3129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359543"/>
      </p:ext>
    </p:extLst>
  </p:cSld>
  <p:clrMapOvr>
    <a:masterClrMapping/>
  </p:clrMapOvr>
  <p:transition>
    <p:wipe/>
  </p:transition>
</p:sld>
</file>

<file path=ppt/slides/slide37.xml><?xml version="1.0" encoding="utf-8"?>
<p:sld xmlns:a="http://schemas.openxmlformats.org/drawingml/2006/main" xmlns:r="http://schemas.openxmlformats.org/officeDocument/2006/relationships" xmlns:p="http://schemas.openxmlformats.org/presentationml/2006/main">
  <p:cSld name="Slide 1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Ch3 ｜ 第三章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從光到離散資料：Camera sensors produce discrete outputs</a:t>
            </a:r>
            <a:endParaRPr lang="en-US" sz="2200" dirty="0"/>
          </a:p>
        </p:txBody>
      </p:sp>
      <p:sp>
        <p:nvSpPr>
          <p:cNvPr id="7" name="Shape 5"/>
          <p:cNvSpPr/>
          <p:nvPr/>
        </p:nvSpPr>
        <p:spPr>
          <a:xfrm>
            <a:off x="320040" y="914400"/>
            <a:ext cx="4114800" cy="2926080"/>
          </a:xfrm>
          <a:prstGeom prst="rect">
            <a:avLst/>
          </a:prstGeom>
          <a:solidFill>
            <a:srgbClr val="F3EFE7"/>
          </a:solidFill>
          <a:ln w="12700">
            <a:solidFill>
              <a:srgbClr val="E8E0D0"/>
            </a:solidFill>
            <a:prstDash val="solid"/>
          </a:ln>
        </p:spPr>
        <p:txBody>
          <a:bodyPr/>
          <a:lstStyle/>
          <a:p>
            <a:endParaRPr lang="zh-TW" altLang="en-US"/>
          </a:p>
        </p:txBody>
      </p:sp>
      <p:sp>
        <p:nvSpPr>
          <p:cNvPr id="8" name="Text 6"/>
          <p:cNvSpPr/>
          <p:nvPr/>
        </p:nvSpPr>
        <p:spPr>
          <a:xfrm>
            <a:off x="411480" y="987552"/>
            <a:ext cx="1920240" cy="320040"/>
          </a:xfrm>
          <a:prstGeom prst="rect">
            <a:avLst/>
          </a:prstGeom>
          <a:noFill/>
          <a:ln/>
        </p:spPr>
        <p:txBody>
          <a:bodyPr wrap="square" rtlCol="0" anchor="ctr"/>
          <a:lstStyle/>
          <a:p>
            <a:pPr marL="0" indent="0" algn="ctr">
              <a:buNone/>
            </a:pPr>
            <a:r>
              <a:rPr lang="en-US" sz="1200" b="1" dirty="0">
                <a:solidFill>
                  <a:srgbClr val="5B9BD5"/>
                </a:solidFill>
                <a:latin typeface="Calibri" pitchFamily="34" charset="0"/>
                <a:ea typeface="Calibri" pitchFamily="34" charset="-122"/>
                <a:cs typeface="Calibri" pitchFamily="34" charset="-120"/>
              </a:rPr>
              <a:t>連續世界</a:t>
            </a:r>
            <a:endParaRPr lang="en-US" sz="1200" dirty="0"/>
          </a:p>
        </p:txBody>
      </p:sp>
      <p:sp>
        <p:nvSpPr>
          <p:cNvPr id="9" name="Text 7"/>
          <p:cNvSpPr/>
          <p:nvPr/>
        </p:nvSpPr>
        <p:spPr>
          <a:xfrm>
            <a:off x="2331720" y="987552"/>
            <a:ext cx="2011680" cy="320040"/>
          </a:xfrm>
          <a:prstGeom prst="rect">
            <a:avLst/>
          </a:prstGeom>
          <a:noFill/>
          <a:ln/>
        </p:spPr>
        <p:txBody>
          <a:bodyPr wrap="square" rtlCol="0" anchor="ctr"/>
          <a:lstStyle/>
          <a:p>
            <a:pPr marL="0" indent="0" algn="ctr">
              <a:buNone/>
            </a:pPr>
            <a:r>
              <a:rPr lang="en-US" sz="1200" b="1" dirty="0">
                <a:solidFill>
                  <a:srgbClr val="C45C00"/>
                </a:solidFill>
                <a:latin typeface="Calibri" pitchFamily="34" charset="0"/>
                <a:ea typeface="Calibri" pitchFamily="34" charset="-122"/>
                <a:cs typeface="Calibri" pitchFamily="34" charset="-120"/>
              </a:rPr>
              <a:t>離散 Sample</a:t>
            </a:r>
            <a:endParaRPr lang="en-US" sz="1200" dirty="0"/>
          </a:p>
        </p:txBody>
      </p:sp>
      <p:sp>
        <p:nvSpPr>
          <p:cNvPr id="10" name="Shape 8"/>
          <p:cNvSpPr/>
          <p:nvPr/>
        </p:nvSpPr>
        <p:spPr>
          <a:xfrm>
            <a:off x="502920" y="1417320"/>
            <a:ext cx="1645920" cy="2194560"/>
          </a:xfrm>
          <a:prstGeom prst="ellipse">
            <a:avLst/>
          </a:prstGeom>
          <a:solidFill>
            <a:srgbClr val="C6D9F1"/>
          </a:solidFill>
          <a:ln w="12700">
            <a:solidFill>
              <a:srgbClr val="5B9BD5"/>
            </a:solidFill>
            <a:prstDash val="solid"/>
          </a:ln>
        </p:spPr>
        <p:txBody>
          <a:bodyPr/>
          <a:lstStyle/>
          <a:p>
            <a:endParaRPr lang="zh-TW" altLang="en-US"/>
          </a:p>
        </p:txBody>
      </p:sp>
      <p:sp>
        <p:nvSpPr>
          <p:cNvPr id="11" name="Text 9"/>
          <p:cNvSpPr/>
          <p:nvPr/>
        </p:nvSpPr>
        <p:spPr>
          <a:xfrm>
            <a:off x="502920" y="2286000"/>
            <a:ext cx="1645920" cy="457200"/>
          </a:xfrm>
          <a:prstGeom prst="rect">
            <a:avLst/>
          </a:prstGeom>
          <a:noFill/>
          <a:ln/>
        </p:spPr>
        <p:txBody>
          <a:bodyPr wrap="square" rtlCol="0" anchor="ctr"/>
          <a:lstStyle/>
          <a:p>
            <a:pPr marL="0" indent="0" algn="ctr">
              <a:buNone/>
            </a:pPr>
            <a:r>
              <a:rPr lang="en-US" sz="1000" dirty="0">
                <a:solidFill>
                  <a:srgbClr val="2E6EAA"/>
                </a:solidFill>
                <a:latin typeface="Calibri" pitchFamily="34" charset="0"/>
                <a:ea typeface="Calibri" pitchFamily="34" charset="-122"/>
                <a:cs typeface="Calibri" pitchFamily="34" charset="-120"/>
              </a:rPr>
              <a:t>連續光場</a:t>
            </a:r>
            <a:endParaRPr lang="en-US" sz="1000" dirty="0"/>
          </a:p>
          <a:p>
            <a:pPr marL="0" indent="0" algn="ctr">
              <a:buNone/>
            </a:pPr>
            <a:r>
              <a:rPr lang="en-US" sz="1000" dirty="0">
                <a:solidFill>
                  <a:srgbClr val="2E6EAA"/>
                </a:solidFill>
                <a:latin typeface="Calibri" pitchFamily="34" charset="0"/>
                <a:ea typeface="Calibri" pitchFamily="34" charset="-122"/>
                <a:cs typeface="Calibri" pitchFamily="34" charset="-120"/>
              </a:rPr>
              <a:t>（類比）</a:t>
            </a:r>
            <a:endParaRPr lang="en-US" sz="1000" dirty="0"/>
          </a:p>
        </p:txBody>
      </p:sp>
      <p:sp>
        <p:nvSpPr>
          <p:cNvPr id="12" name="Shape 10"/>
          <p:cNvSpPr/>
          <p:nvPr/>
        </p:nvSpPr>
        <p:spPr>
          <a:xfrm>
            <a:off x="2212848" y="2304288"/>
            <a:ext cx="137160" cy="109728"/>
          </a:xfrm>
          <a:prstGeom prst="rect">
            <a:avLst/>
          </a:prstGeom>
          <a:solidFill>
            <a:srgbClr val="888888"/>
          </a:solidFill>
          <a:ln w="12700">
            <a:solidFill>
              <a:srgbClr val="888888"/>
            </a:solidFill>
            <a:prstDash val="solid"/>
          </a:ln>
        </p:spPr>
        <p:txBody>
          <a:bodyPr/>
          <a:lstStyle/>
          <a:p>
            <a:endParaRPr lang="zh-TW" altLang="en-US"/>
          </a:p>
        </p:txBody>
      </p:sp>
      <p:sp>
        <p:nvSpPr>
          <p:cNvPr id="13" name="Shape 11"/>
          <p:cNvSpPr/>
          <p:nvPr/>
        </p:nvSpPr>
        <p:spPr>
          <a:xfrm>
            <a:off x="2423160" y="1417320"/>
            <a:ext cx="502920" cy="621792"/>
          </a:xfrm>
          <a:prstGeom prst="rect">
            <a:avLst/>
          </a:prstGeom>
          <a:solidFill>
            <a:srgbClr val="E07B39"/>
          </a:solidFill>
          <a:ln w="12700">
            <a:solidFill>
              <a:srgbClr val="FFFFFF"/>
            </a:solidFill>
            <a:prstDash val="solid"/>
          </a:ln>
        </p:spPr>
        <p:txBody>
          <a:bodyPr/>
          <a:lstStyle/>
          <a:p>
            <a:endParaRPr lang="zh-TW" altLang="en-US"/>
          </a:p>
        </p:txBody>
      </p:sp>
      <p:sp>
        <p:nvSpPr>
          <p:cNvPr id="14" name="Shape 12"/>
          <p:cNvSpPr/>
          <p:nvPr/>
        </p:nvSpPr>
        <p:spPr>
          <a:xfrm>
            <a:off x="2990088" y="1417320"/>
            <a:ext cx="502920" cy="621792"/>
          </a:xfrm>
          <a:prstGeom prst="rect">
            <a:avLst/>
          </a:prstGeom>
          <a:solidFill>
            <a:srgbClr val="F5C842"/>
          </a:solidFill>
          <a:ln w="12700">
            <a:solidFill>
              <a:srgbClr val="FFFFFF"/>
            </a:solidFill>
            <a:prstDash val="solid"/>
          </a:ln>
        </p:spPr>
        <p:txBody>
          <a:bodyPr/>
          <a:lstStyle/>
          <a:p>
            <a:endParaRPr lang="zh-TW" altLang="en-US"/>
          </a:p>
        </p:txBody>
      </p:sp>
      <p:sp>
        <p:nvSpPr>
          <p:cNvPr id="15" name="Shape 13"/>
          <p:cNvSpPr/>
          <p:nvPr/>
        </p:nvSpPr>
        <p:spPr>
          <a:xfrm>
            <a:off x="3557016" y="1417320"/>
            <a:ext cx="502920" cy="621792"/>
          </a:xfrm>
          <a:prstGeom prst="rect">
            <a:avLst/>
          </a:prstGeom>
          <a:solidFill>
            <a:srgbClr val="70AD47"/>
          </a:solidFill>
          <a:ln w="12700">
            <a:solidFill>
              <a:srgbClr val="FFFFFF"/>
            </a:solidFill>
            <a:prstDash val="solid"/>
          </a:ln>
        </p:spPr>
        <p:txBody>
          <a:bodyPr/>
          <a:lstStyle/>
          <a:p>
            <a:endParaRPr lang="zh-TW" altLang="en-US"/>
          </a:p>
        </p:txBody>
      </p:sp>
      <p:sp>
        <p:nvSpPr>
          <p:cNvPr id="16" name="Shape 14"/>
          <p:cNvSpPr/>
          <p:nvPr/>
        </p:nvSpPr>
        <p:spPr>
          <a:xfrm>
            <a:off x="2423160" y="2103120"/>
            <a:ext cx="502920" cy="621792"/>
          </a:xfrm>
          <a:prstGeom prst="rect">
            <a:avLst/>
          </a:prstGeom>
          <a:solidFill>
            <a:srgbClr val="5B9BD5"/>
          </a:solidFill>
          <a:ln w="12700">
            <a:solidFill>
              <a:srgbClr val="FFFFFF"/>
            </a:solidFill>
            <a:prstDash val="solid"/>
          </a:ln>
        </p:spPr>
        <p:txBody>
          <a:bodyPr/>
          <a:lstStyle/>
          <a:p>
            <a:endParaRPr lang="zh-TW" altLang="en-US"/>
          </a:p>
        </p:txBody>
      </p:sp>
      <p:sp>
        <p:nvSpPr>
          <p:cNvPr id="17" name="Shape 15"/>
          <p:cNvSpPr/>
          <p:nvPr/>
        </p:nvSpPr>
        <p:spPr>
          <a:xfrm>
            <a:off x="2990088" y="2103120"/>
            <a:ext cx="502920" cy="621792"/>
          </a:xfrm>
          <a:prstGeom prst="rect">
            <a:avLst/>
          </a:prstGeom>
          <a:solidFill>
            <a:srgbClr val="E07B39"/>
          </a:solidFill>
          <a:ln w="12700">
            <a:solidFill>
              <a:srgbClr val="FFFFFF"/>
            </a:solidFill>
            <a:prstDash val="solid"/>
          </a:ln>
        </p:spPr>
        <p:txBody>
          <a:bodyPr/>
          <a:lstStyle/>
          <a:p>
            <a:endParaRPr lang="zh-TW" altLang="en-US"/>
          </a:p>
        </p:txBody>
      </p:sp>
      <p:sp>
        <p:nvSpPr>
          <p:cNvPr id="18" name="Shape 16"/>
          <p:cNvSpPr/>
          <p:nvPr/>
        </p:nvSpPr>
        <p:spPr>
          <a:xfrm>
            <a:off x="3557016" y="2103120"/>
            <a:ext cx="502920" cy="621792"/>
          </a:xfrm>
          <a:prstGeom prst="rect">
            <a:avLst/>
          </a:prstGeom>
          <a:solidFill>
            <a:srgbClr val="F5C842"/>
          </a:solidFill>
          <a:ln w="12700">
            <a:solidFill>
              <a:srgbClr val="FFFFFF"/>
            </a:solidFill>
            <a:prstDash val="solid"/>
          </a:ln>
        </p:spPr>
        <p:txBody>
          <a:bodyPr/>
          <a:lstStyle/>
          <a:p>
            <a:endParaRPr lang="zh-TW" altLang="en-US"/>
          </a:p>
        </p:txBody>
      </p:sp>
      <p:sp>
        <p:nvSpPr>
          <p:cNvPr id="19" name="Shape 17"/>
          <p:cNvSpPr/>
          <p:nvPr/>
        </p:nvSpPr>
        <p:spPr>
          <a:xfrm>
            <a:off x="2423160" y="2788920"/>
            <a:ext cx="502920" cy="621792"/>
          </a:xfrm>
          <a:prstGeom prst="rect">
            <a:avLst/>
          </a:prstGeom>
          <a:solidFill>
            <a:srgbClr val="70AD47"/>
          </a:solidFill>
          <a:ln w="12700">
            <a:solidFill>
              <a:srgbClr val="FFFFFF"/>
            </a:solidFill>
            <a:prstDash val="solid"/>
          </a:ln>
        </p:spPr>
        <p:txBody>
          <a:bodyPr/>
          <a:lstStyle/>
          <a:p>
            <a:endParaRPr lang="zh-TW" altLang="en-US"/>
          </a:p>
        </p:txBody>
      </p:sp>
      <p:sp>
        <p:nvSpPr>
          <p:cNvPr id="20" name="Shape 18"/>
          <p:cNvSpPr/>
          <p:nvPr/>
        </p:nvSpPr>
        <p:spPr>
          <a:xfrm>
            <a:off x="2990088" y="2788920"/>
            <a:ext cx="502920" cy="621792"/>
          </a:xfrm>
          <a:prstGeom prst="rect">
            <a:avLst/>
          </a:prstGeom>
          <a:solidFill>
            <a:srgbClr val="5B9BD5"/>
          </a:solidFill>
          <a:ln w="12700">
            <a:solidFill>
              <a:srgbClr val="FFFFFF"/>
            </a:solidFill>
            <a:prstDash val="solid"/>
          </a:ln>
        </p:spPr>
        <p:txBody>
          <a:bodyPr/>
          <a:lstStyle/>
          <a:p>
            <a:endParaRPr lang="zh-TW" altLang="en-US"/>
          </a:p>
        </p:txBody>
      </p:sp>
      <p:sp>
        <p:nvSpPr>
          <p:cNvPr id="21" name="Shape 19"/>
          <p:cNvSpPr/>
          <p:nvPr/>
        </p:nvSpPr>
        <p:spPr>
          <a:xfrm>
            <a:off x="3557016" y="2788920"/>
            <a:ext cx="502920" cy="621792"/>
          </a:xfrm>
          <a:prstGeom prst="rect">
            <a:avLst/>
          </a:prstGeom>
          <a:solidFill>
            <a:srgbClr val="E07B39"/>
          </a:solidFill>
          <a:ln w="12700">
            <a:solidFill>
              <a:srgbClr val="FFFFFF"/>
            </a:solidFill>
            <a:prstDash val="solid"/>
          </a:ln>
        </p:spPr>
        <p:txBody>
          <a:bodyPr/>
          <a:lstStyle/>
          <a:p>
            <a:endParaRPr lang="zh-TW" altLang="en-US"/>
          </a:p>
        </p:txBody>
      </p:sp>
      <p:sp>
        <p:nvSpPr>
          <p:cNvPr id="22" name="Text 20"/>
          <p:cNvSpPr/>
          <p:nvPr/>
        </p:nvSpPr>
        <p:spPr>
          <a:xfrm>
            <a:off x="2331720" y="3520440"/>
            <a:ext cx="1920240" cy="256032"/>
          </a:xfrm>
          <a:prstGeom prst="rect">
            <a:avLst/>
          </a:prstGeom>
          <a:noFill/>
          <a:ln/>
        </p:spPr>
        <p:txBody>
          <a:bodyPr wrap="square" rtlCol="0" anchor="ctr"/>
          <a:lstStyle/>
          <a:p>
            <a:pPr marL="0" indent="0" algn="ctr">
              <a:buNone/>
            </a:pPr>
            <a:r>
              <a:rPr lang="en-US" sz="1000" dirty="0">
                <a:solidFill>
                  <a:srgbClr val="C45C00"/>
                </a:solidFill>
                <a:latin typeface="Calibri" pitchFamily="34" charset="0"/>
                <a:ea typeface="Calibri" pitchFamily="34" charset="-122"/>
                <a:cs typeface="Calibri" pitchFamily="34" charset="-120"/>
              </a:rPr>
              <a:t>離散像素</a:t>
            </a:r>
            <a:endParaRPr lang="en-US" sz="1000" dirty="0"/>
          </a:p>
          <a:p>
            <a:pPr marL="0" indent="0" algn="ctr">
              <a:buNone/>
            </a:pPr>
            <a:r>
              <a:rPr lang="en-US" sz="1000" dirty="0">
                <a:solidFill>
                  <a:srgbClr val="C45C00"/>
                </a:solidFill>
                <a:latin typeface="Calibri" pitchFamily="34" charset="0"/>
                <a:ea typeface="Calibri" pitchFamily="34" charset="-122"/>
                <a:cs typeface="Calibri" pitchFamily="34" charset="-120"/>
              </a:rPr>
              <a:t>（數位）</a:t>
            </a:r>
            <a:endParaRPr lang="en-US" sz="1000" dirty="0"/>
          </a:p>
        </p:txBody>
      </p:sp>
      <p:sp>
        <p:nvSpPr>
          <p:cNvPr id="23" name="Text 21"/>
          <p:cNvSpPr/>
          <p:nvPr/>
        </p:nvSpPr>
        <p:spPr>
          <a:xfrm>
            <a:off x="4663440" y="914400"/>
            <a:ext cx="4160520" cy="2926080"/>
          </a:xfrm>
          <a:prstGeom prst="rect">
            <a:avLst/>
          </a:prstGeom>
          <a:noFill/>
          <a:ln/>
        </p:spPr>
        <p:txBody>
          <a:bodyPr wrap="square" rtlCol="0" anchor="ctr"/>
          <a:lstStyle/>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每個 pixel 是一個空間位置的量測結果</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相機輸出是離散 sample，非連續場景本身</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這是後面 sampling / quantization / filtering 的根本起點</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放大影像到極限 → 看到「格子感」就是 sample 的邊界</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hape 51"/>
          <p:cNvSpPr/>
          <p:nvPr/>
        </p:nvSpPr>
        <p:spPr>
          <a:xfrm>
            <a:off x="320040" y="2443734"/>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54" name="Text 52"/>
          <p:cNvSpPr/>
          <p:nvPr/>
        </p:nvSpPr>
        <p:spPr>
          <a:xfrm>
            <a:off x="320040" y="2443734"/>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55" name="Text 53"/>
          <p:cNvSpPr/>
          <p:nvPr/>
        </p:nvSpPr>
        <p:spPr>
          <a:xfrm>
            <a:off x="868680" y="2443734"/>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如果一個 pixel 只看到 R、G、B 其中一種，那另外兩種從哪裡來？</a:t>
            </a:r>
            <a:endParaRPr lang="en-US" sz="1000" dirty="0"/>
          </a:p>
        </p:txBody>
      </p:sp>
      <p:sp>
        <p:nvSpPr>
          <p:cNvPr id="56" name="Shape 54"/>
          <p:cNvSpPr/>
          <p:nvPr/>
        </p:nvSpPr>
        <p:spPr>
          <a:xfrm>
            <a:off x="320040" y="2754630"/>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57" name="Text 55"/>
          <p:cNvSpPr/>
          <p:nvPr/>
        </p:nvSpPr>
        <p:spPr>
          <a:xfrm>
            <a:off x="320040" y="2754630"/>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58" name="Text 56"/>
          <p:cNvSpPr/>
          <p:nvPr/>
        </p:nvSpPr>
        <p:spPr>
          <a:xfrm>
            <a:off x="868680" y="2754630"/>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你看到的彩色影像，從一開始就已經包含推估與重建。</a:t>
            </a:r>
            <a:endParaRPr lang="en-US" sz="1000" dirty="0"/>
          </a:p>
        </p:txBody>
      </p:sp>
    </p:spTree>
    <p:extLst>
      <p:ext uri="{BB962C8B-B14F-4D97-AF65-F5344CB8AC3E}">
        <p14:creationId xmlns:p14="http://schemas.microsoft.com/office/powerpoint/2010/main" val="489027951"/>
      </p:ext>
    </p:extLst>
  </p:cSld>
  <p:clrMapOvr>
    <a:masterClrMapping/>
  </p:clrMapOvr>
  <p:transition>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9B580-8F9C-27DC-2D1C-566768543A83}"/>
            </a:ext>
          </a:extLst>
        </p:cNvPr>
        <p:cNvGrpSpPr/>
        <p:nvPr/>
      </p:nvGrpSpPr>
      <p:grpSpPr>
        <a:xfrm>
          <a:off x="0" y="0"/>
          <a:ext cx="0" cy="0"/>
          <a:chOff x="0" y="0"/>
          <a:chExt cx="0" cy="0"/>
        </a:xfrm>
      </p:grpSpPr>
      <p:pic>
        <p:nvPicPr>
          <p:cNvPr id="3" name="圖片 2">
            <a:extLst>
              <a:ext uri="{FF2B5EF4-FFF2-40B4-BE49-F238E27FC236}">
                <a16:creationId xmlns:a16="http://schemas.microsoft.com/office/drawing/2014/main" id="{184FF0EB-CF89-A3A8-7C7C-C0DB9EDDB805}"/>
              </a:ext>
            </a:extLst>
          </p:cNvPr>
          <p:cNvPicPr>
            <a:picLocks noChangeAspect="1"/>
          </p:cNvPicPr>
          <p:nvPr/>
        </p:nvPicPr>
        <p:blipFill>
          <a:blip r:embed="rId2"/>
          <a:stretch>
            <a:fillRect/>
          </a:stretch>
        </p:blipFill>
        <p:spPr>
          <a:xfrm>
            <a:off x="802950" y="0"/>
            <a:ext cx="7538099" cy="5143500"/>
          </a:xfrm>
          <a:prstGeom prst="rect">
            <a:avLst/>
          </a:prstGeom>
        </p:spPr>
      </p:pic>
    </p:spTree>
    <p:extLst>
      <p:ext uri="{BB962C8B-B14F-4D97-AF65-F5344CB8AC3E}">
        <p14:creationId xmlns:p14="http://schemas.microsoft.com/office/powerpoint/2010/main" val="703876200"/>
      </p:ext>
    </p:extLst>
  </p:cSld>
  <p:clrMapOvr>
    <a:masterClrMapping/>
  </p:clrMapOvr>
  <p:transition>
    <p:wipe/>
  </p:transition>
</p:sld>
</file>

<file path=ppt/slides/slide40.xml><?xml version="1.0" encoding="utf-8"?>
<p:sld xmlns:a="http://schemas.openxmlformats.org/drawingml/2006/main" xmlns:r="http://schemas.openxmlformats.org/officeDocument/2006/relationships" xmlns:p="http://schemas.openxmlformats.org/presentationml/2006/main">
  <p:cSld name="Slide 1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Ch4 ｜ 第四章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為什麼 Sensor 不會直接吐出完整 RGB？</a:t>
            </a:r>
            <a:endParaRPr lang="en-US" sz="2200" dirty="0"/>
          </a:p>
        </p:txBody>
      </p:sp>
      <p:sp>
        <p:nvSpPr>
          <p:cNvPr id="7" name="Text 5"/>
          <p:cNvSpPr/>
          <p:nvPr/>
        </p:nvSpPr>
        <p:spPr>
          <a:xfrm>
            <a:off x="320040" y="960120"/>
            <a:ext cx="4114800" cy="347472"/>
          </a:xfrm>
          <a:prstGeom prst="rect">
            <a:avLst/>
          </a:prstGeom>
          <a:noFill/>
          <a:ln/>
        </p:spPr>
        <p:txBody>
          <a:bodyPr wrap="square" rtlCol="0" anchor="ctr"/>
          <a:lstStyle/>
          <a:p>
            <a:pPr marL="0" indent="0" algn="ctr">
              <a:buNone/>
            </a:pPr>
            <a:r>
              <a:rPr lang="en-US" sz="1400" b="1" dirty="0">
                <a:solidFill>
                  <a:srgbClr val="C45C00"/>
                </a:solidFill>
                <a:latin typeface="Calibri" pitchFamily="34" charset="0"/>
                <a:ea typeface="Calibri" pitchFamily="34" charset="-122"/>
                <a:cs typeface="Calibri" pitchFamily="34" charset="-120"/>
              </a:rPr>
              <a:t>Bayer Filter Mosaic</a:t>
            </a:r>
            <a:endParaRPr lang="en-US" sz="1400" dirty="0"/>
          </a:p>
        </p:txBody>
      </p:sp>
      <p:sp>
        <p:nvSpPr>
          <p:cNvPr id="8" name="Shape 6"/>
          <p:cNvSpPr/>
          <p:nvPr/>
        </p:nvSpPr>
        <p:spPr>
          <a:xfrm>
            <a:off x="411480" y="1325880"/>
            <a:ext cx="850392" cy="548640"/>
          </a:xfrm>
          <a:prstGeom prst="rect">
            <a:avLst/>
          </a:prstGeom>
          <a:solidFill>
            <a:srgbClr val="CC3333"/>
          </a:solidFill>
          <a:ln w="12700">
            <a:solidFill>
              <a:srgbClr val="FFFFFF"/>
            </a:solidFill>
            <a:prstDash val="solid"/>
          </a:ln>
        </p:spPr>
        <p:txBody>
          <a:bodyPr/>
          <a:lstStyle/>
          <a:p>
            <a:endParaRPr lang="zh-TW" altLang="en-US"/>
          </a:p>
        </p:txBody>
      </p:sp>
      <p:sp>
        <p:nvSpPr>
          <p:cNvPr id="9" name="Text 7"/>
          <p:cNvSpPr/>
          <p:nvPr/>
        </p:nvSpPr>
        <p:spPr>
          <a:xfrm>
            <a:off x="411480" y="132588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a:t>
            </a:r>
            <a:endParaRPr lang="en-US" sz="1800" dirty="0"/>
          </a:p>
        </p:txBody>
      </p:sp>
      <p:sp>
        <p:nvSpPr>
          <p:cNvPr id="10" name="Shape 8"/>
          <p:cNvSpPr/>
          <p:nvPr/>
        </p:nvSpPr>
        <p:spPr>
          <a:xfrm>
            <a:off x="1325880" y="132588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11" name="Text 9"/>
          <p:cNvSpPr/>
          <p:nvPr/>
        </p:nvSpPr>
        <p:spPr>
          <a:xfrm>
            <a:off x="1325880" y="132588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12" name="Shape 10"/>
          <p:cNvSpPr/>
          <p:nvPr/>
        </p:nvSpPr>
        <p:spPr>
          <a:xfrm>
            <a:off x="2240280" y="1325880"/>
            <a:ext cx="850392" cy="548640"/>
          </a:xfrm>
          <a:prstGeom prst="rect">
            <a:avLst/>
          </a:prstGeom>
          <a:solidFill>
            <a:srgbClr val="CC3333"/>
          </a:solidFill>
          <a:ln w="12700">
            <a:solidFill>
              <a:srgbClr val="FFFFFF"/>
            </a:solidFill>
            <a:prstDash val="solid"/>
          </a:ln>
        </p:spPr>
        <p:txBody>
          <a:bodyPr/>
          <a:lstStyle/>
          <a:p>
            <a:endParaRPr lang="zh-TW" altLang="en-US"/>
          </a:p>
        </p:txBody>
      </p:sp>
      <p:sp>
        <p:nvSpPr>
          <p:cNvPr id="13" name="Text 11"/>
          <p:cNvSpPr/>
          <p:nvPr/>
        </p:nvSpPr>
        <p:spPr>
          <a:xfrm>
            <a:off x="2240280" y="132588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a:t>
            </a:r>
            <a:endParaRPr lang="en-US" sz="1800" dirty="0"/>
          </a:p>
        </p:txBody>
      </p:sp>
      <p:sp>
        <p:nvSpPr>
          <p:cNvPr id="14" name="Shape 12"/>
          <p:cNvSpPr/>
          <p:nvPr/>
        </p:nvSpPr>
        <p:spPr>
          <a:xfrm>
            <a:off x="3154680" y="132588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15" name="Text 13"/>
          <p:cNvSpPr/>
          <p:nvPr/>
        </p:nvSpPr>
        <p:spPr>
          <a:xfrm>
            <a:off x="3154680" y="132588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16" name="Shape 14"/>
          <p:cNvSpPr/>
          <p:nvPr/>
        </p:nvSpPr>
        <p:spPr>
          <a:xfrm>
            <a:off x="411480" y="192024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17" name="Text 15"/>
          <p:cNvSpPr/>
          <p:nvPr/>
        </p:nvSpPr>
        <p:spPr>
          <a:xfrm>
            <a:off x="411480" y="192024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18" name="Shape 16"/>
          <p:cNvSpPr/>
          <p:nvPr/>
        </p:nvSpPr>
        <p:spPr>
          <a:xfrm>
            <a:off x="1325880" y="1920240"/>
            <a:ext cx="850392" cy="548640"/>
          </a:xfrm>
          <a:prstGeom prst="rect">
            <a:avLst/>
          </a:prstGeom>
          <a:solidFill>
            <a:srgbClr val="3333CC"/>
          </a:solidFill>
          <a:ln w="12700">
            <a:solidFill>
              <a:srgbClr val="FFFFFF"/>
            </a:solidFill>
            <a:prstDash val="solid"/>
          </a:ln>
        </p:spPr>
        <p:txBody>
          <a:bodyPr/>
          <a:lstStyle/>
          <a:p>
            <a:endParaRPr lang="zh-TW" altLang="en-US"/>
          </a:p>
        </p:txBody>
      </p:sp>
      <p:sp>
        <p:nvSpPr>
          <p:cNvPr id="19" name="Text 17"/>
          <p:cNvSpPr/>
          <p:nvPr/>
        </p:nvSpPr>
        <p:spPr>
          <a:xfrm>
            <a:off x="1325880" y="192024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0" name="Shape 18"/>
          <p:cNvSpPr/>
          <p:nvPr/>
        </p:nvSpPr>
        <p:spPr>
          <a:xfrm>
            <a:off x="2240280" y="192024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21" name="Text 19"/>
          <p:cNvSpPr/>
          <p:nvPr/>
        </p:nvSpPr>
        <p:spPr>
          <a:xfrm>
            <a:off x="2240280" y="192024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22" name="Shape 20"/>
          <p:cNvSpPr/>
          <p:nvPr/>
        </p:nvSpPr>
        <p:spPr>
          <a:xfrm>
            <a:off x="3154680" y="1920240"/>
            <a:ext cx="850392" cy="548640"/>
          </a:xfrm>
          <a:prstGeom prst="rect">
            <a:avLst/>
          </a:prstGeom>
          <a:solidFill>
            <a:srgbClr val="3333CC"/>
          </a:solidFill>
          <a:ln w="12700">
            <a:solidFill>
              <a:srgbClr val="FFFFFF"/>
            </a:solidFill>
            <a:prstDash val="solid"/>
          </a:ln>
        </p:spPr>
        <p:txBody>
          <a:bodyPr/>
          <a:lstStyle/>
          <a:p>
            <a:endParaRPr lang="zh-TW" altLang="en-US"/>
          </a:p>
        </p:txBody>
      </p:sp>
      <p:sp>
        <p:nvSpPr>
          <p:cNvPr id="23" name="Text 21"/>
          <p:cNvSpPr/>
          <p:nvPr/>
        </p:nvSpPr>
        <p:spPr>
          <a:xfrm>
            <a:off x="3154680" y="192024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4" name="Shape 22"/>
          <p:cNvSpPr/>
          <p:nvPr/>
        </p:nvSpPr>
        <p:spPr>
          <a:xfrm>
            <a:off x="411480" y="2514600"/>
            <a:ext cx="850392" cy="548640"/>
          </a:xfrm>
          <a:prstGeom prst="rect">
            <a:avLst/>
          </a:prstGeom>
          <a:solidFill>
            <a:srgbClr val="CC3333"/>
          </a:solidFill>
          <a:ln w="12700">
            <a:solidFill>
              <a:srgbClr val="FFFFFF"/>
            </a:solidFill>
            <a:prstDash val="solid"/>
          </a:ln>
        </p:spPr>
        <p:txBody>
          <a:bodyPr/>
          <a:lstStyle/>
          <a:p>
            <a:endParaRPr lang="zh-TW" altLang="en-US"/>
          </a:p>
        </p:txBody>
      </p:sp>
      <p:sp>
        <p:nvSpPr>
          <p:cNvPr id="25" name="Text 23"/>
          <p:cNvSpPr/>
          <p:nvPr/>
        </p:nvSpPr>
        <p:spPr>
          <a:xfrm>
            <a:off x="411480" y="251460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a:t>
            </a:r>
            <a:endParaRPr lang="en-US" sz="1800" dirty="0"/>
          </a:p>
        </p:txBody>
      </p:sp>
      <p:sp>
        <p:nvSpPr>
          <p:cNvPr id="26" name="Shape 24"/>
          <p:cNvSpPr/>
          <p:nvPr/>
        </p:nvSpPr>
        <p:spPr>
          <a:xfrm>
            <a:off x="1325880" y="251460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27" name="Text 25"/>
          <p:cNvSpPr/>
          <p:nvPr/>
        </p:nvSpPr>
        <p:spPr>
          <a:xfrm>
            <a:off x="1325880" y="251460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28" name="Shape 26"/>
          <p:cNvSpPr/>
          <p:nvPr/>
        </p:nvSpPr>
        <p:spPr>
          <a:xfrm>
            <a:off x="2240280" y="2514600"/>
            <a:ext cx="850392" cy="548640"/>
          </a:xfrm>
          <a:prstGeom prst="rect">
            <a:avLst/>
          </a:prstGeom>
          <a:solidFill>
            <a:srgbClr val="CC3333"/>
          </a:solidFill>
          <a:ln w="12700">
            <a:solidFill>
              <a:srgbClr val="FFFFFF"/>
            </a:solidFill>
            <a:prstDash val="solid"/>
          </a:ln>
        </p:spPr>
        <p:txBody>
          <a:bodyPr/>
          <a:lstStyle/>
          <a:p>
            <a:endParaRPr lang="zh-TW" altLang="en-US"/>
          </a:p>
        </p:txBody>
      </p:sp>
      <p:sp>
        <p:nvSpPr>
          <p:cNvPr id="29" name="Text 27"/>
          <p:cNvSpPr/>
          <p:nvPr/>
        </p:nvSpPr>
        <p:spPr>
          <a:xfrm>
            <a:off x="2240280" y="251460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a:t>
            </a:r>
            <a:endParaRPr lang="en-US" sz="1800" dirty="0"/>
          </a:p>
        </p:txBody>
      </p:sp>
      <p:sp>
        <p:nvSpPr>
          <p:cNvPr id="30" name="Shape 28"/>
          <p:cNvSpPr/>
          <p:nvPr/>
        </p:nvSpPr>
        <p:spPr>
          <a:xfrm>
            <a:off x="3154680" y="251460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31" name="Text 29"/>
          <p:cNvSpPr/>
          <p:nvPr/>
        </p:nvSpPr>
        <p:spPr>
          <a:xfrm>
            <a:off x="3154680" y="251460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32" name="Shape 30"/>
          <p:cNvSpPr/>
          <p:nvPr/>
        </p:nvSpPr>
        <p:spPr>
          <a:xfrm>
            <a:off x="411480" y="310896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33" name="Text 31"/>
          <p:cNvSpPr/>
          <p:nvPr/>
        </p:nvSpPr>
        <p:spPr>
          <a:xfrm>
            <a:off x="411480" y="310896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34" name="Shape 32"/>
          <p:cNvSpPr/>
          <p:nvPr/>
        </p:nvSpPr>
        <p:spPr>
          <a:xfrm>
            <a:off x="1325880" y="3108960"/>
            <a:ext cx="850392" cy="548640"/>
          </a:xfrm>
          <a:prstGeom prst="rect">
            <a:avLst/>
          </a:prstGeom>
          <a:solidFill>
            <a:srgbClr val="3333CC"/>
          </a:solidFill>
          <a:ln w="12700">
            <a:solidFill>
              <a:srgbClr val="FFFFFF"/>
            </a:solidFill>
            <a:prstDash val="solid"/>
          </a:ln>
        </p:spPr>
        <p:txBody>
          <a:bodyPr/>
          <a:lstStyle/>
          <a:p>
            <a:endParaRPr lang="zh-TW" altLang="en-US"/>
          </a:p>
        </p:txBody>
      </p:sp>
      <p:sp>
        <p:nvSpPr>
          <p:cNvPr id="35" name="Text 33"/>
          <p:cNvSpPr/>
          <p:nvPr/>
        </p:nvSpPr>
        <p:spPr>
          <a:xfrm>
            <a:off x="1325880" y="310896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36" name="Shape 34"/>
          <p:cNvSpPr/>
          <p:nvPr/>
        </p:nvSpPr>
        <p:spPr>
          <a:xfrm>
            <a:off x="2240280" y="3108960"/>
            <a:ext cx="850392" cy="548640"/>
          </a:xfrm>
          <a:prstGeom prst="rect">
            <a:avLst/>
          </a:prstGeom>
          <a:solidFill>
            <a:srgbClr val="33AA33"/>
          </a:solidFill>
          <a:ln w="12700">
            <a:solidFill>
              <a:srgbClr val="FFFFFF"/>
            </a:solidFill>
            <a:prstDash val="solid"/>
          </a:ln>
        </p:spPr>
        <p:txBody>
          <a:bodyPr/>
          <a:lstStyle/>
          <a:p>
            <a:endParaRPr lang="zh-TW" altLang="en-US"/>
          </a:p>
        </p:txBody>
      </p:sp>
      <p:sp>
        <p:nvSpPr>
          <p:cNvPr id="37" name="Text 35"/>
          <p:cNvSpPr/>
          <p:nvPr/>
        </p:nvSpPr>
        <p:spPr>
          <a:xfrm>
            <a:off x="2240280" y="310896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38" name="Shape 36"/>
          <p:cNvSpPr/>
          <p:nvPr/>
        </p:nvSpPr>
        <p:spPr>
          <a:xfrm>
            <a:off x="3154680" y="3108960"/>
            <a:ext cx="850392" cy="548640"/>
          </a:xfrm>
          <a:prstGeom prst="rect">
            <a:avLst/>
          </a:prstGeom>
          <a:solidFill>
            <a:srgbClr val="3333CC"/>
          </a:solidFill>
          <a:ln w="12700">
            <a:solidFill>
              <a:srgbClr val="FFFFFF"/>
            </a:solidFill>
            <a:prstDash val="solid"/>
          </a:ln>
        </p:spPr>
        <p:txBody>
          <a:bodyPr/>
          <a:lstStyle/>
          <a:p>
            <a:endParaRPr lang="zh-TW" altLang="en-US"/>
          </a:p>
        </p:txBody>
      </p:sp>
      <p:sp>
        <p:nvSpPr>
          <p:cNvPr id="39" name="Text 37"/>
          <p:cNvSpPr/>
          <p:nvPr/>
        </p:nvSpPr>
        <p:spPr>
          <a:xfrm>
            <a:off x="3154680" y="3108960"/>
            <a:ext cx="85039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40" name="Text 38"/>
          <p:cNvSpPr/>
          <p:nvPr/>
        </p:nvSpPr>
        <p:spPr>
          <a:xfrm>
            <a:off x="320040" y="3767328"/>
            <a:ext cx="4023360" cy="256032"/>
          </a:xfrm>
          <a:prstGeom prst="rect">
            <a:avLst/>
          </a:prstGeom>
          <a:noFill/>
          <a:ln/>
        </p:spPr>
        <p:txBody>
          <a:bodyPr wrap="square" rtlCol="0" anchor="ctr"/>
          <a:lstStyle/>
          <a:p>
            <a:pPr marL="0" indent="0" algn="ctr">
              <a:buNone/>
            </a:pPr>
            <a:r>
              <a:rPr lang="en-US" sz="1000" i="1" dirty="0">
                <a:solidFill>
                  <a:srgbClr val="888888"/>
                </a:solidFill>
                <a:latin typeface="Calibri" pitchFamily="34" charset="0"/>
                <a:ea typeface="Calibri" pitchFamily="34" charset="-122"/>
                <a:cs typeface="Calibri" pitchFamily="34" charset="-120"/>
              </a:rPr>
              <a:t>50% G  ·  25% R  ·  25% B</a:t>
            </a:r>
            <a:endParaRPr lang="en-US" sz="1000" dirty="0"/>
          </a:p>
        </p:txBody>
      </p:sp>
      <p:sp>
        <p:nvSpPr>
          <p:cNvPr id="41" name="Shape 39"/>
          <p:cNvSpPr/>
          <p:nvPr/>
        </p:nvSpPr>
        <p:spPr>
          <a:xfrm>
            <a:off x="4663440" y="960120"/>
            <a:ext cx="4160520" cy="96012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42" name="Shape 40"/>
          <p:cNvSpPr/>
          <p:nvPr/>
        </p:nvSpPr>
        <p:spPr>
          <a:xfrm>
            <a:off x="4663440" y="960120"/>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43" name="Text 41"/>
          <p:cNvSpPr/>
          <p:nvPr/>
        </p:nvSpPr>
        <p:spPr>
          <a:xfrm>
            <a:off x="4864608" y="1024128"/>
            <a:ext cx="3840480" cy="320040"/>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單一感測位置只有 1 色</a:t>
            </a:r>
            <a:endParaRPr lang="en-US" sz="1300" dirty="0"/>
          </a:p>
        </p:txBody>
      </p:sp>
      <p:sp>
        <p:nvSpPr>
          <p:cNvPr id="44" name="Text 42"/>
          <p:cNvSpPr/>
          <p:nvPr/>
        </p:nvSpPr>
        <p:spPr>
          <a:xfrm>
            <a:off x="4864608" y="1399032"/>
            <a:ext cx="3840480" cy="4114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每個 pixel 只接收 R、G、B 其中一種光</a:t>
            </a:r>
            <a:endParaRPr lang="en-US" sz="1100" dirty="0"/>
          </a:p>
        </p:txBody>
      </p:sp>
      <p:sp>
        <p:nvSpPr>
          <p:cNvPr id="45" name="Shape 43"/>
          <p:cNvSpPr/>
          <p:nvPr/>
        </p:nvSpPr>
        <p:spPr>
          <a:xfrm>
            <a:off x="4663440" y="2075688"/>
            <a:ext cx="4160520" cy="96012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46" name="Shape 44"/>
          <p:cNvSpPr/>
          <p:nvPr/>
        </p:nvSpPr>
        <p:spPr>
          <a:xfrm>
            <a:off x="4663440" y="207568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47" name="Text 45"/>
          <p:cNvSpPr/>
          <p:nvPr/>
        </p:nvSpPr>
        <p:spPr>
          <a:xfrm>
            <a:off x="4864608" y="2139696"/>
            <a:ext cx="3840480" cy="320040"/>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綠色採樣比較多</a:t>
            </a:r>
            <a:endParaRPr lang="en-US" sz="1300" dirty="0"/>
          </a:p>
        </p:txBody>
      </p:sp>
      <p:sp>
        <p:nvSpPr>
          <p:cNvPr id="48" name="Text 46"/>
          <p:cNvSpPr/>
          <p:nvPr/>
        </p:nvSpPr>
        <p:spPr>
          <a:xfrm>
            <a:off x="4864608" y="2514600"/>
            <a:ext cx="3840480" cy="4114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與人眼對亮度較敏感的特性有關（2G / 4 pixels）</a:t>
            </a:r>
            <a:endParaRPr lang="en-US" sz="1100" dirty="0"/>
          </a:p>
        </p:txBody>
      </p:sp>
      <p:sp>
        <p:nvSpPr>
          <p:cNvPr id="49" name="Shape 47"/>
          <p:cNvSpPr/>
          <p:nvPr/>
        </p:nvSpPr>
        <p:spPr>
          <a:xfrm>
            <a:off x="4663440" y="3191256"/>
            <a:ext cx="4160520" cy="960120"/>
          </a:xfrm>
          <a:prstGeom prst="rect">
            <a:avLst/>
          </a:prstGeom>
          <a:solidFill>
            <a:srgbClr val="F3EFE7"/>
          </a:solidFill>
          <a:ln w="12700">
            <a:solidFill>
              <a:srgbClr val="E8E0D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50" name="Shape 48"/>
          <p:cNvSpPr/>
          <p:nvPr/>
        </p:nvSpPr>
        <p:spPr>
          <a:xfrm>
            <a:off x="4663440" y="3191256"/>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51" name="Text 49"/>
          <p:cNvSpPr/>
          <p:nvPr/>
        </p:nvSpPr>
        <p:spPr>
          <a:xfrm>
            <a:off x="4864608" y="3255264"/>
            <a:ext cx="3840480" cy="320040"/>
          </a:xfrm>
          <a:prstGeom prst="rect">
            <a:avLst/>
          </a:prstGeom>
          <a:noFill/>
          <a:ln/>
        </p:spPr>
        <p:txBody>
          <a:bodyPr wrap="square" rtlCol="0" anchor="ctr"/>
          <a:lstStyle/>
          <a:p>
            <a:pPr marL="0" indent="0">
              <a:buNone/>
            </a:pPr>
            <a:r>
              <a:rPr lang="en-US" sz="1300" b="1" dirty="0">
                <a:solidFill>
                  <a:srgbClr val="C45C00"/>
                </a:solidFill>
                <a:latin typeface="Calibri" pitchFamily="34" charset="0"/>
                <a:ea typeface="Calibri" pitchFamily="34" charset="-122"/>
                <a:cs typeface="Calibri" pitchFamily="34" charset="-120"/>
              </a:rPr>
              <a:t>Raw ≠ 彩色圖</a:t>
            </a:r>
            <a:endParaRPr lang="en-US" sz="1300" dirty="0"/>
          </a:p>
        </p:txBody>
      </p:sp>
      <p:sp>
        <p:nvSpPr>
          <p:cNvPr id="52" name="Text 50"/>
          <p:cNvSpPr/>
          <p:nvPr/>
        </p:nvSpPr>
        <p:spPr>
          <a:xfrm>
            <a:off x="4864608" y="3630168"/>
            <a:ext cx="3840480" cy="41148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raw 是 Bayer mosaic 資料，還不是你看到的 RGB</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3D9B9092-D3FE-4DF5-E103-12D8A91D291D}"/>
              </a:ext>
            </a:extLst>
          </p:cNvPr>
          <p:cNvPicPr>
            <a:picLocks noChangeAspect="1"/>
          </p:cNvPicPr>
          <p:nvPr/>
        </p:nvPicPr>
        <p:blipFill>
          <a:blip r:embed="rId2"/>
          <a:stretch>
            <a:fillRect/>
          </a:stretch>
        </p:blipFill>
        <p:spPr>
          <a:xfrm>
            <a:off x="392539" y="0"/>
            <a:ext cx="8358922" cy="5143500"/>
          </a:xfrm>
          <a:prstGeom prst="rect">
            <a:avLst/>
          </a:prstGeom>
        </p:spPr>
      </p:pic>
    </p:spTree>
    <p:extLst>
      <p:ext uri="{BB962C8B-B14F-4D97-AF65-F5344CB8AC3E}">
        <p14:creationId xmlns:p14="http://schemas.microsoft.com/office/powerpoint/2010/main" val="3676421097"/>
      </p:ext>
    </p:extLst>
  </p:cSld>
  <p:clrMapOvr>
    <a:masterClrMapping/>
  </p:clrMapOvr>
  <p:transition>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17"/>
          <p:cNvSpPr/>
          <p:nvPr/>
        </p:nvSpPr>
        <p:spPr>
          <a:xfrm>
            <a:off x="212090" y="2255774"/>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20" name="Text 18"/>
          <p:cNvSpPr/>
          <p:nvPr/>
        </p:nvSpPr>
        <p:spPr>
          <a:xfrm>
            <a:off x="212090" y="2255774"/>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Q</a:t>
            </a:r>
            <a:endParaRPr lang="en-US" sz="900" dirty="0"/>
          </a:p>
        </p:txBody>
      </p:sp>
      <p:sp>
        <p:nvSpPr>
          <p:cNvPr id="21" name="Text 19"/>
          <p:cNvSpPr/>
          <p:nvPr/>
        </p:nvSpPr>
        <p:spPr>
          <a:xfrm>
            <a:off x="760730" y="2255774"/>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為什麼同一顆 sensor，不同 ISP 或不同手機品牌，顏色與細節表現會不同？</a:t>
            </a:r>
            <a:endParaRPr lang="en-US" sz="1000" dirty="0"/>
          </a:p>
        </p:txBody>
      </p:sp>
      <p:sp>
        <p:nvSpPr>
          <p:cNvPr id="22" name="Shape 20"/>
          <p:cNvSpPr/>
          <p:nvPr/>
        </p:nvSpPr>
        <p:spPr>
          <a:xfrm>
            <a:off x="212090" y="2566670"/>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23" name="Text 21"/>
          <p:cNvSpPr/>
          <p:nvPr/>
        </p:nvSpPr>
        <p:spPr>
          <a:xfrm>
            <a:off x="212090" y="2566670"/>
            <a:ext cx="502920" cy="256032"/>
          </a:xfrm>
          <a:prstGeom prst="rect">
            <a:avLst/>
          </a:prstGeom>
          <a:noFill/>
          <a:ln/>
        </p:spPr>
        <p:txBody>
          <a:bodyPr wrap="square" lIns="0" tIns="0" rIns="0" bIns="0" rtlCol="0" anchor="ctr"/>
          <a:lstStyle/>
          <a:p>
            <a:pPr marL="0" indent="0" algn="ctr">
              <a:buNone/>
            </a:pPr>
            <a:r>
              <a:rPr lang="en-US" altLang="zh-TW" sz="900" b="1" dirty="0">
                <a:solidFill>
                  <a:srgbClr val="FFFFFF"/>
                </a:solidFill>
                <a:latin typeface="Calibri" pitchFamily="34" charset="0"/>
                <a:ea typeface="Calibri" pitchFamily="34" charset="-122"/>
                <a:cs typeface="Calibri" pitchFamily="34" charset="-120"/>
              </a:rPr>
              <a:t>A</a:t>
            </a:r>
            <a:endParaRPr lang="en-US" sz="900" dirty="0"/>
          </a:p>
        </p:txBody>
      </p:sp>
      <p:sp>
        <p:nvSpPr>
          <p:cNvPr id="24" name="Text 22"/>
          <p:cNvSpPr/>
          <p:nvPr/>
        </p:nvSpPr>
        <p:spPr>
          <a:xfrm>
            <a:off x="760730" y="2566670"/>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因為從 raw 走到 RGB，中間已經有演算法選擇。</a:t>
            </a:r>
            <a:endParaRPr lang="en-US" sz="1000" dirty="0"/>
          </a:p>
        </p:txBody>
      </p:sp>
    </p:spTree>
    <p:extLst>
      <p:ext uri="{BB962C8B-B14F-4D97-AF65-F5344CB8AC3E}">
        <p14:creationId xmlns:p14="http://schemas.microsoft.com/office/powerpoint/2010/main" val="235285846"/>
      </p:ext>
    </p:extLst>
  </p:cSld>
  <p:clrMapOvr>
    <a:masterClrMapping/>
  </p:clrMapOvr>
  <p:transition>
    <p:wipe/>
  </p:transition>
</p:sld>
</file>

<file path=ppt/slides/slide43.xml><?xml version="1.0" encoding="utf-8"?>
<p:sld xmlns:a="http://schemas.openxmlformats.org/drawingml/2006/main" xmlns:r="http://schemas.openxmlformats.org/officeDocument/2006/relationships" xmlns:p="http://schemas.openxmlformats.org/presentationml/2006/main">
  <p:cSld name="Slide 1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Ch4 ｜ 第四章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Demosaic：彩色影像其實是重建出來的</a:t>
            </a:r>
            <a:endParaRPr lang="en-US" sz="2200" dirty="0"/>
          </a:p>
        </p:txBody>
      </p:sp>
      <p:sp>
        <p:nvSpPr>
          <p:cNvPr id="7" name="Shape 5"/>
          <p:cNvSpPr/>
          <p:nvPr/>
        </p:nvSpPr>
        <p:spPr>
          <a:xfrm>
            <a:off x="320040" y="960120"/>
            <a:ext cx="2743200" cy="1417320"/>
          </a:xfrm>
          <a:prstGeom prst="rect">
            <a:avLst/>
          </a:prstGeom>
          <a:solidFill>
            <a:srgbClr val="CC6666"/>
          </a:solidFill>
          <a:ln w="12700">
            <a:solidFill>
              <a:srgbClr val="CC6666"/>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Text 6"/>
          <p:cNvSpPr/>
          <p:nvPr/>
        </p:nvSpPr>
        <p:spPr>
          <a:xfrm>
            <a:off x="411480" y="1051560"/>
            <a:ext cx="256032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Bayer Raw</a:t>
            </a:r>
            <a:endParaRPr lang="en-US" sz="1500" dirty="0"/>
          </a:p>
        </p:txBody>
      </p:sp>
      <p:sp>
        <p:nvSpPr>
          <p:cNvPr id="9" name="Text 7"/>
          <p:cNvSpPr/>
          <p:nvPr/>
        </p:nvSpPr>
        <p:spPr>
          <a:xfrm>
            <a:off x="411480" y="1783080"/>
            <a:ext cx="2560320" cy="502920"/>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每個 pixel 只有 1 色通道</a:t>
            </a:r>
            <a:endParaRPr lang="en-US" sz="1000" dirty="0"/>
          </a:p>
        </p:txBody>
      </p:sp>
      <p:sp>
        <p:nvSpPr>
          <p:cNvPr id="10" name="Shape 8"/>
          <p:cNvSpPr/>
          <p:nvPr/>
        </p:nvSpPr>
        <p:spPr>
          <a:xfrm>
            <a:off x="3081528" y="1618488"/>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11" name="Shape 9"/>
          <p:cNvSpPr/>
          <p:nvPr/>
        </p:nvSpPr>
        <p:spPr>
          <a:xfrm>
            <a:off x="3264408" y="960120"/>
            <a:ext cx="2743200" cy="1417320"/>
          </a:xfrm>
          <a:prstGeom prst="rect">
            <a:avLst/>
          </a:prstGeom>
          <a:solidFill>
            <a:srgbClr val="E07B39"/>
          </a:solidFill>
          <a:ln w="12700">
            <a:solidFill>
              <a:srgbClr val="E07B39"/>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2" name="Text 10"/>
          <p:cNvSpPr/>
          <p:nvPr/>
        </p:nvSpPr>
        <p:spPr>
          <a:xfrm>
            <a:off x="3355848" y="1051560"/>
            <a:ext cx="256032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Interpolation</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(Demosaic)</a:t>
            </a:r>
            <a:endParaRPr lang="en-US" sz="1500" dirty="0"/>
          </a:p>
        </p:txBody>
      </p:sp>
      <p:sp>
        <p:nvSpPr>
          <p:cNvPr id="13" name="Text 11"/>
          <p:cNvSpPr/>
          <p:nvPr/>
        </p:nvSpPr>
        <p:spPr>
          <a:xfrm>
            <a:off x="3355848" y="1783080"/>
            <a:ext cx="2560320" cy="502920"/>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利用鄰近 pixel 估算缺失通道</a:t>
            </a:r>
            <a:endParaRPr lang="en-US" sz="1000" dirty="0"/>
          </a:p>
        </p:txBody>
      </p:sp>
      <p:sp>
        <p:nvSpPr>
          <p:cNvPr id="14" name="Shape 12"/>
          <p:cNvSpPr/>
          <p:nvPr/>
        </p:nvSpPr>
        <p:spPr>
          <a:xfrm>
            <a:off x="6025896" y="1618488"/>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15" name="Shape 13"/>
          <p:cNvSpPr/>
          <p:nvPr/>
        </p:nvSpPr>
        <p:spPr>
          <a:xfrm>
            <a:off x="6208776" y="960120"/>
            <a:ext cx="2743200" cy="141732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6" name="Text 14"/>
          <p:cNvSpPr/>
          <p:nvPr/>
        </p:nvSpPr>
        <p:spPr>
          <a:xfrm>
            <a:off x="6300216" y="1051560"/>
            <a:ext cx="2560320" cy="65836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RGB Image</a:t>
            </a:r>
            <a:endParaRPr lang="en-US" sz="1500" dirty="0"/>
          </a:p>
        </p:txBody>
      </p:sp>
      <p:sp>
        <p:nvSpPr>
          <p:cNvPr id="17" name="Text 15"/>
          <p:cNvSpPr/>
          <p:nvPr/>
        </p:nvSpPr>
        <p:spPr>
          <a:xfrm>
            <a:off x="6300216" y="1783080"/>
            <a:ext cx="2560320" cy="502920"/>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完整三通道彩色影像（已包含推估）</a:t>
            </a:r>
            <a:endParaRPr lang="en-US" sz="1000" dirty="0"/>
          </a:p>
        </p:txBody>
      </p:sp>
      <p:sp>
        <p:nvSpPr>
          <p:cNvPr id="18" name="Text 16"/>
          <p:cNvSpPr/>
          <p:nvPr/>
        </p:nvSpPr>
        <p:spPr>
          <a:xfrm>
            <a:off x="320040" y="2578608"/>
            <a:ext cx="8503920" cy="1508760"/>
          </a:xfrm>
          <a:prstGeom prst="rect">
            <a:avLst/>
          </a:prstGeom>
          <a:noFill/>
          <a:ln/>
        </p:spPr>
        <p:txBody>
          <a:bodyPr wrap="square" rtlCol="0" anchor="ctr"/>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Raw sensor data ≠ final RGB image</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不同演算法（algorithm）影響彩色邊緣品質與假色（artifact）</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這是 camera pipeline 第一個重要處理步驟</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同一 sensor + 不同 ISP → 顏色與細節表現會不同</a:t>
            </a:r>
            <a:endParaRPr lang="en-US" sz="1300" dirty="0"/>
          </a:p>
        </p:txBody>
      </p:sp>
      <p:sp>
        <p:nvSpPr>
          <p:cNvPr id="25" name="Text 23"/>
          <p:cNvSpPr/>
          <p:nvPr/>
        </p:nvSpPr>
        <p:spPr>
          <a:xfrm>
            <a:off x="320040" y="4864608"/>
            <a:ext cx="8503920" cy="201168"/>
          </a:xfrm>
          <a:prstGeom prst="rect">
            <a:avLst/>
          </a:prstGeom>
          <a:noFill/>
          <a:ln/>
        </p:spPr>
        <p:txBody>
          <a:bodyPr wrap="square" rtlCol="0" anchor="ctr"/>
          <a:lstStyle/>
          <a:p>
            <a:pPr marL="0" indent="0">
              <a:buNone/>
            </a:pPr>
            <a:r>
              <a:rPr lang="en-US" sz="900" dirty="0">
                <a:solidFill>
                  <a:srgbClr val="888888"/>
                </a:solidFill>
                <a:latin typeface="Calibri" pitchFamily="34" charset="0"/>
                <a:ea typeface="Calibri" pitchFamily="34" charset="-122"/>
                <a:cs typeface="Calibri" pitchFamily="34" charset="-120"/>
              </a:rPr>
              <a:t>來源：perception-sp20.pdf p.58–60 ｜ 嵌入式電腦視覺系統.pdf p.22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1339-A471-F5D9-9496-B1895193F7C4}"/>
            </a:ext>
          </a:extLst>
        </p:cNvPr>
        <p:cNvGrpSpPr/>
        <p:nvPr/>
      </p:nvGrpSpPr>
      <p:grpSpPr>
        <a:xfrm>
          <a:off x="0" y="0"/>
          <a:ext cx="0" cy="0"/>
          <a:chOff x="0" y="0"/>
          <a:chExt cx="0" cy="0"/>
        </a:xfrm>
      </p:grpSpPr>
      <p:pic>
        <p:nvPicPr>
          <p:cNvPr id="3" name="圖片 2">
            <a:extLst>
              <a:ext uri="{FF2B5EF4-FFF2-40B4-BE49-F238E27FC236}">
                <a16:creationId xmlns:a16="http://schemas.microsoft.com/office/drawing/2014/main" id="{D6821F5D-76CE-A63D-9E20-F072C71D86A3}"/>
              </a:ext>
            </a:extLst>
          </p:cNvPr>
          <p:cNvPicPr>
            <a:picLocks noChangeAspect="1"/>
          </p:cNvPicPr>
          <p:nvPr/>
        </p:nvPicPr>
        <p:blipFill>
          <a:blip r:embed="rId2"/>
          <a:stretch>
            <a:fillRect/>
          </a:stretch>
        </p:blipFill>
        <p:spPr>
          <a:xfrm>
            <a:off x="845757" y="0"/>
            <a:ext cx="7452485" cy="5143500"/>
          </a:xfrm>
          <a:prstGeom prst="rect">
            <a:avLst/>
          </a:prstGeom>
        </p:spPr>
      </p:pic>
    </p:spTree>
    <p:extLst>
      <p:ext uri="{BB962C8B-B14F-4D97-AF65-F5344CB8AC3E}">
        <p14:creationId xmlns:p14="http://schemas.microsoft.com/office/powerpoint/2010/main" val="3906698618"/>
      </p:ext>
    </p:extLst>
  </p:cSld>
  <p:clrMapOvr>
    <a:masterClrMapping/>
  </p:clrMapOvr>
  <p:transition>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7BFA7-E36B-AFF4-3774-ED30AF6E3280}"/>
            </a:ext>
          </a:extLst>
        </p:cNvPr>
        <p:cNvGrpSpPr/>
        <p:nvPr/>
      </p:nvGrpSpPr>
      <p:grpSpPr>
        <a:xfrm>
          <a:off x="0" y="0"/>
          <a:ext cx="0" cy="0"/>
          <a:chOff x="0" y="0"/>
          <a:chExt cx="0" cy="0"/>
        </a:xfrm>
      </p:grpSpPr>
    </p:spTree>
    <p:extLst>
      <p:ext uri="{BB962C8B-B14F-4D97-AF65-F5344CB8AC3E}">
        <p14:creationId xmlns:p14="http://schemas.microsoft.com/office/powerpoint/2010/main" val="3563840945"/>
      </p:ext>
    </p:extLst>
  </p:cSld>
  <p:clrMapOvr>
    <a:masterClrMapping/>
  </p:clrMapOvr>
  <p:transition>
    <p:wipe/>
  </p:transition>
</p:sld>
</file>

<file path=ppt/slides/slide46.xml><?xml version="1.0" encoding="utf-8"?>
<p:sld xmlns:a="http://schemas.openxmlformats.org/drawingml/2006/main" xmlns:r="http://schemas.openxmlformats.org/officeDocument/2006/relationships" xmlns:p="http://schemas.openxmlformats.org/presentationml/2006/main">
  <p:cSld name="Slide 1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Ch4 ｜ 第四章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Camera Response、sRGB、Linear RGB：pixel value ≠ 光能量</a:t>
            </a:r>
            <a:endParaRPr lang="en-US" sz="2200" dirty="0"/>
          </a:p>
        </p:txBody>
      </p:sp>
      <p:sp>
        <p:nvSpPr>
          <p:cNvPr id="7" name="Shape 5"/>
          <p:cNvSpPr/>
          <p:nvPr/>
        </p:nvSpPr>
        <p:spPr>
          <a:xfrm>
            <a:off x="320040" y="914400"/>
            <a:ext cx="4114800" cy="3017520"/>
          </a:xfrm>
          <a:prstGeom prst="rect">
            <a:avLst/>
          </a:prstGeom>
          <a:solidFill>
            <a:srgbClr val="F3EFE7"/>
          </a:solidFill>
          <a:ln w="12700">
            <a:solidFill>
              <a:srgbClr val="E8E0D0"/>
            </a:solidFill>
            <a:prstDash val="solid"/>
          </a:ln>
        </p:spPr>
        <p:txBody>
          <a:bodyPr/>
          <a:lstStyle/>
          <a:p>
            <a:endParaRPr lang="zh-TW" altLang="en-US"/>
          </a:p>
        </p:txBody>
      </p:sp>
      <p:sp>
        <p:nvSpPr>
          <p:cNvPr id="8" name="Text 6"/>
          <p:cNvSpPr/>
          <p:nvPr/>
        </p:nvSpPr>
        <p:spPr>
          <a:xfrm>
            <a:off x="411480" y="987552"/>
            <a:ext cx="3931920" cy="347472"/>
          </a:xfrm>
          <a:prstGeom prst="rect">
            <a:avLst/>
          </a:prstGeom>
          <a:noFill/>
          <a:ln/>
        </p:spPr>
        <p:txBody>
          <a:bodyPr wrap="square" rtlCol="0" anchor="ctr"/>
          <a:lstStyle/>
          <a:p>
            <a:pPr marL="0" indent="0" algn="ctr">
              <a:buNone/>
            </a:pPr>
            <a:r>
              <a:rPr lang="en-US" sz="1300" b="1" dirty="0">
                <a:solidFill>
                  <a:srgbClr val="C45C00"/>
                </a:solidFill>
                <a:latin typeface="Calibri" pitchFamily="34" charset="0"/>
                <a:ea typeface="Calibri" pitchFamily="34" charset="-122"/>
                <a:cs typeface="Calibri" pitchFamily="34" charset="-120"/>
              </a:rPr>
              <a:t>Radiance  →  Pixel Value</a:t>
            </a:r>
            <a:endParaRPr lang="en-US" sz="1300" dirty="0"/>
          </a:p>
        </p:txBody>
      </p:sp>
      <p:sp>
        <p:nvSpPr>
          <p:cNvPr id="9" name="Shape 7"/>
          <p:cNvSpPr/>
          <p:nvPr/>
        </p:nvSpPr>
        <p:spPr>
          <a:xfrm>
            <a:off x="685800" y="1463040"/>
            <a:ext cx="54864" cy="2240280"/>
          </a:xfrm>
          <a:prstGeom prst="rect">
            <a:avLst/>
          </a:prstGeom>
          <a:solidFill>
            <a:srgbClr val="555555"/>
          </a:solidFill>
          <a:ln w="12700">
            <a:solidFill>
              <a:srgbClr val="555555"/>
            </a:solidFill>
            <a:prstDash val="solid"/>
          </a:ln>
        </p:spPr>
        <p:txBody>
          <a:bodyPr/>
          <a:lstStyle/>
          <a:p>
            <a:endParaRPr lang="zh-TW" altLang="en-US"/>
          </a:p>
        </p:txBody>
      </p:sp>
      <p:sp>
        <p:nvSpPr>
          <p:cNvPr id="10" name="Shape 8"/>
          <p:cNvSpPr/>
          <p:nvPr/>
        </p:nvSpPr>
        <p:spPr>
          <a:xfrm>
            <a:off x="685800" y="3657600"/>
            <a:ext cx="3429000" cy="54864"/>
          </a:xfrm>
          <a:prstGeom prst="rect">
            <a:avLst/>
          </a:prstGeom>
          <a:solidFill>
            <a:srgbClr val="555555"/>
          </a:solidFill>
          <a:ln w="12700">
            <a:solidFill>
              <a:srgbClr val="555555"/>
            </a:solidFill>
            <a:prstDash val="solid"/>
          </a:ln>
        </p:spPr>
        <p:txBody>
          <a:bodyPr/>
          <a:lstStyle/>
          <a:p>
            <a:endParaRPr lang="zh-TW" altLang="en-US"/>
          </a:p>
        </p:txBody>
      </p:sp>
      <p:sp>
        <p:nvSpPr>
          <p:cNvPr id="11" name="Text 9"/>
          <p:cNvSpPr/>
          <p:nvPr/>
        </p:nvSpPr>
        <p:spPr>
          <a:xfrm>
            <a:off x="320040" y="1828800"/>
            <a:ext cx="502920" cy="731520"/>
          </a:xfrm>
          <a:prstGeom prst="rect">
            <a:avLst/>
          </a:prstGeom>
          <a:noFill/>
          <a:ln/>
        </p:spPr>
        <p:txBody>
          <a:bodyPr wrap="square"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Pixel</a:t>
            </a:r>
            <a:endParaRPr lang="en-US" sz="900" dirty="0"/>
          </a:p>
          <a:p>
            <a:pPr marL="0" indent="0" algn="ctr">
              <a:buNone/>
            </a:pPr>
            <a:r>
              <a:rPr lang="en-US" sz="900" dirty="0">
                <a:solidFill>
                  <a:srgbClr val="888888"/>
                </a:solidFill>
                <a:latin typeface="Calibri" pitchFamily="34" charset="0"/>
                <a:ea typeface="Calibri" pitchFamily="34" charset="-122"/>
                <a:cs typeface="Calibri" pitchFamily="34" charset="-120"/>
              </a:rPr>
              <a:t>Value</a:t>
            </a:r>
            <a:endParaRPr lang="en-US" sz="900" dirty="0"/>
          </a:p>
        </p:txBody>
      </p:sp>
      <p:sp>
        <p:nvSpPr>
          <p:cNvPr id="12" name="Text 10"/>
          <p:cNvSpPr/>
          <p:nvPr/>
        </p:nvSpPr>
        <p:spPr>
          <a:xfrm>
            <a:off x="3200400" y="3730752"/>
            <a:ext cx="1097280" cy="256032"/>
          </a:xfrm>
          <a:prstGeom prst="rect">
            <a:avLst/>
          </a:prstGeom>
          <a:noFill/>
          <a:ln/>
        </p:spPr>
        <p:txBody>
          <a:bodyPr wrap="square" rtlCol="0" anchor="ctr"/>
          <a:lstStyle/>
          <a:p>
            <a:pPr marL="0" indent="0">
              <a:buNone/>
            </a:pPr>
            <a:r>
              <a:rPr lang="en-US" sz="900" dirty="0">
                <a:solidFill>
                  <a:srgbClr val="888888"/>
                </a:solidFill>
                <a:latin typeface="Calibri" pitchFamily="34" charset="0"/>
                <a:ea typeface="Calibri" pitchFamily="34" charset="-122"/>
                <a:cs typeface="Calibri" pitchFamily="34" charset="-120"/>
              </a:rPr>
              <a:t>Radiance →</a:t>
            </a:r>
            <a:endParaRPr lang="en-US" sz="900" dirty="0"/>
          </a:p>
        </p:txBody>
      </p:sp>
      <p:sp>
        <p:nvSpPr>
          <p:cNvPr id="13" name="Shape 11"/>
          <p:cNvSpPr/>
          <p:nvPr/>
        </p:nvSpPr>
        <p:spPr>
          <a:xfrm>
            <a:off x="740664" y="1508760"/>
            <a:ext cx="3310128" cy="45720"/>
          </a:xfrm>
          <a:prstGeom prst="rect">
            <a:avLst/>
          </a:prstGeom>
          <a:solidFill>
            <a:srgbClr val="5B9BD5"/>
          </a:solidFill>
          <a:ln w="12700">
            <a:solidFill>
              <a:srgbClr val="5B9BD5"/>
            </a:solidFill>
            <a:prstDash val="solid"/>
          </a:ln>
        </p:spPr>
        <p:txBody>
          <a:bodyPr/>
          <a:lstStyle/>
          <a:p>
            <a:endParaRPr lang="zh-TW" altLang="en-US"/>
          </a:p>
        </p:txBody>
      </p:sp>
      <p:sp>
        <p:nvSpPr>
          <p:cNvPr id="14" name="Shape 12"/>
          <p:cNvSpPr/>
          <p:nvPr/>
        </p:nvSpPr>
        <p:spPr>
          <a:xfrm>
            <a:off x="740664" y="2500884"/>
            <a:ext cx="973836" cy="1156716"/>
          </a:xfrm>
          <a:prstGeom prst="rect">
            <a:avLst/>
          </a:prstGeom>
          <a:solidFill>
            <a:srgbClr val="E07B39"/>
          </a:solidFill>
          <a:ln w="12700">
            <a:solidFill>
              <a:srgbClr val="E07B39"/>
            </a:solidFill>
            <a:prstDash val="solid"/>
          </a:ln>
        </p:spPr>
        <p:txBody>
          <a:bodyPr/>
          <a:lstStyle/>
          <a:p>
            <a:endParaRPr lang="zh-TW" altLang="en-US"/>
          </a:p>
        </p:txBody>
      </p:sp>
      <p:sp>
        <p:nvSpPr>
          <p:cNvPr id="15" name="Shape 13"/>
          <p:cNvSpPr/>
          <p:nvPr/>
        </p:nvSpPr>
        <p:spPr>
          <a:xfrm>
            <a:off x="1714500" y="1933042"/>
            <a:ext cx="1298448" cy="567842"/>
          </a:xfrm>
          <a:prstGeom prst="rect">
            <a:avLst/>
          </a:prstGeom>
          <a:solidFill>
            <a:srgbClr val="E07B39"/>
          </a:solidFill>
          <a:ln w="12700">
            <a:solidFill>
              <a:srgbClr val="E07B39"/>
            </a:solidFill>
            <a:prstDash val="solid"/>
          </a:ln>
        </p:spPr>
        <p:txBody>
          <a:bodyPr/>
          <a:lstStyle/>
          <a:p>
            <a:endParaRPr lang="zh-TW" altLang="en-US"/>
          </a:p>
        </p:txBody>
      </p:sp>
      <p:sp>
        <p:nvSpPr>
          <p:cNvPr id="16" name="Shape 14"/>
          <p:cNvSpPr/>
          <p:nvPr/>
        </p:nvSpPr>
        <p:spPr>
          <a:xfrm>
            <a:off x="3012948" y="1554480"/>
            <a:ext cx="973836" cy="378562"/>
          </a:xfrm>
          <a:prstGeom prst="rect">
            <a:avLst/>
          </a:prstGeom>
          <a:solidFill>
            <a:srgbClr val="E07B39"/>
          </a:solidFill>
          <a:ln w="12700">
            <a:solidFill>
              <a:srgbClr val="E07B39"/>
            </a:solidFill>
            <a:prstDash val="solid"/>
          </a:ln>
        </p:spPr>
        <p:txBody>
          <a:bodyPr/>
          <a:lstStyle/>
          <a:p>
            <a:endParaRPr lang="zh-TW" altLang="en-US"/>
          </a:p>
        </p:txBody>
      </p:sp>
      <p:sp>
        <p:nvSpPr>
          <p:cNvPr id="17" name="Text 15"/>
          <p:cNvSpPr/>
          <p:nvPr/>
        </p:nvSpPr>
        <p:spPr>
          <a:xfrm>
            <a:off x="2926080" y="1508760"/>
            <a:ext cx="1371600" cy="256032"/>
          </a:xfrm>
          <a:prstGeom prst="rect">
            <a:avLst/>
          </a:prstGeom>
          <a:noFill/>
          <a:ln/>
        </p:spPr>
        <p:txBody>
          <a:bodyPr wrap="square" rtlCol="0" anchor="ctr"/>
          <a:lstStyle/>
          <a:p>
            <a:pPr marL="0" indent="0">
              <a:buNone/>
            </a:pPr>
            <a:r>
              <a:rPr lang="en-US" sz="900" dirty="0">
                <a:solidFill>
                  <a:srgbClr val="5B9BD5"/>
                </a:solidFill>
                <a:latin typeface="Calibri" pitchFamily="34" charset="0"/>
                <a:ea typeface="Calibri" pitchFamily="34" charset="-122"/>
                <a:cs typeface="Calibri" pitchFamily="34" charset="-120"/>
              </a:rPr>
              <a:t>— Linear RGB</a:t>
            </a:r>
            <a:endParaRPr lang="en-US" sz="900" dirty="0"/>
          </a:p>
        </p:txBody>
      </p:sp>
      <p:sp>
        <p:nvSpPr>
          <p:cNvPr id="18" name="Text 16"/>
          <p:cNvSpPr/>
          <p:nvPr/>
        </p:nvSpPr>
        <p:spPr>
          <a:xfrm>
            <a:off x="2743200" y="2194560"/>
            <a:ext cx="1554480" cy="256032"/>
          </a:xfrm>
          <a:prstGeom prst="rect">
            <a:avLst/>
          </a:prstGeom>
          <a:noFill/>
          <a:ln/>
        </p:spPr>
        <p:txBody>
          <a:bodyPr wrap="square" rtlCol="0" anchor="ctr"/>
          <a:lstStyle/>
          <a:p>
            <a:pPr marL="0" indent="0">
              <a:buNone/>
            </a:pPr>
            <a:r>
              <a:rPr lang="en-US" sz="900" dirty="0">
                <a:solidFill>
                  <a:srgbClr val="E07B39"/>
                </a:solidFill>
                <a:latin typeface="Calibri" pitchFamily="34" charset="0"/>
                <a:ea typeface="Calibri" pitchFamily="34" charset="-122"/>
                <a:cs typeface="Calibri" pitchFamily="34" charset="-120"/>
              </a:rPr>
              <a:t>— sRGB (gamma)</a:t>
            </a:r>
            <a:endParaRPr lang="en-US" sz="900" dirty="0"/>
          </a:p>
        </p:txBody>
      </p:sp>
      <p:sp>
        <p:nvSpPr>
          <p:cNvPr id="19" name="Shape 17"/>
          <p:cNvSpPr/>
          <p:nvPr/>
        </p:nvSpPr>
        <p:spPr>
          <a:xfrm>
            <a:off x="4709160" y="914400"/>
            <a:ext cx="4114800" cy="640080"/>
          </a:xfrm>
          <a:prstGeom prst="rect">
            <a:avLst/>
          </a:prstGeom>
          <a:solidFill>
            <a:srgbClr val="F3EFE7"/>
          </a:solidFill>
          <a:ln w="12700">
            <a:solidFill>
              <a:srgbClr val="E8E0D0"/>
            </a:solidFill>
            <a:prstDash val="solid"/>
          </a:ln>
        </p:spPr>
        <p:txBody>
          <a:bodyPr/>
          <a:lstStyle/>
          <a:p>
            <a:endParaRPr lang="zh-TW" altLang="en-US"/>
          </a:p>
        </p:txBody>
      </p:sp>
      <p:sp>
        <p:nvSpPr>
          <p:cNvPr id="20" name="Shape 18"/>
          <p:cNvSpPr/>
          <p:nvPr/>
        </p:nvSpPr>
        <p:spPr>
          <a:xfrm>
            <a:off x="4709160" y="914400"/>
            <a:ext cx="91440" cy="640080"/>
          </a:xfrm>
          <a:prstGeom prst="rect">
            <a:avLst/>
          </a:prstGeom>
          <a:solidFill>
            <a:srgbClr val="1E3A5F"/>
          </a:solidFill>
          <a:ln w="12700">
            <a:solidFill>
              <a:srgbClr val="1E3A5F"/>
            </a:solidFill>
            <a:prstDash val="solid"/>
          </a:ln>
        </p:spPr>
        <p:txBody>
          <a:bodyPr/>
          <a:lstStyle/>
          <a:p>
            <a:endParaRPr lang="zh-TW" altLang="en-US"/>
          </a:p>
        </p:txBody>
      </p:sp>
      <p:sp>
        <p:nvSpPr>
          <p:cNvPr id="21" name="Text 19"/>
          <p:cNvSpPr/>
          <p:nvPr/>
        </p:nvSpPr>
        <p:spPr>
          <a:xfrm>
            <a:off x="4901184" y="960120"/>
            <a:ext cx="3749040" cy="25603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非線性映射</a:t>
            </a:r>
            <a:endParaRPr lang="en-US" sz="1200" dirty="0"/>
          </a:p>
        </p:txBody>
      </p:sp>
      <p:sp>
        <p:nvSpPr>
          <p:cNvPr id="22" name="Text 20"/>
          <p:cNvSpPr/>
          <p:nvPr/>
        </p:nvSpPr>
        <p:spPr>
          <a:xfrm>
            <a:off x="4901184" y="1243584"/>
            <a:ext cx="374904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Radiance → pixel 不是簡單線性關係</a:t>
            </a:r>
            <a:endParaRPr lang="en-US" sz="1100" dirty="0"/>
          </a:p>
        </p:txBody>
      </p:sp>
      <p:sp>
        <p:nvSpPr>
          <p:cNvPr id="23" name="Shape 21"/>
          <p:cNvSpPr/>
          <p:nvPr/>
        </p:nvSpPr>
        <p:spPr>
          <a:xfrm>
            <a:off x="4709160" y="1664208"/>
            <a:ext cx="4114800" cy="640080"/>
          </a:xfrm>
          <a:prstGeom prst="rect">
            <a:avLst/>
          </a:prstGeom>
          <a:solidFill>
            <a:srgbClr val="F3EFE7"/>
          </a:solidFill>
          <a:ln w="12700">
            <a:solidFill>
              <a:srgbClr val="E8E0D0"/>
            </a:solidFill>
            <a:prstDash val="solid"/>
          </a:ln>
        </p:spPr>
        <p:txBody>
          <a:bodyPr/>
          <a:lstStyle/>
          <a:p>
            <a:endParaRPr lang="zh-TW" altLang="en-US"/>
          </a:p>
        </p:txBody>
      </p:sp>
      <p:sp>
        <p:nvSpPr>
          <p:cNvPr id="24" name="Shape 22"/>
          <p:cNvSpPr/>
          <p:nvPr/>
        </p:nvSpPr>
        <p:spPr>
          <a:xfrm>
            <a:off x="4709160" y="1664208"/>
            <a:ext cx="91440" cy="640080"/>
          </a:xfrm>
          <a:prstGeom prst="rect">
            <a:avLst/>
          </a:prstGeom>
          <a:solidFill>
            <a:srgbClr val="1E3A5F"/>
          </a:solidFill>
          <a:ln w="12700">
            <a:solidFill>
              <a:srgbClr val="1E3A5F"/>
            </a:solidFill>
            <a:prstDash val="solid"/>
          </a:ln>
        </p:spPr>
        <p:txBody>
          <a:bodyPr/>
          <a:lstStyle/>
          <a:p>
            <a:endParaRPr lang="zh-TW" altLang="en-US"/>
          </a:p>
        </p:txBody>
      </p:sp>
      <p:sp>
        <p:nvSpPr>
          <p:cNvPr id="25" name="Text 23"/>
          <p:cNvSpPr/>
          <p:nvPr/>
        </p:nvSpPr>
        <p:spPr>
          <a:xfrm>
            <a:off x="4901184" y="1709928"/>
            <a:ext cx="3749040" cy="25603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Camera Response Function</a:t>
            </a:r>
            <a:endParaRPr lang="en-US" sz="1200" dirty="0"/>
          </a:p>
        </p:txBody>
      </p:sp>
      <p:sp>
        <p:nvSpPr>
          <p:cNvPr id="26" name="Text 24"/>
          <p:cNvSpPr/>
          <p:nvPr/>
        </p:nvSpPr>
        <p:spPr>
          <a:xfrm>
            <a:off x="4901184" y="1993392"/>
            <a:ext cx="374904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影響像素值的曲線；每顆 camera 略有不同</a:t>
            </a:r>
            <a:endParaRPr lang="en-US" sz="1100" dirty="0"/>
          </a:p>
        </p:txBody>
      </p:sp>
      <p:sp>
        <p:nvSpPr>
          <p:cNvPr id="27" name="Shape 25"/>
          <p:cNvSpPr/>
          <p:nvPr/>
        </p:nvSpPr>
        <p:spPr>
          <a:xfrm>
            <a:off x="4709160" y="2414016"/>
            <a:ext cx="4114800" cy="640080"/>
          </a:xfrm>
          <a:prstGeom prst="rect">
            <a:avLst/>
          </a:prstGeom>
          <a:solidFill>
            <a:srgbClr val="F3EFE7"/>
          </a:solidFill>
          <a:ln w="12700">
            <a:solidFill>
              <a:srgbClr val="E8E0D0"/>
            </a:solidFill>
            <a:prstDash val="solid"/>
          </a:ln>
        </p:spPr>
        <p:txBody>
          <a:bodyPr/>
          <a:lstStyle/>
          <a:p>
            <a:endParaRPr lang="zh-TW" altLang="en-US"/>
          </a:p>
        </p:txBody>
      </p:sp>
      <p:sp>
        <p:nvSpPr>
          <p:cNvPr id="28" name="Shape 26"/>
          <p:cNvSpPr/>
          <p:nvPr/>
        </p:nvSpPr>
        <p:spPr>
          <a:xfrm>
            <a:off x="4709160" y="2414016"/>
            <a:ext cx="91440" cy="640080"/>
          </a:xfrm>
          <a:prstGeom prst="rect">
            <a:avLst/>
          </a:prstGeom>
          <a:solidFill>
            <a:srgbClr val="1E3A5F"/>
          </a:solidFill>
          <a:ln w="12700">
            <a:solidFill>
              <a:srgbClr val="1E3A5F"/>
            </a:solidFill>
            <a:prstDash val="solid"/>
          </a:ln>
        </p:spPr>
        <p:txBody>
          <a:bodyPr/>
          <a:lstStyle/>
          <a:p>
            <a:endParaRPr lang="zh-TW" altLang="en-US"/>
          </a:p>
        </p:txBody>
      </p:sp>
      <p:sp>
        <p:nvSpPr>
          <p:cNvPr id="29" name="Text 27"/>
          <p:cNvSpPr/>
          <p:nvPr/>
        </p:nvSpPr>
        <p:spPr>
          <a:xfrm>
            <a:off x="4901184" y="2459736"/>
            <a:ext cx="3749040" cy="25603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sRGB 編碼</a:t>
            </a:r>
            <a:endParaRPr lang="en-US" sz="1200" dirty="0"/>
          </a:p>
        </p:txBody>
      </p:sp>
      <p:sp>
        <p:nvSpPr>
          <p:cNvPr id="30" name="Text 28"/>
          <p:cNvSpPr/>
          <p:nvPr/>
        </p:nvSpPr>
        <p:spPr>
          <a:xfrm>
            <a:off x="4901184" y="2743200"/>
            <a:ext cx="374904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多數常見影像是 sRGB（含 gamma 校正）</a:t>
            </a:r>
            <a:endParaRPr lang="en-US" sz="1100" dirty="0"/>
          </a:p>
        </p:txBody>
      </p:sp>
      <p:sp>
        <p:nvSpPr>
          <p:cNvPr id="31" name="Shape 29"/>
          <p:cNvSpPr/>
          <p:nvPr/>
        </p:nvSpPr>
        <p:spPr>
          <a:xfrm>
            <a:off x="4709160" y="3163824"/>
            <a:ext cx="4114800" cy="640080"/>
          </a:xfrm>
          <a:prstGeom prst="rect">
            <a:avLst/>
          </a:prstGeom>
          <a:solidFill>
            <a:srgbClr val="F3EFE7"/>
          </a:solidFill>
          <a:ln w="12700">
            <a:solidFill>
              <a:srgbClr val="E8E0D0"/>
            </a:solidFill>
            <a:prstDash val="solid"/>
          </a:ln>
        </p:spPr>
        <p:txBody>
          <a:bodyPr/>
          <a:lstStyle/>
          <a:p>
            <a:endParaRPr lang="zh-TW" altLang="en-US"/>
          </a:p>
        </p:txBody>
      </p:sp>
      <p:sp>
        <p:nvSpPr>
          <p:cNvPr id="32" name="Shape 30"/>
          <p:cNvSpPr/>
          <p:nvPr/>
        </p:nvSpPr>
        <p:spPr>
          <a:xfrm>
            <a:off x="4709160" y="3163824"/>
            <a:ext cx="91440" cy="640080"/>
          </a:xfrm>
          <a:prstGeom prst="rect">
            <a:avLst/>
          </a:prstGeom>
          <a:solidFill>
            <a:srgbClr val="1E3A5F"/>
          </a:solidFill>
          <a:ln w="12700">
            <a:solidFill>
              <a:srgbClr val="1E3A5F"/>
            </a:solidFill>
            <a:prstDash val="solid"/>
          </a:ln>
        </p:spPr>
        <p:txBody>
          <a:bodyPr/>
          <a:lstStyle/>
          <a:p>
            <a:endParaRPr lang="zh-TW" altLang="en-US"/>
          </a:p>
        </p:txBody>
      </p:sp>
      <p:sp>
        <p:nvSpPr>
          <p:cNvPr id="33" name="Text 31"/>
          <p:cNvSpPr/>
          <p:nvPr/>
        </p:nvSpPr>
        <p:spPr>
          <a:xfrm>
            <a:off x="4901184" y="3209544"/>
            <a:ext cx="3749040" cy="256032"/>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處理前先確認</a:t>
            </a:r>
            <a:endParaRPr lang="en-US" sz="1200" dirty="0"/>
          </a:p>
        </p:txBody>
      </p:sp>
      <p:sp>
        <p:nvSpPr>
          <p:cNvPr id="34" name="Text 32"/>
          <p:cNvSpPr/>
          <p:nvPr/>
        </p:nvSpPr>
        <p:spPr>
          <a:xfrm>
            <a:off x="4901184" y="3493008"/>
            <a:ext cx="374904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要知道自己處理的是 raw、linear，還是 sRGB</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Ch4 ｜ 第四章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從 Raw 到可用影像：ISP Pipeline 的位置</a:t>
            </a:r>
            <a:endParaRPr lang="en-US" sz="2200" dirty="0"/>
          </a:p>
        </p:txBody>
      </p:sp>
      <p:sp>
        <p:nvSpPr>
          <p:cNvPr id="7" name="Shape 5"/>
          <p:cNvSpPr/>
          <p:nvPr/>
        </p:nvSpPr>
        <p:spPr>
          <a:xfrm>
            <a:off x="182880" y="1005840"/>
            <a:ext cx="1097280" cy="1005840"/>
          </a:xfrm>
          <a:prstGeom prst="rect">
            <a:avLst/>
          </a:prstGeom>
          <a:solidFill>
            <a:srgbClr val="888888"/>
          </a:solidFill>
          <a:ln w="12700">
            <a:solidFill>
              <a:srgbClr val="888888"/>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Text 6"/>
          <p:cNvSpPr/>
          <p:nvPr/>
        </p:nvSpPr>
        <p:spPr>
          <a:xfrm>
            <a:off x="182880"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Sensor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Raw</a:t>
            </a:r>
            <a:endParaRPr lang="en-US" sz="1100" dirty="0"/>
          </a:p>
        </p:txBody>
      </p:sp>
      <p:sp>
        <p:nvSpPr>
          <p:cNvPr id="9" name="Shape 7"/>
          <p:cNvSpPr/>
          <p:nvPr/>
        </p:nvSpPr>
        <p:spPr>
          <a:xfrm>
            <a:off x="1280160" y="1453896"/>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10" name="Shape 8"/>
          <p:cNvSpPr/>
          <p:nvPr/>
        </p:nvSpPr>
        <p:spPr>
          <a:xfrm>
            <a:off x="1444752" y="1005840"/>
            <a:ext cx="1097280" cy="1005840"/>
          </a:xfrm>
          <a:prstGeom prst="rect">
            <a:avLst/>
          </a:prstGeom>
          <a:solidFill>
            <a:srgbClr val="CC6666"/>
          </a:solidFill>
          <a:ln w="12700">
            <a:solidFill>
              <a:srgbClr val="CC6666"/>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1" name="Text 9"/>
          <p:cNvSpPr/>
          <p:nvPr/>
        </p:nvSpPr>
        <p:spPr>
          <a:xfrm>
            <a:off x="1444752"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Demosaic</a:t>
            </a:r>
            <a:endParaRPr lang="en-US" sz="1100" dirty="0"/>
          </a:p>
        </p:txBody>
      </p:sp>
      <p:sp>
        <p:nvSpPr>
          <p:cNvPr id="12" name="Shape 10"/>
          <p:cNvSpPr/>
          <p:nvPr/>
        </p:nvSpPr>
        <p:spPr>
          <a:xfrm>
            <a:off x="2542032" y="1453896"/>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13" name="Shape 11"/>
          <p:cNvSpPr/>
          <p:nvPr/>
        </p:nvSpPr>
        <p:spPr>
          <a:xfrm>
            <a:off x="2706624" y="1005840"/>
            <a:ext cx="1097280" cy="1005840"/>
          </a:xfrm>
          <a:prstGeom prst="rect">
            <a:avLst/>
          </a:prstGeom>
          <a:solidFill>
            <a:srgbClr val="E07B39"/>
          </a:solidFill>
          <a:ln w="12700">
            <a:solidFill>
              <a:srgbClr val="E07B39"/>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4" name="Text 12"/>
          <p:cNvSpPr/>
          <p:nvPr/>
        </p:nvSpPr>
        <p:spPr>
          <a:xfrm>
            <a:off x="2706624"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White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Balance</a:t>
            </a:r>
            <a:endParaRPr lang="en-US" sz="1100" dirty="0"/>
          </a:p>
        </p:txBody>
      </p:sp>
      <p:sp>
        <p:nvSpPr>
          <p:cNvPr id="15" name="Shape 13"/>
          <p:cNvSpPr/>
          <p:nvPr/>
        </p:nvSpPr>
        <p:spPr>
          <a:xfrm>
            <a:off x="3803904" y="1453896"/>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16" name="Shape 14"/>
          <p:cNvSpPr/>
          <p:nvPr/>
        </p:nvSpPr>
        <p:spPr>
          <a:xfrm>
            <a:off x="3968496" y="1005840"/>
            <a:ext cx="1097280" cy="1005840"/>
          </a:xfrm>
          <a:prstGeom prst="rect">
            <a:avLst/>
          </a:prstGeom>
          <a:solidFill>
            <a:srgbClr val="F5C842"/>
          </a:solidFill>
          <a:ln w="12700">
            <a:solidFill>
              <a:srgbClr val="F5C842"/>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7" name="Text 15"/>
          <p:cNvSpPr/>
          <p:nvPr/>
        </p:nvSpPr>
        <p:spPr>
          <a:xfrm>
            <a:off x="3968496"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Color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Correct</a:t>
            </a:r>
            <a:endParaRPr lang="en-US" sz="1100" dirty="0"/>
          </a:p>
        </p:txBody>
      </p:sp>
      <p:sp>
        <p:nvSpPr>
          <p:cNvPr id="18" name="Shape 16"/>
          <p:cNvSpPr/>
          <p:nvPr/>
        </p:nvSpPr>
        <p:spPr>
          <a:xfrm>
            <a:off x="5065776" y="1453896"/>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19" name="Shape 17"/>
          <p:cNvSpPr/>
          <p:nvPr/>
        </p:nvSpPr>
        <p:spPr>
          <a:xfrm>
            <a:off x="5230368" y="1005840"/>
            <a:ext cx="1097280" cy="100584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0" name="Text 18"/>
          <p:cNvSpPr/>
          <p:nvPr/>
        </p:nvSpPr>
        <p:spPr>
          <a:xfrm>
            <a:off x="5230368"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Tone /</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Gamma</a:t>
            </a:r>
            <a:endParaRPr lang="en-US" sz="1100" dirty="0"/>
          </a:p>
        </p:txBody>
      </p:sp>
      <p:sp>
        <p:nvSpPr>
          <p:cNvPr id="21" name="Shape 19"/>
          <p:cNvSpPr/>
          <p:nvPr/>
        </p:nvSpPr>
        <p:spPr>
          <a:xfrm>
            <a:off x="6327648" y="1453896"/>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22" name="Shape 20"/>
          <p:cNvSpPr/>
          <p:nvPr/>
        </p:nvSpPr>
        <p:spPr>
          <a:xfrm>
            <a:off x="6492240" y="1005840"/>
            <a:ext cx="1097280" cy="1005840"/>
          </a:xfrm>
          <a:prstGeom prst="rect">
            <a:avLst/>
          </a:prstGeom>
          <a:solidFill>
            <a:srgbClr val="5B9BD5"/>
          </a:solidFill>
          <a:ln w="1270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3" name="Text 21"/>
          <p:cNvSpPr/>
          <p:nvPr/>
        </p:nvSpPr>
        <p:spPr>
          <a:xfrm>
            <a:off x="6492240"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Enhance</a:t>
            </a:r>
            <a:endParaRPr lang="en-US" sz="1100" dirty="0"/>
          </a:p>
        </p:txBody>
      </p:sp>
      <p:sp>
        <p:nvSpPr>
          <p:cNvPr id="24" name="Shape 22"/>
          <p:cNvSpPr/>
          <p:nvPr/>
        </p:nvSpPr>
        <p:spPr>
          <a:xfrm>
            <a:off x="7589520" y="1453896"/>
            <a:ext cx="164592" cy="109728"/>
          </a:xfrm>
          <a:prstGeom prst="rect">
            <a:avLst/>
          </a:prstGeom>
          <a:solidFill>
            <a:srgbClr val="888888"/>
          </a:solidFill>
          <a:ln w="12700">
            <a:solidFill>
              <a:srgbClr val="888888"/>
            </a:solidFill>
            <a:prstDash val="solid"/>
          </a:ln>
        </p:spPr>
        <p:txBody>
          <a:bodyPr/>
          <a:lstStyle/>
          <a:p>
            <a:endParaRPr lang="zh-TW" altLang="en-US"/>
          </a:p>
        </p:txBody>
      </p:sp>
      <p:sp>
        <p:nvSpPr>
          <p:cNvPr id="25" name="Shape 23"/>
          <p:cNvSpPr/>
          <p:nvPr/>
        </p:nvSpPr>
        <p:spPr>
          <a:xfrm>
            <a:off x="7754112" y="1005840"/>
            <a:ext cx="1097280" cy="1005840"/>
          </a:xfrm>
          <a:prstGeom prst="rect">
            <a:avLst/>
          </a:prstGeom>
          <a:solidFill>
            <a:srgbClr val="C45C00"/>
          </a:solidFill>
          <a:ln w="12700">
            <a:solidFill>
              <a:srgbClr val="C45C0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6" name="Text 24"/>
          <p:cNvSpPr/>
          <p:nvPr/>
        </p:nvSpPr>
        <p:spPr>
          <a:xfrm>
            <a:off x="7754112" y="1005840"/>
            <a:ext cx="1097280"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Image</a:t>
            </a:r>
            <a:endParaRPr lang="en-US" sz="1100" dirty="0"/>
          </a:p>
        </p:txBody>
      </p:sp>
      <p:sp>
        <p:nvSpPr>
          <p:cNvPr id="27" name="Text 25"/>
          <p:cNvSpPr/>
          <p:nvPr/>
        </p:nvSpPr>
        <p:spPr>
          <a:xfrm>
            <a:off x="182880" y="2084832"/>
            <a:ext cx="1097280" cy="256032"/>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 Raw 層 →</a:t>
            </a:r>
            <a:endParaRPr lang="en-US" sz="900" dirty="0"/>
          </a:p>
        </p:txBody>
      </p:sp>
      <p:sp>
        <p:nvSpPr>
          <p:cNvPr id="28" name="Text 26"/>
          <p:cNvSpPr/>
          <p:nvPr/>
        </p:nvSpPr>
        <p:spPr>
          <a:xfrm>
            <a:off x="1444752" y="2084832"/>
            <a:ext cx="5029200" cy="256032"/>
          </a:xfrm>
          <a:prstGeom prst="rect">
            <a:avLst/>
          </a:prstGeom>
          <a:noFill/>
          <a:ln/>
        </p:spPr>
        <p:txBody>
          <a:bodyPr wrap="square"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 ISP 處理層 →</a:t>
            </a:r>
            <a:endParaRPr lang="en-US" sz="900" dirty="0"/>
          </a:p>
        </p:txBody>
      </p:sp>
      <p:sp>
        <p:nvSpPr>
          <p:cNvPr id="29" name="Text 27"/>
          <p:cNvSpPr/>
          <p:nvPr/>
        </p:nvSpPr>
        <p:spPr>
          <a:xfrm>
            <a:off x="8138160" y="2084832"/>
            <a:ext cx="1097280" cy="256032"/>
          </a:xfrm>
          <a:prstGeom prst="rect">
            <a:avLst/>
          </a:prstGeom>
          <a:noFill/>
          <a:ln/>
        </p:spPr>
        <p:txBody>
          <a:bodyPr wrap="square" rtlCol="0" anchor="ctr"/>
          <a:lstStyle/>
          <a:p>
            <a:pPr marL="0" indent="0" algn="ctr">
              <a:buNone/>
            </a:pPr>
            <a:r>
              <a:rPr lang="en-US" sz="900" i="1" dirty="0">
                <a:solidFill>
                  <a:srgbClr val="C45C00"/>
                </a:solidFill>
                <a:latin typeface="Calibri" pitchFamily="34" charset="0"/>
                <a:ea typeface="Calibri" pitchFamily="34" charset="-122"/>
                <a:cs typeface="Calibri" pitchFamily="34" charset="-120"/>
              </a:rPr>
              <a:t>← 輸出 →</a:t>
            </a:r>
            <a:endParaRPr lang="en-US" sz="900" dirty="0"/>
          </a:p>
        </p:txBody>
      </p:sp>
      <p:sp>
        <p:nvSpPr>
          <p:cNvPr id="30" name="Shape 28"/>
          <p:cNvSpPr/>
          <p:nvPr/>
        </p:nvSpPr>
        <p:spPr>
          <a:xfrm>
            <a:off x="320040" y="2514600"/>
            <a:ext cx="8503920" cy="475488"/>
          </a:xfrm>
          <a:prstGeom prst="rect">
            <a:avLst/>
          </a:prstGeom>
          <a:solidFill>
            <a:srgbClr val="F0E6D8"/>
          </a:solidFill>
          <a:ln w="12700">
            <a:solidFill>
              <a:srgbClr val="E0C8A0"/>
            </a:solidFill>
            <a:prstDash val="solid"/>
          </a:ln>
        </p:spPr>
        <p:txBody>
          <a:bodyPr/>
          <a:lstStyle/>
          <a:p>
            <a:endParaRPr lang="zh-TW" altLang="en-US"/>
          </a:p>
        </p:txBody>
      </p:sp>
      <p:sp>
        <p:nvSpPr>
          <p:cNvPr id="31" name="Text 29"/>
          <p:cNvSpPr/>
          <p:nvPr/>
        </p:nvSpPr>
        <p:spPr>
          <a:xfrm>
            <a:off x="457200" y="2560320"/>
            <a:ext cx="8321040" cy="38404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ISP 的任務：把 raw 轉成應用可用的 image/video</a:t>
            </a:r>
            <a:endParaRPr lang="en-US" sz="1200" dirty="0"/>
          </a:p>
        </p:txBody>
      </p:sp>
      <p:sp>
        <p:nvSpPr>
          <p:cNvPr id="32" name="Shape 30"/>
          <p:cNvSpPr/>
          <p:nvPr/>
        </p:nvSpPr>
        <p:spPr>
          <a:xfrm>
            <a:off x="320040" y="3108960"/>
            <a:ext cx="8503920" cy="475488"/>
          </a:xfrm>
          <a:prstGeom prst="rect">
            <a:avLst/>
          </a:prstGeom>
          <a:solidFill>
            <a:srgbClr val="F3EFE7"/>
          </a:solidFill>
          <a:ln w="12700">
            <a:solidFill>
              <a:srgbClr val="E8E0D0"/>
            </a:solidFill>
            <a:prstDash val="solid"/>
          </a:ln>
        </p:spPr>
        <p:txBody>
          <a:bodyPr/>
          <a:lstStyle/>
          <a:p>
            <a:endParaRPr lang="zh-TW" altLang="en-US"/>
          </a:p>
        </p:txBody>
      </p:sp>
      <p:sp>
        <p:nvSpPr>
          <p:cNvPr id="33" name="Text 31"/>
          <p:cNvSpPr/>
          <p:nvPr/>
        </p:nvSpPr>
        <p:spPr>
          <a:xfrm>
            <a:off x="457200" y="3154680"/>
            <a:ext cx="8321040" cy="38404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最終 JPEG/Preview 通常早已不是最原始資料</a:t>
            </a:r>
            <a:endParaRPr lang="en-US" sz="1200" dirty="0"/>
          </a:p>
        </p:txBody>
      </p:sp>
      <p:sp>
        <p:nvSpPr>
          <p:cNvPr id="34" name="Shape 32"/>
          <p:cNvSpPr/>
          <p:nvPr/>
        </p:nvSpPr>
        <p:spPr>
          <a:xfrm>
            <a:off x="320040" y="3703320"/>
            <a:ext cx="8503920" cy="475488"/>
          </a:xfrm>
          <a:prstGeom prst="rect">
            <a:avLst/>
          </a:prstGeom>
          <a:solidFill>
            <a:srgbClr val="F3EFE7"/>
          </a:solidFill>
          <a:ln w="12700">
            <a:solidFill>
              <a:srgbClr val="E8E0D0"/>
            </a:solidFill>
            <a:prstDash val="solid"/>
          </a:ln>
        </p:spPr>
        <p:txBody>
          <a:bodyPr/>
          <a:lstStyle/>
          <a:p>
            <a:endParaRPr lang="zh-TW" altLang="en-US"/>
          </a:p>
        </p:txBody>
      </p:sp>
      <p:sp>
        <p:nvSpPr>
          <p:cNvPr id="35" name="Text 33"/>
          <p:cNvSpPr/>
          <p:nvPr/>
        </p:nvSpPr>
        <p:spPr>
          <a:xfrm>
            <a:off x="457200" y="3749040"/>
            <a:ext cx="8321040" cy="38404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CV 演算法要知道自己處理的是哪一層輸出</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Ch5 ｜ 第五章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Camera 不只是一顆 Sensor，還要把資料送進處理器</a:t>
            </a:r>
            <a:endParaRPr lang="en-US" sz="2200" dirty="0"/>
          </a:p>
        </p:txBody>
      </p:sp>
      <p:sp>
        <p:nvSpPr>
          <p:cNvPr id="7" name="Shape 5"/>
          <p:cNvSpPr/>
          <p:nvPr/>
        </p:nvSpPr>
        <p:spPr>
          <a:xfrm>
            <a:off x="365760" y="1005840"/>
            <a:ext cx="1554480" cy="1234440"/>
          </a:xfrm>
          <a:prstGeom prst="rect">
            <a:avLst/>
          </a:prstGeom>
          <a:solidFill>
            <a:srgbClr val="F5C842"/>
          </a:solidFill>
          <a:ln w="12700">
            <a:solidFill>
              <a:srgbClr val="F5C842"/>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8" name="Text 6"/>
          <p:cNvSpPr/>
          <p:nvPr/>
        </p:nvSpPr>
        <p:spPr>
          <a:xfrm>
            <a:off x="365760" y="1005840"/>
            <a:ext cx="155448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Optics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光學</a:t>
            </a:r>
            <a:endParaRPr lang="en-US" sz="1200" dirty="0"/>
          </a:p>
        </p:txBody>
      </p:sp>
      <p:sp>
        <p:nvSpPr>
          <p:cNvPr id="9" name="Shape 7"/>
          <p:cNvSpPr/>
          <p:nvPr/>
        </p:nvSpPr>
        <p:spPr>
          <a:xfrm>
            <a:off x="1938528" y="1554480"/>
            <a:ext cx="137160" cy="109728"/>
          </a:xfrm>
          <a:prstGeom prst="rect">
            <a:avLst/>
          </a:prstGeom>
          <a:solidFill>
            <a:srgbClr val="888888"/>
          </a:solidFill>
          <a:ln w="12700">
            <a:solidFill>
              <a:srgbClr val="888888"/>
            </a:solidFill>
            <a:prstDash val="solid"/>
          </a:ln>
        </p:spPr>
        <p:txBody>
          <a:bodyPr/>
          <a:lstStyle/>
          <a:p>
            <a:endParaRPr lang="zh-TW" altLang="en-US"/>
          </a:p>
        </p:txBody>
      </p:sp>
      <p:sp>
        <p:nvSpPr>
          <p:cNvPr id="10" name="Shape 8"/>
          <p:cNvSpPr/>
          <p:nvPr/>
        </p:nvSpPr>
        <p:spPr>
          <a:xfrm>
            <a:off x="2057400" y="1005840"/>
            <a:ext cx="1554480" cy="123444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1" name="Text 9"/>
          <p:cNvSpPr/>
          <p:nvPr/>
        </p:nvSpPr>
        <p:spPr>
          <a:xfrm>
            <a:off x="2057400" y="1005840"/>
            <a:ext cx="155448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Sensor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感測器</a:t>
            </a:r>
            <a:endParaRPr lang="en-US" sz="1200" dirty="0"/>
          </a:p>
        </p:txBody>
      </p:sp>
      <p:sp>
        <p:nvSpPr>
          <p:cNvPr id="12" name="Shape 10"/>
          <p:cNvSpPr/>
          <p:nvPr/>
        </p:nvSpPr>
        <p:spPr>
          <a:xfrm>
            <a:off x="3630168" y="1554480"/>
            <a:ext cx="137160" cy="109728"/>
          </a:xfrm>
          <a:prstGeom prst="rect">
            <a:avLst/>
          </a:prstGeom>
          <a:solidFill>
            <a:srgbClr val="888888"/>
          </a:solidFill>
          <a:ln w="12700">
            <a:solidFill>
              <a:srgbClr val="888888"/>
            </a:solidFill>
            <a:prstDash val="solid"/>
          </a:ln>
        </p:spPr>
        <p:txBody>
          <a:bodyPr/>
          <a:lstStyle/>
          <a:p>
            <a:endParaRPr lang="zh-TW" altLang="en-US"/>
          </a:p>
        </p:txBody>
      </p:sp>
      <p:sp>
        <p:nvSpPr>
          <p:cNvPr id="13" name="Shape 11"/>
          <p:cNvSpPr/>
          <p:nvPr/>
        </p:nvSpPr>
        <p:spPr>
          <a:xfrm>
            <a:off x="3749040" y="1005840"/>
            <a:ext cx="1554480" cy="1234440"/>
          </a:xfrm>
          <a:prstGeom prst="rect">
            <a:avLst/>
          </a:prstGeom>
          <a:solidFill>
            <a:srgbClr val="5B9BD5"/>
          </a:solidFill>
          <a:ln w="1270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4" name="Text 12"/>
          <p:cNvSpPr/>
          <p:nvPr/>
        </p:nvSpPr>
        <p:spPr>
          <a:xfrm>
            <a:off x="3749040" y="1005840"/>
            <a:ext cx="155448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Interface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傳輸介面</a:t>
            </a:r>
            <a:endParaRPr lang="en-US" sz="1200" dirty="0"/>
          </a:p>
        </p:txBody>
      </p:sp>
      <p:sp>
        <p:nvSpPr>
          <p:cNvPr id="15" name="Shape 13"/>
          <p:cNvSpPr/>
          <p:nvPr/>
        </p:nvSpPr>
        <p:spPr>
          <a:xfrm>
            <a:off x="5321808" y="1554480"/>
            <a:ext cx="137160" cy="109728"/>
          </a:xfrm>
          <a:prstGeom prst="rect">
            <a:avLst/>
          </a:prstGeom>
          <a:solidFill>
            <a:srgbClr val="888888"/>
          </a:solidFill>
          <a:ln w="12700">
            <a:solidFill>
              <a:srgbClr val="888888"/>
            </a:solidFill>
            <a:prstDash val="solid"/>
          </a:ln>
        </p:spPr>
        <p:txBody>
          <a:bodyPr/>
          <a:lstStyle/>
          <a:p>
            <a:endParaRPr lang="zh-TW" altLang="en-US"/>
          </a:p>
        </p:txBody>
      </p:sp>
      <p:sp>
        <p:nvSpPr>
          <p:cNvPr id="16" name="Shape 14"/>
          <p:cNvSpPr/>
          <p:nvPr/>
        </p:nvSpPr>
        <p:spPr>
          <a:xfrm>
            <a:off x="5440680" y="1005840"/>
            <a:ext cx="1554480" cy="1234440"/>
          </a:xfrm>
          <a:prstGeom prst="rect">
            <a:avLst/>
          </a:prstGeom>
          <a:solidFill>
            <a:srgbClr val="7030A0"/>
          </a:solidFill>
          <a:ln w="12700">
            <a:solidFill>
              <a:srgbClr val="7030A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7" name="Text 15"/>
          <p:cNvSpPr/>
          <p:nvPr/>
        </p:nvSpPr>
        <p:spPr>
          <a:xfrm>
            <a:off x="5440680" y="1005840"/>
            <a:ext cx="155448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SoC / MCU</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處理器</a:t>
            </a:r>
            <a:endParaRPr lang="en-US" sz="1200" dirty="0"/>
          </a:p>
        </p:txBody>
      </p:sp>
      <p:sp>
        <p:nvSpPr>
          <p:cNvPr id="18" name="Shape 16"/>
          <p:cNvSpPr/>
          <p:nvPr/>
        </p:nvSpPr>
        <p:spPr>
          <a:xfrm>
            <a:off x="7013448" y="1554480"/>
            <a:ext cx="137160" cy="109728"/>
          </a:xfrm>
          <a:prstGeom prst="rect">
            <a:avLst/>
          </a:prstGeom>
          <a:solidFill>
            <a:srgbClr val="888888"/>
          </a:solidFill>
          <a:ln w="12700">
            <a:solidFill>
              <a:srgbClr val="888888"/>
            </a:solidFill>
            <a:prstDash val="solid"/>
          </a:ln>
        </p:spPr>
        <p:txBody>
          <a:bodyPr/>
          <a:lstStyle/>
          <a:p>
            <a:endParaRPr lang="zh-TW" altLang="en-US"/>
          </a:p>
        </p:txBody>
      </p:sp>
      <p:sp>
        <p:nvSpPr>
          <p:cNvPr id="19" name="Shape 17"/>
          <p:cNvSpPr/>
          <p:nvPr/>
        </p:nvSpPr>
        <p:spPr>
          <a:xfrm>
            <a:off x="7132320" y="1005840"/>
            <a:ext cx="1554480" cy="1234440"/>
          </a:xfrm>
          <a:prstGeom prst="rect">
            <a:avLst/>
          </a:prstGeom>
          <a:solidFill>
            <a:srgbClr val="C45C00"/>
          </a:solidFill>
          <a:ln w="12700">
            <a:solidFill>
              <a:srgbClr val="C45C0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0" name="Text 18"/>
          <p:cNvSpPr/>
          <p:nvPr/>
        </p:nvSpPr>
        <p:spPr>
          <a:xfrm>
            <a:off x="7132320" y="1005840"/>
            <a:ext cx="155448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ISP / CPU</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GPU / NPU</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計算</a:t>
            </a:r>
            <a:endParaRPr lang="en-US" sz="1200" dirty="0"/>
          </a:p>
        </p:txBody>
      </p:sp>
      <p:sp>
        <p:nvSpPr>
          <p:cNvPr id="21" name="Shape 19"/>
          <p:cNvSpPr/>
          <p:nvPr/>
        </p:nvSpPr>
        <p:spPr>
          <a:xfrm>
            <a:off x="320040" y="2514600"/>
            <a:ext cx="2011680" cy="731520"/>
          </a:xfrm>
          <a:prstGeom prst="rect">
            <a:avLst/>
          </a:prstGeom>
          <a:solidFill>
            <a:srgbClr val="5B9BD5"/>
          </a:solidFill>
          <a:ln w="1270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2" name="Text 20"/>
          <p:cNvSpPr/>
          <p:nvPr/>
        </p:nvSpPr>
        <p:spPr>
          <a:xfrm>
            <a:off x="320040" y="2578608"/>
            <a:ext cx="2011680" cy="3017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手機模組</a:t>
            </a:r>
            <a:endParaRPr lang="en-US" sz="1200" dirty="0"/>
          </a:p>
        </p:txBody>
      </p:sp>
      <p:sp>
        <p:nvSpPr>
          <p:cNvPr id="23" name="Text 21"/>
          <p:cNvSpPr/>
          <p:nvPr/>
        </p:nvSpPr>
        <p:spPr>
          <a:xfrm>
            <a:off x="320040" y="2871216"/>
            <a:ext cx="2011680" cy="256032"/>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MIPI CSI-2</a:t>
            </a:r>
            <a:endParaRPr lang="en-US" sz="1000" dirty="0"/>
          </a:p>
        </p:txBody>
      </p:sp>
      <p:sp>
        <p:nvSpPr>
          <p:cNvPr id="24" name="Shape 22"/>
          <p:cNvSpPr/>
          <p:nvPr/>
        </p:nvSpPr>
        <p:spPr>
          <a:xfrm>
            <a:off x="2532888" y="2514600"/>
            <a:ext cx="2011680" cy="73152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5" name="Text 23"/>
          <p:cNvSpPr/>
          <p:nvPr/>
        </p:nvSpPr>
        <p:spPr>
          <a:xfrm>
            <a:off x="2532888" y="2578608"/>
            <a:ext cx="2011680" cy="3017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USB Webcam</a:t>
            </a:r>
            <a:endParaRPr lang="en-US" sz="1200" dirty="0"/>
          </a:p>
        </p:txBody>
      </p:sp>
      <p:sp>
        <p:nvSpPr>
          <p:cNvPr id="26" name="Text 24"/>
          <p:cNvSpPr/>
          <p:nvPr/>
        </p:nvSpPr>
        <p:spPr>
          <a:xfrm>
            <a:off x="2532888" y="2871216"/>
            <a:ext cx="2011680" cy="256032"/>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USB / UVC</a:t>
            </a:r>
            <a:endParaRPr lang="en-US" sz="1000" dirty="0"/>
          </a:p>
        </p:txBody>
      </p:sp>
      <p:sp>
        <p:nvSpPr>
          <p:cNvPr id="27" name="Shape 25"/>
          <p:cNvSpPr/>
          <p:nvPr/>
        </p:nvSpPr>
        <p:spPr>
          <a:xfrm>
            <a:off x="4745736" y="2514600"/>
            <a:ext cx="2011680" cy="731520"/>
          </a:xfrm>
          <a:prstGeom prst="rect">
            <a:avLst/>
          </a:prstGeom>
          <a:solidFill>
            <a:srgbClr val="E07B39"/>
          </a:solidFill>
          <a:ln w="12700">
            <a:solidFill>
              <a:srgbClr val="E07B39"/>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8" name="Text 26"/>
          <p:cNvSpPr/>
          <p:nvPr/>
        </p:nvSpPr>
        <p:spPr>
          <a:xfrm>
            <a:off x="4745736" y="2578608"/>
            <a:ext cx="2011680" cy="3017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MCU 開發板</a:t>
            </a:r>
            <a:endParaRPr lang="en-US" sz="1200" dirty="0"/>
          </a:p>
        </p:txBody>
      </p:sp>
      <p:sp>
        <p:nvSpPr>
          <p:cNvPr id="29" name="Text 27"/>
          <p:cNvSpPr/>
          <p:nvPr/>
        </p:nvSpPr>
        <p:spPr>
          <a:xfrm>
            <a:off x="4745736" y="2871216"/>
            <a:ext cx="2011680" cy="256032"/>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Parallel / CSI</a:t>
            </a:r>
            <a:endParaRPr lang="en-US" sz="1000" dirty="0"/>
          </a:p>
        </p:txBody>
      </p:sp>
      <p:sp>
        <p:nvSpPr>
          <p:cNvPr id="30" name="Shape 28"/>
          <p:cNvSpPr/>
          <p:nvPr/>
        </p:nvSpPr>
        <p:spPr>
          <a:xfrm>
            <a:off x="6958584" y="2514600"/>
            <a:ext cx="2011680" cy="731520"/>
          </a:xfrm>
          <a:prstGeom prst="rect">
            <a:avLst/>
          </a:prstGeom>
          <a:solidFill>
            <a:srgbClr val="888888"/>
          </a:solidFill>
          <a:ln w="12700">
            <a:solidFill>
              <a:srgbClr val="888888"/>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31" name="Text 29"/>
          <p:cNvSpPr/>
          <p:nvPr/>
        </p:nvSpPr>
        <p:spPr>
          <a:xfrm>
            <a:off x="6958584" y="2578608"/>
            <a:ext cx="2011680" cy="3017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工業相機</a:t>
            </a:r>
            <a:endParaRPr lang="en-US" sz="1200" dirty="0"/>
          </a:p>
        </p:txBody>
      </p:sp>
      <p:sp>
        <p:nvSpPr>
          <p:cNvPr id="32" name="Text 30"/>
          <p:cNvSpPr/>
          <p:nvPr/>
        </p:nvSpPr>
        <p:spPr>
          <a:xfrm>
            <a:off x="6958584" y="2871216"/>
            <a:ext cx="2011680" cy="256032"/>
          </a:xfrm>
          <a:prstGeom prst="rect">
            <a:avLst/>
          </a:prstGeom>
          <a:noFill/>
          <a:ln/>
        </p:spPr>
        <p:txBody>
          <a:bodyPr wrap="square" rtlCol="0" anchor="ctr"/>
          <a:lstStyle/>
          <a:p>
            <a:pPr marL="0" indent="0" algn="ctr">
              <a:buNone/>
            </a:pPr>
            <a:r>
              <a:rPr lang="en-US" sz="1000" dirty="0">
                <a:solidFill>
                  <a:srgbClr val="FFFDE0"/>
                </a:solidFill>
                <a:latin typeface="Calibri" pitchFamily="34" charset="0"/>
                <a:ea typeface="Calibri" pitchFamily="34" charset="-122"/>
                <a:cs typeface="Calibri" pitchFamily="34" charset="-120"/>
              </a:rPr>
              <a:t>LVDS / Camera Link</a:t>
            </a:r>
            <a:endParaRPr lang="en-US" sz="1000" dirty="0"/>
          </a:p>
        </p:txBody>
      </p:sp>
      <p:sp>
        <p:nvSpPr>
          <p:cNvPr id="33" name="Shape 31"/>
          <p:cNvSpPr/>
          <p:nvPr/>
        </p:nvSpPr>
        <p:spPr>
          <a:xfrm>
            <a:off x="320040" y="3401568"/>
            <a:ext cx="8503920" cy="457200"/>
          </a:xfrm>
          <a:prstGeom prst="rect">
            <a:avLst/>
          </a:prstGeom>
          <a:solidFill>
            <a:srgbClr val="F0E6D8"/>
          </a:solidFill>
          <a:ln w="12700">
            <a:solidFill>
              <a:srgbClr val="E0C8A0"/>
            </a:solidFill>
            <a:prstDash val="solid"/>
          </a:ln>
        </p:spPr>
        <p:txBody>
          <a:bodyPr/>
          <a:lstStyle/>
          <a:p>
            <a:endParaRPr lang="zh-TW" altLang="en-US"/>
          </a:p>
        </p:txBody>
      </p:sp>
      <p:sp>
        <p:nvSpPr>
          <p:cNvPr id="34" name="Text 32"/>
          <p:cNvSpPr/>
          <p:nvPr/>
        </p:nvSpPr>
        <p:spPr>
          <a:xfrm>
            <a:off x="457200" y="3401568"/>
            <a:ext cx="8321040" cy="45720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Camera system = optics + sensor + interface + processing — 傳輸是不可忽略的環節</a:t>
            </a:r>
            <a:endParaRPr lang="en-US" sz="1200" dirty="0"/>
          </a:p>
        </p:txBody>
      </p:sp>
      <p:sp>
        <p:nvSpPr>
          <p:cNvPr id="35" name="Shape 33"/>
          <p:cNvSpPr/>
          <p:nvPr/>
        </p:nvSpPr>
        <p:spPr>
          <a:xfrm>
            <a:off x="320040" y="4096512"/>
            <a:ext cx="502920" cy="256032"/>
          </a:xfrm>
          <a:prstGeom prst="rect">
            <a:avLst/>
          </a:prstGeom>
          <a:solidFill>
            <a:srgbClr val="C45C00"/>
          </a:solidFill>
          <a:ln w="12700">
            <a:solidFill>
              <a:srgbClr val="C45C00"/>
            </a:solidFill>
            <a:prstDash val="solid"/>
          </a:ln>
        </p:spPr>
        <p:txBody>
          <a:bodyPr/>
          <a:lstStyle/>
          <a:p>
            <a:endParaRPr lang="zh-TW" altLang="en-US"/>
          </a:p>
        </p:txBody>
      </p:sp>
      <p:sp>
        <p:nvSpPr>
          <p:cNvPr id="36" name="Text 34"/>
          <p:cNvSpPr/>
          <p:nvPr/>
        </p:nvSpPr>
        <p:spPr>
          <a:xfrm>
            <a:off x="320040" y="4096512"/>
            <a:ext cx="502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提問</a:t>
            </a:r>
            <a:endParaRPr lang="en-US" sz="900" dirty="0"/>
          </a:p>
        </p:txBody>
      </p:sp>
      <p:sp>
        <p:nvSpPr>
          <p:cNvPr id="37" name="Text 35"/>
          <p:cNvSpPr/>
          <p:nvPr/>
        </p:nvSpPr>
        <p:spPr>
          <a:xfrm>
            <a:off x="868680" y="4096512"/>
            <a:ext cx="8229600" cy="256032"/>
          </a:xfrm>
          <a:prstGeom prst="rect">
            <a:avLst/>
          </a:prstGeom>
          <a:noFill/>
          <a:ln/>
        </p:spPr>
        <p:txBody>
          <a:bodyPr wrap="square" rtlCol="0" anchor="ctr"/>
          <a:lstStyle/>
          <a:p>
            <a:pPr marL="0" indent="0">
              <a:buNone/>
            </a:pPr>
            <a:r>
              <a:rPr lang="en-US" sz="1000" i="1" dirty="0">
                <a:solidFill>
                  <a:srgbClr val="1A1A1A"/>
                </a:solidFill>
                <a:latin typeface="Calibri" pitchFamily="34" charset="0"/>
                <a:ea typeface="Calibri" pitchFamily="34" charset="-122"/>
                <a:cs typeface="Calibri" pitchFamily="34" charset="-120"/>
              </a:rPr>
              <a:t>同樣都是 camera，為什麼手機模組、USB webcam、工業相機接法完全不同？</a:t>
            </a:r>
            <a:endParaRPr lang="en-US" sz="1000" dirty="0"/>
          </a:p>
        </p:txBody>
      </p:sp>
      <p:sp>
        <p:nvSpPr>
          <p:cNvPr id="38" name="Shape 36"/>
          <p:cNvSpPr/>
          <p:nvPr/>
        </p:nvSpPr>
        <p:spPr>
          <a:xfrm>
            <a:off x="320040" y="4407408"/>
            <a:ext cx="502920" cy="256032"/>
          </a:xfrm>
          <a:prstGeom prst="rect">
            <a:avLst/>
          </a:prstGeom>
          <a:solidFill>
            <a:srgbClr val="1E3A5F"/>
          </a:solidFill>
          <a:ln w="12700">
            <a:solidFill>
              <a:srgbClr val="1E3A5F"/>
            </a:solidFill>
            <a:prstDash val="solid"/>
          </a:ln>
        </p:spPr>
        <p:txBody>
          <a:bodyPr/>
          <a:lstStyle/>
          <a:p>
            <a:endParaRPr lang="zh-TW" altLang="en-US"/>
          </a:p>
        </p:txBody>
      </p:sp>
      <p:sp>
        <p:nvSpPr>
          <p:cNvPr id="39" name="Text 37"/>
          <p:cNvSpPr/>
          <p:nvPr/>
        </p:nvSpPr>
        <p:spPr>
          <a:xfrm>
            <a:off x="320040" y="4407408"/>
            <a:ext cx="502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話術</a:t>
            </a:r>
            <a:endParaRPr lang="en-US" sz="900" dirty="0"/>
          </a:p>
        </p:txBody>
      </p:sp>
      <p:sp>
        <p:nvSpPr>
          <p:cNvPr id="40" name="Text 38"/>
          <p:cNvSpPr/>
          <p:nvPr/>
        </p:nvSpPr>
        <p:spPr>
          <a:xfrm>
            <a:off x="868680" y="4407408"/>
            <a:ext cx="8229600" cy="256032"/>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因為『看到光』只是前半段，『把資料送到處理器』是另一半。</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AFAF5"/>
          </a:solidFill>
          <a:ln w="12700">
            <a:solidFill>
              <a:srgbClr val="FAFAF5"/>
            </a:solidFill>
            <a:prstDash val="solid"/>
          </a:ln>
        </p:spPr>
        <p:txBody>
          <a:bodyPr/>
          <a:lstStyle/>
          <a:p>
            <a:endParaRPr lang="zh-TW" altLang="en-US"/>
          </a:p>
        </p:txBody>
      </p:sp>
      <p:sp>
        <p:nvSpPr>
          <p:cNvPr id="3" name="Shape 1"/>
          <p:cNvSpPr/>
          <p:nvPr/>
        </p:nvSpPr>
        <p:spPr>
          <a:xfrm>
            <a:off x="0" y="713232"/>
            <a:ext cx="9144000" cy="36576"/>
          </a:xfrm>
          <a:prstGeom prst="rect">
            <a:avLst/>
          </a:prstGeom>
          <a:solidFill>
            <a:srgbClr val="C45C00"/>
          </a:solidFill>
          <a:ln w="12700">
            <a:solidFill>
              <a:srgbClr val="C45C00"/>
            </a:solidFill>
            <a:prstDash val="solid"/>
          </a:ln>
        </p:spPr>
        <p:txBody>
          <a:bodyPr/>
          <a:lstStyle/>
          <a:p>
            <a:endParaRPr lang="zh-TW" altLang="en-US"/>
          </a:p>
        </p:txBody>
      </p:sp>
      <p:sp>
        <p:nvSpPr>
          <p:cNvPr id="4" name="Shape 2"/>
          <p:cNvSpPr/>
          <p:nvPr/>
        </p:nvSpPr>
        <p:spPr>
          <a:xfrm>
            <a:off x="320040" y="73152"/>
            <a:ext cx="1920240" cy="32004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73152"/>
            <a:ext cx="19202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Ch5 ｜ 第五章</a:t>
            </a:r>
            <a:endParaRPr lang="en-US" sz="1000" dirty="0"/>
          </a:p>
        </p:txBody>
      </p:sp>
      <p:sp>
        <p:nvSpPr>
          <p:cNvPr id="6" name="Text 4"/>
          <p:cNvSpPr/>
          <p:nvPr/>
        </p:nvSpPr>
        <p:spPr>
          <a:xfrm>
            <a:off x="320040" y="384048"/>
            <a:ext cx="8503920" cy="384048"/>
          </a:xfrm>
          <a:prstGeom prst="rect">
            <a:avLst/>
          </a:prstGeom>
          <a:noFill/>
          <a:ln/>
        </p:spPr>
        <p:txBody>
          <a:bodyPr wrap="square" lIns="0" tIns="0" rIns="0" bIns="0"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Parallel、MIPI CSI-2、USB/UVC、LVDS</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919418974"/>
              </p:ext>
            </p:extLst>
          </p:nvPr>
        </p:nvGraphicFramePr>
        <p:xfrm>
          <a:off x="320040" y="960120"/>
          <a:ext cx="6400800" cy="265176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3035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介面</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線數/信號</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頻寬</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E3A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典型平台</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53035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Parallel</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07B39"/>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8/10/16/24 data lines</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中等</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MCU / 傳統教學板</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extLst>
                  <a:ext uri="{0D108BD9-81ED-4DB2-BD59-A6C34878D82A}">
                    <a16:rowId xmlns:a16="http://schemas.microsoft.com/office/drawing/2014/main" val="10001"/>
                  </a:ext>
                </a:extLst>
              </a:tr>
              <a:tr h="53035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MIPI CSI-2</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5B9BD5"/>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差分信號 (LVDS pair)</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高</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手機 / 嵌入式 SBC</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extLst>
                  <a:ext uri="{0D108BD9-81ED-4DB2-BD59-A6C34878D82A}">
                    <a16:rowId xmlns:a16="http://schemas.microsoft.com/office/drawing/2014/main" val="10002"/>
                  </a:ext>
                </a:extLst>
              </a:tr>
              <a:tr h="53035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USB / UVC</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70AD47"/>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USB 2.0/3.0</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中</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PC / Colab / 教學</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extLst>
                  <a:ext uri="{0D108BD9-81ED-4DB2-BD59-A6C34878D82A}">
                    <a16:rowId xmlns:a16="http://schemas.microsoft.com/office/drawing/2014/main" val="10003"/>
                  </a:ext>
                </a:extLst>
              </a:tr>
              <a:tr h="53035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LVDS / Camera Link</a:t>
                      </a:r>
                      <a:endParaRPr lang="en-US" sz="12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888888"/>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多組 LVDS pairs</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超高</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工業視覺</a:t>
                      </a:r>
                      <a:endParaRPr lang="en-US" sz="1100" dirty="0">
                        <a:latin typeface="Calibri" charset="0"/>
                        <a:ea typeface="Calibri" charset="0"/>
                        <a:cs typeface="Calibri" charset="0"/>
                      </a:endParaRPr>
                    </a:p>
                  </a:txBody>
                  <a:tcP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EF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0">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73152"/>
            <a:ext cx="365760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Ch6 ｜ 第二週收斂</a:t>
            </a:r>
            <a:endParaRPr lang="en-US" sz="1000" dirty="0"/>
          </a:p>
        </p:txBody>
      </p:sp>
      <p:sp>
        <p:nvSpPr>
          <p:cNvPr id="4" name="Text 2"/>
          <p:cNvSpPr/>
          <p:nvPr/>
        </p:nvSpPr>
        <p:spPr>
          <a:xfrm>
            <a:off x="320040" y="329184"/>
            <a:ext cx="8503920" cy="3200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從光到資料，哪幾步最關鍵？</a:t>
            </a:r>
            <a:endParaRPr lang="en-US" sz="2200" dirty="0"/>
          </a:p>
        </p:txBody>
      </p:sp>
      <p:sp>
        <p:nvSpPr>
          <p:cNvPr id="5" name="Shape 3"/>
          <p:cNvSpPr/>
          <p:nvPr/>
        </p:nvSpPr>
        <p:spPr>
          <a:xfrm>
            <a:off x="228600" y="886968"/>
            <a:ext cx="1298448" cy="914400"/>
          </a:xfrm>
          <a:prstGeom prst="rect">
            <a:avLst/>
          </a:prstGeom>
          <a:solidFill>
            <a:srgbClr val="F5C842"/>
          </a:solidFill>
          <a:ln w="12700">
            <a:solidFill>
              <a:srgbClr val="F5C842"/>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6" name="Text 4"/>
          <p:cNvSpPr/>
          <p:nvPr/>
        </p:nvSpPr>
        <p:spPr>
          <a:xfrm>
            <a:off x="228600" y="886968"/>
            <a:ext cx="1298448"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光源 &amp;</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物體反射</a:t>
            </a:r>
            <a:endParaRPr lang="en-US" sz="1050" dirty="0"/>
          </a:p>
        </p:txBody>
      </p:sp>
      <p:sp>
        <p:nvSpPr>
          <p:cNvPr id="7" name="Shape 5"/>
          <p:cNvSpPr/>
          <p:nvPr/>
        </p:nvSpPr>
        <p:spPr>
          <a:xfrm>
            <a:off x="1527048" y="1298448"/>
            <a:ext cx="137160" cy="91440"/>
          </a:xfrm>
          <a:prstGeom prst="rect">
            <a:avLst/>
          </a:prstGeom>
          <a:solidFill>
            <a:srgbClr val="FFFFFF">
              <a:alpha val="70000"/>
            </a:srgbClr>
          </a:solidFill>
          <a:ln w="12700">
            <a:solidFill>
              <a:srgbClr val="FFFFFF"/>
            </a:solidFill>
            <a:prstDash val="solid"/>
          </a:ln>
        </p:spPr>
        <p:txBody>
          <a:bodyPr/>
          <a:lstStyle/>
          <a:p>
            <a:endParaRPr lang="zh-TW" altLang="en-US"/>
          </a:p>
        </p:txBody>
      </p:sp>
      <p:sp>
        <p:nvSpPr>
          <p:cNvPr id="8" name="Shape 6"/>
          <p:cNvSpPr/>
          <p:nvPr/>
        </p:nvSpPr>
        <p:spPr>
          <a:xfrm>
            <a:off x="1664208" y="886968"/>
            <a:ext cx="1298448" cy="914400"/>
          </a:xfrm>
          <a:prstGeom prst="rect">
            <a:avLst/>
          </a:prstGeom>
          <a:solidFill>
            <a:srgbClr val="E07B39"/>
          </a:solidFill>
          <a:ln w="12700">
            <a:solidFill>
              <a:srgbClr val="E07B39"/>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9" name="Text 7"/>
          <p:cNvSpPr/>
          <p:nvPr/>
        </p:nvSpPr>
        <p:spPr>
          <a:xfrm>
            <a:off x="1664208" y="886968"/>
            <a:ext cx="1298448"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Pinhole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Aperture / Lens</a:t>
            </a:r>
            <a:endParaRPr lang="en-US" sz="1050" dirty="0"/>
          </a:p>
        </p:txBody>
      </p:sp>
      <p:sp>
        <p:nvSpPr>
          <p:cNvPr id="10" name="Shape 8"/>
          <p:cNvSpPr/>
          <p:nvPr/>
        </p:nvSpPr>
        <p:spPr>
          <a:xfrm>
            <a:off x="2962656" y="1298448"/>
            <a:ext cx="137160" cy="91440"/>
          </a:xfrm>
          <a:prstGeom prst="rect">
            <a:avLst/>
          </a:prstGeom>
          <a:solidFill>
            <a:srgbClr val="FFFFFF">
              <a:alpha val="70000"/>
            </a:srgbClr>
          </a:solidFill>
          <a:ln w="12700">
            <a:solidFill>
              <a:srgbClr val="FFFFFF"/>
            </a:solidFill>
            <a:prstDash val="solid"/>
          </a:ln>
        </p:spPr>
        <p:txBody>
          <a:bodyPr/>
          <a:lstStyle/>
          <a:p>
            <a:endParaRPr lang="zh-TW" altLang="en-US"/>
          </a:p>
        </p:txBody>
      </p:sp>
      <p:sp>
        <p:nvSpPr>
          <p:cNvPr id="11" name="Shape 9"/>
          <p:cNvSpPr/>
          <p:nvPr/>
        </p:nvSpPr>
        <p:spPr>
          <a:xfrm>
            <a:off x="3099816" y="886968"/>
            <a:ext cx="1298448" cy="914400"/>
          </a:xfrm>
          <a:prstGeom prst="rect">
            <a:avLst/>
          </a:prstGeom>
          <a:solidFill>
            <a:srgbClr val="CC6666"/>
          </a:solidFill>
          <a:ln w="12700">
            <a:solidFill>
              <a:srgbClr val="CC6666"/>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2" name="Text 10"/>
          <p:cNvSpPr/>
          <p:nvPr/>
        </p:nvSpPr>
        <p:spPr>
          <a:xfrm>
            <a:off x="3099816" y="886968"/>
            <a:ext cx="1298448"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Exposure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Gain / Blur</a:t>
            </a:r>
            <a:endParaRPr lang="en-US" sz="1050" dirty="0"/>
          </a:p>
        </p:txBody>
      </p:sp>
      <p:sp>
        <p:nvSpPr>
          <p:cNvPr id="13" name="Shape 11"/>
          <p:cNvSpPr/>
          <p:nvPr/>
        </p:nvSpPr>
        <p:spPr>
          <a:xfrm>
            <a:off x="4398264" y="1298448"/>
            <a:ext cx="137160" cy="91440"/>
          </a:xfrm>
          <a:prstGeom prst="rect">
            <a:avLst/>
          </a:prstGeom>
          <a:solidFill>
            <a:srgbClr val="FFFFFF">
              <a:alpha val="70000"/>
            </a:srgbClr>
          </a:solidFill>
          <a:ln w="12700">
            <a:solidFill>
              <a:srgbClr val="FFFFFF"/>
            </a:solidFill>
            <a:prstDash val="solid"/>
          </a:ln>
        </p:spPr>
        <p:txBody>
          <a:bodyPr/>
          <a:lstStyle/>
          <a:p>
            <a:endParaRPr lang="zh-TW" altLang="en-US"/>
          </a:p>
        </p:txBody>
      </p:sp>
      <p:sp>
        <p:nvSpPr>
          <p:cNvPr id="14" name="Shape 12"/>
          <p:cNvSpPr/>
          <p:nvPr/>
        </p:nvSpPr>
        <p:spPr>
          <a:xfrm>
            <a:off x="4535424" y="886968"/>
            <a:ext cx="1298448" cy="914400"/>
          </a:xfrm>
          <a:prstGeom prst="rect">
            <a:avLst/>
          </a:prstGeom>
          <a:solidFill>
            <a:srgbClr val="5B9BD5"/>
          </a:solidFill>
          <a:ln w="12700">
            <a:solidFill>
              <a:srgbClr val="5B9BD5"/>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5" name="Text 13"/>
          <p:cNvSpPr/>
          <p:nvPr/>
        </p:nvSpPr>
        <p:spPr>
          <a:xfrm>
            <a:off x="4535424" y="886968"/>
            <a:ext cx="1298448"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Sensor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Shutter / Bayer</a:t>
            </a:r>
            <a:endParaRPr lang="en-US" sz="1050" dirty="0"/>
          </a:p>
        </p:txBody>
      </p:sp>
      <p:sp>
        <p:nvSpPr>
          <p:cNvPr id="16" name="Shape 14"/>
          <p:cNvSpPr/>
          <p:nvPr/>
        </p:nvSpPr>
        <p:spPr>
          <a:xfrm>
            <a:off x="5833872" y="1298448"/>
            <a:ext cx="137160" cy="91440"/>
          </a:xfrm>
          <a:prstGeom prst="rect">
            <a:avLst/>
          </a:prstGeom>
          <a:solidFill>
            <a:srgbClr val="FFFFFF">
              <a:alpha val="70000"/>
            </a:srgbClr>
          </a:solidFill>
          <a:ln w="12700">
            <a:solidFill>
              <a:srgbClr val="FFFFFF"/>
            </a:solidFill>
            <a:prstDash val="solid"/>
          </a:ln>
        </p:spPr>
        <p:txBody>
          <a:bodyPr/>
          <a:lstStyle/>
          <a:p>
            <a:endParaRPr lang="zh-TW" altLang="en-US"/>
          </a:p>
        </p:txBody>
      </p:sp>
      <p:sp>
        <p:nvSpPr>
          <p:cNvPr id="17" name="Shape 15"/>
          <p:cNvSpPr/>
          <p:nvPr/>
        </p:nvSpPr>
        <p:spPr>
          <a:xfrm>
            <a:off x="5971032" y="886968"/>
            <a:ext cx="1298448" cy="914400"/>
          </a:xfrm>
          <a:prstGeom prst="rect">
            <a:avLst/>
          </a:prstGeom>
          <a:solidFill>
            <a:srgbClr val="7030A0"/>
          </a:solidFill>
          <a:ln w="12700">
            <a:solidFill>
              <a:srgbClr val="7030A0"/>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18" name="Text 16"/>
          <p:cNvSpPr/>
          <p:nvPr/>
        </p:nvSpPr>
        <p:spPr>
          <a:xfrm>
            <a:off x="5971032" y="886968"/>
            <a:ext cx="1298448"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ISP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Interface</a:t>
            </a:r>
            <a:endParaRPr lang="en-US" sz="1050" dirty="0"/>
          </a:p>
        </p:txBody>
      </p:sp>
      <p:sp>
        <p:nvSpPr>
          <p:cNvPr id="19" name="Shape 17"/>
          <p:cNvSpPr/>
          <p:nvPr/>
        </p:nvSpPr>
        <p:spPr>
          <a:xfrm>
            <a:off x="7269480" y="1298448"/>
            <a:ext cx="137160" cy="91440"/>
          </a:xfrm>
          <a:prstGeom prst="rect">
            <a:avLst/>
          </a:prstGeom>
          <a:solidFill>
            <a:srgbClr val="FFFFFF">
              <a:alpha val="70000"/>
            </a:srgbClr>
          </a:solidFill>
          <a:ln w="12700">
            <a:solidFill>
              <a:srgbClr val="FFFFFF"/>
            </a:solidFill>
            <a:prstDash val="solid"/>
          </a:ln>
        </p:spPr>
        <p:txBody>
          <a:bodyPr/>
          <a:lstStyle/>
          <a:p>
            <a:endParaRPr lang="zh-TW" altLang="en-US"/>
          </a:p>
        </p:txBody>
      </p:sp>
      <p:sp>
        <p:nvSpPr>
          <p:cNvPr id="20" name="Shape 18"/>
          <p:cNvSpPr/>
          <p:nvPr/>
        </p:nvSpPr>
        <p:spPr>
          <a:xfrm>
            <a:off x="7406640" y="886968"/>
            <a:ext cx="1298448" cy="914400"/>
          </a:xfrm>
          <a:prstGeom prst="rect">
            <a:avLst/>
          </a:prstGeom>
          <a:solidFill>
            <a:srgbClr val="70AD47"/>
          </a:solidFill>
          <a:ln w="12700">
            <a:solidFill>
              <a:srgbClr val="70AD47"/>
            </a:solidFill>
            <a:prstDash val="solid"/>
          </a:ln>
          <a:effectLst>
            <a:outerShdw blurRad="63500" dist="25400" dir="8100000" algn="bl" rotWithShape="0">
              <a:srgbClr val="000000">
                <a:alpha val="10000"/>
              </a:srgbClr>
            </a:outerShdw>
          </a:effectLst>
        </p:spPr>
        <p:txBody>
          <a:bodyPr/>
          <a:lstStyle/>
          <a:p>
            <a:endParaRPr lang="zh-TW" altLang="en-US"/>
          </a:p>
        </p:txBody>
      </p:sp>
      <p:sp>
        <p:nvSpPr>
          <p:cNvPr id="21" name="Text 19"/>
          <p:cNvSpPr/>
          <p:nvPr/>
        </p:nvSpPr>
        <p:spPr>
          <a:xfrm>
            <a:off x="7406640" y="886968"/>
            <a:ext cx="1298448"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Output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Image</a:t>
            </a:r>
            <a:endParaRPr lang="en-US" sz="1050" dirty="0"/>
          </a:p>
        </p:txBody>
      </p:sp>
      <p:sp>
        <p:nvSpPr>
          <p:cNvPr id="22" name="Text 20"/>
          <p:cNvSpPr/>
          <p:nvPr/>
        </p:nvSpPr>
        <p:spPr>
          <a:xfrm>
            <a:off x="320040" y="1938528"/>
            <a:ext cx="8503920" cy="2423160"/>
          </a:xfrm>
          <a:prstGeom prst="rect">
            <a:avLst/>
          </a:prstGeom>
          <a:noFill/>
          <a:ln/>
        </p:spPr>
        <p:txBody>
          <a:bodyPr wrap="square" rtlCol="0" anchor="ctr"/>
          <a:lstStyle/>
          <a:p>
            <a:pPr marL="342900" indent="-342900">
              <a:buSzPct val="100000"/>
              <a:buChar char="•"/>
            </a:pPr>
            <a:r>
              <a:rPr lang="en-US" sz="1200" dirty="0">
                <a:solidFill>
                  <a:srgbClr val="FAFAF5"/>
                </a:solidFill>
                <a:latin typeface="Calibri" pitchFamily="34" charset="0"/>
                <a:ea typeface="Calibri" pitchFamily="34" charset="-122"/>
                <a:cs typeface="Calibri" pitchFamily="34" charset="-120"/>
              </a:rPr>
              <a:t>光源與物體反射決定相機的原始輸入條件</a:t>
            </a:r>
            <a:endParaRPr lang="en-US" sz="1200" dirty="0"/>
          </a:p>
          <a:p>
            <a:pPr marL="342900" indent="-342900">
              <a:buSzPct val="100000"/>
              <a:buChar char="•"/>
            </a:pPr>
            <a:r>
              <a:rPr lang="en-US" sz="1200" dirty="0">
                <a:solidFill>
                  <a:srgbClr val="FAFAF5"/>
                </a:solidFill>
                <a:latin typeface="Calibri" pitchFamily="34" charset="0"/>
                <a:ea typeface="Calibri" pitchFamily="34" charset="-122"/>
                <a:cs typeface="Calibri" pitchFamily="34" charset="-120"/>
              </a:rPr>
              <a:t>Aperture / Lens / Focus 決定成像幾何品質</a:t>
            </a:r>
            <a:endParaRPr lang="en-US" sz="1200" dirty="0"/>
          </a:p>
          <a:p>
            <a:pPr marL="342900" indent="-342900">
              <a:buSzPct val="100000"/>
              <a:buChar char="•"/>
            </a:pPr>
            <a:r>
              <a:rPr lang="en-US" sz="1200" dirty="0">
                <a:solidFill>
                  <a:srgbClr val="FAFAF5"/>
                </a:solidFill>
                <a:latin typeface="Calibri" pitchFamily="34" charset="0"/>
                <a:ea typeface="Calibri" pitchFamily="34" charset="-122"/>
                <a:cs typeface="Calibri" pitchFamily="34" charset="-120"/>
              </a:rPr>
              <a:t>Exposure / Gain 決定亮度、噪聲與時序精準度</a:t>
            </a:r>
            <a:endParaRPr lang="en-US" sz="1200" dirty="0"/>
          </a:p>
          <a:p>
            <a:pPr marL="342900" indent="-342900">
              <a:buSzPct val="100000"/>
              <a:buChar char="•"/>
            </a:pPr>
            <a:r>
              <a:rPr lang="en-US" sz="1200" dirty="0">
                <a:solidFill>
                  <a:srgbClr val="FAFAF5"/>
                </a:solidFill>
                <a:latin typeface="Calibri" pitchFamily="34" charset="0"/>
                <a:ea typeface="Calibri" pitchFamily="34" charset="-122"/>
                <a:cs typeface="Calibri" pitchFamily="34" charset="-120"/>
              </a:rPr>
              <a:t>Sensor 類型（CMOS/CCD）與 shutter 方式決定讀出行為</a:t>
            </a:r>
            <a:endParaRPr lang="en-US" sz="1200" dirty="0"/>
          </a:p>
          <a:p>
            <a:pPr marL="342900" indent="-342900">
              <a:buSzPct val="100000"/>
              <a:buChar char="•"/>
            </a:pPr>
            <a:r>
              <a:rPr lang="en-US" sz="1200" dirty="0">
                <a:solidFill>
                  <a:srgbClr val="FAFAF5"/>
                </a:solidFill>
                <a:latin typeface="Calibri" pitchFamily="34" charset="0"/>
                <a:ea typeface="Calibri" pitchFamily="34" charset="-122"/>
                <a:cs typeface="Calibri" pitchFamily="34" charset="-120"/>
              </a:rPr>
              <a:t>Bayer → Demosaic → ISP 是從 raw 到可用影像的必經路徑</a:t>
            </a:r>
            <a:endParaRPr lang="en-US" sz="1200" dirty="0"/>
          </a:p>
          <a:p>
            <a:pPr marL="342900" indent="-342900">
              <a:buSzPct val="100000"/>
              <a:buChar char="•"/>
            </a:pPr>
            <a:r>
              <a:rPr lang="en-US" sz="1200" dirty="0">
                <a:solidFill>
                  <a:srgbClr val="FAFAF5"/>
                </a:solidFill>
                <a:latin typeface="Calibri" pitchFamily="34" charset="0"/>
                <a:ea typeface="Calibri" pitchFamily="34" charset="-122"/>
                <a:cs typeface="Calibri" pitchFamily="34" charset="-120"/>
              </a:rPr>
              <a:t>Interface 決定資料如何從 sensor 送進處理器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1032</Words>
  <Application>Microsoft Office PowerPoint</Application>
  <PresentationFormat>如螢幕大小 (16:9)</PresentationFormat>
  <Paragraphs>331</Paragraphs>
  <Slides>50</Slides>
  <Notes>18</Notes>
  <HiddenSlides>0</HiddenSlides>
  <MMClips>0</MMClips>
  <ScaleCrop>false</ScaleCrop>
  <HeadingPairs>
    <vt:vector size="8" baseType="variant">
      <vt:variant>
        <vt:lpstr>使用字型</vt:lpstr>
      </vt:variant>
      <vt:variant>
        <vt:i4>2</vt:i4>
      </vt:variant>
      <vt:variant>
        <vt:lpstr>佈景主題</vt:lpstr>
      </vt:variant>
      <vt:variant>
        <vt:i4>1</vt:i4>
      </vt:variant>
      <vt:variant>
        <vt:lpstr>內嵌 OLE 伺服程式</vt:lpstr>
      </vt:variant>
      <vt:variant>
        <vt:i4>1</vt:i4>
      </vt:variant>
      <vt:variant>
        <vt:lpstr>投影片標題</vt:lpstr>
      </vt:variant>
      <vt:variant>
        <vt:i4>50</vt:i4>
      </vt:variant>
    </vt:vector>
  </HeadingPairs>
  <TitlesOfParts>
    <vt:vector size="54" baseType="lpstr">
      <vt:lpstr>Arial</vt:lpstr>
      <vt:lpstr>Calibri</vt:lpstr>
      <vt:lpstr>Office Theme</vt:lpstr>
      <vt:lpstr>Equation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第二週：Camera 如何把世界轉成可被計算的資料</dc:title>
  <dc:subject>PptxGenJS Presentation</dc:subject>
  <dc:creator>PptxGenJS</dc:creator>
  <cp:lastModifiedBy>謝昇憲 HSIEH SHENG HSIEN</cp:lastModifiedBy>
  <cp:revision>3</cp:revision>
  <dcterms:created xsi:type="dcterms:W3CDTF">2026-03-12T23:33:20Z</dcterms:created>
  <dcterms:modified xsi:type="dcterms:W3CDTF">2026-03-13T00:53:02Z</dcterms:modified>
</cp:coreProperties>
</file>