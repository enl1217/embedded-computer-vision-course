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8" r:id="rId41"/>
    <p:sldId id="299" r:id="rId42"/>
    <p:sldId id="300" r:id="rId43"/>
    <p:sldId id="302" r:id="rId44"/>
    <p:sldId id="304" r:id="rId45"/>
    <p:sldId id="305" r:id="rId46"/>
    <p:sldId id="306" r:id="rId47"/>
    <p:sldId id="307" r:id="rId48"/>
    <p:sldId id="308" r:id="rId49"/>
    <p:sldId id="344" r:id="rId50"/>
    <p:sldId id="343" r:id="rId51"/>
    <p:sldId id="345" r:id="rId52"/>
    <p:sldId id="2182" r:id="rId53"/>
    <p:sldId id="2183" r:id="rId54"/>
    <p:sldId id="2185" r:id="rId55"/>
    <p:sldId id="2188" r:id="rId56"/>
    <p:sldId id="2186" r:id="rId57"/>
    <p:sldId id="2189" r:id="rId58"/>
    <p:sldId id="2190" r:id="rId59"/>
    <p:sldId id="2191" r:id="rId60"/>
    <p:sldId id="2220" r:id="rId61"/>
    <p:sldId id="2221" r:id="rId62"/>
    <p:sldId id="309" r:id="rId63"/>
    <p:sldId id="314" r:id="rId64"/>
    <p:sldId id="315" r:id="rId65"/>
    <p:sldId id="316" r:id="rId66"/>
    <p:sldId id="317" r:id="rId67"/>
    <p:sldId id="318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9" r:id="rId76"/>
    <p:sldId id="330" r:id="rId77"/>
    <p:sldId id="331" r:id="rId78"/>
    <p:sldId id="332" r:id="rId79"/>
    <p:sldId id="333" r:id="rId80"/>
    <p:sldId id="338" r:id="rId8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7" autoAdjust="0"/>
    <p:restoredTop sz="84959" autoAdjust="0"/>
  </p:normalViewPr>
  <p:slideViewPr>
    <p:cSldViewPr snapToGrid="0" snapToObjects="1">
      <p:cViewPr>
        <p:scale>
          <a:sx n="100" d="100"/>
          <a:sy n="100" d="100"/>
        </p:scale>
        <p:origin x="343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314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593187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投影片圖像版面配置區 1">
            <a:extLst>
              <a:ext uri="{FF2B5EF4-FFF2-40B4-BE49-F238E27FC236}">
                <a16:creationId xmlns:a16="http://schemas.microsoft.com/office/drawing/2014/main" id="{6E6C2492-3B11-4871-80FD-82DBC0B793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備忘稿版面配置區 2">
            <a:extLst>
              <a:ext uri="{FF2B5EF4-FFF2-40B4-BE49-F238E27FC236}">
                <a16:creationId xmlns:a16="http://schemas.microsoft.com/office/drawing/2014/main" id="{361822C8-6BE5-E1AC-6D66-55E969A96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4756" name="投影片編號版面配置區 3">
            <a:extLst>
              <a:ext uri="{FF2B5EF4-FFF2-40B4-BE49-F238E27FC236}">
                <a16:creationId xmlns:a16="http://schemas.microsoft.com/office/drawing/2014/main" id="{EBF6DA4D-43E3-4F5D-9707-C1D7C2471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fld id="{02689BA0-E149-4948-91F4-536ABFD0C471}" type="slidenum">
              <a:rPr lang="zh-TW" altLang="en-US">
                <a:latin typeface="Arial Narrow" panose="020B0606020202030204" pitchFamily="34" charset="0"/>
              </a:rPr>
              <a:pPr eaLnBrk="1" hangingPunct="1"/>
              <a:t>52</a:t>
            </a:fld>
            <a:endParaRPr lang="en-US" altLang="zh-TW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投影片圖像版面配置區 1">
            <a:extLst>
              <a:ext uri="{FF2B5EF4-FFF2-40B4-BE49-F238E27FC236}">
                <a16:creationId xmlns:a16="http://schemas.microsoft.com/office/drawing/2014/main" id="{8701D88A-20B5-BA71-1A4A-3B503F11FE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備忘稿版面配置區 2">
            <a:extLst>
              <a:ext uri="{FF2B5EF4-FFF2-40B4-BE49-F238E27FC236}">
                <a16:creationId xmlns:a16="http://schemas.microsoft.com/office/drawing/2014/main" id="{8B133A5D-1C58-021F-3A5A-6BA2DBBCA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baseline="30000">
              <a:cs typeface="Times New Roman" panose="02020603050405020304" pitchFamily="18" charset="0"/>
            </a:endParaRPr>
          </a:p>
        </p:txBody>
      </p:sp>
      <p:sp>
        <p:nvSpPr>
          <p:cNvPr id="75780" name="投影片編號版面配置區 3">
            <a:extLst>
              <a:ext uri="{FF2B5EF4-FFF2-40B4-BE49-F238E27FC236}">
                <a16:creationId xmlns:a16="http://schemas.microsoft.com/office/drawing/2014/main" id="{1EE6AB3A-739F-B71E-5C57-702D42C3A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fld id="{B9E750C7-6474-450A-96B4-26F2F424AE9C}" type="slidenum">
              <a:rPr lang="zh-TW" altLang="en-US">
                <a:latin typeface="Arial Narrow" panose="020B0606020202030204" pitchFamily="34" charset="0"/>
              </a:rPr>
              <a:pPr eaLnBrk="1" hangingPunct="1"/>
              <a:t>53</a:t>
            </a:fld>
            <a:endParaRPr lang="en-US" altLang="zh-TW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投影片圖像版面配置區 1">
            <a:extLst>
              <a:ext uri="{FF2B5EF4-FFF2-40B4-BE49-F238E27FC236}">
                <a16:creationId xmlns:a16="http://schemas.microsoft.com/office/drawing/2014/main" id="{D0460609-F145-AD13-913E-95613D06725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備忘稿版面配置區 2">
            <a:extLst>
              <a:ext uri="{FF2B5EF4-FFF2-40B4-BE49-F238E27FC236}">
                <a16:creationId xmlns:a16="http://schemas.microsoft.com/office/drawing/2014/main" id="{DF4B7944-8AAB-EE72-C475-90B710CB0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6804" name="投影片編號版面配置區 3">
            <a:extLst>
              <a:ext uri="{FF2B5EF4-FFF2-40B4-BE49-F238E27FC236}">
                <a16:creationId xmlns:a16="http://schemas.microsoft.com/office/drawing/2014/main" id="{FB208905-03AD-F9A8-E2E7-0B8B96F8C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fld id="{F58D00CC-B01E-40AC-A174-201504D5691B}" type="slidenum">
              <a:rPr lang="zh-TW" altLang="en-US">
                <a:latin typeface="Arial Narrow" panose="020B0606020202030204" pitchFamily="34" charset="0"/>
              </a:rPr>
              <a:pPr eaLnBrk="1" hangingPunct="1"/>
              <a:t>54</a:t>
            </a:fld>
            <a:endParaRPr lang="en-US" altLang="zh-TW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>
            <a:extLst>
              <a:ext uri="{FF2B5EF4-FFF2-40B4-BE49-F238E27FC236}">
                <a16:creationId xmlns:a16="http://schemas.microsoft.com/office/drawing/2014/main" id="{3EFDBF23-AB7E-5AF0-C50C-BA68C18603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備忘稿版面配置區 2">
            <a:extLst>
              <a:ext uri="{FF2B5EF4-FFF2-40B4-BE49-F238E27FC236}">
                <a16:creationId xmlns:a16="http://schemas.microsoft.com/office/drawing/2014/main" id="{E24A02C2-D74A-8E19-92A4-281D39711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7828" name="投影片編號版面配置區 3">
            <a:extLst>
              <a:ext uri="{FF2B5EF4-FFF2-40B4-BE49-F238E27FC236}">
                <a16:creationId xmlns:a16="http://schemas.microsoft.com/office/drawing/2014/main" id="{39B44CE8-6B55-BA24-A495-BCF64A484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fld id="{C5842FA0-523E-45FB-B1F0-822E5832C4A6}" type="slidenum">
              <a:rPr lang="zh-TW" altLang="en-US">
                <a:latin typeface="Arial Narrow" panose="020B0606020202030204" pitchFamily="34" charset="0"/>
              </a:rPr>
              <a:pPr eaLnBrk="1" hangingPunct="1"/>
              <a:t>55</a:t>
            </a:fld>
            <a:endParaRPr lang="en-US" altLang="zh-TW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投影片圖像版面配置區 1">
            <a:extLst>
              <a:ext uri="{FF2B5EF4-FFF2-40B4-BE49-F238E27FC236}">
                <a16:creationId xmlns:a16="http://schemas.microsoft.com/office/drawing/2014/main" id="{779365F9-7066-F5F4-5A75-C52F7FE6561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備忘稿版面配置區 2">
            <a:extLst>
              <a:ext uri="{FF2B5EF4-FFF2-40B4-BE49-F238E27FC236}">
                <a16:creationId xmlns:a16="http://schemas.microsoft.com/office/drawing/2014/main" id="{62F1A657-0040-E051-B154-0EC52D1D3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8852" name="投影片編號版面配置區 3">
            <a:extLst>
              <a:ext uri="{FF2B5EF4-FFF2-40B4-BE49-F238E27FC236}">
                <a16:creationId xmlns:a16="http://schemas.microsoft.com/office/drawing/2014/main" id="{852C0E16-024D-64AB-CA1B-0AE1F0422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fld id="{ADF3DF62-9C50-4F93-95AF-67C6E49CF1BB}" type="slidenum">
              <a:rPr lang="zh-TW" altLang="en-US">
                <a:latin typeface="Arial Narrow" panose="020B0606020202030204" pitchFamily="34" charset="0"/>
              </a:rPr>
              <a:pPr eaLnBrk="1" hangingPunct="1"/>
              <a:t>56</a:t>
            </a:fld>
            <a:endParaRPr lang="en-US" altLang="zh-TW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投影片圖像版面配置區 1">
            <a:extLst>
              <a:ext uri="{FF2B5EF4-FFF2-40B4-BE49-F238E27FC236}">
                <a16:creationId xmlns:a16="http://schemas.microsoft.com/office/drawing/2014/main" id="{100B36F7-7836-F10D-271A-26F7F27E6E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備忘稿版面配置區 2">
            <a:extLst>
              <a:ext uri="{FF2B5EF4-FFF2-40B4-BE49-F238E27FC236}">
                <a16:creationId xmlns:a16="http://schemas.microsoft.com/office/drawing/2014/main" id="{503A4860-6255-BC18-F5AB-B0089649C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9876" name="投影片編號版面配置區 3">
            <a:extLst>
              <a:ext uri="{FF2B5EF4-FFF2-40B4-BE49-F238E27FC236}">
                <a16:creationId xmlns:a16="http://schemas.microsoft.com/office/drawing/2014/main" id="{83DE954A-698B-77BA-B3DC-FCEA0F474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fld id="{D06D96A8-EE37-46F3-B2C4-E5D312D7C787}" type="slidenum">
              <a:rPr lang="zh-TW" altLang="en-US">
                <a:latin typeface="Arial Narrow" panose="020B0606020202030204" pitchFamily="34" charset="0"/>
              </a:rPr>
              <a:pPr eaLnBrk="1" hangingPunct="1"/>
              <a:t>58</a:t>
            </a:fld>
            <a:endParaRPr lang="en-US" altLang="zh-TW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投影片圖像版面配置區 1">
            <a:extLst>
              <a:ext uri="{FF2B5EF4-FFF2-40B4-BE49-F238E27FC236}">
                <a16:creationId xmlns:a16="http://schemas.microsoft.com/office/drawing/2014/main" id="{CEA8015D-43FF-6AC1-8DAC-4BD136B278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備忘稿版面配置區 2">
            <a:extLst>
              <a:ext uri="{FF2B5EF4-FFF2-40B4-BE49-F238E27FC236}">
                <a16:creationId xmlns:a16="http://schemas.microsoft.com/office/drawing/2014/main" id="{922B6F3E-7E2B-AEBB-0063-D76594EBC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0900" name="投影片編號版面配置區 3">
            <a:extLst>
              <a:ext uri="{FF2B5EF4-FFF2-40B4-BE49-F238E27FC236}">
                <a16:creationId xmlns:a16="http://schemas.microsoft.com/office/drawing/2014/main" id="{FEE35514-34CE-26D3-9439-9281620D7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defTabSz="917575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fld id="{9DF137C1-37CC-4D70-BC4C-7D4165349E0A}" type="slidenum">
              <a:rPr lang="zh-TW" altLang="en-US">
                <a:latin typeface="Arial Narrow" panose="020B0606020202030204" pitchFamily="34" charset="0"/>
              </a:rPr>
              <a:pPr eaLnBrk="1" hangingPunct="1"/>
              <a:t>59</a:t>
            </a:fld>
            <a:endParaRPr lang="en-US" altLang="zh-TW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153808595"/>
      </p:ext>
    </p:extLst>
  </p:cSld>
  <p:clrMapOvr>
    <a:masterClrMapping/>
  </p:clrMapOvr>
  <p:transition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DgGV3l82NTk?feature=oembed" TargetMode="External"/><Relationship Id="rId5" Type="http://schemas.openxmlformats.org/officeDocument/2006/relationships/hyperlink" Target="https://github.com/DeepRobot2020/books/blob/master/Multiple%20View%20Geometry%20in%20Computer%20Vision%20(Second%20Edition).pdf" TargetMode="External"/><Relationship Id="rId4" Type="http://schemas.openxmlformats.org/officeDocument/2006/relationships/image" Target="../media/image55.jpe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silverwind1982.pixnet.net/blog/posts/13134551091" TargetMode="External"/><Relationship Id="rId2" Type="http://schemas.openxmlformats.org/officeDocument/2006/relationships/hyperlink" Target="https://medium.com/@yaksa1117/camera-calibration-%E7%9B%B8%E6%A9%9F%E6%A0%A1%E6%AD%A3-2a1856322abf" TargetMode="Externa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v-python-tutorials.readthedocs.io/zh/latest/7.%20%E7%9B%B8%E6%9C%BA%E6%A0%A1%E5%87%86%E5%92%8C3D%E9%87%8D%E5%BB%BA/7.2.%20%E5%A7%BF%E5%8A%BF%E4%BC%B0%E8%AE%A1/" TargetMode="External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5943600" y="-457200"/>
            <a:ext cx="3657600" cy="2286000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1417320"/>
            <a:ext cx="9144000" cy="169164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嵌入式電腦視覺系統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影像幾何與座標系統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468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D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Geometry &amp; Coordinate Systems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3246120"/>
            <a:ext cx="1554480" cy="749808"/>
          </a:xfrm>
          <a:prstGeom prst="rect">
            <a:avLst/>
          </a:prstGeom>
          <a:solidFill>
            <a:srgbClr val="152D4A"/>
          </a:solidFill>
          <a:ln w="12700">
            <a:solidFill>
              <a:srgbClr val="2D5A8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65760" y="3246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35478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座標系統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57400" y="3246120"/>
            <a:ext cx="1554480" cy="749808"/>
          </a:xfrm>
          <a:prstGeom prst="rect">
            <a:avLst/>
          </a:prstGeom>
          <a:solidFill>
            <a:srgbClr val="152D4A"/>
          </a:solidFill>
          <a:ln w="12700">
            <a:solidFill>
              <a:srgbClr val="2D5A8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2057400" y="3246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57400" y="35478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幾何變換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3246120"/>
            <a:ext cx="1554480" cy="749808"/>
          </a:xfrm>
          <a:prstGeom prst="rect">
            <a:avLst/>
          </a:prstGeom>
          <a:solidFill>
            <a:srgbClr val="152D4A"/>
          </a:solidFill>
          <a:ln w="12700">
            <a:solidFill>
              <a:srgbClr val="2D5A8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749040" y="3246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49040" y="35478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影像差補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40680" y="3246120"/>
            <a:ext cx="1554480" cy="749808"/>
          </a:xfrm>
          <a:prstGeom prst="rect">
            <a:avLst/>
          </a:prstGeom>
          <a:solidFill>
            <a:srgbClr val="152D4A"/>
          </a:solidFill>
          <a:ln w="12700">
            <a:solidFill>
              <a:srgbClr val="2D5A8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440680" y="3246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40680" y="35478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針孔相機模型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0" y="3246120"/>
            <a:ext cx="1554480" cy="749808"/>
          </a:xfrm>
          <a:prstGeom prst="rect">
            <a:avLst/>
          </a:prstGeom>
          <a:solidFill>
            <a:srgbClr val="152D4A"/>
          </a:solidFill>
          <a:ln w="12700">
            <a:solidFill>
              <a:srgbClr val="2D5A8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7132320" y="3246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35478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相機校準概念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F2136"/>
          </a:solidFill>
          <a:ln w="12700">
            <a:solidFill>
              <a:srgbClr val="0F213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27432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7A9B"/>
                </a:solidFill>
              </a:rPr>
              <a:t>Szeliski, Computer Vision 2nd Ed. (2022)  ·  OpenCV 4.x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上週回顧：像素值 vs. 像素位置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從第三週到第四週的轉折點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840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3840480" cy="43891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第三週　像素值處理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操作對象：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像素的「值」
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亮度增強 / 對比調整
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色彩空間轉換
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濾波與卷積（平滑、銳化）
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關鍵問題：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這個像素應該是什麼</a:t>
            </a:r>
            <a:r>
              <a:rPr lang="zh-TW" alt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？」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606040"/>
            <a:ext cx="54864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2468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45C00"/>
                </a:solidFill>
              </a:rPr>
              <a:t>▶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983480" y="1097280"/>
            <a:ext cx="38404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C45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983480" y="1097280"/>
            <a:ext cx="3840480" cy="438912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120640" y="10972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第四週　像素位置處理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16002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操作對象：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像素的「位置」
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座標系統與齊次表示
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幾何變換（旋轉、縮放…）
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差補（轉換後的像素重建）
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關鍵問題：</a:t>
            </a: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「這個像素應該在哪裡？」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問題一：換個位置，影像會怎樣？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像素值不變，只移動位置——背後有什麼數學？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393192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旋轉 Rotation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繞某個中心點轉動影像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每個像素座標都跟著旋轉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14300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617720" y="1143000"/>
            <a:ext cx="39319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75488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縮放 Scaling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600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影像放大或縮小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座標乘以縮放比例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7889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393192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8803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平移 Translation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影像整體位移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每個座標加上偏移量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27889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4617720" y="2788920"/>
            <a:ext cx="39319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754880" y="28803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透視 Perspective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2461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像拍斜的文件一樣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直線保留，平行線可能相交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480560"/>
            <a:ext cx="8503920" cy="5943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57200" y="43845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這些操作背後有「共同的數學語言」嗎？→ 是的：矩陣乘法＋齊次座標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問題二：3D 空間如何壓縮成 2D 影像？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相機做了什麼幾何操作？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世界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97280" cy="914400"/>
          </a:xfrm>
          <a:prstGeom prst="rect">
            <a:avLst/>
          </a:prstGeom>
          <a:solidFill>
            <a:srgbClr val="2D5A8E"/>
          </a:solidFill>
          <a:ln w="12700">
            <a:solidFill>
              <a:srgbClr val="4A7A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05840" y="1463040"/>
            <a:ext cx="1097280" cy="914400"/>
          </a:xfrm>
          <a:prstGeom prst="rect">
            <a:avLst/>
          </a:prstGeom>
          <a:solidFill>
            <a:srgbClr val="3D6A9E"/>
          </a:solidFill>
          <a:ln w="12700">
            <a:solidFill>
              <a:srgbClr val="5A8AB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280160" y="1234440"/>
            <a:ext cx="1097280" cy="914400"/>
          </a:xfrm>
          <a:prstGeom prst="rect">
            <a:avLst/>
          </a:prstGeom>
          <a:solidFill>
            <a:srgbClr val="4D7AAE"/>
          </a:solidFill>
          <a:ln w="12700">
            <a:solidFill>
              <a:srgbClr val="6A9AC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Z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三維座標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213512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34740" y="2678165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投影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(Projection)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114800" cy="3474720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84632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影像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0" y="1645920"/>
            <a:ext cx="3017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5577840" y="1828800"/>
            <a:ext cx="1645920" cy="914400"/>
          </a:xfrm>
          <a:prstGeom prst="rect">
            <a:avLst/>
          </a:prstGeom>
          <a:solidFill>
            <a:srgbClr val="D0E8FF"/>
          </a:solidFill>
          <a:ln w="12700">
            <a:solidFill>
              <a:srgbClr val="90B8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846320" y="35661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二維像素座標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480560"/>
            <a:ext cx="8503920" cy="502920"/>
          </a:xfrm>
          <a:prstGeom prst="rect">
            <a:avLst/>
          </a:prstGeom>
          <a:solidFill>
            <a:srgbClr val="FFF3E8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深度資訊 Z 消失了！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這就是「逆問題」困難的原因——本週我們先學「正向：3D→2D 怎麼算」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本週學習地圖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五個章節的學習路徑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6002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" y="1828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座標系統基礎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2377440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齊次座標・像素位置・慣例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47088" y="2697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45C00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93392" y="1097280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1993392" y="1097280"/>
            <a:ext cx="16002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1993392" y="10972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066544" y="1828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幾何變換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66544" y="2377440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平移・旋轉・仿射・Homography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2697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45C00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12464" y="1097280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712464" y="1097280"/>
            <a:ext cx="1600200" cy="68580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712464" y="10972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785616" y="1828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影像差補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85616" y="2377440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NN・Bilinear・Bicubic・選擇策略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85232" y="2697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45C00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31536" y="1097280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5431536" y="1097280"/>
            <a:ext cx="16002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5431536" y="10972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504688" y="1828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針孔相機模型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04688" y="2377440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投影幾何・內外參數・畸變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04304" y="2697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45C00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150608" y="1097280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7150608" y="1097280"/>
            <a:ext cx="1600200" cy="68580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7150608" y="10972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223760" y="1828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相機校準概念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23760" y="2377440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棋盤格・重投影誤差・OpenCV 流程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2743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2D5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91440" cy="137160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01 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影像的座標系統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像素從哪裡開始算？齊次座標為何重要？建立所有幾何操作的共同語言。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52D4A"/>
          </a:solidFill>
          <a:ln w="12700">
            <a:solidFill>
              <a:srgbClr val="152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EC8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AEC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問題：像素的 (0,0) 在哪裡？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不同工具對座標原點的定義不一樣！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51760" cy="4114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數學 / matplotlib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2103120" cy="1371600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305072" y="1691640"/>
            <a:ext cx="9144" cy="1371600"/>
          </a:xfrm>
          <a:prstGeom prst="rect">
            <a:avLst/>
          </a:prstGeom>
          <a:solidFill>
            <a:srgbClr val="E8E8E0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594360" y="2111595"/>
            <a:ext cx="2103120" cy="9144"/>
          </a:xfrm>
          <a:prstGeom prst="rect">
            <a:avLst/>
          </a:prstGeom>
          <a:solidFill>
            <a:srgbClr val="E8E8E0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2046611" y="1691640"/>
            <a:ext cx="9144" cy="1371600"/>
          </a:xfrm>
          <a:prstGeom prst="rect">
            <a:avLst/>
          </a:prstGeom>
          <a:solidFill>
            <a:srgbClr val="E8E8E0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594360" y="2634290"/>
            <a:ext cx="2103120" cy="9144"/>
          </a:xfrm>
          <a:prstGeom prst="rect">
            <a:avLst/>
          </a:prstGeom>
          <a:solidFill>
            <a:srgbClr val="E8E8E0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777240" y="27477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</a:rPr>
              <a:t>(0,0)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原點：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左下角
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X：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向右
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Y：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向上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54680" y="114300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3154680" y="1143000"/>
            <a:ext cx="2651760" cy="41148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24612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/ 大多數影像庫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1691640"/>
            <a:ext cx="2103120" cy="1371600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4093479" y="1691640"/>
            <a:ext cx="9144" cy="1371600"/>
          </a:xfrm>
          <a:prstGeom prst="rect">
            <a:avLst/>
          </a:prstGeom>
          <a:solidFill>
            <a:srgbClr val="E8E8E0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3429000" y="2034540"/>
            <a:ext cx="2103120" cy="9144"/>
          </a:xfrm>
          <a:prstGeom prst="rect">
            <a:avLst/>
          </a:prstGeom>
          <a:solidFill>
            <a:srgbClr val="E8E8E0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948031" y="1691640"/>
            <a:ext cx="9144" cy="1371600"/>
          </a:xfrm>
          <a:prstGeom prst="rect">
            <a:avLst/>
          </a:prstGeom>
          <a:solidFill>
            <a:srgbClr val="E8E8E0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3429000" y="2618879"/>
            <a:ext cx="2103120" cy="9144"/>
          </a:xfrm>
          <a:prstGeom prst="rect">
            <a:avLst/>
          </a:prstGeom>
          <a:solidFill>
            <a:srgbClr val="E8E8E0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3566160" y="173050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5C00"/>
                </a:solidFill>
              </a:rPr>
              <a:t>(0,0)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原點：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左上角
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X：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向右（col）
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Y：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向下（row）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89320" y="114300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5989320" y="1143000"/>
            <a:ext cx="26517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08076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陣列索引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1691640"/>
            <a:ext cx="2103120" cy="1371600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6994900" y="1691640"/>
            <a:ext cx="9144" cy="1371600"/>
          </a:xfrm>
          <a:prstGeom prst="rect">
            <a:avLst/>
          </a:prstGeom>
          <a:solidFill>
            <a:srgbClr val="E8E8E0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6263640" y="2132143"/>
            <a:ext cx="2103120" cy="9144"/>
          </a:xfrm>
          <a:prstGeom prst="rect">
            <a:avLst/>
          </a:prstGeom>
          <a:solidFill>
            <a:srgbClr val="E8E8E0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7808358" y="1691640"/>
            <a:ext cx="9144" cy="1371600"/>
          </a:xfrm>
          <a:prstGeom prst="rect">
            <a:avLst/>
          </a:prstGeom>
          <a:solidFill>
            <a:srgbClr val="E8E8E0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6263640" y="2675386"/>
            <a:ext cx="2103120" cy="9144"/>
          </a:xfrm>
          <a:prstGeom prst="rect">
            <a:avLst/>
          </a:prstGeom>
          <a:solidFill>
            <a:srgbClr val="E8E8E0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6457309" y="173050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(0,0)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2648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原點：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左上角
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X：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[row, col] 先列後行
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Y：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和 (x,y) 順序相反！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" y="4416552"/>
            <a:ext cx="8503920" cy="411480"/>
          </a:xfrm>
          <a:prstGeom prst="rect">
            <a:avLst/>
          </a:prstGeom>
          <a:solidFill>
            <a:srgbClr val="FFF3E8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457200" y="44165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OpenCV 使用 (col=x, row=y)，NumPy 用 [row, col]——兩者混用是最常見的 bug 來源！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影像的兩種表示法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離散陣列 vs. 連續函數——兩種都需要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2336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離散陣列  F[x, y]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731520" cy="530352"/>
          </a:xfrm>
          <a:prstGeom prst="rect">
            <a:avLst/>
          </a:prstGeom>
          <a:solidFill>
            <a:srgbClr val="737373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128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80160" y="1664208"/>
            <a:ext cx="731520" cy="530352"/>
          </a:xfrm>
          <a:prstGeom prst="rect">
            <a:avLst/>
          </a:prstGeom>
          <a:solidFill>
            <a:srgbClr val="7A7A7A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66420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135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57400" y="1664208"/>
            <a:ext cx="731520" cy="530352"/>
          </a:xfrm>
          <a:prstGeom prst="rect">
            <a:avLst/>
          </a:prstGeom>
          <a:solidFill>
            <a:srgbClr val="6C6C6C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2057400" y="166420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120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34640" y="1664208"/>
            <a:ext cx="731520" cy="530352"/>
          </a:xfrm>
          <a:prstGeom prst="rect">
            <a:avLst/>
          </a:prstGeom>
          <a:solidFill>
            <a:srgbClr val="636363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2834640" y="166420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110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231136"/>
            <a:ext cx="731520" cy="530352"/>
          </a:xfrm>
          <a:prstGeom prst="rect">
            <a:avLst/>
          </a:prstGeom>
          <a:solidFill>
            <a:srgbClr val="717171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502920" y="2231136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125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80160" y="2231136"/>
            <a:ext cx="731520" cy="530352"/>
          </a:xfrm>
          <a:prstGeom prst="rect">
            <a:avLst/>
          </a:prstGeom>
          <a:solidFill>
            <a:srgbClr val="B4B4B4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1280160" y="2231136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200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57400" y="2231136"/>
            <a:ext cx="731520" cy="530352"/>
          </a:xfrm>
          <a:prstGeom prst="rect">
            <a:avLst/>
          </a:prstGeom>
          <a:solidFill>
            <a:srgbClr val="BDBDBD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2057400" y="2231136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210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34640" y="2231136"/>
            <a:ext cx="731520" cy="530352"/>
          </a:xfrm>
          <a:prstGeom prst="rect">
            <a:avLst/>
          </a:prstGeom>
          <a:solidFill>
            <a:srgbClr val="68686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2834640" y="2231136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115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2798064"/>
            <a:ext cx="731520" cy="530352"/>
          </a:xfrm>
          <a:prstGeom prst="rect">
            <a:avLst/>
          </a:prstGeom>
          <a:solidFill>
            <a:srgbClr val="757575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502920" y="2798064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130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280160" y="2798064"/>
            <a:ext cx="731520" cy="530352"/>
          </a:xfrm>
          <a:prstGeom prst="rect">
            <a:avLst/>
          </a:prstGeom>
          <a:solidFill>
            <a:srgbClr val="B0B0B0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1280160" y="2798064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195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57400" y="2798064"/>
            <a:ext cx="731520" cy="530352"/>
          </a:xfrm>
          <a:prstGeom prst="rect">
            <a:avLst/>
          </a:prstGeom>
          <a:solidFill>
            <a:srgbClr val="B9B9B9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2057400" y="2798064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205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34640" y="2798064"/>
            <a:ext cx="731520" cy="530352"/>
          </a:xfrm>
          <a:prstGeom prst="rect">
            <a:avLst/>
          </a:prstGeom>
          <a:solidFill>
            <a:srgbClr val="6A6A6A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2834640" y="2798064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118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3364992"/>
            <a:ext cx="731520" cy="530352"/>
          </a:xfrm>
          <a:prstGeom prst="rect">
            <a:avLst/>
          </a:prstGeom>
          <a:solidFill>
            <a:srgbClr val="68686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502920" y="336499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115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280160" y="3364992"/>
            <a:ext cx="731520" cy="530352"/>
          </a:xfrm>
          <a:prstGeom prst="rect">
            <a:avLst/>
          </a:prstGeom>
          <a:solidFill>
            <a:srgbClr val="717171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1280160" y="336499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125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057400" y="3364992"/>
            <a:ext cx="731520" cy="530352"/>
          </a:xfrm>
          <a:prstGeom prst="rect">
            <a:avLst/>
          </a:prstGeom>
          <a:solidFill>
            <a:srgbClr val="6C6C6C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2057400" y="336499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120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4640" y="3364992"/>
            <a:ext cx="731520" cy="530352"/>
          </a:xfrm>
          <a:prstGeom prst="rect">
            <a:avLst/>
          </a:prstGeom>
          <a:solidFill>
            <a:srgbClr val="656565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2834640" y="336499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112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39776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x, y 為整數（列、行索引）
• 值為 0–255 的整數（8-bit）
• 適合：儲存、讀寫、像素操作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109728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4800600" y="1097280"/>
            <a:ext cx="4023360" cy="438912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4937760" y="10972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連續函數  f(x, y)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5029200" y="1664208"/>
            <a:ext cx="3566160" cy="2148840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3"/>
          <p:cNvSpPr/>
          <p:nvPr/>
        </p:nvSpPr>
        <p:spPr>
          <a:xfrm>
            <a:off x="5074920" y="1709928"/>
            <a:ext cx="841248" cy="502920"/>
          </a:xfrm>
          <a:prstGeom prst="rect">
            <a:avLst/>
          </a:prstGeom>
          <a:solidFill>
            <a:srgbClr val="D8E8F8"/>
          </a:solidFill>
          <a:ln w="12700">
            <a:solidFill>
              <a:srgbClr val="D8E8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5943600" y="1709928"/>
            <a:ext cx="841248" cy="502920"/>
          </a:xfrm>
          <a:prstGeom prst="rect">
            <a:avLst/>
          </a:prstGeom>
          <a:solidFill>
            <a:srgbClr val="C4D8F0"/>
          </a:solidFill>
          <a:ln w="12700">
            <a:solidFill>
              <a:srgbClr val="C4D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45"/>
          <p:cNvSpPr/>
          <p:nvPr/>
        </p:nvSpPr>
        <p:spPr>
          <a:xfrm>
            <a:off x="6812280" y="1709928"/>
            <a:ext cx="841248" cy="502920"/>
          </a:xfrm>
          <a:prstGeom prst="rect">
            <a:avLst/>
          </a:prstGeom>
          <a:solidFill>
            <a:srgbClr val="B0C8E8"/>
          </a:solidFill>
          <a:ln w="12700">
            <a:solidFill>
              <a:srgbClr val="B0C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6"/>
          <p:cNvSpPr/>
          <p:nvPr/>
        </p:nvSpPr>
        <p:spPr>
          <a:xfrm>
            <a:off x="7680960" y="1709928"/>
            <a:ext cx="841248" cy="502920"/>
          </a:xfrm>
          <a:prstGeom prst="rect">
            <a:avLst/>
          </a:prstGeom>
          <a:solidFill>
            <a:srgbClr val="9CB8E0"/>
          </a:solidFill>
          <a:ln w="12700">
            <a:solidFill>
              <a:srgbClr val="9CB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7"/>
          <p:cNvSpPr/>
          <p:nvPr/>
        </p:nvSpPr>
        <p:spPr>
          <a:xfrm>
            <a:off x="5074920" y="2231136"/>
            <a:ext cx="841248" cy="502920"/>
          </a:xfrm>
          <a:prstGeom prst="rect">
            <a:avLst/>
          </a:prstGeom>
          <a:solidFill>
            <a:srgbClr val="C4D8F0"/>
          </a:solidFill>
          <a:ln w="12700">
            <a:solidFill>
              <a:srgbClr val="C4D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5943600" y="2231136"/>
            <a:ext cx="841248" cy="502920"/>
          </a:xfrm>
          <a:prstGeom prst="rect">
            <a:avLst/>
          </a:prstGeom>
          <a:solidFill>
            <a:srgbClr val="B0C8E8"/>
          </a:solidFill>
          <a:ln w="12700">
            <a:solidFill>
              <a:srgbClr val="B0C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9"/>
          <p:cNvSpPr/>
          <p:nvPr/>
        </p:nvSpPr>
        <p:spPr>
          <a:xfrm>
            <a:off x="6812280" y="2231136"/>
            <a:ext cx="841248" cy="502920"/>
          </a:xfrm>
          <a:prstGeom prst="rect">
            <a:avLst/>
          </a:prstGeom>
          <a:solidFill>
            <a:srgbClr val="9CB8E0"/>
          </a:solidFill>
          <a:ln w="12700">
            <a:solidFill>
              <a:srgbClr val="9CB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Shape 50"/>
          <p:cNvSpPr/>
          <p:nvPr/>
        </p:nvSpPr>
        <p:spPr>
          <a:xfrm>
            <a:off x="7680960" y="2231136"/>
            <a:ext cx="841248" cy="502920"/>
          </a:xfrm>
          <a:prstGeom prst="rect">
            <a:avLst/>
          </a:prstGeom>
          <a:solidFill>
            <a:srgbClr val="88A8D8"/>
          </a:solidFill>
          <a:ln w="12700">
            <a:solidFill>
              <a:srgbClr val="88A8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Shape 51"/>
          <p:cNvSpPr/>
          <p:nvPr/>
        </p:nvSpPr>
        <p:spPr>
          <a:xfrm>
            <a:off x="5074920" y="2752344"/>
            <a:ext cx="841248" cy="502920"/>
          </a:xfrm>
          <a:prstGeom prst="rect">
            <a:avLst/>
          </a:prstGeom>
          <a:solidFill>
            <a:srgbClr val="B0C8E8"/>
          </a:solidFill>
          <a:ln w="12700">
            <a:solidFill>
              <a:srgbClr val="B0C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Shape 52"/>
          <p:cNvSpPr/>
          <p:nvPr/>
        </p:nvSpPr>
        <p:spPr>
          <a:xfrm>
            <a:off x="5943600" y="2752344"/>
            <a:ext cx="841248" cy="502920"/>
          </a:xfrm>
          <a:prstGeom prst="rect">
            <a:avLst/>
          </a:prstGeom>
          <a:solidFill>
            <a:srgbClr val="9CB8E0"/>
          </a:solidFill>
          <a:ln w="12700">
            <a:solidFill>
              <a:srgbClr val="9CB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53"/>
          <p:cNvSpPr/>
          <p:nvPr/>
        </p:nvSpPr>
        <p:spPr>
          <a:xfrm>
            <a:off x="6812280" y="2752344"/>
            <a:ext cx="841248" cy="502920"/>
          </a:xfrm>
          <a:prstGeom prst="rect">
            <a:avLst/>
          </a:prstGeom>
          <a:solidFill>
            <a:srgbClr val="88A8D8"/>
          </a:solidFill>
          <a:ln w="12700">
            <a:solidFill>
              <a:srgbClr val="88A8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4"/>
          <p:cNvSpPr/>
          <p:nvPr/>
        </p:nvSpPr>
        <p:spPr>
          <a:xfrm>
            <a:off x="7680960" y="2752344"/>
            <a:ext cx="841248" cy="502920"/>
          </a:xfrm>
          <a:prstGeom prst="rect">
            <a:avLst/>
          </a:prstGeom>
          <a:solidFill>
            <a:srgbClr val="AABEDD"/>
          </a:solidFill>
          <a:ln w="12700">
            <a:solidFill>
              <a:srgbClr val="AABE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5"/>
          <p:cNvSpPr/>
          <p:nvPr/>
        </p:nvSpPr>
        <p:spPr>
          <a:xfrm>
            <a:off x="5074920" y="3273552"/>
            <a:ext cx="841248" cy="502920"/>
          </a:xfrm>
          <a:prstGeom prst="rect">
            <a:avLst/>
          </a:prstGeom>
          <a:solidFill>
            <a:srgbClr val="9CB8E0"/>
          </a:solidFill>
          <a:ln w="12700">
            <a:solidFill>
              <a:srgbClr val="9CB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Shape 56"/>
          <p:cNvSpPr/>
          <p:nvPr/>
        </p:nvSpPr>
        <p:spPr>
          <a:xfrm>
            <a:off x="5943600" y="3273552"/>
            <a:ext cx="841248" cy="502920"/>
          </a:xfrm>
          <a:prstGeom prst="rect">
            <a:avLst/>
          </a:prstGeom>
          <a:solidFill>
            <a:srgbClr val="88A8D8"/>
          </a:solidFill>
          <a:ln w="12700">
            <a:solidFill>
              <a:srgbClr val="88A8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Shape 57"/>
          <p:cNvSpPr/>
          <p:nvPr/>
        </p:nvSpPr>
        <p:spPr>
          <a:xfrm>
            <a:off x="6812280" y="3273552"/>
            <a:ext cx="841248" cy="502920"/>
          </a:xfrm>
          <a:prstGeom prst="rect">
            <a:avLst/>
          </a:prstGeom>
          <a:solidFill>
            <a:srgbClr val="AABEDD"/>
          </a:solidFill>
          <a:ln w="12700">
            <a:solidFill>
              <a:srgbClr val="AABE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Shape 58"/>
          <p:cNvSpPr/>
          <p:nvPr/>
        </p:nvSpPr>
        <p:spPr>
          <a:xfrm>
            <a:off x="7680960" y="3273552"/>
            <a:ext cx="841248" cy="502920"/>
          </a:xfrm>
          <a:prstGeom prst="rect">
            <a:avLst/>
          </a:prstGeom>
          <a:solidFill>
            <a:srgbClr val="C4D0E8"/>
          </a:solidFill>
          <a:ln w="12700">
            <a:solidFill>
              <a:srgbClr val="C4D0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Text 59"/>
          <p:cNvSpPr/>
          <p:nvPr/>
        </p:nvSpPr>
        <p:spPr>
          <a:xfrm>
            <a:off x="502920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f(x, y) = 連續亮度值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4937760" y="39776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x, y 為浮點數（任意位置）
• 差補（Interpolation）就在這裡運作
•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r>
              <a:rPr lang="zh-TW" alt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數學推導、物理描述、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幾何變換後的像素重建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3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的座標慣例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row/col 與 x/y 的混用是最常見的 bug 來源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5029200" cy="35204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/ OpenCV 慣例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
import numpy as np
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= cv2.imread('photo.jpg')
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img.shape → (height, width, channels)
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157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h, w, c = img.shape  # row, col 順序
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72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存取像素：img[row, col]
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5844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 = img[100, 200]  # row=100, col=200
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0416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OpenCV 函式：(x, y) 是 (col, row)!
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4531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cv2.circle(img, (200, 100), 5, (0,0,255), -1)
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↑x=col  ↑y=row
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1097280"/>
            <a:ext cx="32461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577840" y="1097280"/>
            <a:ext cx="32461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669280" y="1097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慣例對照表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554480"/>
          <a:ext cx="3154680" cy="25603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場合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索引方式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img[r, c]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先 row，後 col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 函式 (x,y)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先 x=col，後 y=row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 shape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(height, width)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cv2.resize()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(width, height) 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577840" y="4160520"/>
            <a:ext cx="3246120" cy="457200"/>
          </a:xfrm>
          <a:prstGeom prst="rect">
            <a:avLst/>
          </a:prstGeom>
          <a:solidFill>
            <a:srgbClr val="FFF3E8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8"/>
          <p:cNvSpPr/>
          <p:nvPr/>
        </p:nvSpPr>
        <p:spPr>
          <a:xfrm>
            <a:off x="5669280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cv2.resize 傳入 (width, height)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而非 (height, width)！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問題：普通座標描述不了什麼？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平移用矩陣乘法表示不了——這是個麻煩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23360" cy="41148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旋轉、縮放可以用 2×2 矩陣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旋轉：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x' = cos θ · x − sin θ · y
y' = sin θ · x + cos θ · y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矩陣形式：
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可以，2×2 矩陣搞定！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402336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C45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zh-TW" dirty="0">
              <a:latin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023360" cy="41148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平移無法用 2×2 矩陣表示！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平移：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我們希望的矩陣形式：
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找不到這樣的 2×2 矩陣！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平移是「加法」，矩陣乘法做不到。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459028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解法：把向量擴充一維，就能把「加法」變「乘法」——這就是齊次座標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481888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</a:rPr>
              <a:t>📖 Szeliski §2.1.1, p.38；林立代數 Primer（Homogeneous system 節）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11</a:t>
            </a: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5">
                <a:extLst>
                  <a:ext uri="{FF2B5EF4-FFF2-40B4-BE49-F238E27FC236}">
                    <a16:creationId xmlns:a16="http://schemas.microsoft.com/office/drawing/2014/main" id="{03946A80-A5E7-54AA-2D88-D562F5247B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8198" y="1973757"/>
                <a:ext cx="1903470" cy="5714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zh-TW" altLang="zh-TW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kumimoji="0" lang="zh-TW" altLang="zh-TW" sz="18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</m:ctrlPr>
                                  </m:eqArrPr>
                                  <m:e>
                                    <m:sSup>
                                      <m:sSupPr>
                                        <m:ctrlPr>
                                          <a:rPr kumimoji="0" lang="zh-TW" altLang="zh-TW" sz="18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zh-TW" altLang="zh-TW" sz="18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kumimoji="0" lang="zh-TW" altLang="zh-TW" sz="18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e>
                                    <m:sSup>
                                      <m:sSupPr>
                                        <m:ctrlPr>
                                          <a:rPr kumimoji="0" lang="zh-TW" altLang="zh-TW" sz="18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zh-TW" altLang="zh-TW" sz="18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kumimoji="0" lang="zh-TW" altLang="zh-TW" sz="18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kumimoji="0" lang="zh-TW" altLang="zh-TW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zh-TW" altLang="zh-TW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kumimoji="0" lang="zh-TW" altLang="zh-TW" sz="18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0" lang="zh-TW" altLang="zh-TW" sz="18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kumimoji="0" lang="zh-TW" altLang="zh-TW" sz="18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𝑦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kumimoji="0" lang="zh-TW" altLang="zh-TW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zh-TW" altLang="zh-TW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kumimoji="0" lang="zh-TW" altLang="zh-TW" sz="18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kumimoji="0" lang="zh-TW" altLang="zh-TW" sz="18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zh-TW" altLang="zh-TW" sz="18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kumimoji="0" lang="zh-TW" altLang="zh-TW" sz="18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0" lang="zh-TW" altLang="zh-TW" sz="18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zh-TW" altLang="zh-TW" sz="18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kumimoji="0" lang="zh-TW" altLang="zh-TW" sz="18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zh-TW" altLang="zh-TW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Rectangle 5">
                <a:extLst>
                  <a:ext uri="{FF2B5EF4-FFF2-40B4-BE49-F238E27FC236}">
                    <a16:creationId xmlns:a16="http://schemas.microsoft.com/office/drawing/2014/main" id="{03946A80-A5E7-54AA-2D88-D562F5247B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68198" y="1973757"/>
                <a:ext cx="1903470" cy="571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0F01CC84-537F-5335-8AFB-5D14309A9D89}"/>
                  </a:ext>
                </a:extLst>
              </p:cNvPr>
              <p:cNvSpPr txBox="1"/>
              <p:nvPr/>
            </p:nvSpPr>
            <p:spPr>
              <a:xfrm>
                <a:off x="4892040" y="3028793"/>
                <a:ext cx="1862958" cy="617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zh-TW" i="1" dirty="0" smtClean="0"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i="1" dirty="0">
                                  <a:latin typeface="Cambria Math" panose="02040503050406030204" pitchFamily="18" charset="0"/>
                                  <a:ea typeface="Google Sans Text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zh-TW" altLang="zh-TW" i="1" dirty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</m:ctrlPr>
                                  </m:eqArrPr>
                                  <m:e>
                                    <m:sSup>
                                      <m:sSupPr>
                                        <m:ctrlPr>
                                          <a:rPr lang="zh-TW" altLang="zh-TW" i="1" dirty="0"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TW" altLang="zh-TW" i="1" dirty="0"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zh-TW" altLang="zh-TW" i="1" dirty="0"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zh-TW" altLang="zh-TW" i="1" dirty="0"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TW" altLang="zh-TW" i="1" dirty="0"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zh-TW" altLang="zh-TW" i="1" dirty="0"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zh-TW" altLang="zh-TW" i="1" dirty="0">
                          <a:latin typeface="Cambria Math" panose="02040503050406030204" pitchFamily="18" charset="0"/>
                          <a:ea typeface="Google Sans Tex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i="1" dirty="0"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i="1" dirty="0">
                                  <a:latin typeface="Cambria Math" panose="02040503050406030204" pitchFamily="18" charset="0"/>
                                  <a:ea typeface="Google Sans Text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ea typeface="Google Sans Text"/>
                                  </a:rPr>
                                  <m:t>?</m:t>
                                </m:r>
                              </m:e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ea typeface="Google Sans Text"/>
                                  </a:rPr>
                                  <m:t>?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ea typeface="Google Sans Text"/>
                                  </a:rPr>
                                  <m:t>?</m:t>
                                </m:r>
                              </m:e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ea typeface="Google Sans Text"/>
                                  </a:rPr>
                                  <m:t>?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zh-TW" altLang="zh-TW" i="1" dirty="0"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i="1" dirty="0">
                                  <a:latin typeface="Cambria Math" panose="02040503050406030204" pitchFamily="18" charset="0"/>
                                  <a:ea typeface="Google Sans Text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zh-TW" altLang="zh-TW" i="1" dirty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</m:ctrlPr>
                                  </m:eqArrPr>
                                  <m:e>
                                    <m:r>
                                      <a:rPr lang="zh-TW" altLang="zh-TW" i="1" dirty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zh-TW" altLang="zh-TW" i="1" dirty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𝑦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0F01CC84-537F-5335-8AFB-5D14309A9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040" y="3028793"/>
                <a:ext cx="1862958" cy="6176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AECB042-367F-52B9-FFDE-50B9B14FEF0C}"/>
                  </a:ext>
                </a:extLst>
              </p:cNvPr>
              <p:cNvSpPr txBox="1"/>
              <p:nvPr/>
            </p:nvSpPr>
            <p:spPr>
              <a:xfrm>
                <a:off x="192638" y="3224905"/>
                <a:ext cx="3467529" cy="617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zh-TW" i="1" dirty="0" smtClean="0"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i="1" dirty="0">
                                  <a:latin typeface="Cambria Math" panose="02040503050406030204" pitchFamily="18" charset="0"/>
                                  <a:ea typeface="Google Sans Text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zh-TW" altLang="zh-TW" i="1" dirty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</m:ctrlPr>
                                  </m:eqArrPr>
                                  <m:e>
                                    <m:sSup>
                                      <m:sSupPr>
                                        <m:ctrlPr>
                                          <a:rPr lang="zh-TW" altLang="zh-TW" i="1" dirty="0"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TW" altLang="zh-TW" i="1" dirty="0"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zh-TW" altLang="zh-TW" i="1" dirty="0"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zh-TW" altLang="zh-TW" i="1" dirty="0"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TW" altLang="zh-TW" i="1" dirty="0"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zh-TW" altLang="zh-TW" i="1" dirty="0"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zh-TW" altLang="zh-TW" i="1" dirty="0">
                          <a:latin typeface="Cambria Math" panose="02040503050406030204" pitchFamily="18" charset="0"/>
                          <a:ea typeface="Google Sans Tex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i="1" dirty="0"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i="1" dirty="0">
                                  <a:latin typeface="Cambria Math" panose="02040503050406030204" pitchFamily="18" charset="0"/>
                                  <a:ea typeface="Google Sans Text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</m:ctrlPr>
                                  </m:funcPr>
                                  <m:fName>
                                    <m:func>
                                      <m:funcPr>
                                        <m:ctrlPr>
                                          <a:rPr lang="en-US" altLang="zh-TW" i="1" dirty="0"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dirty="0"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zh-TW" altLang="en-US" i="1" dirty="0">
                                            <a:latin typeface="Cambria Math" panose="02040503050406030204" pitchFamily="18" charset="0"/>
                                            <a:ea typeface="Google Sans Text"/>
                                          </a:rPr>
                                          <m:t>𝜃</m:t>
                                        </m:r>
                                      </m:e>
                                    </m:func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    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b="0" i="0" dirty="0" smtClean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TW" altLang="en-US" b="0" i="1" dirty="0" smtClean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/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i="1" dirty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dirty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TW" altLang="en-US" i="1" dirty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𝜃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zh-TW" i="1" dirty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b="0" i="0" dirty="0" smtClean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        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dirty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TW" altLang="en-US" i="1" dirty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/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zh-TW" altLang="zh-TW" i="1" dirty="0"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i="1" dirty="0">
                                  <a:latin typeface="Cambria Math" panose="02040503050406030204" pitchFamily="18" charset="0"/>
                                  <a:ea typeface="Google Sans Text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zh-TW" altLang="zh-TW" i="1" dirty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</m:ctrlPr>
                                  </m:eqArrPr>
                                  <m:e>
                                    <m:r>
                                      <a:rPr lang="zh-TW" altLang="zh-TW" i="1" dirty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zh-TW" altLang="zh-TW" i="1" dirty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𝑦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AECB042-367F-52B9-FFDE-50B9B14FE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38" y="3224905"/>
                <a:ext cx="3467529" cy="6176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齊次座標（Homogeneous Coordinates）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多加一個維度，解決所有仿射變換的統一問題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2D 點  (x, y)  </a:t>
            </a:r>
            <a:r>
              <a:rPr lang="en-US" sz="1400" dirty="0">
                <a:solidFill>
                  <a:srgbClr val="A8C4E0"/>
                </a:solidFill>
              </a:rPr>
              <a:t> →  擴充為  </a:t>
            </a:r>
            <a:r>
              <a:rPr lang="en-US" sz="2000" b="1" dirty="0">
                <a:solidFill>
                  <a:srgbClr val="C45C00"/>
                </a:solidFill>
              </a:rPr>
              <a:t>(x, y, 1)</a:t>
            </a:r>
            <a:r>
              <a:rPr lang="en-US" sz="1400" dirty="0">
                <a:solidFill>
                  <a:srgbClr val="A8C4E0"/>
                </a:solidFill>
              </a:rPr>
              <a:t>  （齊次表示）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28600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265176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93192" y="2340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 w =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普通的 2D 點 (x, y) 在齊次座標中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寫成 (x, y, 1)，或一般化為 (wx, wy, w)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228600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3154680" y="2286000"/>
            <a:ext cx="265176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227832" y="2340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9476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純量倍數等效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2907792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 4, 2) 和 (1, 2, 1) 代表同一個點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因為除以最後一維都得到 (1, 2)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228600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989320" y="2286000"/>
            <a:ext cx="265176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062472" y="2340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940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回到普通座標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2907792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齊次點 (x, y, w) → 普通點 (x/w, y/w)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除以最後一維即可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347972"/>
            <a:ext cx="8503920" cy="411480"/>
          </a:xfrm>
          <a:prstGeom prst="rect">
            <a:avLst/>
          </a:prstGeom>
          <a:solidFill>
            <a:srgbClr val="E8F0F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11480" y="437997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特殊情況：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 = 0 → 代表「無窮遠點」，用於表示方向向量（投影幾何的基礎）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齊次座標讓平移變成矩陣乘法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加入第三維後，所有 2D 仿射變換都統一了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73152" cy="192024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平移變換的矩陣形式（齊次座標）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33173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平移後的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齊次座標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14810" y="1306951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C45C00"/>
                </a:solidFill>
              </a:rPr>
              <a:t>平移矩陣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i="1" dirty="0">
                <a:solidFill>
                  <a:srgbClr val="C45C00"/>
                </a:solidFill>
              </a:rPr>
              <a:t>（Translation Matrix）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38702" y="1318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原始的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齊次座標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3108960"/>
            <a:ext cx="4114800" cy="1508760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驗算 tx=3, ty=5，原點 (0,0,1)：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108960"/>
            <a:ext cx="416052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800600" y="3154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</a:t>
            </a:r>
            <a:r>
              <a:rPr lang="zh-TW" alt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3475183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旋轉  R  ·  縮放  S  ·  平移  T
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現在都可以用 3×3 矩陣表示
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組合變換只需要矩陣乘法！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13</a:t>
            </a: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3">
                <a:extLst>
                  <a:ext uri="{FF2B5EF4-FFF2-40B4-BE49-F238E27FC236}">
                    <a16:creationId xmlns:a16="http://schemas.microsoft.com/office/drawing/2014/main" id="{920AF8F3-0692-3098-B091-F792C2D07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5523" y="1828159"/>
                <a:ext cx="5709833" cy="9265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TW" altLang="zh-TW" i="1" dirty="0" smtClean="0"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TW" altLang="zh-TW" i="1" dirty="0">
                                <a:latin typeface="Cambria Math" panose="02040503050406030204" pitchFamily="18" charset="0"/>
                                <a:ea typeface="Google Sans Text"/>
                              </a:rPr>
                            </m:ctrlPr>
                          </m:eqArrPr>
                          <m:e>
                            <m:eqArr>
                              <m:eqArrPr>
                                <m:ctrlPr>
                                  <a:rPr lang="zh-TW" altLang="zh-TW" i="1" dirty="0">
                                    <a:latin typeface="Cambria Math" panose="02040503050406030204" pitchFamily="18" charset="0"/>
                                    <a:ea typeface="Google Sans Text"/>
                                  </a:rPr>
                                </m:ctrlPr>
                              </m:eqArrPr>
                              <m:e>
                                <m:sSup>
                                  <m:sSupPr>
                                    <m:ctrlPr>
                                      <a:rPr lang="zh-TW" altLang="zh-TW" i="1" dirty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TW" altLang="zh-TW" i="1" dirty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zh-TW" altLang="zh-TW" i="1" dirty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zh-TW" altLang="zh-TW" i="1" dirty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TW" altLang="zh-TW" i="1" dirty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zh-TW" altLang="zh-TW" i="1" dirty="0"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eqArr>
                          </m:e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Google Sans Text"/>
                              </a:rPr>
                              <m:t>1</m:t>
                            </m:r>
                          </m:e>
                        </m:eqArr>
                      </m:e>
                    </m:d>
                    <m:r>
                      <a:rPr lang="zh-TW" altLang="zh-TW" i="1" dirty="0">
                        <a:latin typeface="Cambria Math" panose="02040503050406030204" pitchFamily="18" charset="0"/>
                        <a:ea typeface="Google Sans Text"/>
                      </a:rPr>
                      <m:t> </m:t>
                    </m:r>
                  </m:oMath>
                </a14:m>
                <a:r>
                  <a:rPr kumimoji="0" lang="en-US" altLang="zh-TW" sz="1800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zh-TW" altLang="zh-TW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zh-TW" altLang="zh-TW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Google Sans Text"/>
                              </a:rPr>
                            </m:ctrlPr>
                          </m:mPr>
                          <m:mr>
                            <m:e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</m:ctrlPr>
                                </m:sSubPr>
                                <m:e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</m:ctrlPr>
                                </m:sSubPr>
                                <m:e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0" lang="zh-TW" altLang="zh-TW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zh-TW" altLang="zh-TW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Google Sans Text"/>
                              </a:rPr>
                            </m:ctrlPr>
                          </m:mPr>
                          <m:mr>
                            <m:e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</m:ctrlPr>
                                </m:eqArrPr>
                                <m:e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𝑦</m:t>
                                  </m:r>
                                </m:e>
                                <m:e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kumimoji="0" lang="zh-TW" altLang="zh-TW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0" lang="zh-TW" altLang="zh-TW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zh-TW" altLang="zh-TW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Google Sans Text"/>
                              </a:rPr>
                            </m:ctrlPr>
                          </m:mPr>
                          <m:mr>
                            <m:e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1⋅</m:t>
                              </m:r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𝑥</m:t>
                              </m:r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+0⋅</m:t>
                              </m:r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𝑦</m:t>
                              </m:r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</m:ctrlPr>
                                </m:sSubPr>
                                <m:e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⋅1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</m:ctrlPr>
                                </m:eqArrPr>
                                <m:e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0⋅</m:t>
                                  </m:r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𝑥</m:t>
                                  </m:r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+1⋅</m:t>
                                  </m:r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𝑦</m:t>
                                  </m:r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kumimoji="0" lang="zh-TW" altLang="zh-TW" sz="1800" b="0" i="1" u="none" strike="noStrike" cap="none" normalizeH="0" baseline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Google Sans Tex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zh-TW" altLang="zh-TW" sz="1800" b="0" i="1" u="none" strike="noStrike" cap="none" normalizeH="0" baseline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Google Sans Text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kumimoji="0" lang="zh-TW" altLang="zh-TW" sz="1800" b="0" i="1" u="none" strike="noStrike" cap="none" normalizeH="0" baseline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Google Sans Text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⋅1</m:t>
                                  </m:r>
                                </m:e>
                                <m:e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0⋅</m:t>
                                  </m:r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𝑥</m:t>
                                  </m:r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+0⋅</m:t>
                                  </m:r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𝑦</m:t>
                                  </m:r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+1⋅1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kumimoji="0" lang="zh-TW" altLang="zh-TW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0" lang="zh-TW" altLang="zh-TW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zh-TW" altLang="zh-TW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Google Sans Text"/>
                              </a:rPr>
                            </m:ctrlPr>
                          </m:mPr>
                          <m:mr>
                            <m:e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𝑥</m:t>
                              </m:r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</m:ctrlPr>
                                </m:sSubPr>
                                <m:e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</m:ctrlPr>
                                </m:eqArrPr>
                                <m:e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𝑦</m:t>
                                  </m:r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kumimoji="0" lang="zh-TW" altLang="zh-TW" sz="1800" b="0" i="1" u="none" strike="noStrike" cap="none" normalizeH="0" baseline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Google Sans Tex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zh-TW" altLang="zh-TW" sz="1800" b="0" i="1" u="none" strike="noStrike" cap="none" normalizeH="0" baseline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Google Sans Text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kumimoji="0" lang="zh-TW" altLang="zh-TW" sz="1800" b="0" i="1" u="none" strike="noStrike" cap="none" normalizeH="0" baseline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Google Sans Text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endParaRPr kumimoji="0" lang="zh-TW" altLang="zh-TW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Rectangle 3">
                <a:extLst>
                  <a:ext uri="{FF2B5EF4-FFF2-40B4-BE49-F238E27FC236}">
                    <a16:creationId xmlns:a16="http://schemas.microsoft.com/office/drawing/2014/main" id="{920AF8F3-0692-3098-B091-F792C2D07F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523" y="1828159"/>
                <a:ext cx="5709833" cy="9265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4">
                <a:extLst>
                  <a:ext uri="{FF2B5EF4-FFF2-40B4-BE49-F238E27FC236}">
                    <a16:creationId xmlns:a16="http://schemas.microsoft.com/office/drawing/2014/main" id="{C0A8493D-12CC-FBE6-F255-1370BDD28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920" y="3573056"/>
                <a:ext cx="2066015" cy="7787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zh-TW" altLang="zh-TW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zh-TW" altLang="zh-TW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Google Sans Text"/>
                              </a:rPr>
                            </m:ctrlPr>
                          </m:mPr>
                          <m:mr>
                            <m:e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0" lang="zh-TW" altLang="zh-TW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zh-TW" altLang="zh-TW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Google Sans Text"/>
                              </a:rPr>
                            </m:ctrlPr>
                          </m:mPr>
                          <m:mr>
                            <m:e>
                              <m: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</m:ctrlPr>
                                </m:eqArrPr>
                                <m:e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kumimoji="0" lang="zh-TW" altLang="zh-TW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kumimoji="0" lang="en-US" altLang="zh-TW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=</a:t>
                </a:r>
                <a:r>
                  <a:rPr lang="zh-TW" altLang="zh-TW" dirty="0">
                    <a:ea typeface="Google Sans Text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TW" altLang="zh-TW" i="1" dirty="0"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TW" altLang="zh-TW" i="1" dirty="0">
                                <a:latin typeface="Cambria Math" panose="02040503050406030204" pitchFamily="18" charset="0"/>
                                <a:ea typeface="Google Sans Text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ea typeface="Google Sans Text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zh-TW" altLang="zh-TW" i="1" dirty="0"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TW" altLang="zh-TW" i="1" dirty="0"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endParaRPr kumimoji="0" lang="zh-TW" altLang="zh-TW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Rectangle 4">
                <a:extLst>
                  <a:ext uri="{FF2B5EF4-FFF2-40B4-BE49-F238E27FC236}">
                    <a16:creationId xmlns:a16="http://schemas.microsoft.com/office/drawing/2014/main" id="{C0A8493D-12CC-FBE6-F255-1370BDD28E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2920" y="3573056"/>
                <a:ext cx="2066015" cy="7787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齊次座標的進階意義：為何要「除以 w」？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投影變換需要這個步驟——這是透視縮小的數學來源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148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為什麼需要除以 w？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840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仿射變換（Affine）：
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最後一列永遠是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[0, 0, 1]
結果的 w 永遠等於 1，不需要除
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投影變換（Projective）：
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最後一列可以是任意值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結果的 w ≠ 1，必須除以 w！
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這個「除以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w」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正是透視縮小的數學本質：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遠的物體除以較大的 Z，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看起來較小。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14800" cy="41148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投影計算示例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點 (X=2, Y=3, Z=5, 1)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投影到焦距 f=4 的相機：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240280"/>
            <a:ext cx="3840480" cy="16459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892040" y="228600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⎡4 0 0 0⎤   ⎡2⎤   ⎡ 8⎤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⎢0 4 0 0⎥ × ⎢3⎥ = ⎢12⎥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⎣0 0 1 0⎦   ⎢5⎥   ⎣ 5⎦</a:t>
            </a:r>
            <a:endParaRPr lang="en-US" sz="1200" dirty="0"/>
          </a:p>
          <a:p>
            <a:r>
              <a:rPr lang="en-US" altLang="zh-TW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⎣0 0 1 0⎦</a:t>
            </a: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⎣1⎦</a:t>
            </a:r>
            <a:r>
              <a:rPr lang="zh-TW" alt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altLang="zh-TW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⎣ 5⎦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9776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結果：(8, 12, 5)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除以 w=5 → </a:t>
            </a: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(8/5, 12/5) = (1.6, 2.4)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問題：有幾種「移動影像」的方式？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它們之間有層級關係，越後面保留的幾何性質越少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3000" y="1143000"/>
            <a:ext cx="6858000" cy="713232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325880" y="11430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等距變換 Euclidean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03720" y="114300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DOF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17720" y="12527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保留：距離 ‧ 角度 ‧ 面積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1947672"/>
            <a:ext cx="7498080" cy="713232"/>
          </a:xfrm>
          <a:prstGeom prst="rect">
            <a:avLst/>
          </a:prstGeom>
          <a:solidFill>
            <a:srgbClr val="2D6B8A"/>
          </a:solidFill>
          <a:ln w="12700">
            <a:solidFill>
              <a:srgbClr val="2D6B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005840" y="194767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相似變換 Similarity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0" y="1947672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2057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保留：角度 ‧ 形狀比例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752344"/>
            <a:ext cx="813816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85800" y="275234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仿射變換 Affine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43800" y="2752344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DOF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77640" y="28620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保留：平行線 ‧ 面積比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557016"/>
            <a:ext cx="8503920" cy="713232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02920" y="355701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投影變換 Projective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26680" y="3557016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DOF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94760" y="36667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保留：直線性（直線仍為直線）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4622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越往下，能做的變形越多，但保留的性質越少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451713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</a:rPr>
              <a:t>📖 Szeliski §3.6.1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幾何變換層次：詳細比較表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四種變換的矩陣形式、自由度、最少需要幾對點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8503920" cy="34747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變換類型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矩陣形式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保留性質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最少點對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等距 Euclidean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（平移＋旋轉）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⎡R  t⎤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⎣0  1⎦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距離、角度、面積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相似 Similarity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（+縮放）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⎡sR  t⎤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⎣0   1⎦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角度、形狀比例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仿射 Affine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（+剪切）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⎡A  t⎤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⎣0  1⎦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平行線、面積比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45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投影 Projective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45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（Homography）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任意 3×3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（齊次）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45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直線性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45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第一章小結：座標系統與齊次表示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這是後面所有章節的共同語言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73152" cy="164592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21208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座標慣例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" y="16916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OpenCV：x=col, y=row；NumPy：[row, col]；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09728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617720" y="1097280"/>
            <a:ext cx="73152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818888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兩種表示法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18888" y="16916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離散陣列 F[x,y] 用於儲存；連續函數 f(x,y) 用於差補計算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73152" cy="164592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521208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齊次座標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" y="34747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點 (x,y) → (x,y,1)；使平移、旋轉、縮放統一為矩陣乘法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288036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4617720" y="2880360"/>
            <a:ext cx="73152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818888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變換層次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18888" y="34747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→ Similarity → Affine → Projective；DOF 從 3 到 8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572000"/>
            <a:ext cx="8503920" cy="292608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下一章：用這些工具來做 2D 幾何變換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2743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2D5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91440" cy="137160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02 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影像幾何變換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799" y="2834640"/>
            <a:ext cx="73023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從基礎的平移、旋轉、縮放，到仿射與投影變換（Homography）——全部用矩陣統一表示。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52D4A"/>
          </a:solidFill>
          <a:ln w="12700">
            <a:solidFill>
              <a:srgbClr val="152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EC8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AEC8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平移（Translation）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最直觀的幾何操作：整個影像搬個位置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73152" cy="804672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x' = x + t</a:t>
            </a:r>
            <a:r>
              <a:rPr lang="en-US" sz="11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y' = y + t</a:t>
            </a:r>
            <a:r>
              <a:rPr lang="en-US" sz="11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   矩陣形式：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115568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⎡1 0 tx⎤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⎢0 1 ty⎥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⎣0 0  1⎦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視覺效果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423160"/>
            <a:ext cx="1371600" cy="914400"/>
          </a:xfrm>
          <a:prstGeom prst="rect">
            <a:avLst/>
          </a:prstGeom>
          <a:solidFill>
            <a:srgbClr val="C8E0F8"/>
          </a:solidFill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31520" y="2423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</a:rPr>
              <a:t>原始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27432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5C00"/>
                </a:solidFill>
              </a:rPr>
              <a:t>→ tx=2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45C00"/>
                </a:solidFill>
              </a:rPr>
              <a:t>→ ty=0.5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2880360"/>
            <a:ext cx="1371600" cy="914400"/>
          </a:xfrm>
          <a:prstGeom prst="rect">
            <a:avLst/>
          </a:prstGeom>
          <a:solidFill>
            <a:srgbClr val="FFE0C8"/>
          </a:solidFill>
          <a:ln w="254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2926080" y="2880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5C00"/>
                </a:solidFill>
              </a:rPr>
              <a:t>平移後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01168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846320" y="2057400"/>
            <a:ext cx="3840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注意事項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tx, ty 可以是負數（往反方向移動）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矩陣的右上角 [0,2] 和 [1,2] 就是 tx, ty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實作：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np.float32([[1,0,tx],[0,1,ty]])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= cv2.warpAffine(img, M, (w,h))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旋轉（Rotation）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繞原點旋轉 θ 角——再加上平移就能繞任意點旋轉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731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x' = cos θ · x − sin θ · 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y' = sin θ · x + cos θ · 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97312" y="1147572"/>
            <a:ext cx="2287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⎡cosθ  −sinθ  0⎤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⎢sinθ   cosθ  0⎥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⎣ 0      0    1⎦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167128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20040" y="2148840"/>
            <a:ext cx="4023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繞原點旋轉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2148840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800600" y="2148840"/>
            <a:ext cx="4023360" cy="3657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93776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繞任意點 (cx, cy) 旋轉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578608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步驟：
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平移：把旋轉中心移到原點   T(-cx, -cy)
2. 旋轉：繞原點轉 θ               R(θ)
3. 平移：移回去                        T(+cx, +cy)
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組合矩陣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T(cx,cy) · R(θ) · T(-cx,-cy)
</a:t>
            </a:r>
            <a:r>
              <a:rPr lang="en-US" sz="11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OpenCV: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cv2.getRotationMatrix2D(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center=(cx,cy), angle=θ, scale=1)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20</a:t>
            </a:r>
            <a:endParaRPr lang="en-US" sz="800" dirty="0"/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9DCA0C1D-B388-057A-77B6-BD12F5DE1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2606040"/>
            <a:ext cx="3719245" cy="1956103"/>
          </a:xfrm>
          <a:prstGeom prst="rect">
            <a:avLst/>
          </a:prstGeom>
        </p:spPr>
      </p:pic>
      <p:sp>
        <p:nvSpPr>
          <p:cNvPr id="28" name="Text 6">
            <a:extLst>
              <a:ext uri="{FF2B5EF4-FFF2-40B4-BE49-F238E27FC236}">
                <a16:creationId xmlns:a16="http://schemas.microsoft.com/office/drawing/2014/main" id="{56EBC03D-C35C-4F88-CE24-1CF3BC6F3EA0}"/>
              </a:ext>
            </a:extLst>
          </p:cNvPr>
          <p:cNvSpPr/>
          <p:nvPr/>
        </p:nvSpPr>
        <p:spPr>
          <a:xfrm>
            <a:off x="5531452" y="1143000"/>
            <a:ext cx="2287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⎡cosθ  −</a:t>
            </a:r>
            <a:r>
              <a:rPr lang="en-US" sz="1300" dirty="0" err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sinθ</a:t>
            </a:r>
            <a:r>
              <a:rPr lang="en-US" sz="13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 err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r>
              <a:rPr lang="en-US" sz="13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⎤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⎢sinθ   </a:t>
            </a:r>
            <a:r>
              <a:rPr lang="en-US" sz="1300" dirty="0" err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cosθ</a:t>
            </a:r>
            <a:r>
              <a:rPr lang="en-US" sz="13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ty⎥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⎣ 0      0    1 ⎦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縮放（Scaling）與剪切（Shear）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另外兩種基礎 2D 變換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233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縮放  Scaling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⎡Sx  0  0⎤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⎢ 0 Sy  0⎥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⎣ 0  0  1⎦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097280" cy="914400"/>
          </a:xfrm>
          <a:prstGeom prst="rect">
            <a:avLst/>
          </a:prstGeom>
          <a:solidFill>
            <a:srgbClr val="C8E0F8"/>
          </a:solidFill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</a:rPr>
              <a:t>原始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</a:rPr>
              <a:t>1×1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45C00"/>
                </a:solidFill>
              </a:rPr>
              <a:t>Sx=2, Sy=0.5 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2834640"/>
            <a:ext cx="1371600" cy="548640"/>
          </a:xfrm>
          <a:prstGeom prst="rect">
            <a:avLst/>
          </a:prstGeom>
          <a:solidFill>
            <a:srgbClr val="FFE0C8"/>
          </a:solidFill>
          <a:ln w="254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2743200" y="2834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5C00"/>
                </a:solidFill>
              </a:rPr>
              <a:t>放寬壓扁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等比縮放：Sx = Sy（形狀不變）
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非等比縮放：Sx ≠ Sy（形狀改變）
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 或 Sy &lt; 0：鏡像翻轉！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109728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800600" y="1097280"/>
            <a:ext cx="4023360" cy="41148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93776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剪切  Shear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157276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 err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水平剪切（Shx</a:t>
            </a:r>
            <a:r>
              <a:rPr lang="en-US" sz="13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）：</a:t>
            </a:r>
          </a:p>
        </p:txBody>
      </p:sp>
      <p:sp>
        <p:nvSpPr>
          <p:cNvPr id="24" name="Text 22"/>
          <p:cNvSpPr/>
          <p:nvPr/>
        </p:nvSpPr>
        <p:spPr>
          <a:xfrm>
            <a:off x="4937760" y="3840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應用場合：
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模擬斜體文字效果
· 影像矯正中的小角度修正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21</a:t>
            </a:r>
            <a:endParaRPr lang="en-US" sz="800" dirty="0"/>
          </a:p>
        </p:txBody>
      </p:sp>
      <p:pic>
        <p:nvPicPr>
          <p:cNvPr id="7170" name="Picture 2" descr="Shear Mapping: Definition, Examples - Statistics How To">
            <a:extLst>
              <a:ext uri="{FF2B5EF4-FFF2-40B4-BE49-F238E27FC236}">
                <a16:creationId xmlns:a16="http://schemas.microsoft.com/office/drawing/2014/main" id="{2770BEF7-9E12-B7D4-B853-01FB87EA5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3253" y="2793789"/>
            <a:ext cx="2902107" cy="1178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47CCFC05-B6C1-AE33-2191-10EA84CE2F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3302" y="1783080"/>
                <a:ext cx="2709395" cy="9265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zh-TW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sSubPr>
                        <m:e>
                          <m:r>
                            <a:rPr kumimoji="0" lang="zh-TW" altLang="zh-TW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𝑀</m:t>
                          </m:r>
                        </m:e>
                        <m:sub>
                          <m:r>
                            <a:rPr kumimoji="0" lang="zh-TW" altLang="zh-TW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𝑠h𝑒𝑎𝑟</m:t>
                          </m:r>
                        </m:sub>
                      </m:sSub>
                      <m:r>
                        <a:rPr kumimoji="0" lang="zh-TW" altLang="zh-TW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zh-TW" altLang="zh-TW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TW" altLang="zh-TW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zh-TW" altLang="zh-TW" sz="18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Google Sans Text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zh-TW" altLang="zh-TW" sz="18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Google Sans Text"/>
                                  </a:rPr>
                                  <m:t>𝐬</m:t>
                                </m:r>
                                <m:sSub>
                                  <m:sSubPr>
                                    <m:ctrlPr>
                                      <a:rPr kumimoji="0" lang="zh-TW" altLang="zh-TW" sz="18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zh-TW" altLang="zh-TW" sz="18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kumimoji="0" lang="zh-TW" altLang="zh-TW" sz="18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𝐱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0" lang="zh-TW" altLang="zh-TW" sz="18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Google Sans Text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zh-TW" altLang="zh-TW" sz="18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Google Sans Text"/>
                                  </a:rPr>
                                  <m:t>𝐬</m:t>
                                </m:r>
                                <m:sSub>
                                  <m:sSubPr>
                                    <m:ctrlPr>
                                      <a:rPr kumimoji="0" lang="zh-TW" altLang="zh-TW" sz="18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zh-TW" altLang="zh-TW" sz="18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kumimoji="0" lang="zh-TW" altLang="zh-TW" sz="18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𝐲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0" lang="zh-TW" altLang="zh-TW" sz="18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Google Sans Text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zh-TW" altLang="zh-TW" sz="18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Google Sans Text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zh-TW" altLang="zh-TW" sz="18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Google Sans Text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zh-TW" altLang="zh-TW" sz="18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Google Sans Text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zh-TW" altLang="zh-TW" sz="18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Google Sans Text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zh-TW" altLang="zh-TW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47CCFC05-B6C1-AE33-2191-10EA84CE2F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03302" y="1783080"/>
                <a:ext cx="2709395" cy="9265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矩陣組合的順序：T·R ≠ R·T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矩陣乘法不可交換——順序很重要！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594360"/>
          </a:xfrm>
          <a:prstGeom prst="rect">
            <a:avLst/>
          </a:prstGeom>
          <a:solidFill>
            <a:srgbClr val="FFF3E8"/>
          </a:solidFill>
          <a:ln w="254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矩陣乘法不可交換！ T·R·S 與 S·R·T 的結果完全不同。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仿射變換（Affine Transformation）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保留平行線的線性變換——6 個自由度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73152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仿射矩陣（3×3 齊次）：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⎡a  b  tx⎤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⎢c  d  ty⎥ — 6 個自由度 (a,b,c,d,tx,ty)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⎣0  0   1⎦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25603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25603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保留的性質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直線仍為直線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平行線仍然平行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面積比例不變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1920240"/>
            <a:ext cx="25603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108960" y="1920240"/>
            <a:ext cx="256032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246120" y="2011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不保留的性質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237744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距離（會縮放）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角度（會改變）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形狀（會變形）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97880" y="1920240"/>
            <a:ext cx="29260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897880" y="1920240"/>
            <a:ext cx="29260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035040" y="2011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應用場合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237744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文件掃描輕微傾斜矯正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影像配準（小視角差）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對點對應即可求解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480560"/>
            <a:ext cx="8503920" cy="53035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57200" y="43983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cv2.getAffineTransform(src_pts, dst_pts)   # 3 對點求仿射矩陣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dst = cv2.warpAffine(img, M, (w, h))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消失點（Vanishing Point）：透視的幾何現象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平行線在投影後相交——這就是仿射的極限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5029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透視效果示意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1097280"/>
            <a:ext cx="32461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715000" y="1143000"/>
            <a:ext cx="29718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世界中的平行線
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例：鐵路兩條軌道是平行的
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影像中
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兩條軌道在影像中「相交」
→ 相交的點稱為消失點
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數學上的意義
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消失點在齊次座標中
代表「無窮遠點 (x,y,0)」
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仿射變換無法產生消失點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需要投影變換（Homography）！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25</a:t>
            </a:r>
            <a:endParaRPr lang="en-US" sz="800" dirty="0"/>
          </a:p>
        </p:txBody>
      </p:sp>
      <p:pic>
        <p:nvPicPr>
          <p:cNvPr id="6146" name="Picture 2" descr="Understanding Vanishing Point and Horizon Line in Physics">
            <a:extLst>
              <a:ext uri="{FF2B5EF4-FFF2-40B4-BE49-F238E27FC236}">
                <a16:creationId xmlns:a16="http://schemas.microsoft.com/office/drawing/2014/main" id="{1CF13B50-95C9-B546-07DE-011526BBB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163" y="1426464"/>
            <a:ext cx="3312934" cy="318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投影變換（Projective Transformation / Homography）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保留直線性，但不保留平行——8 個自由度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73152" cy="932688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⎡h11  h12  h13⎤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⎢h21  h22  h23⎥     8 個自由度（齊次，scale 不重要）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⎣h31  h32   1 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39319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直線性保留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場景中的直線，投影後仍是直線。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仿射：✓   Homography：✓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214884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4617720" y="2148840"/>
            <a:ext cx="393192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754880" y="2240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平行線不保留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606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平行線投影後可能相交於消失點。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仿射：✓   Homography：✗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52044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320040" y="3520440"/>
            <a:ext cx="39319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對點求解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每對點給 2 個方程；8 DOF 需要 4 對點。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超定時用 SVD 求最小二乘解。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352044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4617720" y="3520440"/>
            <a:ext cx="393192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754880" y="3611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平面到平面的映射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52139" y="3977640"/>
            <a:ext cx="409476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 描述同一平面在不同視角下的對應關係。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 的計算：需要幾個點？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對對應點 → DLT 演算法 → 3×3 矩陣 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148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數學推導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840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每一對對應點 (x,y) ↔ (x',y')：
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x'(h31·x + h32·y + h33) = h11·x + h12·y + h13
y'(h31·x + h32·y + h33) = h21·x + h22·y + h23
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 個線性方程式
→ 4 對點 = 8 個方程
→ 正好可解 8 個未知數
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超定情況（&gt;4 對）：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SVD 求最小化 ‖Ah‖ 的解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（h = H 矩陣的向量化）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14800" cy="384048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實作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572768"/>
            <a:ext cx="3840480" cy="2560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892040" y="1618488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cv2, numpy as np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 對對應點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 = np.float32([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[x1,y1],[x2,y2],[x3,y3],[x4,y4]])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dst = np.float32([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[x1',y1'],[x2',y2'],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[x3',y3'],[x4',y4']])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計算 H（3×3）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H, mask = cv2.findHomography(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src, dst,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cv2.RANSAC,  # 容許噪聲點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ransacReprojThreshold=3.0)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0" y="4206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 說明：即使有少數錯誤對應點，RANSAC 也能找到最佳 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Warping vs. Backward Warping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為何要「反向查詢」？正向 warp 會留下空洞！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C45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23360" cy="41148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Forward Warping（有問題）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88920" y="34169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5C00"/>
                </a:solidFill>
              </a:rPr>
              <a:t>目標（有空洞！）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1" y="365457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
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來源的整數座標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投影後是浮點數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目標格點可能沒有像素落入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空洞（Holes）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1097280"/>
            <a:ext cx="402336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D7D4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4800600" y="1097280"/>
            <a:ext cx="4023360" cy="41148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493776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Backward Warping（正確做法）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83480" y="34169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7D46"/>
                </a:solidFill>
              </a:rPr>
              <a:t>目標（整數格點）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37760" y="35230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方法：
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對目標影像每個整數格點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H 的逆矩陣查詢來源位置，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再用差補（Bilinear 等）取值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不會有空洞！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28</a:t>
            </a:r>
            <a:endParaRPr lang="en-US" sz="800" dirty="0"/>
          </a:p>
        </p:txBody>
      </p:sp>
      <p:pic>
        <p:nvPicPr>
          <p:cNvPr id="8194" name="Picture 2" descr="2.: Forward and backward image warping. In the case of foward warping... |  Download Scientific Diagram">
            <a:extLst>
              <a:ext uri="{FF2B5EF4-FFF2-40B4-BE49-F238E27FC236}">
                <a16:creationId xmlns:a16="http://schemas.microsoft.com/office/drawing/2014/main" id="{1F580B45-E268-629F-3A2A-646161BF6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079" y="1454220"/>
            <a:ext cx="7114961" cy="2017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實作：warpAffine 與 warpPerspective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兩個最常用的幾何變換函式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35204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warpAffine — 仿射變換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cv2.getAffineTransform(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src_pts, dst_pts)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或手動建立：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np.float32([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[cosθ, -sinθ, tx],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[sinθ,  cosθ, ty]])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dst = cv2.warpAffine(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         # 2×3 矩陣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(dw, dh),   # 輸出尺寸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flags=cv2.INTER_LINEAR,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borderMode=cv2.BORDER_CONSTANT,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borderValue=0)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114800" cy="3520440"/>
          </a:xfrm>
          <a:prstGeom prst="rect">
            <a:avLst/>
          </a:prstGeom>
          <a:solidFill>
            <a:srgbClr val="1E1E1E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846320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warpPerspective — 投影變換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481328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cv2.findHomography(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src_pts, dst_pts,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cv2.RANSAC)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dst = cv2.warpPerspective(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H,           # 3×3 矩陣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(dw, dh),    # 輸出尺寸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flags=cv2.INTER_LINEAR,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差補選項：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INTER_NEAREST  最快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INTER_LINEAR   雙線性 ✓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INTER_CUBIC    雙三次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borderMode=cv2.BORDER_CONSTANT)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462272"/>
            <a:ext cx="8503920" cy="347472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warpAffine：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輸入 2×3 矩陣   |   </a:t>
            </a:r>
            <a:r>
              <a:rPr lang="en-US" sz="1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warpPerspective：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輸入 3×3 矩陣，都支援相同差補旗標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實例：文件掃描（正視圖矯正）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 最典型的應用——手機掃描 App 的原理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96596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7099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099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任意角度拍攝文件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48132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45C00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68880" y="1097280"/>
            <a:ext cx="196596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2468880" y="111556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68880" y="17099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80360" y="17099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找角點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80360" y="20116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偵測文件的四個頂角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34840" y="148132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45C00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17720" y="1097280"/>
            <a:ext cx="196596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617720" y="111556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17720" y="17099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 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20116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findHomography()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148132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45C00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66560" y="1097280"/>
            <a:ext cx="1965960" cy="12801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766560" y="111556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766560" y="17099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17099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78040" y="20116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warpPerspective()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514600"/>
            <a:ext cx="8503920" cy="21031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457200" y="2560320"/>
            <a:ext cx="8229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完整文件掃描流程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src_pts = np.float32([[tl], [tr], [br], [bl]])  # 四個角點（使用者點選或自動偵測）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dst_pts = np.float32([[0,0],[w,0],[w,h],[0,h]])  # 目標：A4 比例矩形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H, _ = cv2.findHomography(src_pts, dst_pts, cv2.RANSAC)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cv2.warpPerspective(img, H, (w, h), flags=cv2.INTER_CUBIC)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實例：鳥瞰圖（Inverse Perspective Mapping）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車載 ADAS 系統的俯視圖——Homography 計算一次，反覆使用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493008"/>
            <a:ext cx="8503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320040" y="3493008"/>
            <a:ext cx="73152" cy="12984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02920" y="3538728"/>
            <a:ext cx="8229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嵌入式實作要點：
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H 只在相機安裝位置改變時才需要重新計算（通常固定在車頂）
② 用 cv2.remap 預計算 map_x, map_y，即時 warp 只需查表，速度快 3–5 倍
③ 嵌入式端可用整數查找表進一步加速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31</a:t>
            </a:r>
            <a:endParaRPr lang="en-US" sz="800" dirty="0"/>
          </a:p>
        </p:txBody>
      </p:sp>
      <p:pic>
        <p:nvPicPr>
          <p:cNvPr id="5122" name="Picture 2" descr="3-D Surround View for Advanced Driver Assistance Systems">
            <a:extLst>
              <a:ext uri="{FF2B5EF4-FFF2-40B4-BE49-F238E27FC236}">
                <a16:creationId xmlns:a16="http://schemas.microsoft.com/office/drawing/2014/main" id="{97B6CE08-BE76-D38A-F2A9-C7C35056E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195" y="1033272"/>
            <a:ext cx="4353866" cy="2377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四種 2D 變換：完整對照表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什麼情況用什麼變換——一頁總結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3749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類型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保留性質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最少點對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典型應用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函式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等距 Euclidean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距離・角度・面積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影像配準（無縮放）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warpAffine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D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相似 Similarity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角度・形狀比例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縮放後的配準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warpAffine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仿射 Affine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平行線・面積比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輕微透視矯正・掃描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warpAffine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45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投影 Projective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45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（Homography）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直線性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45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45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文件掃描・全景拼接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鳥瞰圖・AR 標記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45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warpPerspective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變換的逆運算：如何「還原」？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每種變換都有對應的逆——用於反向查詢（Backward Warping）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73152" cy="10789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仿射逆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1143000"/>
            <a:ext cx="4114800" cy="89611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2788920" y="118872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M_inv = cv2.invertAffineTransform(M)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M_inv 是 2×3 矩陣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0" y="1188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仿射矩陣（2×3）有專用函式，比直接求逆矩陣數值穩定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73152" cy="1078992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02920" y="23591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 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2331720"/>
            <a:ext cx="4114800" cy="89611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2788920" y="237744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H_inv = np.linalg.inv(H)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或：cv2.invert(H)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23774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齊次矩陣直接求逆；若 H 是從 4 對點精確計算，逆矩陣也精確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474720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20040" y="3474720"/>
            <a:ext cx="73152" cy="10789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02920" y="3547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旋轉矩陣逆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0" y="3520440"/>
            <a:ext cx="4114800" cy="89611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2788920" y="356616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R_inv = R.T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旋轉矩陣的逆等於轉置！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35661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正交矩陣的性質：R⁻¹ = Rᵀ；計算量最小，永遠穩定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645152"/>
            <a:ext cx="8503920" cy="201168"/>
          </a:xfrm>
          <a:prstGeom prst="rect">
            <a:avLst/>
          </a:prstGeom>
          <a:solidFill>
            <a:srgbClr val="E8F0F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439220" y="464335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逆矩陣的最重要用途：Backward Warping——對目標每個點，用逆矩陣找回來源位置，再差補取值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33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嵌入式視角：幾何 Warp 的效能優化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固定時預計算查找表，即時端只查表不計算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97764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C45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3977640" cy="41148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每幀都計算（慢）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3703320" cy="20116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每幀都呼叫 warpPerspective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 = cap.read()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每次都做矩陣乘法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cv2.warpPerspective(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frame, H, (W, H_size),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flags=cv2.INTER_LINEAR)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~5ms / frame @ 1080p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每幀都對所有像素做矩陣乘法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固定時這是浪費！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397764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D7D4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3977640" cy="41148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983480" y="10972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預計算查找表（快）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83480" y="1600200"/>
            <a:ext cx="3703320" cy="20116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5029200" y="164592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初始化時計算一次 (map_x, map_y)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map_x, map_y = cv2.initUndistortRectifyMap(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K, dist, R, P, (W,H), cv2.CV_32FC1)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或直接從 H 建立 remap 表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每幀只做查表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 = cap.read()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cv2.remap(frame,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map_x, map_y,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cv2.INTER_LINEAR)  # ~1ms!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83480" y="36576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優點：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每幀只做記憶體查表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速度提升約 3–5 倍（實測）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34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第二章小結：2D 幾何變換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從基礎平移到 Homography——全部用 3×3 矩陣統一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5176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齊次座標統一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所有仿射 + 投影變換都可以用 3×3 矩陣乘法表示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54680" y="109728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6517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291840" y="1188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四種變換層次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600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Euclidean(3) → Similarity(4) → Affine(6) → Projective(8 DOF)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89320" y="109728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5989320" y="1097280"/>
            <a:ext cx="265176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126480" y="1188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變換的組合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1600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p' = T·R·S·p，從右到左讀取；順序影響結果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78892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20040" y="2788920"/>
            <a:ext cx="265176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57200" y="2880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Homography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對點求解，findHomography + RANSAC；warpPerspective 實作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154680" y="278892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3154680" y="2788920"/>
            <a:ext cx="26517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3291840" y="2880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嵌入式優化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預計算 remap 查找表；固定 H 時速度提升 3-5 倍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89320" y="278892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5989320" y="2788920"/>
            <a:ext cx="265176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126480" y="2880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逆矩陣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Warping 需要 H⁻¹；旋轉矩陣逆 = 轉置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" y="4526280"/>
            <a:ext cx="8503920" cy="32004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下一章：幾何變換後，如何在非整數座標取得像素值？→ 差補（Interpolation）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2743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2D5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91440" cy="137160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03 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影像差補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 之後，像素落在非整數位置——Nearest Neighbor、Bilinear、Bicubic 三種方法的原理與取捨。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52D4A"/>
          </a:solidFill>
          <a:ln w="12700">
            <a:solidFill>
              <a:srgbClr val="152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EC8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AEC8"/>
                </a:solidFill>
              </a:rPr>
              <a:t>36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問題：做完 Warp，像素去哪了？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幾何變換後，新座標通常是浮點數——找不到對應的整數像素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73152" cy="96012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旋轉 30° 後，原本在 (2,3) 的像素 → 新位置在 (</a:t>
            </a:r>
            <a:r>
              <a:rPr lang="en-US" sz="1400" b="1" dirty="0">
                <a:solidFill>
                  <a:srgbClr val="C45C00"/>
                </a:solidFill>
              </a:rPr>
              <a:t>1.598, 3.232</a:t>
            </a:r>
            <a:r>
              <a:rPr lang="en-US" sz="1400" dirty="0">
                <a:solidFill>
                  <a:srgbClr val="1A1A1A"/>
                </a:solidFill>
              </a:rPr>
              <a:t>)——整數格不存在這個位置！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目標格點（整數）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252728" y="254203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2002536" y="254203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2752344" y="254203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502152" y="254203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502920" y="304495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1252728" y="304495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2002536" y="304495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2002536" y="3044952"/>
            <a:ext cx="713232" cy="475488"/>
          </a:xfrm>
          <a:prstGeom prst="rect">
            <a:avLst/>
          </a:prstGeom>
          <a:solidFill>
            <a:srgbClr val="E8F0F8"/>
          </a:solidFill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2002536" y="304495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52344" y="304495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3502152" y="304495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502920" y="354787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1252728" y="354787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2002536" y="354787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2752344" y="354787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3502152" y="354787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502920" y="405079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252728" y="405079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2002536" y="405079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2752344" y="405079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3502152" y="405079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3186684" y="167792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H⁻¹ 查詢來源位置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得到浮點座標 (1.598, 3.232)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14884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484632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來源格點（整數）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254203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4892040" y="254203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0,0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641848" y="254203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5641848" y="254203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1,0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391656" y="254203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6391656" y="254203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2,0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41464" y="254203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7141464" y="254203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3,0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891272" y="254203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7891272" y="254203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4,0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92040" y="304495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4892040" y="304495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0,1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641848" y="304495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/>
          <p:nvPr/>
        </p:nvSpPr>
        <p:spPr>
          <a:xfrm>
            <a:off x="5641848" y="304495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1,1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391656" y="304495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Text 48"/>
          <p:cNvSpPr/>
          <p:nvPr/>
        </p:nvSpPr>
        <p:spPr>
          <a:xfrm>
            <a:off x="6391656" y="304495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2,1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141464" y="304495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7141464" y="304495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3,1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891272" y="304495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Text 52"/>
          <p:cNvSpPr/>
          <p:nvPr/>
        </p:nvSpPr>
        <p:spPr>
          <a:xfrm>
            <a:off x="7891272" y="304495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4,1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92040" y="354787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Text 54"/>
          <p:cNvSpPr/>
          <p:nvPr/>
        </p:nvSpPr>
        <p:spPr>
          <a:xfrm>
            <a:off x="4892040" y="354787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0,2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641848" y="354787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6"/>
          <p:cNvSpPr/>
          <p:nvPr/>
        </p:nvSpPr>
        <p:spPr>
          <a:xfrm>
            <a:off x="5641848" y="354787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1,2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391656" y="354787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Text 58"/>
          <p:cNvSpPr/>
          <p:nvPr/>
        </p:nvSpPr>
        <p:spPr>
          <a:xfrm>
            <a:off x="6391656" y="354787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2,2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141464" y="354787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Text 60"/>
          <p:cNvSpPr/>
          <p:nvPr/>
        </p:nvSpPr>
        <p:spPr>
          <a:xfrm>
            <a:off x="7141464" y="354787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3,2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891272" y="354787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Text 62"/>
          <p:cNvSpPr/>
          <p:nvPr/>
        </p:nvSpPr>
        <p:spPr>
          <a:xfrm>
            <a:off x="7891272" y="354787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4,2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892040" y="405079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Text 64"/>
          <p:cNvSpPr/>
          <p:nvPr/>
        </p:nvSpPr>
        <p:spPr>
          <a:xfrm>
            <a:off x="4892040" y="405079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0,3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641848" y="405079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Text 66"/>
          <p:cNvSpPr/>
          <p:nvPr/>
        </p:nvSpPr>
        <p:spPr>
          <a:xfrm>
            <a:off x="5641848" y="405079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1,3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391656" y="405079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Text 68"/>
          <p:cNvSpPr/>
          <p:nvPr/>
        </p:nvSpPr>
        <p:spPr>
          <a:xfrm>
            <a:off x="6391656" y="405079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2,3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141464" y="405079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Text 70"/>
          <p:cNvSpPr/>
          <p:nvPr/>
        </p:nvSpPr>
        <p:spPr>
          <a:xfrm>
            <a:off x="7141464" y="405079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3,3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891272" y="4050792"/>
            <a:ext cx="713232" cy="47548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Text 72"/>
          <p:cNvSpPr/>
          <p:nvPr/>
        </p:nvSpPr>
        <p:spPr>
          <a:xfrm>
            <a:off x="7891272" y="405079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4,3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263640" y="3547872"/>
            <a:ext cx="201168" cy="201168"/>
          </a:xfrm>
          <a:prstGeom prst="line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Text 74"/>
          <p:cNvSpPr/>
          <p:nvPr/>
        </p:nvSpPr>
        <p:spPr>
          <a:xfrm>
            <a:off x="6492240" y="34930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(1.598, 3.232)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在這裡！但沒有像素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846320" y="44348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差補 = 用周圍整數像素估算這個浮點位置的值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Text 78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37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差補的本質：在格點之間估算函數值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把離散像素陣列「想像」成連續函數，然後在任意位置取值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5C00"/>
                </a:solidFill>
              </a:rPr>
              <a:t>差補（Interpolation）</a:t>
            </a:r>
            <a:r>
              <a:rPr lang="en-US" sz="1400" dirty="0">
                <a:solidFill>
                  <a:srgbClr val="FFFFFF"/>
                </a:solidFill>
              </a:rPr>
              <a:t> = 已知格點上的值 F[i,j]，估算 </a:t>
            </a:r>
            <a:r>
              <a:rPr lang="en-US" sz="1600" b="1" dirty="0">
                <a:solidFill>
                  <a:srgbClr val="FFDDB0"/>
                </a:solidFill>
              </a:rPr>
              <a:t>非格點位置 f(x,y)</a:t>
            </a:r>
            <a:r>
              <a:rPr lang="en-US" sz="1400" dirty="0">
                <a:solidFill>
                  <a:srgbClr val="FFFFFF"/>
                </a:solidFill>
              </a:rPr>
              <a:t> 的值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19456" y="4215384"/>
            <a:ext cx="8503920" cy="301752"/>
          </a:xfrm>
          <a:prstGeom prst="rect">
            <a:avLst/>
          </a:prstGeom>
          <a:solidFill>
            <a:srgbClr val="E8F0F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356616" y="421538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三種方法的差異在於：「用哪些格點」 + 「如何加權」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38</a:t>
            </a:r>
            <a:endParaRPr lang="en-US" sz="800" dirty="0"/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A2776D20-D703-0B2B-9465-BE25AF03B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756" y="1976446"/>
            <a:ext cx="2903509" cy="2143491"/>
          </a:xfrm>
          <a:prstGeom prst="rect">
            <a:avLst/>
          </a:prstGeom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7CF204C2-88FA-9EB8-2FEC-3647F9895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974" y="2097579"/>
            <a:ext cx="3414854" cy="177033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方法一：最近鄰差補（Nearest Neighbor）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取最近的整數像素值——最快，但品質最低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73152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f(x, y) ≈ F[</a:t>
            </a:r>
            <a:r>
              <a:rPr lang="en-US" sz="1500" b="1" dirty="0">
                <a:solidFill>
                  <a:srgbClr val="C45C00"/>
                </a:solidFill>
              </a:rPr>
              <a:t>round(x)</a:t>
            </a:r>
            <a:r>
              <a:rPr lang="en-US" sz="1500" dirty="0">
                <a:solidFill>
                  <a:srgbClr val="000000"/>
                </a:solidFill>
              </a:rPr>
              <a:t>, </a:t>
            </a:r>
            <a:r>
              <a:rPr lang="en-US" sz="1500" b="1" dirty="0">
                <a:solidFill>
                  <a:srgbClr val="C45C00"/>
                </a:solidFill>
              </a:rPr>
              <a:t>round(y)</a:t>
            </a:r>
            <a:r>
              <a:rPr lang="en-US" sz="1300" dirty="0">
                <a:solidFill>
                  <a:srgbClr val="6B7280"/>
                </a:solidFill>
              </a:rPr>
              <a:t>]     →  直接取距離最近的整數格點的值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663440" y="1920240"/>
            <a:ext cx="4160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4800600" y="1965960"/>
            <a:ext cx="3886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優點
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計算量最小（只一次取整）
• 適合即時嵌入式預覽
• 保留像素原始值（不引入新值）
</a:t>
            </a: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缺點
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旋轉後出現明顯鋸齒（Aliasing）
•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放大時產生「像素化」感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不適合需要精確幾何的應用
</a:t>
            </a: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適用場合
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縮略圖生成、即時預覽、標籤圖（Label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Map）縮放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28072" y="4443984"/>
            <a:ext cx="4894095" cy="34747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4308724" y="4450868"/>
            <a:ext cx="472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cv2.INTER_NEAREST   # in warpPerspective / warpAffine / resize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39</a:t>
            </a:r>
            <a:endParaRPr lang="en-US" sz="800" dirty="0"/>
          </a:p>
        </p:txBody>
      </p:sp>
      <p:pic>
        <p:nvPicPr>
          <p:cNvPr id="40" name="圖片 39">
            <a:extLst>
              <a:ext uri="{FF2B5EF4-FFF2-40B4-BE49-F238E27FC236}">
                <a16:creationId xmlns:a16="http://schemas.microsoft.com/office/drawing/2014/main" id="{B7E69FF6-44D6-46B5-0616-3574E6A54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8" y="1951280"/>
            <a:ext cx="2560938" cy="247898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最近鄰的缺陷：鋸齒效應（Aliasing）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旋轉或縮放時，輪廓出現明顯的階梯狀邊緣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Text 77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40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方法二：雙線性差補（Bilinear Interpolation）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先在 X 方向插值兩次，再在 Y 方向插值一次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3891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雙線性差補步驟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1097280"/>
            <a:ext cx="3886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507492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公式推導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4920" y="150876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 dx = x - i,  dy = y - j
（i,j 是左上角格點）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1：X 方向兩次線性插值
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= (1-dx)·Q11 + dx·Q21
R2 = (1-dx)·Q12 + dx·Q22
</a:t>
            </a: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2：Y 方向一次線性插值
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f(x,y) = (1-dy)·R1 + dy·R2
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展開後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4 個角像素的加權平均
</a:t>
            </a:r>
            <a:r>
              <a:rPr lang="en-US" sz="12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權重</a:t>
            </a: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對角面積（面積加權）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4526280"/>
            <a:ext cx="8503920" cy="3200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50292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cv2.INTER_LINEAR   # 雙線性（OpenCV 預設，大多數情況最佳選擇）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41</a:t>
            </a:r>
            <a:endParaRPr lang="en-US" sz="800" dirty="0"/>
          </a:p>
        </p:txBody>
      </p:sp>
      <p:pic>
        <p:nvPicPr>
          <p:cNvPr id="39" name="圖片 38">
            <a:extLst>
              <a:ext uri="{FF2B5EF4-FFF2-40B4-BE49-F238E27FC236}">
                <a16:creationId xmlns:a16="http://schemas.microsoft.com/office/drawing/2014/main" id="{34F9FB84-5653-564E-70E2-F53CE3C40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13017"/>
            <a:ext cx="4196498" cy="206744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方法三：雙三次差補（Bicubic Interpolation）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16 個鄰近像素，擬合三次多項式——更平滑、邊緣更銳利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511296"/>
            <a:ext cx="859536" cy="621792"/>
          </a:xfrm>
          <a:prstGeom prst="rect">
            <a:avLst/>
          </a:prstGeom>
          <a:solidFill>
            <a:srgbClr val="F0EFE8"/>
          </a:solidFill>
          <a:ln w="635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1399032" y="3511296"/>
            <a:ext cx="859536" cy="621792"/>
          </a:xfrm>
          <a:prstGeom prst="rect">
            <a:avLst/>
          </a:prstGeom>
          <a:solidFill>
            <a:srgbClr val="F0EFE8"/>
          </a:solidFill>
          <a:ln w="635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2295144" y="3511296"/>
            <a:ext cx="859536" cy="621792"/>
          </a:xfrm>
          <a:prstGeom prst="rect">
            <a:avLst/>
          </a:prstGeom>
          <a:solidFill>
            <a:srgbClr val="F0EFE8"/>
          </a:solidFill>
          <a:ln w="635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3191256" y="3511296"/>
            <a:ext cx="859536" cy="621792"/>
          </a:xfrm>
          <a:prstGeom prst="rect">
            <a:avLst/>
          </a:prstGeom>
          <a:solidFill>
            <a:srgbClr val="F0EFE8"/>
          </a:solidFill>
          <a:ln w="635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4983480" y="3511296"/>
            <a:ext cx="859536" cy="621792"/>
          </a:xfrm>
          <a:prstGeom prst="rect">
            <a:avLst/>
          </a:prstGeom>
          <a:solidFill>
            <a:srgbClr val="FFE8CC"/>
          </a:solidFill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5879592" y="3511296"/>
            <a:ext cx="859536" cy="621792"/>
          </a:xfrm>
          <a:prstGeom prst="rect">
            <a:avLst/>
          </a:prstGeom>
          <a:solidFill>
            <a:srgbClr val="FFE8CC"/>
          </a:solidFill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6775704" y="3511296"/>
            <a:ext cx="859536" cy="621792"/>
          </a:xfrm>
          <a:prstGeom prst="rect">
            <a:avLst/>
          </a:prstGeom>
          <a:solidFill>
            <a:srgbClr val="FFE8CC"/>
          </a:solidFill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1"/>
          <p:cNvSpPr/>
          <p:nvPr/>
        </p:nvSpPr>
        <p:spPr>
          <a:xfrm>
            <a:off x="7671816" y="3511296"/>
            <a:ext cx="859536" cy="621792"/>
          </a:xfrm>
          <a:prstGeom prst="rect">
            <a:avLst/>
          </a:prstGeom>
          <a:solidFill>
            <a:srgbClr val="FFE8CC"/>
          </a:solidFill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3"/>
          <p:cNvSpPr/>
          <p:nvPr/>
        </p:nvSpPr>
        <p:spPr>
          <a:xfrm>
            <a:off x="320040" y="3401568"/>
            <a:ext cx="8503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320040" y="3401568"/>
            <a:ext cx="73152" cy="1207008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502920" y="34472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原理：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02920" y="38130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每個方向擬合三次（cubic）多項式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，在 4×4 鄰域內求解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200400" y="34472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優點：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200400" y="38130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更平滑、邊緣更銳利、減少 ringing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適合放大高品質輸出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897880" y="34472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代價：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897880" y="38130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次像素存取 vs Bilinear 的 4 次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計算量約 4 倍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320040" y="4498848"/>
            <a:ext cx="8503920" cy="34747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Text 52"/>
          <p:cNvSpPr/>
          <p:nvPr/>
        </p:nvSpPr>
        <p:spPr>
          <a:xfrm>
            <a:off x="502920" y="44988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cv2.INTER_CUBIC   # 雙三次（高品質輸出首選，計算量約 Bilinear 的 4 倍）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5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43</a:t>
            </a:r>
            <a:endParaRPr lang="en-US" sz="800" dirty="0"/>
          </a:p>
        </p:txBody>
      </p:sp>
      <p:pic>
        <p:nvPicPr>
          <p:cNvPr id="63" name="圖片 62">
            <a:extLst>
              <a:ext uri="{FF2B5EF4-FFF2-40B4-BE49-F238E27FC236}">
                <a16:creationId xmlns:a16="http://schemas.microsoft.com/office/drawing/2014/main" id="{5EACB153-DCF2-8CAB-FE60-3726761C4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164204"/>
            <a:ext cx="4692246" cy="1931040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7309529B-5878-2CE3-0EC9-4DBFE7D19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970" y="1712280"/>
            <a:ext cx="4126230" cy="83053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三種差補方法：視覺品質比較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同一張影像放大 4 倍——邊緣清晰度的差異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5176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45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651760" cy="41148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29768" y="105156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Neighbor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9768" y="3273552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cv2.INTER_NEAREST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9768" y="3584448"/>
            <a:ext cx="2450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最快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鋸齒明顯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154680" y="1051560"/>
            <a:ext cx="265176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3154680" y="1051560"/>
            <a:ext cx="26517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3264408" y="105156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Bilinear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264408" y="3273552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cv2.INTER_LINEAR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64408" y="3584448"/>
            <a:ext cx="2450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速度快、品質好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輪廓略軟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989320" y="1051560"/>
            <a:ext cx="265176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D7D4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6"/>
          <p:cNvSpPr/>
          <p:nvPr/>
        </p:nvSpPr>
        <p:spPr>
          <a:xfrm>
            <a:off x="5989320" y="1051560"/>
            <a:ext cx="2651760" cy="41148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/>
          <p:nvPr/>
        </p:nvSpPr>
        <p:spPr>
          <a:xfrm>
            <a:off x="6099048" y="105156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Bicubic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6099048" y="3273552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cv2.INTER_CUBIC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099048" y="3584448"/>
            <a:ext cx="2450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最平滑銳利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計算量最大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Text 71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44</a:t>
            </a:r>
            <a:endParaRPr lang="en-US" sz="800" dirty="0"/>
          </a:p>
        </p:txBody>
      </p:sp>
      <p:pic>
        <p:nvPicPr>
          <p:cNvPr id="76" name="圖片 75">
            <a:extLst>
              <a:ext uri="{FF2B5EF4-FFF2-40B4-BE49-F238E27FC236}">
                <a16:creationId xmlns:a16="http://schemas.microsoft.com/office/drawing/2014/main" id="{570C4A4E-7A52-C0B0-C681-63616C7C2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790" y="1481329"/>
            <a:ext cx="1790093" cy="1801008"/>
          </a:xfrm>
          <a:prstGeom prst="rect">
            <a:avLst/>
          </a:prstGeom>
        </p:spPr>
      </p:pic>
      <p:pic>
        <p:nvPicPr>
          <p:cNvPr id="78" name="圖片 77">
            <a:extLst>
              <a:ext uri="{FF2B5EF4-FFF2-40B4-BE49-F238E27FC236}">
                <a16:creationId xmlns:a16="http://schemas.microsoft.com/office/drawing/2014/main" id="{BBB7FB28-D0DC-BABF-5FB2-C46D3C1C2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860" y="1504860"/>
            <a:ext cx="1868799" cy="18327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縮小時的特殊問題：先模糊，再縮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直接縮小 → Aliasing；正確做法：先低通濾波再 Subsample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45</a:t>
            </a:r>
            <a:endParaRPr lang="en-US" sz="800" dirty="0"/>
          </a:p>
        </p:txBody>
      </p:sp>
      <p:pic>
        <p:nvPicPr>
          <p:cNvPr id="4098" name="Picture 2" descr="Baidu AI Studio - 一站式AI开发实训平台">
            <a:extLst>
              <a:ext uri="{FF2B5EF4-FFF2-40B4-BE49-F238E27FC236}">
                <a16:creationId xmlns:a16="http://schemas.microsoft.com/office/drawing/2014/main" id="{461C240A-FEBF-D450-360F-FE730ABC3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098" y="1267039"/>
            <a:ext cx="5958035" cy="3207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的差補旗標一覽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resize、warpAffine、warpPerspective 中都適用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32004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32104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 在 warpPerspective / warpAffine 中指定差補 ───────────────────────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cv2.warpPerspective(img, H, (W, H_out),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flags=cv2.INTER_LINEAR)  # ← 在這裡換旗標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 在 resize 中指定差補 ────────────────────────────────────────────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 = cv2.resize(img, (w//2, h//2),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interpolation=cv2.INTER_AREA)   # 縮小最佳選擇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 = cv2.resize(img, (w*4, h*4),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interpolation=cv2.INTER_CUBIC)  # 放大最佳選擇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764808"/>
              </p:ext>
            </p:extLst>
          </p:nvPr>
        </p:nvGraphicFramePr>
        <p:xfrm>
          <a:off x="274320" y="3209544"/>
          <a:ext cx="8503920" cy="15087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4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旗標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像素數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速度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品質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最佳用途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INTER_NEAREST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縮略圖・標籤圖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INTER_LINEAR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通用（預設）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INTER_CUBIC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放大・高品質輸出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4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INTER_LANCZOS4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科學・醫學影像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4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INTER_AREA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可變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縮小專用（避免摩爾紋）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47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cv2.remap：預計算查找表（最快的 Warp 方法）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H 矩陣「展開」成 map_x, map_y，即時端只做記憶體查詢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2834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321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初始化（只執行一次）─────────────────────────────────────────────────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H_inv = np.linalg.inv(H)  # 取逆（Backward Warping 用）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建立目標座標格 (meshgrid)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dst_y, dst_x = np.mgrid[0:H_out, 0:W_out].astype(np.float32)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ones = np.ones_like(dst_x)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dst_coords = np.stack([dst_x, dst_y, ones], axis=-1)  # (H, W, 3)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乘以 H_inv 得到來源座標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src_coords = dst_coords @ H_inv.T           # broadcast matmul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map_x = (src_coords[...,0] / src_coords[...,2]).astype(np.float32)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map_y = (src_coords[...,1] / src_coords[...,2]).astype(np.float32)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每幀（高速）─────────────────────────────────────────────────────────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cv2.remap(frame, map_x, map_y, cv2.INTER_LINEAR)  # ~1ms！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4005072"/>
            <a:ext cx="2651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20040" y="4005072"/>
            <a:ext cx="26517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29768" y="405993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速度提升 3–5×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440740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每幀只做記憶體查詢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不需要矩陣乘法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4005072"/>
            <a:ext cx="2651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154680" y="4005072"/>
            <a:ext cx="265176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64408" y="405993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記憶體代價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440740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 2 個 float32 陣列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1080p ≈ 8 MB RAM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4005072"/>
            <a:ext cx="2651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5989320" y="4005072"/>
            <a:ext cx="26517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099048" y="405993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適用範圍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9048" y="440740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任何固定的幾何變換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校準矯正、IPM、Homography 都可用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49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第三章小結：影像差補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三種方法、兩個使用原則、一個嵌入式優化技巧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51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5176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Nearest Neighbor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O(1)，最快，有鋸齒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用於縮略圖、標籤圖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097280"/>
            <a:ext cx="2651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6517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291840" y="1188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Bilinear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618488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O(4)，速度快品質好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大多數場合的首選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1097280"/>
            <a:ext cx="2651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5989320" y="1097280"/>
            <a:ext cx="265176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126480" y="1188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〰 Bicubic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1618488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O(16)，最平滑銳利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高品質輸出用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2651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20040" y="2834640"/>
            <a:ext cx="265176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57200" y="2926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縮小要先模糊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355848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 Aliasing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GaussianBlur → resize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54680" y="2834640"/>
            <a:ext cx="2651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3154680" y="2834640"/>
            <a:ext cx="26517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3291840" y="2926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選擇策略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3355848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即時用 Linear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標籤用 Nearest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高品質用 Cubic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89320" y="2834640"/>
            <a:ext cx="2651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5989320" y="2834640"/>
            <a:ext cx="265176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126480" y="2926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remap 加速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3355848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預計算 map_x/map_y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即時端速度提升 3–5×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544568"/>
            <a:ext cx="8503920" cy="3017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457200" y="454456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下一章：3D 空間的光線如何投影到 2D 影像平面？→ 針孔相機模型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50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2743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2D5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91440" cy="137160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04 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針孔相機模型與投影幾何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空間的點如何映射到 2D 影像？相機矩陣 K 和外參 [R|t] 的幾何意義。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52D4A"/>
          </a:solidFill>
          <a:ln w="12700">
            <a:solidFill>
              <a:srgbClr val="152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EC8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AEC8"/>
                </a:solidFill>
              </a:rPr>
              <a:t>51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問題：相機如何把 3D「壓縮」成 2D？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為什麼遠的東西看起來小？相機做了什麼幾何操作？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52</a:t>
            </a:r>
            <a:endParaRPr lang="en-US" sz="800" dirty="0"/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7A888376-99CB-F754-F2ED-77C462A14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746" y="1398258"/>
            <a:ext cx="5936062" cy="2619437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針孔相機模型（Pinhole Camera Model）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最簡單的相機：一個小孔，每條光線只有一條路徑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53</a:t>
            </a:r>
            <a:endParaRPr lang="en-US" sz="800" dirty="0"/>
          </a:p>
        </p:txBody>
      </p:sp>
      <p:pic>
        <p:nvPicPr>
          <p:cNvPr id="26" name="Picture 11">
            <a:extLst>
              <a:ext uri="{FF2B5EF4-FFF2-40B4-BE49-F238E27FC236}">
                <a16:creationId xmlns:a16="http://schemas.microsoft.com/office/drawing/2014/main" id="{DA0EF88A-BBC2-B897-30DD-E50E6AEE1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03" y="1631023"/>
            <a:ext cx="3115311" cy="2081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2">
            <a:extLst>
              <a:ext uri="{FF2B5EF4-FFF2-40B4-BE49-F238E27FC236}">
                <a16:creationId xmlns:a16="http://schemas.microsoft.com/office/drawing/2014/main" id="{61909234-DFDC-70F7-6E1B-CBC6FA30D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257300"/>
            <a:ext cx="4052888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BE045C84-CA88-0D91-FBE6-00D03BCFB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970" y="1144498"/>
            <a:ext cx="4235450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95CF8A-3A9D-2A0C-215B-47B131D0D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11" y="1296898"/>
            <a:ext cx="4052888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77629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49B55-8E0D-5A59-EB08-96E844AF2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3F5B84-2619-4CDE-A080-FA01B88B5AFD}"/>
              </a:ext>
            </a:extLst>
          </p:cNvPr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C2F033-A142-CFBD-7A00-335D6452733A}"/>
              </a:ext>
            </a:extLst>
          </p:cNvPr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針孔相機模型（Pinhole Camera Model）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504B4E2-5515-0C50-6162-D09331CB8561}"/>
              </a:ext>
            </a:extLst>
          </p:cNvPr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最簡單的相機：一個小孔，每條光線只有一條路徑</a:t>
            </a:r>
            <a:endParaRPr lang="en-US" sz="13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F853AA7-9CCC-63F9-E1BB-7FE62D98D041}"/>
              </a:ext>
            </a:extLst>
          </p:cNvPr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93011D1-EBE2-C47D-0666-B5D41EA56406}"/>
              </a:ext>
            </a:extLst>
          </p:cNvPr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00341A7-7280-03AA-9C7C-8DF6C38FF260}"/>
              </a:ext>
            </a:extLst>
          </p:cNvPr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53</a:t>
            </a:r>
            <a:endParaRPr lang="en-US" sz="800" dirty="0"/>
          </a:p>
        </p:txBody>
      </p:sp>
      <p:pic>
        <p:nvPicPr>
          <p:cNvPr id="6" name="Picture 5" descr="http://homepages.inf.ed.ac.uk/rbf/CVonline/LOCAL_COPIES/OWENS/LECT9/img4.gif">
            <a:extLst>
              <a:ext uri="{FF2B5EF4-FFF2-40B4-BE49-F238E27FC236}">
                <a16:creationId xmlns:a16="http://schemas.microsoft.com/office/drawing/2014/main" id="{0348A2DD-3DC0-356B-4232-A951FC5D9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53" y="1143000"/>
            <a:ext cx="4201743" cy="356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23987AD-B12E-F003-B6FA-FF60D7462C7C}"/>
              </a:ext>
            </a:extLst>
          </p:cNvPr>
          <p:cNvSpPr txBox="1"/>
          <p:nvPr/>
        </p:nvSpPr>
        <p:spPr>
          <a:xfrm>
            <a:off x="3617531" y="1008909"/>
            <a:ext cx="56446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3D to 2D =&gt; three components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altLang="zh-TW" sz="1200" dirty="0">
                <a:latin typeface="Times New Roman" pitchFamily="18" charset="0"/>
                <a:cs typeface="Times New Roman" pitchFamily="18" charset="0"/>
              </a:rPr>
              <a:t>Rigid body transformation(world coordinate(3D) </a:t>
            </a:r>
            <a:r>
              <a:rPr lang="zh-TW" altLang="en-US" sz="1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altLang="zh-TW" sz="1200" dirty="0">
                <a:latin typeface="Times New Roman" pitchFamily="18" charset="0"/>
                <a:cs typeface="Times New Roman" pitchFamily="18" charset="0"/>
              </a:rPr>
              <a:t>camera coordinate(3D))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altLang="zh-TW" sz="1200" dirty="0">
                <a:latin typeface="Times New Roman" pitchFamily="18" charset="0"/>
                <a:cs typeface="Times New Roman" pitchFamily="18" charset="0"/>
              </a:rPr>
              <a:t>3D points to 2D points(camera coordinate(3D)</a:t>
            </a:r>
            <a:r>
              <a:rPr lang="zh-TW" altLang="en-US" sz="1200" dirty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zh-TW" sz="1200" dirty="0">
                <a:latin typeface="Times New Roman" pitchFamily="18" charset="0"/>
                <a:cs typeface="Times New Roman" pitchFamily="18" charset="0"/>
              </a:rPr>
              <a:t>camera image plane(2D))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altLang="zh-TW" sz="1200" dirty="0">
                <a:latin typeface="Times New Roman" pitchFamily="18" charset="0"/>
                <a:cs typeface="Times New Roman" pitchFamily="18" charset="0"/>
              </a:rPr>
              <a:t>2D to 2D transformation(camera image plane(2D)</a:t>
            </a:r>
            <a:r>
              <a:rPr lang="zh-TW" altLang="en-US" sz="1200" dirty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zh-TW" sz="1200" dirty="0">
                <a:latin typeface="Times New Roman" pitchFamily="18" charset="0"/>
                <a:cs typeface="Times New Roman" pitchFamily="18" charset="0"/>
              </a:rPr>
              <a:t>pixel coordinate(2D))</a:t>
            </a:r>
          </a:p>
        </p:txBody>
      </p:sp>
    </p:spTree>
    <p:extLst>
      <p:ext uri="{BB962C8B-B14F-4D97-AF65-F5344CB8AC3E}">
        <p14:creationId xmlns:p14="http://schemas.microsoft.com/office/powerpoint/2010/main" val="38315375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D107B-3966-916C-3535-F784B8CF8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63C7A4-8C93-D3E7-113B-ED7D9212823D}"/>
              </a:ext>
            </a:extLst>
          </p:cNvPr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634EFB-2199-6D66-FC83-9FEE9ECAD389}"/>
              </a:ext>
            </a:extLst>
          </p:cNvPr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針孔相機模型（Pinhole Camera Model）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EDD5BA-6A65-270D-E09A-63D675538A56}"/>
              </a:ext>
            </a:extLst>
          </p:cNvPr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最簡單的相機：一個小孔，每條光線只有一條路徑</a:t>
            </a:r>
            <a:endParaRPr lang="en-US" sz="13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29BB47A-B130-4C6A-5EDE-CF516A48EF95}"/>
              </a:ext>
            </a:extLst>
          </p:cNvPr>
          <p:cNvSpPr/>
          <p:nvPr/>
        </p:nvSpPr>
        <p:spPr>
          <a:xfrm>
            <a:off x="5303520" y="1097280"/>
            <a:ext cx="35204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441F568-BCE6-1FF2-9B70-BED279F40533}"/>
              </a:ext>
            </a:extLst>
          </p:cNvPr>
          <p:cNvSpPr/>
          <p:nvPr/>
        </p:nvSpPr>
        <p:spPr>
          <a:xfrm>
            <a:off x="5440680" y="1143000"/>
            <a:ext cx="32461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投影公式推導
（相似三角形）
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點 (X, Y, Z)
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投影到焦距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 的影像平面：
</a:t>
            </a: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x' = f · X / Z
y' = f · Y / Z
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200" b="1" dirty="0" err="1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 越大 → x', y' 越小（透視縮小）
• 深度資訊 Z 在投影後消失了
• 這就是「逆問題」困難的原因
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這正是「除以 w」的物理意義！</a:t>
            </a:r>
            <a:endParaRPr lang="en-US" sz="12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F946F1F-610B-BFC4-9626-D7AED296FF02}"/>
              </a:ext>
            </a:extLst>
          </p:cNvPr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E3A75F5-6DCA-D1E5-842B-E8110955667F}"/>
              </a:ext>
            </a:extLst>
          </p:cNvPr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B48C8AC-6349-569C-0819-037FE9A9EDBB}"/>
              </a:ext>
            </a:extLst>
          </p:cNvPr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53</a:t>
            </a:r>
            <a:endParaRPr lang="en-US" sz="800" dirty="0"/>
          </a:p>
        </p:txBody>
      </p:sp>
      <p:pic>
        <p:nvPicPr>
          <p:cNvPr id="6" name="Picture 5" descr="http://homepages.inf.ed.ac.uk/rbf/CVonline/LOCAL_COPIES/OWENS/LECT9/img4.gif">
            <a:extLst>
              <a:ext uri="{FF2B5EF4-FFF2-40B4-BE49-F238E27FC236}">
                <a16:creationId xmlns:a16="http://schemas.microsoft.com/office/drawing/2014/main" id="{9CA1B780-EC2F-A877-80D8-436C2706A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53" y="1143000"/>
            <a:ext cx="4201743" cy="356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04670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1" name="Picture 6">
            <a:extLst>
              <a:ext uri="{FF2B5EF4-FFF2-40B4-BE49-F238E27FC236}">
                <a16:creationId xmlns:a16="http://schemas.microsoft.com/office/drawing/2014/main" id="{A72CF19C-1972-EDE7-02D7-690AFB7B0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1478491"/>
            <a:ext cx="2453879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向下箭號 6">
            <a:extLst>
              <a:ext uri="{FF2B5EF4-FFF2-40B4-BE49-F238E27FC236}">
                <a16:creationId xmlns:a16="http://schemas.microsoft.com/office/drawing/2014/main" id="{3074D688-F88F-907F-F206-BEBD438E0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5594" y="2573866"/>
            <a:ext cx="363141" cy="733425"/>
          </a:xfrm>
          <a:prstGeom prst="downArrow">
            <a:avLst>
              <a:gd name="adj1" fmla="val 50000"/>
              <a:gd name="adj2" fmla="val 5002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endParaRPr lang="zh-TW" altLang="en-US" sz="900"/>
          </a:p>
        </p:txBody>
      </p:sp>
      <p:sp>
        <p:nvSpPr>
          <p:cNvPr id="9223" name="文字方塊 7">
            <a:extLst>
              <a:ext uri="{FF2B5EF4-FFF2-40B4-BE49-F238E27FC236}">
                <a16:creationId xmlns:a16="http://schemas.microsoft.com/office/drawing/2014/main" id="{C5174F4E-360B-CD7C-11CE-DE0697AC7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454" y="3389445"/>
            <a:ext cx="30572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Extrinsic parameters, describe camera pose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4" name="文字方塊 8">
            <a:extLst>
              <a:ext uri="{FF2B5EF4-FFF2-40B4-BE49-F238E27FC236}">
                <a16:creationId xmlns:a16="http://schemas.microsoft.com/office/drawing/2014/main" id="{212B521B-C69D-E7CA-A786-0AD3F8FA0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2619" y="3747822"/>
            <a:ext cx="193200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r>
              <a:rPr lang="en-US" altLang="zh-TW" sz="1350">
                <a:latin typeface="Times New Roman" panose="02020603050405020304" pitchFamily="18" charset="0"/>
                <a:cs typeface="Times New Roman" panose="02020603050405020304" pitchFamily="18" charset="0"/>
              </a:rPr>
              <a:t>R : 3X3 rotation matrix</a:t>
            </a:r>
            <a:endParaRPr lang="zh-TW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5" name="文字方塊 9">
            <a:extLst>
              <a:ext uri="{FF2B5EF4-FFF2-40B4-BE49-F238E27FC236}">
                <a16:creationId xmlns:a16="http://schemas.microsoft.com/office/drawing/2014/main" id="{3B951F2D-21D1-2CC8-6CDA-8EF693323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316" y="4026428"/>
            <a:ext cx="209551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r>
              <a:rPr lang="en-US" altLang="zh-TW" sz="1350">
                <a:latin typeface="Times New Roman" panose="02020603050405020304" pitchFamily="18" charset="0"/>
                <a:cs typeface="Times New Roman" panose="02020603050405020304" pitchFamily="18" charset="0"/>
              </a:rPr>
              <a:t>T : 3X1 translation vector</a:t>
            </a:r>
            <a:endParaRPr lang="zh-TW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26" name="Picture 2">
            <a:extLst>
              <a:ext uri="{FF2B5EF4-FFF2-40B4-BE49-F238E27FC236}">
                <a16:creationId xmlns:a16="http://schemas.microsoft.com/office/drawing/2014/main" id="{86D00FBE-F3F7-5DB9-29E0-FFDA0F178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235" y="3323960"/>
            <a:ext cx="952500" cy="513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7" name="Picture 3">
            <a:extLst>
              <a:ext uri="{FF2B5EF4-FFF2-40B4-BE49-F238E27FC236}">
                <a16:creationId xmlns:a16="http://schemas.microsoft.com/office/drawing/2014/main" id="{11146731-4DFE-1CB0-82AB-AD7543AAD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91" y="3098932"/>
            <a:ext cx="1309688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8" name="Picture 5">
            <a:extLst>
              <a:ext uri="{FF2B5EF4-FFF2-40B4-BE49-F238E27FC236}">
                <a16:creationId xmlns:a16="http://schemas.microsoft.com/office/drawing/2014/main" id="{56F8B177-65AB-495E-6D97-7BF5AC61F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410" y="4100248"/>
            <a:ext cx="1157288" cy="779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9" name="Picture 6">
            <a:extLst>
              <a:ext uri="{FF2B5EF4-FFF2-40B4-BE49-F238E27FC236}">
                <a16:creationId xmlns:a16="http://schemas.microsoft.com/office/drawing/2014/main" id="{959672F0-0610-0E94-399A-373096F79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3144" y="4176448"/>
            <a:ext cx="1084660" cy="627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0" name="Picture 15">
            <a:extLst>
              <a:ext uri="{FF2B5EF4-FFF2-40B4-BE49-F238E27FC236}">
                <a16:creationId xmlns:a16="http://schemas.microsoft.com/office/drawing/2014/main" id="{19796CC4-546E-8D08-A3EE-2C87EA22B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519" y="1245129"/>
            <a:ext cx="3218260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35C2181-4CE0-6224-8BC0-307EE3B54EBA}"/>
              </a:ext>
            </a:extLst>
          </p:cNvPr>
          <p:cNvSpPr txBox="1"/>
          <p:nvPr/>
        </p:nvSpPr>
        <p:spPr>
          <a:xfrm>
            <a:off x="1475515" y="366965"/>
            <a:ext cx="6406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Rigid body transformation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coordinate(3D)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coordinate(3D)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ll dir="r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1">
            <a:extLst>
              <a:ext uri="{FF2B5EF4-FFF2-40B4-BE49-F238E27FC236}">
                <a16:creationId xmlns:a16="http://schemas.microsoft.com/office/drawing/2014/main" id="{1822F749-BD0D-7548-C42A-3A8C4792B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394" y="1535906"/>
            <a:ext cx="2743200" cy="610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2">
            <a:extLst>
              <a:ext uri="{FF2B5EF4-FFF2-40B4-BE49-F238E27FC236}">
                <a16:creationId xmlns:a16="http://schemas.microsoft.com/office/drawing/2014/main" id="{595975AD-889E-1A6E-A7B0-954491417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7" y="2894409"/>
            <a:ext cx="2957513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文字方塊 5">
            <a:extLst>
              <a:ext uri="{FF2B5EF4-FFF2-40B4-BE49-F238E27FC236}">
                <a16:creationId xmlns:a16="http://schemas.microsoft.com/office/drawing/2014/main" id="{555EA3E6-9E9E-5D09-031E-434F58266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6856" y="2176463"/>
            <a:ext cx="297870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r>
              <a:rPr lang="en-US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 : focal length, simply to scaling the image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71" name="文字方塊 6">
            <a:extLst>
              <a:ext uri="{FF2B5EF4-FFF2-40B4-BE49-F238E27FC236}">
                <a16:creationId xmlns:a16="http://schemas.microsoft.com/office/drawing/2014/main" id="{FCB3D9CD-94F4-8487-CDF8-991818D4D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0429" y="2522935"/>
            <a:ext cx="75212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r>
              <a:rPr lang="en-US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Set f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= 1,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72" name="文字方塊 10">
            <a:extLst>
              <a:ext uri="{FF2B5EF4-FFF2-40B4-BE49-F238E27FC236}">
                <a16:creationId xmlns:a16="http://schemas.microsoft.com/office/drawing/2014/main" id="{46B479A0-DD12-378D-29FD-B126B8779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2341" y="1225154"/>
            <a:ext cx="186345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By using similar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triangles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73" name="Picture 10">
            <a:extLst>
              <a:ext uri="{FF2B5EF4-FFF2-40B4-BE49-F238E27FC236}">
                <a16:creationId xmlns:a16="http://schemas.microsoft.com/office/drawing/2014/main" id="{1BCCF209-5335-B4BE-56DB-FD3BD44C4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497" y="1827609"/>
            <a:ext cx="2014538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1CD85B39-F0B3-13B6-BB84-40BC08551DAF}"/>
              </a:ext>
            </a:extLst>
          </p:cNvPr>
          <p:cNvSpPr txBox="1"/>
          <p:nvPr/>
        </p:nvSpPr>
        <p:spPr>
          <a:xfrm>
            <a:off x="1026160" y="322542"/>
            <a:ext cx="6629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points to 2D points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coordinate(3D)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image plane(2D)</a:t>
            </a:r>
            <a:endParaRPr lang="zh-TW" altLang="en-US" dirty="0"/>
          </a:p>
        </p:txBody>
      </p:sp>
    </p:spTree>
  </p:cSld>
  <p:clrMapOvr>
    <a:masterClrMapping/>
  </p:clrMapOvr>
  <p:transition>
    <p:pull dir="r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2">
            <a:extLst>
              <a:ext uri="{FF2B5EF4-FFF2-40B4-BE49-F238E27FC236}">
                <a16:creationId xmlns:a16="http://schemas.microsoft.com/office/drawing/2014/main" id="{31A374E9-56FD-3A48-0168-0798C8B56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585" y="3225404"/>
            <a:ext cx="2464594" cy="109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3">
            <a:extLst>
              <a:ext uri="{FF2B5EF4-FFF2-40B4-BE49-F238E27FC236}">
                <a16:creationId xmlns:a16="http://schemas.microsoft.com/office/drawing/2014/main" id="{07C89349-286E-2C9C-7507-95A27541E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966" y="1587103"/>
            <a:ext cx="1875234" cy="1060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文字方塊 5">
            <a:extLst>
              <a:ext uri="{FF2B5EF4-FFF2-40B4-BE49-F238E27FC236}">
                <a16:creationId xmlns:a16="http://schemas.microsoft.com/office/drawing/2014/main" id="{0CEEF3AA-F3EE-951B-7653-52E6B4DC1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191" y="2908698"/>
            <a:ext cx="438222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K is an upper triangular camera calibration matrix of the form: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5" name="文字方塊 6">
            <a:extLst>
              <a:ext uri="{FF2B5EF4-FFF2-40B4-BE49-F238E27FC236}">
                <a16:creationId xmlns:a16="http://schemas.microsoft.com/office/drawing/2014/main" id="{80D27E8A-CB1D-1ACD-9C00-8FBE2C660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3298" y="3362325"/>
            <a:ext cx="196605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r>
              <a:rPr lang="el-GR" altLang="zh-TW" sz="1500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15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1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TW" sz="1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TW" sz="1500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15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1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are scale factors</a:t>
            </a:r>
            <a:endParaRPr lang="zh-TW" altLang="en-US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6" name="文字方塊 7">
            <a:extLst>
              <a:ext uri="{FF2B5EF4-FFF2-40B4-BE49-F238E27FC236}">
                <a16:creationId xmlns:a16="http://schemas.microsoft.com/office/drawing/2014/main" id="{564BBF6D-C949-30E9-8AE3-15E06395F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6635" y="3694510"/>
            <a:ext cx="6960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r>
              <a:rPr lang="en-US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 : skew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7" name="文字方塊 8">
            <a:extLst>
              <a:ext uri="{FF2B5EF4-FFF2-40B4-BE49-F238E27FC236}">
                <a16:creationId xmlns:a16="http://schemas.microsoft.com/office/drawing/2014/main" id="{13BFEAA7-0B3F-1D2E-56E3-361FCBFD7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9491" y="3940969"/>
            <a:ext cx="16642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r>
              <a:rPr lang="en-US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 , v</a:t>
            </a:r>
            <a:r>
              <a:rPr lang="en-US" altLang="zh-TW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: principal point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8" name="文字方塊 9">
            <a:extLst>
              <a:ext uri="{FF2B5EF4-FFF2-40B4-BE49-F238E27FC236}">
                <a16:creationId xmlns:a16="http://schemas.microsoft.com/office/drawing/2014/main" id="{DB4F0564-D5EF-2062-463D-AFAF6428D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4297" y="4435079"/>
            <a:ext cx="518007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anose="02020603050405020304" pitchFamily="18" charset="0"/>
              </a:rPr>
              <a:t>Usually, pixels are assumed to be square in which case </a:t>
            </a:r>
            <a:r>
              <a:rPr lang="el-GR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altLang="zh-TW">
                <a:latin typeface="Times New Roman" panose="02020603050405020304" pitchFamily="18" charset="0"/>
              </a:rPr>
              <a:t> = </a:t>
            </a:r>
            <a:r>
              <a:rPr lang="el-GR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>
                <a:latin typeface="Times New Roman" panose="02020603050405020304" pitchFamily="18" charset="0"/>
              </a:rPr>
              <a:t> = </a:t>
            </a:r>
            <a:r>
              <a:rPr lang="el-GR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>
                <a:latin typeface="Times New Roman" panose="02020603050405020304" pitchFamily="18" charset="0"/>
              </a:rPr>
              <a:t> and </a:t>
            </a:r>
            <a:r>
              <a:rPr lang="en-US" altLang="zh-TW" i="1">
                <a:latin typeface="Times New Roman" panose="02020603050405020304" pitchFamily="18" charset="0"/>
              </a:rPr>
              <a:t>s</a:t>
            </a:r>
            <a:r>
              <a:rPr lang="en-US" altLang="zh-TW">
                <a:latin typeface="Times New Roman" panose="02020603050405020304" pitchFamily="18" charset="0"/>
              </a:rPr>
              <a:t> = 0. </a:t>
            </a:r>
          </a:p>
        </p:txBody>
      </p:sp>
      <p:pic>
        <p:nvPicPr>
          <p:cNvPr id="12299" name="Picture 12">
            <a:extLst>
              <a:ext uri="{FF2B5EF4-FFF2-40B4-BE49-F238E27FC236}">
                <a16:creationId xmlns:a16="http://schemas.microsoft.com/office/drawing/2014/main" id="{AFD67AC3-113B-6664-6A16-A6D109629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319" y="1394223"/>
            <a:ext cx="2402681" cy="148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0" name="Picture 13">
            <a:extLst>
              <a:ext uri="{FF2B5EF4-FFF2-40B4-BE49-F238E27FC236}">
                <a16:creationId xmlns:a16="http://schemas.microsoft.com/office/drawing/2014/main" id="{CE084FC4-4300-236E-16AA-10B4DEB46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1716" y="1833563"/>
            <a:ext cx="1293019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A8D968AD-AEC6-B987-7430-9CB8B63F7C8D}"/>
              </a:ext>
            </a:extLst>
          </p:cNvPr>
          <p:cNvSpPr txBox="1"/>
          <p:nvPr/>
        </p:nvSpPr>
        <p:spPr>
          <a:xfrm>
            <a:off x="996950" y="294353"/>
            <a:ext cx="685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to 2D transformation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image plane(2D)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coordinate(2D)</a:t>
            </a:r>
            <a:endParaRPr lang="zh-TW" altLang="en-US" dirty="0"/>
          </a:p>
        </p:txBody>
      </p:sp>
    </p:spTree>
  </p:cSld>
  <p:clrMapOvr>
    <a:masterClrMapping/>
  </p:clrMapOvr>
  <p:transition>
    <p:pull dir="r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2">
            <a:extLst>
              <a:ext uri="{FF2B5EF4-FFF2-40B4-BE49-F238E27FC236}">
                <a16:creationId xmlns:a16="http://schemas.microsoft.com/office/drawing/2014/main" id="{E031D3CB-F24B-1E61-5C04-50C44D3BE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0072" y="1847850"/>
            <a:ext cx="2700338" cy="127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3">
            <a:extLst>
              <a:ext uri="{FF2B5EF4-FFF2-40B4-BE49-F238E27FC236}">
                <a16:creationId xmlns:a16="http://schemas.microsoft.com/office/drawing/2014/main" id="{960DB9A1-3D03-CDDE-E4CB-95EF2B679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025" y="3846910"/>
            <a:ext cx="1028700" cy="321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向下箭號 5">
            <a:extLst>
              <a:ext uri="{FF2B5EF4-FFF2-40B4-BE49-F238E27FC236}">
                <a16:creationId xmlns:a16="http://schemas.microsoft.com/office/drawing/2014/main" id="{28B3D819-1D86-00F6-41A5-535686948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42035"/>
            <a:ext cx="363141" cy="734615"/>
          </a:xfrm>
          <a:prstGeom prst="downArrow">
            <a:avLst>
              <a:gd name="adj1" fmla="val 50000"/>
              <a:gd name="adj2" fmla="val 5010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endParaRPr lang="zh-TW" altLang="en-US" sz="900"/>
          </a:p>
        </p:txBody>
      </p:sp>
      <p:sp>
        <p:nvSpPr>
          <p:cNvPr id="13319" name="文字方塊 7">
            <a:extLst>
              <a:ext uri="{FF2B5EF4-FFF2-40B4-BE49-F238E27FC236}">
                <a16:creationId xmlns:a16="http://schemas.microsoft.com/office/drawing/2014/main" id="{04AEFB4E-32B7-594F-13AB-323FEC271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7444" y="4313635"/>
            <a:ext cx="27735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P ~ K[R|T] is a 3 × 4 projection matrix.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20" name="Picture 9">
            <a:extLst>
              <a:ext uri="{FF2B5EF4-FFF2-40B4-BE49-F238E27FC236}">
                <a16:creationId xmlns:a16="http://schemas.microsoft.com/office/drawing/2014/main" id="{6F4A3449-D78B-ADF5-4F76-FD79F3EF6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398" y="2294335"/>
            <a:ext cx="2539603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1" name="Picture 9">
            <a:extLst>
              <a:ext uri="{FF2B5EF4-FFF2-40B4-BE49-F238E27FC236}">
                <a16:creationId xmlns:a16="http://schemas.microsoft.com/office/drawing/2014/main" id="{DEE6698D-D0D9-5CD5-00BB-D24DC4F06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904" y="1664494"/>
            <a:ext cx="951309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F262147-980C-FEF0-619B-9EC744E4977A}"/>
              </a:ext>
            </a:extLst>
          </p:cNvPr>
          <p:cNvSpPr txBox="1"/>
          <p:nvPr/>
        </p:nvSpPr>
        <p:spPr>
          <a:xfrm>
            <a:off x="599440" y="277713"/>
            <a:ext cx="8112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it is convenient to combine above equations into a single linear equation. Using homogenous coordinates, a 3D point is related to its pixel position  in a 2D image array by the following relationship: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ll dir="r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2" name="Picture 6">
            <a:extLst>
              <a:ext uri="{FF2B5EF4-FFF2-40B4-BE49-F238E27FC236}">
                <a16:creationId xmlns:a16="http://schemas.microsoft.com/office/drawing/2014/main" id="{832F7FAE-3941-4C55-BC39-99B6DA180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094" y="2320529"/>
            <a:ext cx="5357813" cy="2207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60CBE1D-07A9-4815-A90C-490CE12982EC}"/>
              </a:ext>
            </a:extLst>
          </p:cNvPr>
          <p:cNvSpPr txBox="1"/>
          <p:nvPr/>
        </p:nvSpPr>
        <p:spPr>
          <a:xfrm>
            <a:off x="514350" y="494090"/>
            <a:ext cx="86296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intrinsic and extrinsic parameters can be determined for a particular camera and lens combination by photographing a controlled scene</a:t>
            </a:r>
          </a:p>
          <a:p>
            <a:pPr lvl="1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目地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求出相機的內部參數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(intrinsic parameters)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與外部參數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(extrinsic)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Compute the Perspective Projection Matrix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From Projection Matrix, recover intrinsic and extrinsic parameters</a:t>
            </a:r>
          </a:p>
        </p:txBody>
      </p:sp>
    </p:spTree>
  </p:cSld>
  <p:clrMapOvr>
    <a:masterClrMapping/>
  </p:clrMapOvr>
  <p:transition>
    <p:pull dir="r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3">
            <a:extLst>
              <a:ext uri="{FF2B5EF4-FFF2-40B4-BE49-F238E27FC236}">
                <a16:creationId xmlns:a16="http://schemas.microsoft.com/office/drawing/2014/main" id="{6613731D-6956-BB37-C2FC-9A3F0AE2B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188" y="904875"/>
            <a:ext cx="1028700" cy="321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3">
            <a:extLst>
              <a:ext uri="{FF2B5EF4-FFF2-40B4-BE49-F238E27FC236}">
                <a16:creationId xmlns:a16="http://schemas.microsoft.com/office/drawing/2014/main" id="{7867A4C8-5E86-2953-2727-68BF6045C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398" y="3071813"/>
            <a:ext cx="3236119" cy="1151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4">
            <a:extLst>
              <a:ext uri="{FF2B5EF4-FFF2-40B4-BE49-F238E27FC236}">
                <a16:creationId xmlns:a16="http://schemas.microsoft.com/office/drawing/2014/main" id="{20CDE5A0-7C8F-4335-519F-6E69C8CA1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944" y="1448991"/>
            <a:ext cx="3019425" cy="940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D1CCAC8-72FD-C704-A993-02ABCE6DFB23}"/>
              </a:ext>
            </a:extLst>
          </p:cNvPr>
          <p:cNvSpPr txBox="1"/>
          <p:nvPr/>
        </p:nvSpPr>
        <p:spPr>
          <a:xfrm>
            <a:off x="0" y="737179"/>
            <a:ext cx="924491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such correspondence generates two equations that the elements of the projection matrix P must satisfy: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equations can be rearranged to give two linear equations in the 12 unknown elements of P.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ll dir="r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2">
            <a:extLst>
              <a:ext uri="{FF2B5EF4-FFF2-40B4-BE49-F238E27FC236}">
                <a16:creationId xmlns:a16="http://schemas.microsoft.com/office/drawing/2014/main" id="{9CBF4F4E-C8B9-2C86-AB10-CD2E04124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410" y="1921669"/>
            <a:ext cx="6607969" cy="2140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6">
            <a:extLst>
              <a:ext uri="{FF2B5EF4-FFF2-40B4-BE49-F238E27FC236}">
                <a16:creationId xmlns:a16="http://schemas.microsoft.com/office/drawing/2014/main" id="{E225BF8F-0419-0319-561D-84097717A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044" y="846535"/>
            <a:ext cx="6157913" cy="707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2835C9B-5389-89F7-83FE-7F2FB58C2DD9}"/>
              </a:ext>
            </a:extLst>
          </p:cNvPr>
          <p:cNvSpPr txBox="1"/>
          <p:nvPr/>
        </p:nvSpPr>
        <p:spPr>
          <a:xfrm>
            <a:off x="0" y="1553766"/>
            <a:ext cx="904774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For n calibration points we have 2n equations:</a:t>
            </a: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Since there are 11 unknowns (scale is arbitrary), need to observe at least 6 3D points to recover the projection matrix and calibrate the camera.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>
    <p:pull dir="r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>
            <a:extLst>
              <a:ext uri="{FF2B5EF4-FFF2-40B4-BE49-F238E27FC236}">
                <a16:creationId xmlns:a16="http://schemas.microsoft.com/office/drawing/2014/main" id="{47C17B60-4ACC-3C9C-C435-9BE9C4EF6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213" y="1312069"/>
            <a:ext cx="664369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5">
            <a:extLst>
              <a:ext uri="{FF2B5EF4-FFF2-40B4-BE49-F238E27FC236}">
                <a16:creationId xmlns:a16="http://schemas.microsoft.com/office/drawing/2014/main" id="{392FFE58-43CD-67A3-2744-93A3E6AFE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0198" y="4212431"/>
            <a:ext cx="1935956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文字方塊 6">
            <a:extLst>
              <a:ext uri="{FF2B5EF4-FFF2-40B4-BE49-F238E27FC236}">
                <a16:creationId xmlns:a16="http://schemas.microsoft.com/office/drawing/2014/main" id="{EDEF1FBA-911B-1641-0197-C01EA9BA4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18047" y="2350294"/>
            <a:ext cx="18473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endParaRPr lang="zh-TW" altLang="en-US" sz="900"/>
          </a:p>
        </p:txBody>
      </p:sp>
      <p:pic>
        <p:nvPicPr>
          <p:cNvPr id="17415" name="Picture 9">
            <a:extLst>
              <a:ext uri="{FF2B5EF4-FFF2-40B4-BE49-F238E27FC236}">
                <a16:creationId xmlns:a16="http://schemas.microsoft.com/office/drawing/2014/main" id="{9AD19EAB-4758-8DEC-8074-0E99BFD90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3261123"/>
            <a:ext cx="1035844" cy="264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6" name="Picture 11">
            <a:extLst>
              <a:ext uri="{FF2B5EF4-FFF2-40B4-BE49-F238E27FC236}">
                <a16:creationId xmlns:a16="http://schemas.microsoft.com/office/drawing/2014/main" id="{FAC01588-23C7-6F82-38AD-08832AB6C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231" y="3293269"/>
            <a:ext cx="2043113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2C4DC36-6B3E-0627-7F9D-229F4C35E3ED}"/>
              </a:ext>
            </a:extLst>
          </p:cNvPr>
          <p:cNvSpPr txBox="1"/>
          <p:nvPr/>
        </p:nvSpPr>
        <p:spPr>
          <a:xfrm>
            <a:off x="866274" y="863590"/>
            <a:ext cx="774833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equations can be solved using orthogonal least squares. First, we write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 in matrix form</a:t>
            </a:r>
            <a:r>
              <a:rPr lang="en-US" altLang="zh-TW" dirty="0"/>
              <a:t>:</a:t>
            </a:r>
          </a:p>
          <a:p>
            <a:pPr algn="just"/>
            <a:endParaRPr lang="en-US" altLang="zh-TW" dirty="0"/>
          </a:p>
          <a:p>
            <a:pPr algn="just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p is the 12 × 1 vector of unknowns (the 12 elements of the projection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 is the 2n × 12 matrix of measurements, and n is the number of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points. The linear least squares solution minimizes ||Ap|| subject to ||p|| = 1 and is given by the unit eigenvector corresponding to the smallest eigenvalue of 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TW" dirty="0"/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Numerically, this computation is performed via the </a:t>
            </a:r>
            <a:r>
              <a:rPr lang="en-US" altLang="zh-TW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singular value decomposition(SVD)</a:t>
            </a:r>
          </a:p>
          <a:p>
            <a:pPr algn="just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linear solution is then used as the starting point for a non-linear minimization of the difference between the measured and projected point:</a:t>
            </a:r>
          </a:p>
        </p:txBody>
      </p:sp>
    </p:spTree>
  </p:cSld>
  <p:clrMapOvr>
    <a:masterClrMapping/>
  </p:clrMapOvr>
  <p:transition>
    <p:pull dir="ru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文字方塊 4">
            <a:extLst>
              <a:ext uri="{FF2B5EF4-FFF2-40B4-BE49-F238E27FC236}">
                <a16:creationId xmlns:a16="http://schemas.microsoft.com/office/drawing/2014/main" id="{623711C7-FC9F-F201-557E-76728A46B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4291" y="4460081"/>
            <a:ext cx="54625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文鼎粗黑" pitchFamily="49" charset="-120"/>
              </a:defRPr>
            </a:lvl9pPr>
          </a:lstStyle>
          <a:p>
            <a:pPr eaLnBrk="1" hangingPunct="1"/>
            <a:r>
              <a:rPr lang="en-US" altLang="zh-TW" sz="900">
                <a:latin typeface="Times New Roman" panose="02020603050405020304" pitchFamily="18" charset="0"/>
                <a:cs typeface="Times New Roman" panose="02020603050405020304" pitchFamily="18" charset="0"/>
              </a:rPr>
              <a:t>Zhang, Z., “A flexible new technique for camera calibration,” </a:t>
            </a:r>
            <a:r>
              <a:rPr lang="en-US" altLang="zh-TW" sz="900" i="1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on Pattern Analysis and Machine Intelligence, vol.22, no.11, </a:t>
            </a:r>
            <a:r>
              <a:rPr lang="en-US" altLang="zh-TW" sz="900">
                <a:latin typeface="Times New Roman" panose="02020603050405020304" pitchFamily="18" charset="0"/>
                <a:cs typeface="Times New Roman" panose="02020603050405020304" pitchFamily="18" charset="0"/>
              </a:rPr>
              <a:t>pp.1330-1334, 2000.</a:t>
            </a:r>
            <a:endParaRPr lang="zh-TW" alt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37" name="Picture 2">
            <a:extLst>
              <a:ext uri="{FF2B5EF4-FFF2-40B4-BE49-F238E27FC236}">
                <a16:creationId xmlns:a16="http://schemas.microsoft.com/office/drawing/2014/main" id="{EAF4869D-ED0E-E450-5908-E9CD5E9AE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035" y="2743201"/>
            <a:ext cx="1762125" cy="288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3">
            <a:extLst>
              <a:ext uri="{FF2B5EF4-FFF2-40B4-BE49-F238E27FC236}">
                <a16:creationId xmlns:a16="http://schemas.microsoft.com/office/drawing/2014/main" id="{F54D9732-7703-D3EE-818D-3CB94443F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1" y="1629966"/>
            <a:ext cx="2021681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7">
            <a:extLst>
              <a:ext uri="{FF2B5EF4-FFF2-40B4-BE49-F238E27FC236}">
                <a16:creationId xmlns:a16="http://schemas.microsoft.com/office/drawing/2014/main" id="{0A67A10C-3405-4210-7546-3013E5509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831" y="302419"/>
            <a:ext cx="1785938" cy="692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9FBE586-A2B2-D232-979A-4502617E1168}"/>
              </a:ext>
            </a:extLst>
          </p:cNvPr>
          <p:cNvSpPr txBox="1"/>
          <p:nvPr/>
        </p:nvSpPr>
        <p:spPr>
          <a:xfrm>
            <a:off x="379810" y="717540"/>
            <a:ext cx="85915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Decompose P into K, R and t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3×3 submatrix, M, of P is the product(M=KR) of an upper triangular and rotation matrix.</a:t>
            </a:r>
          </a:p>
          <a:p>
            <a:pPr lvl="1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M into KR using the QR matrix decomposition. This determines K and R.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>
              <a:buFontTx/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</p:spTree>
  </p:cSld>
  <p:clrMapOvr>
    <a:masterClrMapping/>
  </p:clrMapOvr>
  <p:transition>
    <p:pull dir="ru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線上媒體 11" title="The Fundamental Matrix Song">
            <a:hlinkClick r:id="" action="ppaction://media"/>
            <a:extLst>
              <a:ext uri="{FF2B5EF4-FFF2-40B4-BE49-F238E27FC236}">
                <a16:creationId xmlns:a16="http://schemas.microsoft.com/office/drawing/2014/main" id="{D9263024-6EDC-8320-6C28-1B7315D081E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572000" y="1339509"/>
            <a:ext cx="3480371" cy="2610278"/>
          </a:xfrm>
          <a:prstGeom prst="rect">
            <a:avLst/>
          </a:prstGeom>
        </p:spPr>
      </p:pic>
      <p:pic>
        <p:nvPicPr>
          <p:cNvPr id="1026" name="Picture 2" descr="Multiple View Geometry in Computer Vision, 2/e (美國原版) | 天瓏網路書店">
            <a:extLst>
              <a:ext uri="{FF2B5EF4-FFF2-40B4-BE49-F238E27FC236}">
                <a16:creationId xmlns:a16="http://schemas.microsoft.com/office/drawing/2014/main" id="{580AC69E-4643-1254-5419-92A3CF980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69850"/>
            <a:ext cx="3362325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C26CB8D8-9019-B5C9-D6B5-1447370AEAC0}"/>
              </a:ext>
            </a:extLst>
          </p:cNvPr>
          <p:cNvSpPr txBox="1"/>
          <p:nvPr/>
        </p:nvSpPr>
        <p:spPr>
          <a:xfrm>
            <a:off x="4343400" y="4129385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5"/>
              </a:rPr>
              <a:t>books/Multiple View Geometry in Computer Vision (Second Edition).pdf at master · DeepRobot2020/books · GitHub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8496765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3"/>
                </p:tgtEl>
              </p:cMediaNode>
            </p:video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三套座標系統：世界、相機、影像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→ 2D 的完整路徑經過三次座標轉換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517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世界座標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Frame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99339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(X_w, Y_w, Z_w)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71800" y="1737360"/>
            <a:ext cx="228600" cy="73152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2971800" y="160020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45C0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92908" y="74980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5C00"/>
                </a:solidFill>
              </a:rPr>
              <a:t>外部參數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C45C00"/>
                </a:solidFill>
              </a:rPr>
              <a:t>[R|t]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651760" cy="1554480"/>
          </a:xfrm>
          <a:prstGeom prst="rect">
            <a:avLst/>
          </a:prstGeom>
          <a:solidFill>
            <a:srgbClr val="2D6B8A"/>
          </a:solidFill>
          <a:ln w="12700">
            <a:solidFill>
              <a:srgbClr val="2D6B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291840" y="1143000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相機座標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Frame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199339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(X_c, Y_c, Z_c)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52160" y="1737360"/>
            <a:ext cx="228600" cy="73152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5852160" y="160020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45C0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600700" y="73787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5C00"/>
                </a:solidFill>
              </a:rPr>
              <a:t>內部參數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C45C00"/>
                </a:solidFill>
              </a:rPr>
              <a:t>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1097280"/>
            <a:ext cx="2651760" cy="155448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172200" y="1143000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影像座標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Frame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199339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(u, v) 像素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73152" cy="1874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02920" y="2880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外部參數（Extrinsic）= [R | t]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310128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描述「相機在世界中的位置與姿態」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 = 3×3 旋轉矩陣（相機朝向）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 = 3×1 平移向量（相機位置）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283464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4709160" y="2834640"/>
            <a:ext cx="73152" cy="187452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4892040" y="2880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內部參數（Intrinsic）= K 矩陣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310128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描述「相機的光學特性」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焦距 fx, fy（像素單位）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主點 cx, cy（影像中心）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54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透鏡畸變：現實相機的偏差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針孔模型假設光線完全直線，實際鏡頭造成畸變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548640"/>
          </a:xfrm>
          <a:prstGeom prst="rect">
            <a:avLst/>
          </a:prstGeom>
          <a:solidFill>
            <a:srgbClr val="FFF3E8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針孔模型的限制：實際鏡頭的折射讓直線在影像中變彎——需要畸變矯正！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59</a:t>
            </a:r>
            <a:endParaRPr lang="en-US" sz="800" dirty="0"/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2A6C65DC-314D-CB76-1018-2C8DB3735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92986"/>
            <a:ext cx="7429500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畸變係數（Distortion Coefficients）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k1, k2, p1, p2, k3 的物理意義與使用方式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73152" cy="91440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畸變矯正公式：r² = x² + y²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x' = x(1+k1r²+k2r⁴+k3r⁶) + 2p1xy + p2(r²+2x²)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y' = y(1+k1r²+k2r⁴+k3r⁶) + p1(r²+2y²) + 2p2xy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084832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20040" y="2084832"/>
            <a:ext cx="73152" cy="12618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02920" y="215798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1762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主要徑向畸變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615184"/>
            <a:ext cx="3767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k1&lt;0→桶形；k1&gt;0→枕形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最主要的畸變項，廣角鏡頭明顯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2084832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617720" y="2084832"/>
            <a:ext cx="73152" cy="1261872"/>
          </a:xfrm>
          <a:prstGeom prst="rect">
            <a:avLst/>
          </a:prstGeom>
          <a:solidFill>
            <a:srgbClr val="2D6B8A"/>
          </a:solidFill>
          <a:ln w="12700">
            <a:solidFill>
              <a:srgbClr val="2D6B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800600" y="215798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577840" y="21762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二階徑向畸變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2615184"/>
            <a:ext cx="3767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高階修正項，通常很小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廣角/魚眼鏡頭才顯著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456432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320040" y="3456432"/>
            <a:ext cx="73152" cy="1261872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502920" y="352958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p1,p2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35478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切向畸變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986784"/>
            <a:ext cx="3767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鏡頭偏移造成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通常非常小（&lt; 0.01）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456432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4617720" y="3456432"/>
            <a:ext cx="73152" cy="12618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4800600" y="352958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77840" y="35478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三階徑向畸變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3986784"/>
            <a:ext cx="3767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魚眼鏡頭才需要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一般相機可設為 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645152"/>
            <a:ext cx="8503920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= np.array([k1, k2, p1, p2, k3])  # OpenCV 順序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34760" y="283464"/>
            <a:ext cx="223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Szeliski §2.1.5, p.65；OpenCV calibrateCamera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60</a:t>
            </a:r>
            <a:endParaRPr lang="en-US" sz="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2743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2D5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91440" cy="137160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05 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相機校準概念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如何得知相機的 K 矩陣和畸變係數？棋盤格標定板 + OpenCV 的完整流程。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52D4A"/>
          </a:solidFill>
          <a:ln w="12700">
            <a:solidFill>
              <a:srgbClr val="152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EC8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AEC8"/>
                </a:solidFill>
              </a:rPr>
              <a:t>61</a:t>
            </a:r>
            <a:endParaRPr lang="en-US" sz="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相機校準：如何得知 K 和畸變係數？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用已知幾何的標定板，從多張影像估算相機參數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核心思路：已知 3D 點位置 + 觀測到 2D 影像位置 → 反推 K 和 dist（最小化重投影誤差）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26517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57200" y="18379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 棋盤格標定板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237744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角點位置已知（世界座標）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自動偵測快速準確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建議使用 15+ 張不同角度和距離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178308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154680" y="1783080"/>
            <a:ext cx="265176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91840" y="18379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重投影誤差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304288"/>
            <a:ext cx="237744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把估算的 3D 點重新投影到影像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與觀測到的 2D 點比較距離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目標：誤差 &lt; 1 pixel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178308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5989320" y="1783080"/>
            <a:ext cx="26517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126480" y="18379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求解方法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304288"/>
            <a:ext cx="237744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非線性最小二乘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Levenberg-Marquardt 演算法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迭代優化直到收斂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206240"/>
            <a:ext cx="8503920" cy="502920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384048" y="4251960"/>
            <a:ext cx="15544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384048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拍攝 15+張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38528" y="4315968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75688" y="4251960"/>
            <a:ext cx="15544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2075688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findChessboard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30168" y="4315968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67328" y="4251960"/>
            <a:ext cx="15544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3767328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21808" y="4315968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58968" y="4251960"/>
            <a:ext cx="1554480" cy="384048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5458968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+ dist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（儲存）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13448" y="4315968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50608" y="4251960"/>
            <a:ext cx="1554480" cy="384048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7150608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undistort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矯正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62</a:t>
            </a:r>
            <a:endParaRPr lang="en-US" sz="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</a:t>
            </a: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相機校準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3979672"/>
            <a:ext cx="8503920" cy="384048"/>
          </a:xfrm>
          <a:prstGeom prst="rect">
            <a:avLst/>
          </a:prstGeom>
          <a:solidFill>
            <a:srgbClr val="E8F0F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393192" y="40208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輸出：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K（3×3）、dist（5 係數）、每張影像的 rvec, tvec  |  </a:t>
            </a:r>
            <a:r>
              <a:rPr lang="en-US" sz="12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誤差 &lt; 1px = 校準成功 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63</a:t>
            </a:r>
            <a:endParaRPr lang="en-US" sz="8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024945C-E876-FB0B-3AB8-5B942F7E578A}"/>
              </a:ext>
            </a:extLst>
          </p:cNvPr>
          <p:cNvSpPr txBox="1"/>
          <p:nvPr/>
        </p:nvSpPr>
        <p:spPr>
          <a:xfrm>
            <a:off x="502920" y="1289735"/>
            <a:ext cx="6221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2"/>
              </a:rPr>
              <a:t>[</a:t>
            </a:r>
            <a:r>
              <a:rPr lang="en-US" altLang="zh-TW" dirty="0" err="1">
                <a:hlinkClick r:id="rId2"/>
              </a:rPr>
              <a:t>openCV</a:t>
            </a:r>
            <a:r>
              <a:rPr lang="en-US" altLang="zh-TW" dirty="0">
                <a:hlinkClick r:id="rId2"/>
              </a:rPr>
              <a:t>]Camera Calibration </a:t>
            </a:r>
            <a:r>
              <a:rPr lang="zh-TW" altLang="en-US" dirty="0">
                <a:hlinkClick r:id="rId2"/>
              </a:rPr>
              <a:t>相機校正 </a:t>
            </a:r>
            <a:r>
              <a:rPr lang="en-US" altLang="zh-TW" dirty="0">
                <a:hlinkClick r:id="rId2"/>
              </a:rPr>
              <a:t>- Chen Ku - Medium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C581FCC-40D7-4E01-66E7-10E181CF0083}"/>
              </a:ext>
            </a:extLst>
          </p:cNvPr>
          <p:cNvSpPr txBox="1"/>
          <p:nvPr/>
        </p:nvSpPr>
        <p:spPr>
          <a:xfrm>
            <a:off x="502920" y="1787882"/>
            <a:ext cx="6137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3"/>
              </a:rPr>
              <a:t>Pinhole Camera: </a:t>
            </a:r>
            <a:r>
              <a:rPr lang="zh-TW" altLang="en-US" dirty="0">
                <a:hlinkClick r:id="rId3"/>
              </a:rPr>
              <a:t>針孔相機座標成像原理</a:t>
            </a:r>
            <a:endParaRPr lang="zh-TW" alt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應用：3D 點投影成 2D 影像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K 和外參，將 3D 點座標畫在影像上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65</a:t>
            </a:r>
            <a:endParaRPr lang="en-US" sz="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嵌入式視角：校準結果儲存與載入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一次校準，永久使用——嵌入式系統開機直接讀取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358444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 儲存（校準完成後）─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8862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 = cv2.FileStorage(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'camera_calib.yaml',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cv2.FILE_STORAGE_WRITE)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fs.write('K', 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fs.write('dist', dist)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fs.write('error', ret)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fs.release()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 載入（每次開機）─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 = cv2.FileStorage(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'camera_calib.yaml',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cv2.FILE_STORAGE_READ)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   = fs.getNode('K').mat()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= fs.getNode('dist').mat()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fs.release()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 預計算 remap（開機時一次）─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map_x, map_y =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cv2.initUndistortRectifyMap(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K, dist, None, K,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(W,H), cv2.CV_32FC1)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1605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8006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嵌入式工作流程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3840480" cy="914400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800600" y="1508760"/>
            <a:ext cx="73152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919472" y="1581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出廠 / 安裝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94767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執行一次校準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 K + dist 到 YAML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251460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800600" y="2514600"/>
            <a:ext cx="73152" cy="914400"/>
          </a:xfrm>
          <a:prstGeom prst="rect">
            <a:avLst/>
          </a:prstGeom>
          <a:solidFill>
            <a:srgbClr val="2D6B8A"/>
          </a:solidFill>
          <a:ln w="12700">
            <a:solidFill>
              <a:srgbClr val="2D6B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919472" y="25877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每次開機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19472" y="295351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 YAML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remap 查找表（一次性）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3520440"/>
            <a:ext cx="3840480" cy="914400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800600" y="3520440"/>
            <a:ext cx="73152" cy="91440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919472" y="35935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即時每幀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395935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cv2.remap 矯正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 &lt; 1ms（查表）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00600" y="4572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重投影誤差 &lt; 1.0 px 才算校準成功；&gt; 2.0 px 需重新校準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66</a:t>
            </a:r>
            <a:endParaRPr lang="en-US" sz="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第四、五章小結：投影幾何與相機校準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3D 到 2D 的完整鏈條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29968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2029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世界座標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(X,Y,Z,1)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57552" y="772668"/>
            <a:ext cx="36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5C00"/>
                </a:solidFill>
              </a:rPr>
              <a:t>×[R|t]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32888" y="1051560"/>
            <a:ext cx="2029968" cy="804672"/>
          </a:xfrm>
          <a:prstGeom prst="rect">
            <a:avLst/>
          </a:prstGeom>
          <a:solidFill>
            <a:srgbClr val="2D6B8A"/>
          </a:solidFill>
          <a:ln w="12700">
            <a:solidFill>
              <a:srgbClr val="2D6B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2532888" y="1051560"/>
            <a:ext cx="2029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相機座標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(Xc,Yc,Zc)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62856" y="1261872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5C00"/>
                </a:solidFill>
              </a:rPr>
              <a:t>×K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45736" y="1051560"/>
            <a:ext cx="2029968" cy="804672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745736" y="1051560"/>
            <a:ext cx="2029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標準化座標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75704" y="1261872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5C00"/>
                </a:solidFill>
              </a:rPr>
              <a:t>畸變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58584" y="1051560"/>
            <a:ext cx="2029968" cy="804672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958584" y="1051560"/>
            <a:ext cx="2029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像素座標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(u,v)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029968"/>
            <a:ext cx="26517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320040" y="2029968"/>
            <a:ext cx="265176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2121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針孔模型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53288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x'=fX/Z；深度資訊消失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154680" y="2029968"/>
            <a:ext cx="26517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3154680" y="2029968"/>
            <a:ext cx="26517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291840" y="2121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 矩陣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253288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fx,fy（焦距），cx,cy（主點）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89320" y="2029968"/>
            <a:ext cx="26517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5989320" y="2029968"/>
            <a:ext cx="265176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6126480" y="2121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外部參數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26480" y="253288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R（旋轉），t（平移）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3401568"/>
            <a:ext cx="26517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320040" y="3401568"/>
            <a:ext cx="265176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457200" y="3493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〰 畸變模型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390448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k1,k2,k3（徑向），p1,p2（切向）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154680" y="3401568"/>
            <a:ext cx="26517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3154680" y="3401568"/>
            <a:ext cx="26517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3291840" y="3493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 相機校準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91840" y="390448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棋盤格+calibrateCamera→K+dist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989320" y="3401568"/>
            <a:ext cx="26517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5989320" y="3401568"/>
            <a:ext cx="265176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6126480" y="3493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嵌入式流程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26480" y="390448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一次校準存YAML，remap快速矯正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67</a:t>
            </a:r>
            <a:endParaRPr lang="en-US" sz="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2743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2D5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91440" cy="137160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應用 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應用整合與嵌入式實務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本週幾何工具的實際組合應用：文件掃描、鳥瞰圖、AR 標記、對極幾何預告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52D4A"/>
          </a:solidFill>
          <a:ln w="12700">
            <a:solidFill>
              <a:srgbClr val="152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EC8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AEC8"/>
                </a:solidFill>
              </a:rPr>
              <a:t>68</a:t>
            </a:r>
            <a:endParaRPr lang="en-US" sz="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應用：AR 標記（ArUco）姿態估算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偵測標記 → solvePnP 求外參 → 疊加虛擬座標軸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2560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321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cv2, numpy as np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aruco_dict = cv2.aruco.getPredefinedDictionary(cv2.aruco.DICT_6X6_250)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cv2.aruco.DetectorParameters()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detector = cv2.aruco.ArucoDetector(aruco_dict, params)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corners, ids, _ = detector.detectMarkers(gray)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ids is not None: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marker_len = 0.05  # 5cm 標記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obj_pts = np.array([[-1,1,0],[1,1,0],[1,-1,0],[-1,-1,0]],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dtype=np.float32) * marker_len / 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corner in corners: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ok, rvec, tvec = cv2.solvePnP(obj_pts, corner[0], K, dist)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cv2.drawFrameAxes(frame, K, dist, rvec, tvec, 0.03)  # 畫座標軸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370332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20040" y="3703320"/>
            <a:ext cx="26517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29768" y="3758184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detectMarkers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4187952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找出影像中所有 ArUco 標記及角點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370332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154680" y="3703320"/>
            <a:ext cx="2651760" cy="5486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64408" y="3758184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solvePnP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4408" y="4187952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4 對 3D-2D 點求解 rvec, tvec（外參）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370332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5989320" y="3703320"/>
            <a:ext cx="26517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099048" y="3758184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drawFrameAxes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28944" y="4187952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projectPoints 把 3D 座標軸畫在影像上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69</a:t>
            </a:r>
            <a:endParaRPr lang="en-US" sz="800" dirty="0"/>
          </a:p>
        </p:txBody>
      </p:sp>
      <p:pic>
        <p:nvPicPr>
          <p:cNvPr id="24578" name="Picture 2" descr="image4">
            <a:extLst>
              <a:ext uri="{FF2B5EF4-FFF2-40B4-BE49-F238E27FC236}">
                <a16:creationId xmlns:a16="http://schemas.microsoft.com/office/drawing/2014/main" id="{E4A48CCC-2C5F-D3A0-7965-AA9261645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0403" y="307467"/>
            <a:ext cx="3377565" cy="3377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81FE2C3B-19CE-2D9E-E1EE-A99AA5906C9D}"/>
              </a:ext>
            </a:extLst>
          </p:cNvPr>
          <p:cNvSpPr txBox="1"/>
          <p:nvPr/>
        </p:nvSpPr>
        <p:spPr>
          <a:xfrm>
            <a:off x="4841875" y="-31258"/>
            <a:ext cx="4578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3"/>
              </a:rPr>
              <a:t>7.2. </a:t>
            </a:r>
            <a:r>
              <a:rPr lang="zh-TW" altLang="en-US" dirty="0">
                <a:hlinkClick r:id="rId3"/>
              </a:rPr>
              <a:t>姿势估计 </a:t>
            </a:r>
            <a:r>
              <a:rPr lang="en-US" altLang="zh-TW" dirty="0">
                <a:hlinkClick r:id="rId3"/>
              </a:rPr>
              <a:t>- OpenCV Python Tutorials</a:t>
            </a:r>
            <a:endParaRPr lang="zh-TW" alt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預告：對極幾何（Epipolar Geometry）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雙相機的幾何約束——立體視覺的基礎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0" y="1051560"/>
            <a:ext cx="32461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5715000" y="1097280"/>
            <a:ext cx="297180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對極線（Epipolar Line）
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1 中的點 x → Camera 2 中的對應點，必定在對極線 l' 上
→ 搜索範圍從 2D 降到 1D
</a:t>
            </a:r>
            <a:r>
              <a:rPr lang="en-US" sz="12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本質矩陣</a:t>
            </a: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/ 基礎矩陣 F
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xᵀEx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0（已校準）
xᵀFx = 0（未校準）
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用途：
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雙目立體深度估算
• 影像拼接（全景）
• Structure from Motion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70</a:t>
            </a:r>
            <a:endParaRPr lang="en-US" sz="800" dirty="0"/>
          </a:p>
        </p:txBody>
      </p:sp>
      <p:pic>
        <p:nvPicPr>
          <p:cNvPr id="23554" name="Picture 2" descr="Python OpenCV: Epipolar Geometry - GeeksforGeeks">
            <a:extLst>
              <a:ext uri="{FF2B5EF4-FFF2-40B4-BE49-F238E27FC236}">
                <a16:creationId xmlns:a16="http://schemas.microsoft.com/office/drawing/2014/main" id="{9D7990F0-0389-6B1F-CD2F-DF3ADD555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30" y="932688"/>
            <a:ext cx="3011170" cy="1693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6" name="Picture 4" descr="Epipolar Recitification 极线校正/立体校正_epipolar rectification-CSDN博客">
            <a:extLst>
              <a:ext uri="{FF2B5EF4-FFF2-40B4-BE49-F238E27FC236}">
                <a16:creationId xmlns:a16="http://schemas.microsoft.com/office/drawing/2014/main" id="{90B1BCCB-AE2F-DAB5-8585-A4E6B5327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970" y="2626471"/>
            <a:ext cx="2828290" cy="2452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本週完整知識地圖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所有概念的連結關係一覽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49040" y="1051560"/>
            <a:ext cx="16459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749040" y="10515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齊次座標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18288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2D幾何變換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1737360" cy="5943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291840" y="1920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920240"/>
            <a:ext cx="17373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影像差補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1828800" cy="594360"/>
          </a:xfrm>
          <a:prstGeom prst="rect">
            <a:avLst/>
          </a:prstGeom>
          <a:solidFill>
            <a:srgbClr val="2D6B8A"/>
          </a:solidFill>
          <a:ln w="12700">
            <a:solidFill>
              <a:srgbClr val="2D6B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針孔模型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017520"/>
            <a:ext cx="1737360" cy="594360"/>
          </a:xfrm>
          <a:prstGeom prst="rect">
            <a:avLst/>
          </a:prstGeom>
          <a:solidFill>
            <a:srgbClr val="2D6B8A"/>
          </a:solidFill>
          <a:ln w="12700">
            <a:solidFill>
              <a:srgbClr val="2D6B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3291840" y="30175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 [R|t]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017520"/>
            <a:ext cx="1737360" cy="5943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400800" y="30175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畸變模型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45920" y="4069080"/>
            <a:ext cx="1828800" cy="59436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1645920" y="4069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相機校準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4069080"/>
            <a:ext cx="1828800" cy="59436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663440" y="4069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cv2.remap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71</a:t>
            </a:r>
            <a:endParaRPr lang="en-US" sz="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實作練習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親手驗證本週的核心概念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84048" y="10515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1170432"/>
            <a:ext cx="658368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68680" y="117043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27632" y="11247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差補大比拼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27632" y="14721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同張小圖以 NN / Bilinear / Bicubic 放大 4 倍，觀察並描述視覺差異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764792"/>
            <a:ext cx="8503920" cy="65836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84048" y="176479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⭐⭐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" y="1883664"/>
            <a:ext cx="658368" cy="42062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868680" y="18836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27632" y="18379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文件掃描 App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27632" y="218541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手機拍攝傾斜文件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findHomography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warpPerspective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正視矯正輸出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478024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320040" y="3191256"/>
            <a:ext cx="8503920" cy="658368"/>
          </a:xfrm>
          <a:prstGeom prst="rect">
            <a:avLst/>
          </a:prstGeom>
          <a:solidFill>
            <a:srgbClr val="F0EFE8"/>
          </a:solidFill>
          <a:ln w="12700">
            <a:solidFill>
              <a:srgbClr val="E8E8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384048" y="2425837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⭐⭐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68680" y="3260040"/>
            <a:ext cx="658368" cy="420624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1627632" y="2498989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相機校準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27632" y="2846461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拍攝 15+ 張棋盤格 →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calibrateCamera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" y="316475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⭐⭐⭐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68680" y="2590986"/>
            <a:ext cx="658368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868680" y="3257941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27632" y="3212221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點雲投影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627632" y="3559693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K、外參 → projectPoints → </a:t>
            </a:r>
            <a:r>
              <a:rPr lang="en-US" altLang="zh-TW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r>
              <a:rPr lang="zh-TW" alt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（進階）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74</a:t>
            </a:r>
            <a:endParaRPr lang="en-US" sz="800" dirty="0"/>
          </a:p>
        </p:txBody>
      </p:sp>
      <p:sp>
        <p:nvSpPr>
          <p:cNvPr id="38" name="Text 24"/>
          <p:cNvSpPr/>
          <p:nvPr/>
        </p:nvSpPr>
        <p:spPr>
          <a:xfrm>
            <a:off x="868680" y="259098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附錄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A：齊次座標補充   B：SVD 與幾何求解   C：DLT 演算法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D：旋轉矩陣性質   E：變換矩陣速查   F：OpenCV 函式速查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52D4A"/>
          </a:solidFill>
          <a:ln w="12700">
            <a:solidFill>
              <a:srgbClr val="152D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EC8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AEC8"/>
                </a:solidFill>
              </a:rPr>
              <a:t>75</a:t>
            </a:r>
            <a:endParaRPr lang="en-US" sz="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附錄 A：齊次座標數學補充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射影空間、無窮遠點、齊次直線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73152" cy="3703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8229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射影平面 P²
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2D 平面 R² 加上「無窮遠線」就構成射影平面 P²
每個方向有一個無窮遠點，所有方向的無窮遠點構成「無窮遠線」
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齊次點的等效類
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y, w) ≡ (kx, ky, kw) 對任意非零 k 成立
例：(2, 4, 2) ≡ (1, 2, 1) ≡ (0.5, 1, 0.5)
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 err="1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無窮遠點（w</a:t>
            </a: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0）
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(a, b, 0) 代表「(a,b) 方向上的無窮遠點」
兩條平行線在射影空間中相交於它們共同方向的無窮遠點（消失點！）
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齊次直線與點線對偶
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直線 ax+by+c=0 的齊次表示 l=(a,b,c)
點 p=(x,y,1) 在直線 l 上 ⟺ lᵀp = 0
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兩直線交點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 × l'（叉積）；兩點確定的直線 = p × p'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76</a:t>
            </a:r>
            <a:endParaRPr lang="en-US" sz="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附錄 B：SVD 在幾何求解中的角色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最小化 ‖Ah‖ 的解 = A 的最小奇異值對應的右奇異向量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73152" cy="2148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定義：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= U · Σ · Vᵀ     （U, V 正交矩陣；Σ 對角奇異值矩陣）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用於求解 Ah = 0（求 Homography、求相機矩陣）：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對矩陣 A 做 SVD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最小奇異值 σₙ 對應 V 的最後一行 vₙ 即為解 h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這個解使 ‖Ah‖ 最小，且 ‖h‖ = 1（避免零解）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3291840"/>
            <a:ext cx="850392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321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用 SVD 求解 Homography（DLT 核心）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build_dlt_matrix(src_pts, dst_pts)   # 形狀 (2N, 9)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U, sigma, Vt = np.linalg.svd(A)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Vt[-1]           # 最小奇異值對應的右奇異向量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h.reshape(3, 3)  # 還原成 3×3 矩陣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H / H[2,2]       # 正規化（使 H[2,2]=1）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77</a:t>
            </a:r>
            <a:endParaRPr lang="en-US" sz="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附錄 C：DLT（直接線性轉換）演算法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4 對點計算 Homography H 的步驟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73152" cy="3730752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82296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找 3×3 矩陣 H 使 x'ᵢ = H xᵢ（齊次）
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每對對應點 (xᵢ, x'ᵢ) 的約束：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x'ᵢ × (H xᵢ) = 0（叉積=0 即方向相同）
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展開後每對點得到 2 個線性方程（第三個線性相關）：
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[-xᵢᵀ,   0ᵀ,  y'ᵢ xᵢᵀ]
[ 0ᵀ, -xᵢᵀ,  x'ᵢ xᵢᵀ]  · h = 0
4 對點 → 8 個方程 → Ah = 0（A 是 8×9 矩陣）
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求解步驟：
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正規化座標（減均值除標準差）→ 提升數值穩定性
② 建立矩陣 A（每對對應點貢獻 2 列）
③ 對 A 做 SVD，取最後一行 → h
④ 反正規化得到最終 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78</a:t>
            </a:r>
            <a:endParaRPr lang="en-US" sz="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82296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差補品質量化：PSNR 與 SSIM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不只是「看起來比較好」——如何用數字量化差補品質？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73152" cy="10241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PSNR（Peak Signal-to-Noise Ratio）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衡量像素級誤差，單位 dB，越高越好
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= 10 · log₁₀(MAX² / MSE)    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= 每像素誤差平方的平均值；MAX = 255
</a:t>
            </a: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SSIM（Structural Similarity）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衡量結構、對比、亮度的相似度，範圍 0–1，越接近 1 越好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1762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三種差補方法的品質比較（1080p 影像旋轉 15°，對比原圖）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514600"/>
          <a:ext cx="8503920" cy="157276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差補方法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(dB)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速度（相對）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適用場合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 Neighbor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45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45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  最快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縮略圖、Label 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Bilinear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  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通用首選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Bicubic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35.8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  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高品質輸出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4224528"/>
            <a:ext cx="8503920" cy="566928"/>
          </a:xfrm>
          <a:prstGeom prst="rect">
            <a:avLst/>
          </a:prstGeom>
          <a:solidFill>
            <a:srgbClr val="E8F0F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8"/>
          <p:cNvSpPr/>
          <p:nvPr/>
        </p:nvSpPr>
        <p:spPr>
          <a:xfrm>
            <a:off x="320040" y="4224528"/>
            <a:ext cx="73152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50292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判讀標準：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40 dB = 極佳（幾乎看不出差異）  |  30–40 dB = 良好  |  &lt; 30 dB = 明顯失真
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建議：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用 skimage.metrics.peak_signal_noise_ratio 和 structural_similarity 量化你的結果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27432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嵌入式電腦視覺  ·  第四週：影像幾何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5039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S1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30873</TotalTime>
  <Words>6947</Words>
  <Application>Microsoft Office PowerPoint</Application>
  <PresentationFormat>如螢幕大小 (16:9)</PresentationFormat>
  <Paragraphs>1262</Paragraphs>
  <Slides>80</Slides>
  <Notes>36</Notes>
  <HiddenSlides>0</HiddenSlides>
  <MMClips>1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80</vt:i4>
      </vt:variant>
    </vt:vector>
  </HeadingPairs>
  <TitlesOfParts>
    <vt:vector size="89" baseType="lpstr">
      <vt:lpstr>Google Sans Text</vt:lpstr>
      <vt:lpstr>標楷體</vt:lpstr>
      <vt:lpstr>Arial</vt:lpstr>
      <vt:lpstr>Arial Narrow</vt:lpstr>
      <vt:lpstr>Calibri</vt:lpstr>
      <vt:lpstr>Cambria Math</vt:lpstr>
      <vt:lpstr>Consolas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嵌入式電腦視覺 第四週：影像幾何與座標系統</dc:title>
  <dc:subject>PptxGenJS Presentation</dc:subject>
  <dc:creator>PptxGenJS</dc:creator>
  <cp:lastModifiedBy>謝昇憲 HSIEH SHENG HSIEN</cp:lastModifiedBy>
  <cp:revision>9</cp:revision>
  <dcterms:created xsi:type="dcterms:W3CDTF">2026-03-19T13:18:20Z</dcterms:created>
  <dcterms:modified xsi:type="dcterms:W3CDTF">2026-04-23T10:19:15Z</dcterms:modified>
</cp:coreProperties>
</file>